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9" d="100"/>
          <a:sy n="119" d="100"/>
        </p:scale>
        <p:origin x="56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335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hyperlink" Target="https://drive.google.com/file/d/1PCQI1bhHDoFEHvwgTH1vF_547EMlvvw7/view?usp=drive_link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hyperlink" Target="https://drive.google.com/file/d/1P8hH4v8Pto7W3T_kInuxVN-k-BZJUv3x/view?usp=drive_link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hyperlink" Target="https://drive.google.com/file/d/1P2IYMTGGqwrWaFW2nxddCDdX_7tmBSVG/view?usp=drive_link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hyperlink" Target="https://drive.google.com/file/d/1P1yrauSysOldGghK7V9aoWpVEP9Ax1Mu/view?usp=drive_link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drive.google.com/drive/folders/1PGUohiDfPJRF70YXqBrjpg4fLNR3bcl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85788" y="528638"/>
            <a:ext cx="4169048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kern="0" spc="2" dirty="0">
                <a:solidFill>
                  <a:srgbClr val="F2C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ASSIGNMENT 9 / MARKETING CONTENT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85788" y="878681"/>
            <a:ext cx="4169048" cy="976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81600"/>
              </a:lnSpc>
              <a:buNone/>
            </a:pPr>
            <a:r>
              <a:rPr lang="en-US" sz="3450" b="1" kern="0" spc="-2" dirty="0">
                <a:solidFill>
                  <a:srgbClr val="F7F2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Qaim
</a:t>
            </a:r>
            <a:r>
              <a:rPr lang="en-US" sz="3450" b="1" kern="0" spc="-2" dirty="0">
                <a:solidFill>
                  <a:srgbClr val="F2C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Campaign</a:t>
            </a:r>
            <a:endParaRPr lang="en-US" sz="3450" dirty="0"/>
          </a:p>
        </p:txBody>
      </p:sp>
      <p:sp>
        <p:nvSpPr>
          <p:cNvPr id="5" name="Text 2"/>
          <p:cNvSpPr/>
          <p:nvPr/>
        </p:nvSpPr>
        <p:spPr>
          <a:xfrm>
            <a:off x="585788" y="2055056"/>
            <a:ext cx="4169048" cy="102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2400"/>
              </a:lnSpc>
              <a:buNone/>
            </a:pPr>
            <a:r>
              <a:rPr lang="en-US" sz="1500" dirty="0">
                <a:solidFill>
                  <a:srgbClr val="E2DC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portfolio-ready short-form campaign for Egyptian men’s fashion: product trust, everyday styling and conversion-led storytelling.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85788" y="3507693"/>
            <a:ext cx="1772264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kern="0" spc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85788" y="3700574"/>
            <a:ext cx="1772264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kern="0" spc="1" dirty="0">
                <a:solidFill>
                  <a:srgbClr val="B7C0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Mohamed Mostafa Taher Salem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85788" y="3832733"/>
            <a:ext cx="74646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kern="0" spc="1" dirty="0">
                <a:solidFill>
                  <a:srgbClr val="B7C0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ID: 21172333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2643801" y="3507693"/>
            <a:ext cx="86718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kern="0" spc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VIDEOS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2643801" y="3700574"/>
            <a:ext cx="86718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kern="0" spc="1" dirty="0">
                <a:solidFill>
                  <a:srgbClr val="B7C0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CapCut · 2 AI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3796736" y="3507693"/>
            <a:ext cx="58433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kern="0" spc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796736" y="3700574"/>
            <a:ext cx="32085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kern="0" spc="1" dirty="0">
                <a:solidFill>
                  <a:srgbClr val="B7C0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Egypt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5212035" y="0"/>
            <a:ext cx="3931909" cy="51435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4" name="Shape 11"/>
          <p:cNvSpPr/>
          <p:nvPr/>
        </p:nvSpPr>
        <p:spPr>
          <a:xfrm rot="840000">
            <a:off x="4283348" y="-357188"/>
            <a:ext cx="2143125" cy="4286250"/>
          </a:xfrm>
          <a:prstGeom prst="rect">
            <a:avLst/>
          </a:prstGeom>
          <a:solidFill>
            <a:srgbClr val="101722"/>
          </a:solidFill>
          <a:ln/>
        </p:spPr>
      </p:sp>
      <p:sp>
        <p:nvSpPr>
          <p:cNvPr id="15" name="Shape 12"/>
          <p:cNvSpPr/>
          <p:nvPr/>
        </p:nvSpPr>
        <p:spPr>
          <a:xfrm>
            <a:off x="6878650" y="4582716"/>
            <a:ext cx="1879532" cy="310753"/>
          </a:xfrm>
          <a:prstGeom prst="rect">
            <a:avLst/>
          </a:prstGeom>
          <a:solidFill>
            <a:srgbClr val="F2C94C"/>
          </a:solidFill>
          <a:ln/>
        </p:spPr>
      </p:sp>
      <p:sp>
        <p:nvSpPr>
          <p:cNvPr id="16" name="Text 13"/>
          <p:cNvSpPr/>
          <p:nvPr/>
        </p:nvSpPr>
        <p:spPr>
          <a:xfrm>
            <a:off x="6878650" y="4582716"/>
            <a:ext cx="1879532" cy="310753"/>
          </a:xfrm>
          <a:prstGeom prst="rect">
            <a:avLst/>
          </a:prstGeom>
          <a:noFill/>
          <a:ln/>
        </p:spPr>
        <p:txBody>
          <a:bodyPr wrap="square" lIns="170053" tIns="102108" rIns="170053" bIns="102108" rtlCol="0" anchor="t">
            <a:spAutoFit/>
          </a:bodyPr>
          <a:lstStyle/>
          <a:p>
            <a:pPr marL="0" indent="0" algn="l">
              <a:buNone/>
            </a:pPr>
            <a:r>
              <a:rPr lang="en-US" sz="850" b="1" kern="0" spc="1" dirty="0">
                <a:solidFill>
                  <a:srgbClr val="101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DAY. YOUR LOOK.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0063" y="385763"/>
            <a:ext cx="8143875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kern="0" spc="2" dirty="0">
                <a:solidFill>
                  <a:srgbClr val="F2C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THE BRIEF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500063" y="632222"/>
            <a:ext cx="8143875" cy="3750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350" b="1" dirty="0">
                <a:solidFill>
                  <a:srgbClr val="F7F2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campaign. Two production tracks.</a:t>
            </a:r>
            <a:endParaRPr lang="en-US" sz="2350" dirty="0"/>
          </a:p>
        </p:txBody>
      </p:sp>
      <p:sp>
        <p:nvSpPr>
          <p:cNvPr id="5" name="Text 2"/>
          <p:cNvSpPr/>
          <p:nvPr/>
        </p:nvSpPr>
        <p:spPr>
          <a:xfrm>
            <a:off x="500063" y="1407319"/>
            <a:ext cx="3707941" cy="1040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E6DF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four short-form videos for Qaim’s Egyptian men’s fashion audience—two edited in CapCut and two developed as AI-generated creative concepts.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00063" y="2647429"/>
            <a:ext cx="3707941" cy="707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BCC5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video must be documented as a marketing asset: concept, content pillar, target audience, shot logic, tool, CTA and planned KPI.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565191" y="1207294"/>
            <a:ext cx="4078746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2C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 ARCHITECTURE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65191" y="1710928"/>
            <a:ext cx="428625" cy="3107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7E25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5136691" y="1710928"/>
            <a:ext cx="3507246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CapCut Videos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136691" y="1964531"/>
            <a:ext cx="350724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CBD1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Human-shot / edited Reels. Styling transformation and price-versus-value story.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565191" y="2543175"/>
            <a:ext cx="428625" cy="3107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7E25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5136691" y="2543175"/>
            <a:ext cx="3507246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Videos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136691" y="2796778"/>
            <a:ext cx="350724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CBD1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AI-generated creative. Jeans SADA fit confidence and outfit-decision storytelling.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00063" y="4822031"/>
            <a:ext cx="4468806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kern="0" spc="1" dirty="0">
                <a:solidFill>
                  <a:srgbClr val="9D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PLATFORM: TIKTOK · INSTAGRAM REELS · YOUTUBE SHORTS | FORMAT: 9:16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0063" y="357188"/>
            <a:ext cx="8143875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kern="0" spc="2" dirty="0">
                <a:solidFill>
                  <a:srgbClr val="F2C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BRAND CONTEXT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500063" y="625078"/>
            <a:ext cx="8143875" cy="3771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2450" b="1" dirty="0">
                <a:solidFill>
                  <a:srgbClr val="F7F2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Qaim makes the everyday choice easier.</a:t>
            </a:r>
            <a:endParaRPr lang="en-US" sz="2450" dirty="0"/>
          </a:p>
        </p:txBody>
      </p:sp>
      <p:sp>
        <p:nvSpPr>
          <p:cNvPr id="5" name="Text 2"/>
          <p:cNvSpPr/>
          <p:nvPr/>
        </p:nvSpPr>
        <p:spPr>
          <a:xfrm>
            <a:off x="500063" y="1273708"/>
            <a:ext cx="3964781" cy="724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E5DE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Qaim’s public storefront is organized around men’s essentials: T-shirts, Jeans, Sweatpants, Shoes, and Kargo collections.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00063" y="2069455"/>
            <a:ext cx="3964781" cy="707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C3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help the Egyptian male shopper choose the right piece for his day and occasion—moving from inspiration to a confident product click.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00063" y="3019574"/>
            <a:ext cx="3964781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kern="0" spc="1" dirty="0">
                <a:solidFill>
                  <a:srgbClr val="F2C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 PLATFORM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00063" y="3251746"/>
            <a:ext cx="3964781" cy="315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2C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day. Your look.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00063" y="3638903"/>
            <a:ext cx="3964781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C3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Turning product variety into simple decisions: daily denim, weekend comfort, and a complete look.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00063" y="4181828"/>
            <a:ext cx="3964781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kern="0" spc="1" dirty="0">
                <a:solidFill>
                  <a:srgbClr val="F2C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COLLECTIONS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00063" y="4399713"/>
            <a:ext cx="807188" cy="196453"/>
          </a:xfrm>
          <a:prstGeom prst="rect">
            <a:avLst/>
          </a:prstGeom>
          <a:noFill/>
          <a:ln/>
        </p:spPr>
        <p:txBody>
          <a:bodyPr wrap="none" lIns="0" tIns="0" rIns="0" bIns="25527" rtlCol="0" anchor="t">
            <a:sp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7F2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Jeans SADA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1392975" y="4399713"/>
            <a:ext cx="1032104" cy="196453"/>
          </a:xfrm>
          <a:prstGeom prst="rect">
            <a:avLst/>
          </a:prstGeom>
          <a:noFill/>
          <a:ln/>
        </p:spPr>
        <p:txBody>
          <a:bodyPr wrap="none" lIns="0" tIns="0" rIns="0" bIns="25527" rtlCol="0" anchor="t">
            <a:sp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7F2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Wide-Leg Jeans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2510805" y="4399713"/>
            <a:ext cx="905024" cy="196453"/>
          </a:xfrm>
          <a:prstGeom prst="rect">
            <a:avLst/>
          </a:prstGeom>
          <a:noFill/>
          <a:ln/>
        </p:spPr>
        <p:txBody>
          <a:bodyPr wrap="none" lIns="0" tIns="0" rIns="0" bIns="25527" rtlCol="0" anchor="t">
            <a:sp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7F2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Sweatpant Qn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679156" y="1087971"/>
            <a:ext cx="3964781" cy="3429000"/>
          </a:xfrm>
          <a:prstGeom prst="rect">
            <a:avLst/>
          </a:prstGeom>
          <a:solidFill>
            <a:srgbClr val="0D121A"/>
          </a:solidFill>
          <a:ln/>
        </p:spPr>
      </p:sp>
      <p:pic>
        <p:nvPicPr>
          <p:cNvPr id="15" name="Image 1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79156" y="1087971"/>
            <a:ext cx="1928812" cy="3429000"/>
          </a:xfrm>
          <a:prstGeom prst="rect">
            <a:avLst/>
          </a:prstGeom>
        </p:spPr>
      </p:pic>
      <p:pic>
        <p:nvPicPr>
          <p:cNvPr id="16" name="Image 2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715125" y="1838064"/>
            <a:ext cx="1928813" cy="192881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00063" y="4879181"/>
            <a:ext cx="4393183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6673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QAIM.SHOP · PROFESSIONAL MARKETING STRATEGY · AUGUST 2026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0063" y="321469"/>
            <a:ext cx="3821906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kern="0" spc="2" dirty="0">
                <a:solidFill>
                  <a:srgbClr val="F2C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VIDEO DELIVERABLE · CAPCUT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500063" y="553641"/>
            <a:ext cx="3821906" cy="722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2350" b="1" dirty="0">
                <a:solidFill>
                  <a:srgbClr val="F7F2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1 — </a:t>
            </a:r>
            <a:r>
              <a:rPr lang="en-US" sz="2350" b="1" dirty="0">
                <a:solidFill>
                  <a:srgbClr val="F2C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Style Simplified</a:t>
            </a:r>
            <a:endParaRPr lang="en-US" sz="2350" dirty="0"/>
          </a:p>
        </p:txBody>
      </p:sp>
      <p:sp>
        <p:nvSpPr>
          <p:cNvPr id="5" name="Text 2"/>
          <p:cNvSpPr/>
          <p:nvPr/>
        </p:nvSpPr>
        <p:spPr>
          <a:xfrm>
            <a:off x="500063" y="1419374"/>
            <a:ext cx="1821656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kern="0" spc="1" dirty="0">
                <a:solidFill>
                  <a:srgbClr val="F2C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00063" y="1626543"/>
            <a:ext cx="1821656" cy="660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CBD1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Styling transformation: uncoordinated to curated Qaim.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2500313" y="1419374"/>
            <a:ext cx="1821656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kern="0" spc="1" dirty="0">
                <a:solidFill>
                  <a:srgbClr val="F2C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2500313" y="1626543"/>
            <a:ext cx="1821656" cy="220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CBD1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 &amp; Styling.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00063" y="2465152"/>
            <a:ext cx="1821656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kern="0" spc="1" dirty="0">
                <a:solidFill>
                  <a:srgbClr val="F2C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00063" y="2672321"/>
            <a:ext cx="1821656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CBD1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18–35 seeking versatile everyday wear.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2500313" y="2465152"/>
            <a:ext cx="1821656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kern="0" spc="1" dirty="0">
                <a:solidFill>
                  <a:srgbClr val="F2C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CTA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2500313" y="2672321"/>
            <a:ext cx="1821656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CBD1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 the Look on Qaim.shop.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00063" y="3255206"/>
            <a:ext cx="3821906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kern="0" spc="1" dirty="0">
                <a:solidFill>
                  <a:srgbClr val="F2C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VOICE-OVER EXCERPT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00063" y="3512381"/>
            <a:ext cx="3821906" cy="762930"/>
          </a:xfrm>
          <a:prstGeom prst="rect">
            <a:avLst/>
          </a:prstGeom>
          <a:solidFill>
            <a:srgbClr val="7E252D">
              <a:alpha val="20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500063" y="3512381"/>
            <a:ext cx="35719" cy="762930"/>
          </a:xfrm>
          <a:prstGeom prst="rect">
            <a:avLst/>
          </a:prstGeom>
          <a:solidFill>
            <a:srgbClr val="7E252D"/>
          </a:solidFill>
          <a:ln/>
        </p:spPr>
      </p:sp>
      <p:sp>
        <p:nvSpPr>
          <p:cNvPr id="16" name="Text 13"/>
          <p:cNvSpPr/>
          <p:nvPr/>
        </p:nvSpPr>
        <p:spPr>
          <a:xfrm>
            <a:off x="500063" y="3512381"/>
            <a:ext cx="3821906" cy="762930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t">
            <a:spAutoFit/>
          </a:bodyPr>
          <a:lstStyle/>
          <a:p>
            <a:pPr marL="0" indent="0" algn="r">
              <a:lnSpc>
                <a:spcPct val="128000"/>
              </a:lnSpc>
              <a:buNone/>
            </a:pPr>
            <a:r>
              <a:rPr lang="en-US" sz="1250" dirty="0">
                <a:solidFill>
                  <a:srgbClr val="F7F2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«أناقتك بكامل قيم… من المشوار اليومي لقعدة الويك إند.»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00063" y="4453905"/>
            <a:ext cx="2435963" cy="321469"/>
          </a:xfrm>
          <a:prstGeom prst="rect">
            <a:avLst/>
          </a:prstGeom>
          <a:solidFill>
            <a:srgbClr val="F2C94C"/>
          </a:solidFill>
          <a:ln/>
        </p:spPr>
      </p:sp>
      <p:sp>
        <p:nvSpPr>
          <p:cNvPr id="18" name="Text 15"/>
          <p:cNvSpPr/>
          <p:nvPr/>
        </p:nvSpPr>
        <p:spPr>
          <a:xfrm>
            <a:off x="500063" y="4453905"/>
            <a:ext cx="2435963" cy="344710"/>
          </a:xfrm>
          <a:prstGeom prst="rect">
            <a:avLst/>
          </a:prstGeom>
          <a:noFill/>
          <a:ln/>
        </p:spPr>
        <p:txBody>
          <a:bodyPr wrap="square" lIns="212598" tIns="102108" rIns="212598" bIns="102108" rtlCol="0" anchor="t">
            <a:spAutoFit/>
          </a:bodyPr>
          <a:lstStyle/>
          <a:p>
            <a:pPr marL="0" indent="0" algn="l">
              <a:buNone/>
            </a:pPr>
            <a:r>
              <a:rPr lang="en-US" sz="900" b="1" kern="0" spc="1" dirty="0">
                <a:solidFill>
                  <a:srgbClr val="101722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/>
              </a:rPr>
              <a:t>CLICK TO WATCH FULL VIDEO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6F2028"/>
          </a:solidFill>
          <a:ln/>
        </p:spPr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4875" y="357188"/>
            <a:ext cx="857250" cy="1285875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679281" y="925116"/>
            <a:ext cx="3178969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MIRROR TRANSFORMATION SETUP</a:t>
            </a:r>
            <a:endParaRPr lang="en-US" sz="90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14875" y="1821656"/>
            <a:ext cx="857250" cy="1285875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679281" y="2389584"/>
            <a:ext cx="3178969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STYLING PAYOFF &amp; CONFIDENCE</a:t>
            </a:r>
            <a:endParaRPr lang="en-US" sz="900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4875" y="3286125"/>
            <a:ext cx="857250" cy="1285875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679281" y="3854053"/>
            <a:ext cx="3178969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PRODUCT VARIETY SHOWCASE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500063" y="4886325"/>
            <a:ext cx="351377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9CA7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CAPCUT EDIT · 9:16 VERTICAL · PLANNED KPI: CTR &amp; ENGAGEMENT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0063" y="321469"/>
            <a:ext cx="3821906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kern="0" spc="2" dirty="0">
                <a:solidFill>
                  <a:srgbClr val="F2C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VIDEO DELIVERABLE · CAPCUT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500063" y="553641"/>
            <a:ext cx="3821906" cy="722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2350" b="1" dirty="0">
                <a:solidFill>
                  <a:srgbClr val="F7F2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2 — </a:t>
            </a:r>
            <a:r>
              <a:rPr lang="en-US" sz="2350" b="1" dirty="0">
                <a:solidFill>
                  <a:srgbClr val="F2C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You Wear</a:t>
            </a:r>
            <a:endParaRPr lang="en-US" sz="2350" dirty="0"/>
          </a:p>
        </p:txBody>
      </p:sp>
      <p:sp>
        <p:nvSpPr>
          <p:cNvPr id="5" name="Text 2"/>
          <p:cNvSpPr/>
          <p:nvPr/>
        </p:nvSpPr>
        <p:spPr>
          <a:xfrm>
            <a:off x="500063" y="1419374"/>
            <a:ext cx="1821656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kern="0" spc="1" dirty="0">
                <a:solidFill>
                  <a:srgbClr val="F2C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00063" y="1626543"/>
            <a:ext cx="1821656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CBD1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Price-vs-value: defined by fit and confidence.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2500313" y="1419374"/>
            <a:ext cx="1821656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kern="0" spc="1" dirty="0">
                <a:solidFill>
                  <a:srgbClr val="F2C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2500313" y="1626543"/>
            <a:ext cx="1821656" cy="220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CBD1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&amp; Lifestyle Proof.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00063" y="2245147"/>
            <a:ext cx="1821656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kern="0" spc="1" dirty="0">
                <a:solidFill>
                  <a:srgbClr val="F2C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00063" y="2452315"/>
            <a:ext cx="1821656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CBD1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20–35 seeking smart-casual value.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2500313" y="2245147"/>
            <a:ext cx="1821656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kern="0" spc="1" dirty="0">
                <a:solidFill>
                  <a:srgbClr val="F2C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CTA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2500313" y="2452315"/>
            <a:ext cx="1821656" cy="220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CBD1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 Now on Qaim.shop.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00063" y="3035201"/>
            <a:ext cx="3821906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kern="0" spc="1" dirty="0">
                <a:solidFill>
                  <a:srgbClr val="F2C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VOICE-OVER EXCERPT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00063" y="3292376"/>
            <a:ext cx="3821906" cy="762930"/>
          </a:xfrm>
          <a:prstGeom prst="rect">
            <a:avLst/>
          </a:prstGeom>
          <a:solidFill>
            <a:srgbClr val="7E252D">
              <a:alpha val="20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500063" y="3292376"/>
            <a:ext cx="35719" cy="762930"/>
          </a:xfrm>
          <a:prstGeom prst="rect">
            <a:avLst/>
          </a:prstGeom>
          <a:solidFill>
            <a:srgbClr val="7E252D"/>
          </a:solidFill>
          <a:ln/>
        </p:spPr>
      </p:sp>
      <p:sp>
        <p:nvSpPr>
          <p:cNvPr id="16" name="Text 13"/>
          <p:cNvSpPr/>
          <p:nvPr/>
        </p:nvSpPr>
        <p:spPr>
          <a:xfrm>
            <a:off x="500063" y="3292376"/>
            <a:ext cx="3821906" cy="762930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t">
            <a:spAutoFit/>
          </a:bodyPr>
          <a:lstStyle/>
          <a:p>
            <a:pPr marL="0" indent="0" algn="r">
              <a:lnSpc>
                <a:spcPct val="128000"/>
              </a:lnSpc>
              <a:buNone/>
            </a:pPr>
            <a:r>
              <a:rPr lang="en-US" sz="1250" dirty="0">
                <a:solidFill>
                  <a:srgbClr val="F7F2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«القيمة الحقيقية مش في السعر العالي… القيمة إنك تلاقي لبس يناسب يومك.»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00063" y="4233900"/>
            <a:ext cx="2435963" cy="321469"/>
          </a:xfrm>
          <a:prstGeom prst="rect">
            <a:avLst/>
          </a:prstGeom>
          <a:solidFill>
            <a:srgbClr val="F2C94C"/>
          </a:solidFill>
          <a:ln/>
        </p:spPr>
      </p:sp>
      <p:sp>
        <p:nvSpPr>
          <p:cNvPr id="18" name="Text 15">
            <a:hlinkClick r:id="rId4"/>
          </p:cNvPr>
          <p:cNvSpPr/>
          <p:nvPr/>
        </p:nvSpPr>
        <p:spPr>
          <a:xfrm>
            <a:off x="500063" y="4233900"/>
            <a:ext cx="2435963" cy="344710"/>
          </a:xfrm>
          <a:prstGeom prst="rect">
            <a:avLst/>
          </a:prstGeom>
          <a:noFill/>
          <a:ln/>
        </p:spPr>
        <p:txBody>
          <a:bodyPr wrap="square" lIns="212598" tIns="102108" rIns="212598" bIns="102108" rtlCol="0" anchor="t">
            <a:spAutoFit/>
          </a:bodyPr>
          <a:lstStyle/>
          <a:p>
            <a:pPr marL="0" indent="0" algn="l">
              <a:buNone/>
            </a:pPr>
            <a:r>
              <a:rPr lang="en-US" sz="900" b="1" kern="0" spc="1" dirty="0">
                <a:solidFill>
                  <a:srgbClr val="101722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/>
              </a:rPr>
              <a:t>CLICK TO WATCH FULL VIDEO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6F2028"/>
          </a:solidFill>
          <a:ln/>
        </p:spPr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4875" y="357188"/>
            <a:ext cx="857250" cy="1285875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679281" y="925116"/>
            <a:ext cx="3178969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DIRECT ADDRESS SETUP</a:t>
            </a:r>
            <a:endParaRPr lang="en-US" sz="90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14875" y="1821656"/>
            <a:ext cx="857250" cy="1285875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679281" y="2389584"/>
            <a:ext cx="3178969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QUALITY &amp; DETAIL PROOF</a:t>
            </a:r>
            <a:endParaRPr lang="en-US" sz="900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4875" y="3286125"/>
            <a:ext cx="857250" cy="1285875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679281" y="3854053"/>
            <a:ext cx="3178969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LIFESTYLE PAYOFF WALK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500063" y="4886325"/>
            <a:ext cx="342286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9CA7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CAPCUT EDIT · 9:16 VERTICAL · PLANNED KPI: CTR &amp; WATCH TIME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0063" y="321469"/>
            <a:ext cx="3821906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kern="0" spc="2" dirty="0">
                <a:solidFill>
                  <a:srgbClr val="F2C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VIDEO DELIVERABLE · AI CREATIVE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500063" y="553641"/>
            <a:ext cx="3821906" cy="3614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2350" b="1" dirty="0">
                <a:solidFill>
                  <a:srgbClr val="F7F2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3 — </a:t>
            </a:r>
            <a:r>
              <a:rPr lang="en-US" sz="2350" b="1" dirty="0">
                <a:solidFill>
                  <a:srgbClr val="F2C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Trust</a:t>
            </a:r>
            <a:endParaRPr lang="en-US" sz="2350" dirty="0"/>
          </a:p>
        </p:txBody>
      </p:sp>
      <p:sp>
        <p:nvSpPr>
          <p:cNvPr id="5" name="Text 2"/>
          <p:cNvSpPr/>
          <p:nvPr/>
        </p:nvSpPr>
        <p:spPr>
          <a:xfrm>
            <a:off x="500063" y="1057945"/>
            <a:ext cx="1821656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kern="0" spc="1" dirty="0">
                <a:solidFill>
                  <a:srgbClr val="F2C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00063" y="1265113"/>
            <a:ext cx="1821656" cy="660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CBD1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Jeans SADA: Fit confidence and intentional buying.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2500313" y="1057945"/>
            <a:ext cx="1821656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kern="0" spc="1" dirty="0">
                <a:solidFill>
                  <a:srgbClr val="F2C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2500313" y="1265113"/>
            <a:ext cx="1821656" cy="220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CBD1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&amp; Fit Guidance.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00063" y="2103723"/>
            <a:ext cx="1821656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kern="0" spc="1" dirty="0">
                <a:solidFill>
                  <a:srgbClr val="F2C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00063" y="2310892"/>
            <a:ext cx="1821656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CBD1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valuing reliable, well-fitted wear.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2500313" y="2103723"/>
            <a:ext cx="1821656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kern="0" spc="1" dirty="0">
                <a:solidFill>
                  <a:srgbClr val="F2C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CTA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2500313" y="2310892"/>
            <a:ext cx="1821656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CBD1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 Jeans SADA details.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00063" y="2893777"/>
            <a:ext cx="3821906" cy="835819"/>
          </a:xfrm>
          <a:prstGeom prst="rect">
            <a:avLst/>
          </a:prstGeom>
          <a:solidFill>
            <a:srgbClr val="F2C94C">
              <a:alpha val="1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500063" y="2893777"/>
            <a:ext cx="35719" cy="835819"/>
          </a:xfrm>
          <a:prstGeom prst="rect">
            <a:avLst/>
          </a:prstGeom>
          <a:solidFill>
            <a:srgbClr val="F2C94C"/>
          </a:solidFill>
          <a:ln/>
        </p:spPr>
      </p:sp>
      <p:sp>
        <p:nvSpPr>
          <p:cNvPr id="15" name="Text 12"/>
          <p:cNvSpPr/>
          <p:nvPr/>
        </p:nvSpPr>
        <p:spPr>
          <a:xfrm>
            <a:off x="642938" y="3000933"/>
            <a:ext cx="3536156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kern="0" spc="1" dirty="0">
                <a:solidFill>
                  <a:srgbClr val="F2C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TRUST FACTOR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42938" y="3208102"/>
            <a:ext cx="3536156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F7F2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Texture close-ups and the size-chart reveal reduce fit hesitation and drive confident online orders.</a:t>
            </a:r>
            <a:endParaRPr lang="en-US" sz="1050" dirty="0"/>
          </a:p>
        </p:txBody>
      </p:sp>
      <p:sp>
        <p:nvSpPr>
          <p:cNvPr id="17" name="Shape 14">
            <a:hlinkClick r:id="rId4"/>
          </p:cNvPr>
          <p:cNvSpPr/>
          <p:nvPr/>
        </p:nvSpPr>
        <p:spPr>
          <a:xfrm>
            <a:off x="500063" y="3908189"/>
            <a:ext cx="2435963" cy="321469"/>
          </a:xfrm>
          <a:prstGeom prst="rect">
            <a:avLst/>
          </a:prstGeom>
          <a:solidFill>
            <a:srgbClr val="F2C94C"/>
          </a:solidFill>
          <a:ln/>
        </p:spPr>
      </p:sp>
      <p:sp>
        <p:nvSpPr>
          <p:cNvPr id="18" name="Text 15"/>
          <p:cNvSpPr/>
          <p:nvPr/>
        </p:nvSpPr>
        <p:spPr>
          <a:xfrm>
            <a:off x="500063" y="3908189"/>
            <a:ext cx="2435963" cy="344710"/>
          </a:xfrm>
          <a:prstGeom prst="rect">
            <a:avLst/>
          </a:prstGeom>
          <a:noFill/>
          <a:ln/>
        </p:spPr>
        <p:txBody>
          <a:bodyPr wrap="square" lIns="212598" tIns="102108" rIns="212598" bIns="102108" rtlCol="0" anchor="t">
            <a:spAutoFit/>
          </a:bodyPr>
          <a:lstStyle/>
          <a:p>
            <a:pPr marL="0" indent="0" algn="l">
              <a:buNone/>
            </a:pPr>
            <a:r>
              <a:rPr lang="en-US" sz="900" b="1" kern="0" spc="1" dirty="0">
                <a:solidFill>
                  <a:srgbClr val="101722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/>
              </a:rPr>
              <a:t>CLICK TO WATCH FULL VIDEO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7E252D"/>
          </a:solidFill>
          <a:ln/>
        </p:spPr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4875" y="357188"/>
            <a:ext cx="857250" cy="1285875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679281" y="925116"/>
            <a:ext cx="3178969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FABRIC &amp; TEXTURE DETAIL</a:t>
            </a:r>
            <a:endParaRPr lang="en-US" sz="90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14875" y="1821656"/>
            <a:ext cx="857250" cy="1285875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679281" y="2389584"/>
            <a:ext cx="3178969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REAL-LIFE FIT CONFIDENCE</a:t>
            </a:r>
            <a:endParaRPr lang="en-US" sz="900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4875" y="3286125"/>
            <a:ext cx="857250" cy="1285875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679281" y="3854053"/>
            <a:ext cx="3178969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CALL TO ACTION / SIZE CHART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500063" y="4886325"/>
            <a:ext cx="344898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9CA7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CREATIVE TRACK · 9:16 VERTICAL · PLANNED KPI: SAVES &amp; CTR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0063" y="321469"/>
            <a:ext cx="3821906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kern="0" spc="2" dirty="0">
                <a:solidFill>
                  <a:srgbClr val="F2C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VIDEO DELIVERABLE · AI CREATIVE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500063" y="553641"/>
            <a:ext cx="3821906" cy="722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2350" b="1" dirty="0">
                <a:solidFill>
                  <a:srgbClr val="F7F2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4 — </a:t>
            </a:r>
            <a:r>
              <a:rPr lang="en-US" sz="2350" b="1" dirty="0">
                <a:solidFill>
                  <a:srgbClr val="F2C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Outfit Decision</a:t>
            </a:r>
            <a:endParaRPr lang="en-US" sz="2350" dirty="0"/>
          </a:p>
        </p:txBody>
      </p:sp>
      <p:sp>
        <p:nvSpPr>
          <p:cNvPr id="5" name="Text 2"/>
          <p:cNvSpPr/>
          <p:nvPr/>
        </p:nvSpPr>
        <p:spPr>
          <a:xfrm>
            <a:off x="500063" y="1419374"/>
            <a:ext cx="1821656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kern="0" spc="1" dirty="0">
                <a:solidFill>
                  <a:srgbClr val="F2C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00063" y="1626543"/>
            <a:ext cx="1821656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CBD1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Relatable mirror struggle resolved by Qaim choice.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2500313" y="1419374"/>
            <a:ext cx="1821656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kern="0" spc="1" dirty="0">
                <a:solidFill>
                  <a:srgbClr val="F2C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2500313" y="1626543"/>
            <a:ext cx="1821656" cy="220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CBD1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Lifestyle Relatability.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00063" y="2245147"/>
            <a:ext cx="1821656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kern="0" spc="1" dirty="0">
                <a:solidFill>
                  <a:srgbClr val="F2C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00063" y="2452315"/>
            <a:ext cx="1821656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CBD1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18–35 seeking OOTD inspiration.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2500313" y="2245147"/>
            <a:ext cx="1821656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kern="0" spc="1" dirty="0">
                <a:solidFill>
                  <a:srgbClr val="F2C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CTA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2500313" y="2452315"/>
            <a:ext cx="1821656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CBD1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 the Look on Qaim.shop.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00063" y="3035201"/>
            <a:ext cx="3821906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kern="0" spc="1" dirty="0">
                <a:solidFill>
                  <a:srgbClr val="F2C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VOICE-OVER EXCERPT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00063" y="3292376"/>
            <a:ext cx="3821906" cy="762930"/>
          </a:xfrm>
          <a:prstGeom prst="rect">
            <a:avLst/>
          </a:prstGeom>
          <a:solidFill>
            <a:srgbClr val="7E252D">
              <a:alpha val="20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500063" y="3292376"/>
            <a:ext cx="35719" cy="762930"/>
          </a:xfrm>
          <a:prstGeom prst="rect">
            <a:avLst/>
          </a:prstGeom>
          <a:solidFill>
            <a:srgbClr val="7E252D"/>
          </a:solidFill>
          <a:ln/>
        </p:spPr>
      </p:sp>
      <p:sp>
        <p:nvSpPr>
          <p:cNvPr id="16" name="Text 13"/>
          <p:cNvSpPr/>
          <p:nvPr/>
        </p:nvSpPr>
        <p:spPr>
          <a:xfrm>
            <a:off x="500063" y="3292376"/>
            <a:ext cx="3821906" cy="762930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t">
            <a:spAutoFit/>
          </a:bodyPr>
          <a:lstStyle/>
          <a:p>
            <a:pPr marL="0" indent="0" algn="r">
              <a:lnSpc>
                <a:spcPct val="128000"/>
              </a:lnSpc>
              <a:buNone/>
            </a:pPr>
            <a:r>
              <a:rPr lang="en-US" sz="1250" dirty="0">
                <a:solidFill>
                  <a:srgbClr val="F7F2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«مش لازم تحتار قدام الدولاب… اختار اللوك اللي يناسب يومك.»</a:t>
            </a:r>
            <a:endParaRPr lang="en-US" sz="1250" dirty="0"/>
          </a:p>
        </p:txBody>
      </p:sp>
      <p:sp>
        <p:nvSpPr>
          <p:cNvPr id="17" name="Shape 14">
            <a:hlinkClick r:id="rId4"/>
          </p:cNvPr>
          <p:cNvSpPr/>
          <p:nvPr/>
        </p:nvSpPr>
        <p:spPr>
          <a:xfrm>
            <a:off x="500063" y="4233900"/>
            <a:ext cx="2435963" cy="321469"/>
          </a:xfrm>
          <a:prstGeom prst="rect">
            <a:avLst/>
          </a:prstGeom>
          <a:solidFill>
            <a:srgbClr val="F2C94C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500063" y="4233900"/>
            <a:ext cx="2435963" cy="344710"/>
          </a:xfrm>
          <a:prstGeom prst="rect">
            <a:avLst/>
          </a:prstGeom>
          <a:noFill/>
          <a:ln/>
        </p:spPr>
        <p:txBody>
          <a:bodyPr wrap="square" lIns="212598" tIns="102108" rIns="212598" bIns="102108" rtlCol="0" anchor="t">
            <a:spAutoFit/>
          </a:bodyPr>
          <a:lstStyle/>
          <a:p>
            <a:pPr marL="0" indent="0" algn="l">
              <a:buNone/>
            </a:pPr>
            <a:r>
              <a:rPr lang="en-US" sz="900" b="1" kern="0" spc="1" dirty="0">
                <a:solidFill>
                  <a:srgbClr val="101722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/>
              </a:rPr>
              <a:t>CLICK TO WATCH FULL VIDEO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6F2028"/>
          </a:solidFill>
          <a:ln/>
        </p:spPr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4875" y="357188"/>
            <a:ext cx="857250" cy="1285875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679281" y="925116"/>
            <a:ext cx="3178969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MIRROR STRUGGLE SETUP</a:t>
            </a:r>
            <a:endParaRPr lang="en-US" sz="90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14875" y="1821656"/>
            <a:ext cx="857250" cy="1285875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679281" y="2389584"/>
            <a:ext cx="3178969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OUTFIT OPTIONS SEARCH</a:t>
            </a:r>
            <a:endParaRPr lang="en-US" sz="900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4875" y="3286125"/>
            <a:ext cx="857250" cy="1285875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679281" y="3854053"/>
            <a:ext cx="3178969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CONFIDENT FINAL CHOICE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500063" y="4886325"/>
            <a:ext cx="397789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9CA7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CREATIVE TRACK · 9:16 VERTICAL · PLANNED KPI: ENGAGEMENT &amp; SAVES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0063" y="357188"/>
            <a:ext cx="8143875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kern="0" spc="2" dirty="0">
                <a:solidFill>
                  <a:srgbClr val="F2C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PRODUCTION SYSTEM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500063" y="589359"/>
            <a:ext cx="8143875" cy="3750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350" b="1" dirty="0">
                <a:solidFill>
                  <a:srgbClr val="F7F2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Consistency &amp; </a:t>
            </a:r>
            <a:r>
              <a:rPr lang="en-US" sz="2350" b="1" dirty="0">
                <a:solidFill>
                  <a:srgbClr val="F2C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Execution</a:t>
            </a:r>
            <a:endParaRPr lang="en-US" sz="2350" dirty="0"/>
          </a:p>
        </p:txBody>
      </p:sp>
      <p:sp>
        <p:nvSpPr>
          <p:cNvPr id="5" name="Text 2"/>
          <p:cNvSpPr/>
          <p:nvPr/>
        </p:nvSpPr>
        <p:spPr>
          <a:xfrm>
            <a:off x="500063" y="1178719"/>
            <a:ext cx="3199730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kern="0" spc="1" dirty="0">
                <a:solidFill>
                  <a:srgbClr val="F2C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MODEL WORKFLOW</a:t>
            </a:r>
            <a:endParaRPr lang="en-US" sz="1000" dirty="0"/>
          </a:p>
        </p:txBody>
      </p:sp>
      <p:pic>
        <p:nvPicPr>
          <p:cNvPr id="6" name="Image 1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00063" y="2051000"/>
            <a:ext cx="540023" cy="72003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18679" y="1977033"/>
            <a:ext cx="2481114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Anchor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1218679" y="2244923"/>
            <a:ext cx="2481114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C3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AI-generated persona used across all videos to ensure campaign continuity.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500063" y="3554016"/>
            <a:ext cx="3199730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2C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Integrity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500063" y="3775472"/>
            <a:ext cx="319973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CBD1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 facial features and body proportions maintained through identity-reference prompts.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4435599" y="1178719"/>
            <a:ext cx="4208338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kern="0" spc="1" dirty="0">
                <a:solidFill>
                  <a:srgbClr val="F2C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CINEMATOGRAPHY &amp; POST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4435599" y="1482328"/>
            <a:ext cx="4208338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2C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Shot Selection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435599" y="1703784"/>
            <a:ext cx="4208338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CBD1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Close-ups:</a:t>
            </a:r>
            <a:r>
              <a:rPr lang="en-US" sz="1050" dirty="0">
                <a:solidFill>
                  <a:srgbClr val="CBD1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Texture &amp; labels.
</a:t>
            </a:r>
            <a:r>
              <a:rPr lang="en-US" sz="1000" b="1" dirty="0">
                <a:solidFill>
                  <a:srgbClr val="CBD1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 Shots:</a:t>
            </a:r>
            <a:r>
              <a:rPr lang="en-US" sz="1050" dirty="0">
                <a:solidFill>
                  <a:srgbClr val="CBD1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Styling presentation.
</a:t>
            </a:r>
            <a:r>
              <a:rPr lang="en-US" sz="1000" b="1" dirty="0">
                <a:solidFill>
                  <a:srgbClr val="CBD1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POV/Mirror:</a:t>
            </a:r>
            <a:r>
              <a:rPr lang="en-US" sz="1050" dirty="0">
                <a:solidFill>
                  <a:srgbClr val="CBD1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Relatable perspective.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4435599" y="2482453"/>
            <a:ext cx="4208338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2C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Editing Stack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435599" y="2703909"/>
            <a:ext cx="4208338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CBD1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CapCut:</a:t>
            </a:r>
            <a:r>
              <a:rPr lang="en-US" sz="1050" dirty="0">
                <a:solidFill>
                  <a:srgbClr val="CBD1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Match cuts &amp; sound design.
</a:t>
            </a:r>
            <a:r>
              <a:rPr lang="en-US" sz="1000" b="1" dirty="0">
                <a:solidFill>
                  <a:srgbClr val="CBD1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Video:</a:t>
            </a:r>
            <a:r>
              <a:rPr lang="en-US" sz="1050" dirty="0">
                <a:solidFill>
                  <a:srgbClr val="CBD1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Generative motion.
</a:t>
            </a:r>
            <a:r>
              <a:rPr lang="en-US" sz="1000" b="1" dirty="0">
                <a:solidFill>
                  <a:srgbClr val="CBD1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Audio:</a:t>
            </a:r>
            <a:r>
              <a:rPr lang="en-US" sz="1050" dirty="0">
                <a:solidFill>
                  <a:srgbClr val="CBD1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Natural Egyptian Arabic tone.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500063" y="4850606"/>
            <a:ext cx="425276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kern="0" spc="1" dirty="0">
                <a:solidFill>
                  <a:srgbClr val="6673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PIPELINE: AI GENERATION → CAPCUT EDITING → BRAND-ACCURACY REVIEW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8001000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kern="0" spc="2" dirty="0">
                <a:solidFill>
                  <a:srgbClr val="F2C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MEASUREMENT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571500" y="589359"/>
            <a:ext cx="8001000" cy="3750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350" b="1" dirty="0">
                <a:solidFill>
                  <a:srgbClr val="F7F2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Full-Funnel </a:t>
            </a:r>
            <a:r>
              <a:rPr lang="en-US" sz="2350" b="1" dirty="0">
                <a:solidFill>
                  <a:srgbClr val="F2C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Strategy</a:t>
            </a:r>
            <a:endParaRPr lang="en-US" sz="2350" dirty="0"/>
          </a:p>
        </p:txBody>
      </p:sp>
      <p:sp>
        <p:nvSpPr>
          <p:cNvPr id="5" name="Shape 2"/>
          <p:cNvSpPr/>
          <p:nvPr/>
        </p:nvSpPr>
        <p:spPr>
          <a:xfrm>
            <a:off x="571500" y="1250156"/>
            <a:ext cx="2000250" cy="407194"/>
          </a:xfrm>
          <a:prstGeom prst="rect">
            <a:avLst/>
          </a:prstGeom>
          <a:solidFill>
            <a:srgbClr val="6F2028"/>
          </a:solidFill>
          <a:ln/>
        </p:spPr>
      </p:sp>
      <p:sp>
        <p:nvSpPr>
          <p:cNvPr id="6" name="Text 3"/>
          <p:cNvSpPr/>
          <p:nvPr/>
        </p:nvSpPr>
        <p:spPr>
          <a:xfrm>
            <a:off x="571500" y="1250156"/>
            <a:ext cx="2000250" cy="407194"/>
          </a:xfrm>
          <a:prstGeom prst="rect">
            <a:avLst/>
          </a:prstGeom>
          <a:noFill/>
          <a:ln/>
        </p:spPr>
        <p:txBody>
          <a:bodyPr wrap="square" lIns="153035" tIns="153035" rIns="153035" bIns="153035" rtlCol="0" anchor="t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AWARENESS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71500" y="1743075"/>
            <a:ext cx="2000250" cy="407194"/>
          </a:xfrm>
          <a:prstGeom prst="rect">
            <a:avLst/>
          </a:prstGeom>
          <a:solidFill>
            <a:srgbClr val="6F2028"/>
          </a:solidFill>
          <a:ln/>
        </p:spPr>
      </p:sp>
      <p:sp>
        <p:nvSpPr>
          <p:cNvPr id="8" name="Text 5"/>
          <p:cNvSpPr/>
          <p:nvPr/>
        </p:nvSpPr>
        <p:spPr>
          <a:xfrm>
            <a:off x="571500" y="1743075"/>
            <a:ext cx="2000250" cy="407194"/>
          </a:xfrm>
          <a:prstGeom prst="rect">
            <a:avLst/>
          </a:prstGeom>
          <a:noFill/>
          <a:ln/>
        </p:spPr>
        <p:txBody>
          <a:bodyPr wrap="square" lIns="153035" tIns="153035" rIns="153035" bIns="153035" rtlCol="0" anchor="t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71500" y="2235994"/>
            <a:ext cx="2000250" cy="407194"/>
          </a:xfrm>
          <a:prstGeom prst="rect">
            <a:avLst/>
          </a:prstGeom>
          <a:solidFill>
            <a:srgbClr val="6F2028"/>
          </a:solidFill>
          <a:ln/>
        </p:spPr>
      </p:sp>
      <p:sp>
        <p:nvSpPr>
          <p:cNvPr id="10" name="Text 7"/>
          <p:cNvSpPr/>
          <p:nvPr/>
        </p:nvSpPr>
        <p:spPr>
          <a:xfrm>
            <a:off x="571500" y="2235994"/>
            <a:ext cx="2000250" cy="407194"/>
          </a:xfrm>
          <a:prstGeom prst="rect">
            <a:avLst/>
          </a:prstGeom>
          <a:noFill/>
          <a:ln/>
        </p:spPr>
        <p:txBody>
          <a:bodyPr wrap="square" lIns="153035" tIns="153035" rIns="153035" bIns="153035" rtlCol="0" anchor="t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CONSIDERATION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71500" y="2728913"/>
            <a:ext cx="2000250" cy="407194"/>
          </a:xfrm>
          <a:prstGeom prst="rect">
            <a:avLst/>
          </a:prstGeom>
          <a:solidFill>
            <a:srgbClr val="F2C94C"/>
          </a:solidFill>
          <a:ln/>
        </p:spPr>
      </p:sp>
      <p:sp>
        <p:nvSpPr>
          <p:cNvPr id="12" name="Text 9"/>
          <p:cNvSpPr/>
          <p:nvPr/>
        </p:nvSpPr>
        <p:spPr>
          <a:xfrm>
            <a:off x="571500" y="2728913"/>
            <a:ext cx="2000250" cy="407194"/>
          </a:xfrm>
          <a:prstGeom prst="rect">
            <a:avLst/>
          </a:prstGeom>
          <a:noFill/>
          <a:ln/>
        </p:spPr>
        <p:txBody>
          <a:bodyPr wrap="square" lIns="153035" tIns="153035" rIns="153035" bIns="153035" rtlCol="0" anchor="t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1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CONVERSION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3000375" y="1250156"/>
            <a:ext cx="1393031" cy="375047"/>
          </a:xfrm>
          <a:prstGeom prst="rect">
            <a:avLst/>
          </a:prstGeom>
          <a:noFill/>
          <a:ln/>
        </p:spPr>
        <p:txBody>
          <a:bodyPr wrap="square" lIns="85090" tIns="127508" rIns="85090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900" b="1" kern="0" spc="1" dirty="0">
                <a:solidFill>
                  <a:srgbClr val="F2C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393406" y="1250156"/>
            <a:ext cx="1950244" cy="375047"/>
          </a:xfrm>
          <a:prstGeom prst="rect">
            <a:avLst/>
          </a:prstGeom>
          <a:noFill/>
          <a:ln/>
        </p:spPr>
        <p:txBody>
          <a:bodyPr wrap="square" lIns="85090" tIns="127508" rIns="85090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900" b="1" kern="0" spc="1" dirty="0">
                <a:solidFill>
                  <a:srgbClr val="F2C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343650" y="1250156"/>
            <a:ext cx="2228850" cy="375047"/>
          </a:xfrm>
          <a:prstGeom prst="rect">
            <a:avLst/>
          </a:prstGeom>
          <a:noFill/>
          <a:ln/>
        </p:spPr>
        <p:txBody>
          <a:bodyPr wrap="square" lIns="85090" tIns="127508" rIns="85090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900" b="1" kern="0" spc="1" dirty="0">
                <a:solidFill>
                  <a:srgbClr val="F2C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KPIS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000375" y="1625203"/>
            <a:ext cx="1393031" cy="804342"/>
          </a:xfrm>
          <a:prstGeom prst="rect">
            <a:avLst/>
          </a:prstGeom>
          <a:noFill/>
          <a:ln/>
        </p:spPr>
        <p:txBody>
          <a:bodyPr wrap="square" lIns="85090" tIns="187071" rIns="85090" bIns="187071" rtlCol="0" anchor="ctr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CBD1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Awareness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4464844" y="1793081"/>
            <a:ext cx="1807369" cy="220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F7F2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1 (CapCut)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464844" y="2070236"/>
            <a:ext cx="144125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CBD1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Style Transformation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6415088" y="1942374"/>
            <a:ext cx="125501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CBD1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Reach, 3s Views,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7670099" y="1942374"/>
            <a:ext cx="67251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F2C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ThruPlay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3000375" y="2429545"/>
            <a:ext cx="1393031" cy="797198"/>
          </a:xfrm>
          <a:prstGeom prst="rect">
            <a:avLst/>
          </a:prstGeom>
          <a:noFill/>
          <a:ln/>
        </p:spPr>
        <p:txBody>
          <a:bodyPr wrap="square" lIns="85090" tIns="187071" rIns="85090" bIns="187071" rtlCol="0" anchor="ctr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CBD1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4464844" y="2590279"/>
            <a:ext cx="1807369" cy="220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F7F2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2 (CapCut)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464844" y="2867434"/>
            <a:ext cx="80082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CBD1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Story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6415088" y="2739572"/>
            <a:ext cx="84714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CBD1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Comments,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7262236" y="2739572"/>
            <a:ext cx="87332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F2C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Time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3000375" y="3226743"/>
            <a:ext cx="1393031" cy="797198"/>
          </a:xfrm>
          <a:prstGeom prst="rect">
            <a:avLst/>
          </a:prstGeom>
          <a:noFill/>
          <a:ln/>
        </p:spPr>
        <p:txBody>
          <a:bodyPr wrap="square" lIns="85090" tIns="187071" rIns="85090" bIns="187071" rtlCol="0" anchor="ctr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CBD1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Consideration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4464844" y="3387477"/>
            <a:ext cx="1807369" cy="220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F7F2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3 (AI)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464844" y="3664632"/>
            <a:ext cx="93465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CBD1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Trust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6415088" y="3536770"/>
            <a:ext cx="82119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CBD1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Rate,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7236284" y="3536770"/>
            <a:ext cx="32303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F2C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CTR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3000375" y="4023940"/>
            <a:ext cx="1393031" cy="797198"/>
          </a:xfrm>
          <a:prstGeom prst="rect">
            <a:avLst/>
          </a:prstGeom>
          <a:noFill/>
          <a:ln/>
        </p:spPr>
        <p:txBody>
          <a:bodyPr wrap="square" lIns="85090" tIns="187071" rIns="85090" bIns="187071" rtlCol="0" anchor="ctr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CBD1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Conversion</a:t>
            </a:r>
            <a:endParaRPr lang="en-US" sz="1150" dirty="0"/>
          </a:p>
        </p:txBody>
      </p:sp>
      <p:sp>
        <p:nvSpPr>
          <p:cNvPr id="32" name="Text 29"/>
          <p:cNvSpPr/>
          <p:nvPr/>
        </p:nvSpPr>
        <p:spPr>
          <a:xfrm>
            <a:off x="4464844" y="4184675"/>
            <a:ext cx="1807369" cy="220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F7F2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4 (AI)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4464844" y="4461830"/>
            <a:ext cx="102194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CBD1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Outfit Decision</a:t>
            </a:r>
            <a:endParaRPr lang="en-US" sz="1150" dirty="0"/>
          </a:p>
        </p:txBody>
      </p:sp>
      <p:sp>
        <p:nvSpPr>
          <p:cNvPr id="34" name="Text 31"/>
          <p:cNvSpPr/>
          <p:nvPr/>
        </p:nvSpPr>
        <p:spPr>
          <a:xfrm>
            <a:off x="6415088" y="4333968"/>
            <a:ext cx="88230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CBD1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to Cart,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7297396" y="4333968"/>
            <a:ext cx="42778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F2C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571500" y="4850606"/>
            <a:ext cx="418534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kern="0" spc="1" dirty="0">
                <a:solidFill>
                  <a:srgbClr val="6673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MEASUREMENT FRAMEWORK: META ADS MANAGER &amp; GOOGLE ANALYTICS 4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kern="0" spc="2" dirty="0">
                <a:solidFill>
                  <a:srgbClr val="F2C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SUBMISSION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571500" y="660797"/>
            <a:ext cx="8001000" cy="392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F7F2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Deliverables &amp; </a:t>
            </a:r>
            <a:r>
              <a:rPr lang="en-US" sz="2450" b="1" dirty="0">
                <a:solidFill>
                  <a:srgbClr val="F2C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Value</a:t>
            </a:r>
            <a:endParaRPr lang="en-US" sz="2450" dirty="0"/>
          </a:p>
        </p:txBody>
      </p:sp>
      <p:sp>
        <p:nvSpPr>
          <p:cNvPr id="5" name="Text 2"/>
          <p:cNvSpPr/>
          <p:nvPr/>
        </p:nvSpPr>
        <p:spPr>
          <a:xfrm>
            <a:off x="571500" y="1339453"/>
            <a:ext cx="1905093" cy="267891"/>
          </a:xfrm>
          <a:prstGeom prst="rect">
            <a:avLst/>
          </a:prstGeom>
          <a:noFill/>
          <a:ln/>
        </p:spPr>
        <p:txBody>
          <a:bodyPr wrap="square" lIns="0" tIns="0" rIns="0" bIns="102108" rtlCol="0" anchor="t">
            <a:spAutoFit/>
          </a:bodyPr>
          <a:lstStyle/>
          <a:p>
            <a:pPr marL="0" indent="0" algn="l">
              <a:buNone/>
            </a:pPr>
            <a:r>
              <a:rPr lang="en-US" sz="1000" b="1" kern="0" spc="1" dirty="0">
                <a:solidFill>
                  <a:srgbClr val="F2C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SUBMISSION CHECKLIST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714375" y="1785938"/>
            <a:ext cx="3506186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Campaign Videos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14375" y="2057400"/>
            <a:ext cx="350618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C3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CapCut Reels + 2 AI Concepts in 9:16 vertical format.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71500" y="2471738"/>
            <a:ext cx="3714750" cy="1239441"/>
          </a:xfrm>
          <a:prstGeom prst="rect">
            <a:avLst/>
          </a:prstGeom>
          <a:solidFill>
            <a:srgbClr val="6F2028">
              <a:alpha val="20000"/>
            </a:srgbClr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571500" y="2471738"/>
            <a:ext cx="35719" cy="1239441"/>
          </a:xfrm>
          <a:prstGeom prst="rect">
            <a:avLst/>
          </a:prstGeom>
          <a:solidFill>
            <a:srgbClr val="6F2028"/>
          </a:solidFill>
          <a:ln/>
        </p:spPr>
      </p:sp>
      <p:sp>
        <p:nvSpPr>
          <p:cNvPr id="10" name="Text 7"/>
          <p:cNvSpPr/>
          <p:nvPr/>
        </p:nvSpPr>
        <p:spPr>
          <a:xfrm>
            <a:off x="785813" y="2686050"/>
            <a:ext cx="3286125" cy="6155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kern="0" spc="1" dirty="0">
                <a:solidFill>
                  <a:srgbClr val="F2C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DRIVE SUBMISSION LINK</a:t>
            </a:r>
            <a:endParaRPr lang="ar-EG" sz="800" b="1" kern="0" spc="1" dirty="0">
              <a:solidFill>
                <a:srgbClr val="F2C94C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r>
              <a:rPr lang="en-US" sz="800" b="1" kern="0" spc="1" dirty="0">
                <a:solidFill>
                  <a:srgbClr val="F2C94C"/>
                </a:solidFill>
                <a:latin typeface="Arial" pitchFamily="34" charset="0"/>
                <a:cs typeface="Arial" pitchFamily="34" charset="-120"/>
                <a:hlinkClick r:id="rId4"/>
              </a:rPr>
              <a:t>https://drive.google.com/drive/folders/1PGUohiDfPJRF70YXqBrjpg4fLNR3bclG</a:t>
            </a:r>
            <a:endParaRPr lang="ar-EG" sz="800" b="1" kern="0" spc="1" dirty="0">
              <a:solidFill>
                <a:srgbClr val="F2C94C"/>
              </a:solidFill>
              <a:latin typeface="Arial" pitchFamily="34" charset="0"/>
              <a:cs typeface="Arial" pitchFamily="34" charset="-120"/>
            </a:endParaRPr>
          </a:p>
          <a:p>
            <a:pPr marL="0" indent="0" algn="l">
              <a:buNone/>
            </a:pPr>
            <a:endParaRPr lang="ar-EG" sz="800" b="1" kern="0" spc="1" dirty="0">
              <a:solidFill>
                <a:srgbClr val="F2C94C"/>
              </a:solidFill>
              <a:latin typeface="Arial" pitchFamily="34" charset="0"/>
              <a:cs typeface="Arial" pitchFamily="34" charset="-120"/>
            </a:endParaRPr>
          </a:p>
          <a:p>
            <a:pPr marL="0" indent="0" algn="l">
              <a:buNone/>
            </a:pP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785813" y="2903934"/>
            <a:ext cx="3286125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85813" y="3382566"/>
            <a:ext cx="32861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9CA7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permissions to: "Anyone with the link → Viewer"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4857750" y="1339453"/>
            <a:ext cx="1787500" cy="267891"/>
          </a:xfrm>
          <a:prstGeom prst="rect">
            <a:avLst/>
          </a:prstGeom>
          <a:noFill/>
          <a:ln/>
        </p:spPr>
        <p:txBody>
          <a:bodyPr wrap="square" lIns="0" tIns="0" rIns="0" bIns="102108" rtlCol="0" anchor="t">
            <a:spAutoFit/>
          </a:bodyPr>
          <a:lstStyle/>
          <a:p>
            <a:pPr marL="0" indent="0" algn="l">
              <a:buNone/>
            </a:pPr>
            <a:r>
              <a:rPr lang="en-US" sz="1000" b="1" kern="0" spc="1" dirty="0">
                <a:solidFill>
                  <a:srgbClr val="F2C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STRENGTH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000625" y="1785938"/>
            <a:ext cx="3382956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Full-Funnel Thinking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000625" y="2057400"/>
            <a:ext cx="338295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C3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Mapping creative assets to specific marketing stages.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000625" y="2471738"/>
            <a:ext cx="3089281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AI-Human Hybrid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000625" y="2743200"/>
            <a:ext cx="308928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C3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Showcasing mastery of modern production tools.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571500" y="4814888"/>
            <a:ext cx="37932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kern="0" spc="1" dirty="0">
                <a:solidFill>
                  <a:srgbClr val="6673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ASSIGNMENT 9 COMPLETED · QAIM VIDEO CAMPAIGN · AUGUST 2026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899</Words>
  <Application>Microsoft Office PowerPoint</Application>
  <PresentationFormat>عرض على الشاشة (16:9)</PresentationFormat>
  <Paragraphs>170</Paragraphs>
  <Slides>10</Slides>
  <Notes>10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2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mohamed salem</cp:lastModifiedBy>
  <cp:revision>2</cp:revision>
  <dcterms:created xsi:type="dcterms:W3CDTF">2026-08-25T14:58:42Z</dcterms:created>
  <dcterms:modified xsi:type="dcterms:W3CDTF">2026-08-25T17:07:27Z</dcterms:modified>
</cp:coreProperties>
</file>