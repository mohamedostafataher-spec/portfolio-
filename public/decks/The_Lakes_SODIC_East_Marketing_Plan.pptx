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2618d23-7040-570a-cb4d-37180e06d5ee}">
          <p14:sldIdLst>
            <p14:sldId id="256"/>
            <p14:sldId id="257"/>
          </p14:sldIdLst>
        </p14:section>
        <p14:section name="The offer and the market" id="{f1d17344-b054-03b5-3ec3-929bb0584436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Audience and creative" id="{2e29137f-5785-078f-9437-46d24aa43e66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Funnel, media and measurement" id="{1a6e976b-efea-2f07-5e40-3e7c70585315}">
          <p14:sldIdLst>
            <p14:sldId id="270"/>
            <p14:sldId id="271"/>
            <p14:sldId id="272"/>
            <p14:sldId id="273"/>
          </p14:sldIdLst>
        </p14:section>
        <p14:section name="Compliance and close" id="{16a6ef32-603e-94b8-c9e5-e52986194b21}">
          <p14:sldIdLst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B8B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F80C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4B942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E07B4F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8FA9B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Meta</c:v>
                </c:pt>
                <c:pt idx="1">
                  <c:v>TikTok &amp; YouTube</c:v>
                </c:pt>
                <c:pt idx="2">
                  <c:v>Retargeting</c:v>
                </c:pt>
                <c:pt idx="3">
                  <c:v>Production</c:v>
                </c:pt>
                <c:pt idx="4">
                  <c:v>Test reserve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50</c:v>
                </c:pt>
                <c:pt idx="1">
                  <c:v>15</c:v>
                </c:pt>
                <c:pt idx="2">
                  <c:v>10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LIGHT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</a:rPr>
              <a:t>THE LAKES   |   SODIC EAST   |   MARKETING PLAN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84048"/>
            <a:ext cx="82296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4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6"/>
                </a:solidFill>
              </a:rPr>
              <a:t>THE LAKES   |   SODIC EAST   |   MARKETING PLAN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84048"/>
            <a:ext cx="82296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4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1-1.mp4"/><Relationship Id="rId2" Type="http://schemas.microsoft.com/office/2007/relationships/media" Target="../media/media-11-1.mp4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pple0"/>
          <p:cNvSpPr/>
          <p:nvPr/>
        </p:nvSpPr>
        <p:spPr>
          <a:xfrm>
            <a:off x="8503920" y="1188720"/>
            <a:ext cx="1645920" cy="1645920"/>
          </a:xfrm>
          <a:prstGeom prst="ellipse">
            <a:avLst/>
          </a:prstGeom>
          <a:ln w="28575">
            <a:solidFill>
              <a:srgbClr val="2A97A0"/>
            </a:solidFill>
            <a:prstDash val="solid"/>
          </a:ln>
        </p:spPr>
      </p:sp>
      <p:sp>
        <p:nvSpPr>
          <p:cNvPr id="3" name="ripple1"/>
          <p:cNvSpPr/>
          <p:nvPr/>
        </p:nvSpPr>
        <p:spPr>
          <a:xfrm>
            <a:off x="7955280" y="640080"/>
            <a:ext cx="2743200" cy="2743200"/>
          </a:xfrm>
          <a:prstGeom prst="ellipse">
            <a:avLst/>
          </a:prstGeom>
          <a:ln w="28575">
            <a:solidFill>
              <a:srgbClr val="22808A"/>
            </a:solidFill>
            <a:prstDash val="solid"/>
          </a:ln>
        </p:spPr>
      </p:sp>
      <p:sp>
        <p:nvSpPr>
          <p:cNvPr id="4" name="ripple2"/>
          <p:cNvSpPr/>
          <p:nvPr/>
        </p:nvSpPr>
        <p:spPr>
          <a:xfrm>
            <a:off x="7406640" y="91440"/>
            <a:ext cx="3840480" cy="3840480"/>
          </a:xfrm>
          <a:prstGeom prst="ellipse">
            <a:avLst/>
          </a:prstGeom>
          <a:ln w="28575">
            <a:solidFill>
              <a:srgbClr val="1B6A74"/>
            </a:solidFill>
            <a:prstDash val="solid"/>
          </a:ln>
        </p:spPr>
      </p:sp>
      <p:sp>
        <p:nvSpPr>
          <p:cNvPr id="5" name="ripple3"/>
          <p:cNvSpPr/>
          <p:nvPr/>
        </p:nvSpPr>
        <p:spPr>
          <a:xfrm>
            <a:off x="6858000" y="-457200"/>
            <a:ext cx="4937760" cy="4937760"/>
          </a:xfrm>
          <a:prstGeom prst="ellipse">
            <a:avLst/>
          </a:prstGeom>
          <a:ln w="28575">
            <a:solidFill>
              <a:srgbClr val="145861"/>
            </a:solidFill>
            <a:prstDash val="solid"/>
          </a:ln>
        </p:spPr>
      </p:sp>
      <p:sp>
        <p:nvSpPr>
          <p:cNvPr id="6" name="mono"/>
          <p:cNvSpPr/>
          <p:nvPr/>
        </p:nvSpPr>
        <p:spPr>
          <a:xfrm>
            <a:off x="548640" y="59436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monotxt"/>
          <p:cNvSpPr txBox="1"/>
          <p:nvPr/>
        </p:nvSpPr>
        <p:spPr>
          <a:xfrm>
            <a:off x="548640" y="594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MT</a:t>
            </a:r>
            <a:endParaRPr lang="en-US" sz="2000" dirty="0"/>
          </a:p>
        </p:txBody>
      </p:sp>
      <p:sp>
        <p:nvSpPr>
          <p:cNvPr id="8" name="by"/>
          <p:cNvSpPr txBox="1"/>
          <p:nvPr/>
        </p:nvSpPr>
        <p:spPr>
          <a:xfrm>
            <a:off x="1371600" y="59436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</a:rPr>
              <a:t>MOHAMED MOSTAFA TAHER SALEM</a:t>
            </a:r>
            <a:endParaRPr lang="en-US" sz="1400" dirty="0"/>
          </a:p>
          <a:p>
            <a:pPr indent="0" marL="0">
              <a:buNone/>
            </a:pPr>
            <a:r>
              <a:rPr lang="en-US" sz="1200" spc="400" kern="0" dirty="0">
                <a:solidFill>
                  <a:schemeClr val="accent2"/>
                </a:solidFill>
              </a:rPr>
              <a:t>CREATIVE MARKETER</a:t>
            </a:r>
            <a:endParaRPr lang="en-US" sz="1400" dirty="0"/>
          </a:p>
        </p:txBody>
      </p:sp>
      <p:sp>
        <p:nvSpPr>
          <p:cNvPr id="9" name="h1"/>
          <p:cNvSpPr txBox="1"/>
          <p:nvPr/>
        </p:nvSpPr>
        <p:spPr>
          <a:xfrm>
            <a:off x="548640" y="15544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Lakes</a:t>
            </a:r>
            <a:endParaRPr lang="en-US" sz="8000" dirty="0"/>
          </a:p>
        </p:txBody>
      </p:sp>
      <p:sp>
        <p:nvSpPr>
          <p:cNvPr id="10" name="h2"/>
          <p:cNvSpPr txBox="1"/>
          <p:nvPr/>
        </p:nvSpPr>
        <p:spPr>
          <a:xfrm>
            <a:off x="548640" y="2834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around water.</a:t>
            </a:r>
            <a:endParaRPr lang="en-US" sz="3600" dirty="0"/>
          </a:p>
        </p:txBody>
      </p:sp>
      <p:sp>
        <p:nvSpPr>
          <p:cNvPr id="11" name="ar"/>
          <p:cNvSpPr txBox="1"/>
          <p:nvPr/>
        </p:nvSpPr>
        <p:spPr>
          <a:xfrm>
            <a:off x="548640" y="35204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عيش على الميّه</a:t>
            </a:r>
            <a:endParaRPr lang="en-US" sz="3200" dirty="0"/>
          </a:p>
        </p:txBody>
      </p:sp>
      <p:sp>
        <p:nvSpPr>
          <p:cNvPr id="12" name="meta"/>
          <p:cNvSpPr txBox="1"/>
          <p:nvPr/>
        </p:nvSpPr>
        <p:spPr>
          <a:xfrm>
            <a:off x="548640" y="43434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SODIC East   |   Full marketing &amp; creative plan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October 2026</a:t>
            </a:r>
            <a:endParaRPr lang="en-US" sz="1600" dirty="0"/>
          </a:p>
        </p:txBody>
      </p:sp>
      <p:sp>
        <p:nvSpPr>
          <p:cNvPr id="13" name="pill"/>
          <p:cNvSpPr/>
          <p:nvPr/>
        </p:nvSpPr>
        <p:spPr>
          <a:xfrm>
            <a:off x="548640" y="5349240"/>
            <a:ext cx="3749040" cy="457200"/>
          </a:xfrm>
          <a:prstGeom prst="roundRect">
            <a:avLst>
              <a:gd name="adj" fmla="val 50000"/>
            </a:avLst>
          </a:prstGeom>
          <a:ln w="19050">
            <a:solidFill>
              <a:schemeClr val="accent4"/>
            </a:solidFill>
            <a:prstDash val="solid"/>
          </a:ln>
        </p:spPr>
      </p:sp>
      <p:sp>
        <p:nvSpPr>
          <p:cNvPr id="14" name="pilltxt"/>
          <p:cNvSpPr txBox="1"/>
          <p:nvPr/>
        </p:nvSpPr>
        <p:spPr>
          <a:xfrm>
            <a:off x="548640" y="5349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CONCEPT PLAN - NOT COMMISSIONED</a:t>
            </a:r>
            <a:endParaRPr lang="en-US" sz="1200" dirty="0"/>
          </a:p>
        </p:txBody>
      </p:sp>
      <p:pic>
        <p:nvPicPr>
          <p:cNvPr id="15" name="hero" descr="Illustrative render of The Lakes lagoon and residential build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3246120"/>
            <a:ext cx="6611112" cy="2779776"/>
          </a:xfrm>
          <a:prstGeom prst="rect">
            <a:avLst/>
          </a:prstGeom>
        </p:spPr>
      </p:pic>
      <p:sp>
        <p:nvSpPr>
          <p:cNvPr id="16" name="tag1"/>
          <p:cNvSpPr/>
          <p:nvPr/>
        </p:nvSpPr>
        <p:spPr>
          <a:xfrm>
            <a:off x="5394960" y="3319272"/>
            <a:ext cx="228600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7" name="tag1t"/>
          <p:cNvSpPr txBox="1"/>
          <p:nvPr/>
        </p:nvSpPr>
        <p:spPr>
          <a:xfrm>
            <a:off x="5394960" y="33192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THE LAKES  |  SODIC EAST</a:t>
            </a:r>
            <a:endParaRPr lang="en-US" sz="1100" dirty="0"/>
          </a:p>
        </p:txBody>
      </p:sp>
      <p:sp>
        <p:nvSpPr>
          <p:cNvPr id="18" name="tag2"/>
          <p:cNvSpPr/>
          <p:nvPr/>
        </p:nvSpPr>
        <p:spPr>
          <a:xfrm>
            <a:off x="8988552" y="3319272"/>
            <a:ext cx="228600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9" name="tag2t"/>
          <p:cNvSpPr txBox="1"/>
          <p:nvPr/>
        </p:nvSpPr>
        <p:spPr>
          <a:xfrm>
            <a:off x="8988552" y="33192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ILLUSTRATIVE RENDER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2" dur="220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indefinite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64" dur="220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6" presetClass="emph" presetSubtype="0" repeatCount="indefinite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66" dur="22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26" presetClass="emph" presetSubtype="0" repeatCount="indefinite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Scale>
                                      <p:cBhvr>
                                        <p:cTn id="68" dur="22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02   EXECUTIVE SUMMARY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offer in four numbers.</a:t>
            </a:r>
            <a:endParaRPr lang="en-US" sz="4000" dirty="0"/>
          </a:p>
        </p:txBody>
      </p:sp>
      <p:sp>
        <p:nvSpPr>
          <p:cNvPr id="4" name="stat0"/>
          <p:cNvSpPr/>
          <p:nvPr/>
        </p:nvSpPr>
        <p:spPr>
          <a:xfrm>
            <a:off x="548640" y="1691640"/>
            <a:ext cx="2606040" cy="1371600"/>
          </a:xfrm>
          <a:prstGeom prst="roundRect">
            <a:avLst>
              <a:gd name="adj" fmla="val 9333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5" name="statv0"/>
          <p:cNvSpPr txBox="1"/>
          <p:nvPr/>
        </p:nvSpPr>
        <p:spPr>
          <a:xfrm>
            <a:off x="548640" y="17830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1.5%</a:t>
            </a:r>
            <a:endParaRPr lang="en-US" sz="4600" dirty="0"/>
          </a:p>
        </p:txBody>
      </p:sp>
      <p:sp>
        <p:nvSpPr>
          <p:cNvPr id="6" name="statl0"/>
          <p:cNvSpPr txBox="1"/>
          <p:nvPr/>
        </p:nvSpPr>
        <p:spPr>
          <a:xfrm>
            <a:off x="548640" y="2560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Down payment</a:t>
            </a:r>
            <a:endParaRPr lang="en-US" sz="1600" dirty="0"/>
          </a:p>
        </p:txBody>
      </p:sp>
      <p:sp>
        <p:nvSpPr>
          <p:cNvPr id="7" name="stat1"/>
          <p:cNvSpPr/>
          <p:nvPr/>
        </p:nvSpPr>
        <p:spPr>
          <a:xfrm>
            <a:off x="3367735" y="1691640"/>
            <a:ext cx="2606040" cy="1371600"/>
          </a:xfrm>
          <a:prstGeom prst="roundRect">
            <a:avLst>
              <a:gd name="adj" fmla="val 9333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8" name="statv1"/>
          <p:cNvSpPr txBox="1"/>
          <p:nvPr/>
        </p:nvSpPr>
        <p:spPr>
          <a:xfrm>
            <a:off x="3367735" y="17830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yrs</a:t>
            </a:r>
            <a:endParaRPr lang="en-US" sz="4600" dirty="0"/>
          </a:p>
        </p:txBody>
      </p:sp>
      <p:sp>
        <p:nvSpPr>
          <p:cNvPr id="9" name="statl1"/>
          <p:cNvSpPr txBox="1"/>
          <p:nvPr/>
        </p:nvSpPr>
        <p:spPr>
          <a:xfrm>
            <a:off x="3367735" y="2560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Installments</a:t>
            </a:r>
            <a:endParaRPr lang="en-US" sz="1600" dirty="0"/>
          </a:p>
        </p:txBody>
      </p:sp>
      <p:sp>
        <p:nvSpPr>
          <p:cNvPr id="10" name="stat2"/>
          <p:cNvSpPr/>
          <p:nvPr/>
        </p:nvSpPr>
        <p:spPr>
          <a:xfrm>
            <a:off x="6186830" y="1691640"/>
            <a:ext cx="2606040" cy="1371600"/>
          </a:xfrm>
          <a:prstGeom prst="roundRect">
            <a:avLst>
              <a:gd name="adj" fmla="val 9333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1" name="statv2"/>
          <p:cNvSpPr txBox="1"/>
          <p:nvPr/>
        </p:nvSpPr>
        <p:spPr>
          <a:xfrm>
            <a:off x="6186830" y="17830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4600" dirty="0"/>
          </a:p>
        </p:txBody>
      </p:sp>
      <p:sp>
        <p:nvSpPr>
          <p:cNvPr id="12" name="statl2"/>
          <p:cNvSpPr txBox="1"/>
          <p:nvPr/>
        </p:nvSpPr>
        <p:spPr>
          <a:xfrm>
            <a:off x="6186830" y="2560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EOI (EGP)</a:t>
            </a:r>
            <a:endParaRPr lang="en-US" sz="1600" dirty="0"/>
          </a:p>
        </p:txBody>
      </p:sp>
      <p:sp>
        <p:nvSpPr>
          <p:cNvPr id="13" name="stat3"/>
          <p:cNvSpPr/>
          <p:nvPr/>
        </p:nvSpPr>
        <p:spPr>
          <a:xfrm>
            <a:off x="9005926" y="1691640"/>
            <a:ext cx="2606040" cy="1371600"/>
          </a:xfrm>
          <a:prstGeom prst="roundRect">
            <a:avLst>
              <a:gd name="adj" fmla="val 9333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4" name="statv3"/>
          <p:cNvSpPr txBox="1"/>
          <p:nvPr/>
        </p:nvSpPr>
        <p:spPr>
          <a:xfrm>
            <a:off x="9005926" y="17830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6.7M</a:t>
            </a:r>
            <a:endParaRPr lang="en-US" sz="4600" dirty="0"/>
          </a:p>
        </p:txBody>
      </p:sp>
      <p:sp>
        <p:nvSpPr>
          <p:cNvPr id="15" name="statl3"/>
          <p:cNvSpPr txBox="1"/>
          <p:nvPr/>
        </p:nvSpPr>
        <p:spPr>
          <a:xfrm>
            <a:off x="9005926" y="2560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1 Bed, starting from</a:t>
            </a:r>
            <a:endParaRPr lang="en-US" sz="1600" dirty="0"/>
          </a:p>
        </p:txBody>
      </p:sp>
      <p:sp>
        <p:nvSpPr>
          <p:cNvPr id="16" name="ex0"/>
          <p:cNvSpPr/>
          <p:nvPr/>
        </p:nvSpPr>
        <p:spPr>
          <a:xfrm>
            <a:off x="548640" y="3383280"/>
            <a:ext cx="5440680" cy="1280160"/>
          </a:xfrm>
          <a:prstGeom prst="roundRect">
            <a:avLst>
              <a:gd name="adj" fmla="val 10000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exc0"/>
          <p:cNvSpPr/>
          <p:nvPr/>
        </p:nvSpPr>
        <p:spPr>
          <a:xfrm>
            <a:off x="777240" y="3566160"/>
            <a:ext cx="155448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8" name="exl0"/>
          <p:cNvSpPr txBox="1"/>
          <p:nvPr/>
        </p:nvSpPr>
        <p:spPr>
          <a:xfrm>
            <a:off x="777240" y="35661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</a:rPr>
              <a:t>UPDATE</a:t>
            </a:r>
            <a:endParaRPr lang="en-US" sz="1200" dirty="0"/>
          </a:p>
        </p:txBody>
      </p:sp>
      <p:sp>
        <p:nvSpPr>
          <p:cNvPr id="19" name="ext0"/>
          <p:cNvSpPr txBox="1"/>
          <p:nvPr/>
        </p:nvSpPr>
        <p:spPr>
          <a:xfrm>
            <a:off x="777240" y="395020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The plan now uses the 1.5% down payment (the earlier sales kit text said 0%).</a:t>
            </a:r>
            <a:endParaRPr lang="en-US" sz="1600" dirty="0"/>
          </a:p>
        </p:txBody>
      </p:sp>
      <p:sp>
        <p:nvSpPr>
          <p:cNvPr id="20" name="ex1"/>
          <p:cNvSpPr/>
          <p:nvPr/>
        </p:nvSpPr>
        <p:spPr>
          <a:xfrm>
            <a:off x="6172200" y="3383280"/>
            <a:ext cx="5440680" cy="1280160"/>
          </a:xfrm>
          <a:prstGeom prst="roundRect">
            <a:avLst>
              <a:gd name="adj" fmla="val 10000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21" name="exc1"/>
          <p:cNvSpPr/>
          <p:nvPr/>
        </p:nvSpPr>
        <p:spPr>
          <a:xfrm>
            <a:off x="6400800" y="3566160"/>
            <a:ext cx="15544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exl1"/>
          <p:cNvSpPr txBox="1"/>
          <p:nvPr/>
        </p:nvSpPr>
        <p:spPr>
          <a:xfrm>
            <a:off x="6400800" y="35661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</a:rPr>
              <a:t>OPPORTUNITY</a:t>
            </a:r>
            <a:endParaRPr lang="en-US" sz="1200" dirty="0"/>
          </a:p>
        </p:txBody>
      </p:sp>
      <p:sp>
        <p:nvSpPr>
          <p:cNvPr id="23" name="ext1"/>
          <p:cNvSpPr txBox="1"/>
          <p:nvPr/>
        </p:nvSpPr>
        <p:spPr>
          <a:xfrm>
            <a:off x="6400800" y="395020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swimmable lagoon (3,000 m2), a big sports club and working LRT and monorail nearby.</a:t>
            </a:r>
            <a:endParaRPr lang="en-US" sz="1600" dirty="0"/>
          </a:p>
        </p:txBody>
      </p:sp>
      <p:sp>
        <p:nvSpPr>
          <p:cNvPr id="24" name="ex2"/>
          <p:cNvSpPr/>
          <p:nvPr/>
        </p:nvSpPr>
        <p:spPr>
          <a:xfrm>
            <a:off x="548640" y="4828032"/>
            <a:ext cx="5440680" cy="1280160"/>
          </a:xfrm>
          <a:prstGeom prst="roundRect">
            <a:avLst>
              <a:gd name="adj" fmla="val 10000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25" name="exc2"/>
          <p:cNvSpPr/>
          <p:nvPr/>
        </p:nvSpPr>
        <p:spPr>
          <a:xfrm>
            <a:off x="777240" y="5010912"/>
            <a:ext cx="155448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6" name="exl2"/>
          <p:cNvSpPr txBox="1"/>
          <p:nvPr/>
        </p:nvSpPr>
        <p:spPr>
          <a:xfrm>
            <a:off x="777240" y="50109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</a:rPr>
              <a:t>CHALLENGE</a:t>
            </a:r>
            <a:endParaRPr lang="en-US" sz="1200" dirty="0"/>
          </a:p>
        </p:txBody>
      </p:sp>
      <p:sp>
        <p:nvSpPr>
          <p:cNvPr id="27" name="ext2"/>
          <p:cNvSpPr txBox="1"/>
          <p:nvPr/>
        </p:nvSpPr>
        <p:spPr>
          <a:xfrm>
            <a:off x="777240" y="53949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Talala (Madinet Masr) sells fully finished units in the same area. The Lakes is Flexi Plus.</a:t>
            </a:r>
            <a:endParaRPr lang="en-US" sz="1600" dirty="0"/>
          </a:p>
        </p:txBody>
      </p:sp>
      <p:sp>
        <p:nvSpPr>
          <p:cNvPr id="28" name="ex3"/>
          <p:cNvSpPr/>
          <p:nvPr/>
        </p:nvSpPr>
        <p:spPr>
          <a:xfrm>
            <a:off x="6172200" y="4828032"/>
            <a:ext cx="5440680" cy="1280160"/>
          </a:xfrm>
          <a:prstGeom prst="roundRect">
            <a:avLst>
              <a:gd name="adj" fmla="val 10000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29" name="exc3"/>
          <p:cNvSpPr/>
          <p:nvPr/>
        </p:nvSpPr>
        <p:spPr>
          <a:xfrm>
            <a:off x="6400800" y="5010912"/>
            <a:ext cx="155448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30" name="exl3"/>
          <p:cNvSpPr txBox="1"/>
          <p:nvPr/>
        </p:nvSpPr>
        <p:spPr>
          <a:xfrm>
            <a:off x="6400800" y="50109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</a:rPr>
              <a:t>STRATEGY</a:t>
            </a:r>
            <a:endParaRPr lang="en-US" sz="1200" dirty="0"/>
          </a:p>
        </p:txBody>
      </p:sp>
      <p:sp>
        <p:nvSpPr>
          <p:cNvPr id="31" name="ext3"/>
          <p:cNvSpPr txBox="1"/>
          <p:nvPr/>
        </p:nvSpPr>
        <p:spPr>
          <a:xfrm>
            <a:off x="6400800" y="53949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Lead with the water lifestyle, close with the 1.5% start, and move every lead to WhatsApp.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03   THE NUMBERS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The numbers behind the offer.</a:t>
            </a:r>
            <a:endParaRPr lang="en-US" sz="4000" dirty="0"/>
          </a:p>
        </p:txBody>
      </p:sp>
      <p:graphicFrame>
        <p:nvGraphicFramePr>
          <p:cNvPr id="4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554480"/>
                <a:gridCol w="1920240"/>
                <a:gridCol w="173736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Unit type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Starting price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1.5% down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Monthly (illustr.)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Size band m2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EGP per m2 (indic.)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 Bed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6.7M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100.5k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55.0k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60-82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82-112k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 Bed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10.9M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163.5k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89.5k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121-130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84-90k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 Bed + Nanny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11.2M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168.0k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91.9k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120-133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84-93k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 Bed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13.2M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198.0k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108.3k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147-155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85-90k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 Bed + Nanny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14.1M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211.5k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115.7k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153-164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86-92k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 Bed Duplex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17.7M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265.5k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145.3k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148-209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85-120k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 Bed + Nanny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17.5M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262.5k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143.6k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166-199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88-105k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ote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Illustrative math: 98.5% paid in 120 equal installments, no interest or escalation. The real schedule and EOI treatment come from the developer. Per-m2 uses the unit-size band from the floor plans.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04   PROJECT FACTS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What the sales kit confirms.</a:t>
            </a:r>
            <a:endParaRPr lang="en-US" sz="4000" dirty="0"/>
          </a:p>
        </p:txBody>
      </p:sp>
      <p:sp>
        <p:nvSpPr>
          <p:cNvPr id="4" name="sub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SODIC East master plan and The Lakes phase.</a:t>
            </a:r>
            <a:endParaRPr lang="en-US" sz="1600" dirty="0"/>
          </a:p>
        </p:txBody>
      </p:sp>
      <p:sp>
        <p:nvSpPr>
          <p:cNvPr id="5" name="f0"/>
          <p:cNvSpPr/>
          <p:nvPr/>
        </p:nvSpPr>
        <p:spPr>
          <a:xfrm>
            <a:off x="548640" y="210312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6" name="fv0"/>
          <p:cNvSpPr txBox="1"/>
          <p:nvPr/>
        </p:nvSpPr>
        <p:spPr>
          <a:xfrm>
            <a:off x="731520" y="2331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655 feddan</a:t>
            </a:r>
            <a:endParaRPr lang="en-US" sz="3000" dirty="0"/>
          </a:p>
        </p:txBody>
      </p:sp>
      <p:sp>
        <p:nvSpPr>
          <p:cNvPr id="7" name="fl0"/>
          <p:cNvSpPr txBox="1"/>
          <p:nvPr/>
        </p:nvSpPr>
        <p:spPr>
          <a:xfrm>
            <a:off x="731520" y="3108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SODIC East master plan</a:t>
            </a:r>
            <a:endParaRPr lang="en-US" sz="1500" dirty="0"/>
          </a:p>
        </p:txBody>
      </p:sp>
      <p:sp>
        <p:nvSpPr>
          <p:cNvPr id="8" name="f1"/>
          <p:cNvSpPr/>
          <p:nvPr/>
        </p:nvSpPr>
        <p:spPr>
          <a:xfrm>
            <a:off x="3367735" y="210312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9" name="fv1"/>
          <p:cNvSpPr txBox="1"/>
          <p:nvPr/>
        </p:nvSpPr>
        <p:spPr>
          <a:xfrm>
            <a:off x="3550615" y="2331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6,000 units</a:t>
            </a:r>
            <a:endParaRPr lang="en-US" sz="3000" dirty="0"/>
          </a:p>
        </p:txBody>
      </p:sp>
      <p:sp>
        <p:nvSpPr>
          <p:cNvPr id="10" name="fl1"/>
          <p:cNvSpPr txBox="1"/>
          <p:nvPr/>
        </p:nvSpPr>
        <p:spPr>
          <a:xfrm>
            <a:off x="3550615" y="3108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20,000 residents expected</a:t>
            </a:r>
            <a:endParaRPr lang="en-US" sz="1500" dirty="0"/>
          </a:p>
        </p:txBody>
      </p:sp>
      <p:sp>
        <p:nvSpPr>
          <p:cNvPr id="11" name="f2"/>
          <p:cNvSpPr/>
          <p:nvPr/>
        </p:nvSpPr>
        <p:spPr>
          <a:xfrm>
            <a:off x="6186830" y="210312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2" name="fv2"/>
          <p:cNvSpPr txBox="1"/>
          <p:nvPr/>
        </p:nvSpPr>
        <p:spPr>
          <a:xfrm>
            <a:off x="6369710" y="2331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 m2</a:t>
            </a:r>
            <a:endParaRPr lang="en-US" sz="3000" dirty="0"/>
          </a:p>
        </p:txBody>
      </p:sp>
      <p:sp>
        <p:nvSpPr>
          <p:cNvPr id="13" name="fl2"/>
          <p:cNvSpPr txBox="1"/>
          <p:nvPr/>
        </p:nvSpPr>
        <p:spPr>
          <a:xfrm>
            <a:off x="6369710" y="3108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Swimmable lagoon, sandy shore</a:t>
            </a:r>
            <a:endParaRPr lang="en-US" sz="1500" dirty="0"/>
          </a:p>
        </p:txBody>
      </p:sp>
      <p:sp>
        <p:nvSpPr>
          <p:cNvPr id="14" name="f3"/>
          <p:cNvSpPr/>
          <p:nvPr/>
        </p:nvSpPr>
        <p:spPr>
          <a:xfrm>
            <a:off x="9005926" y="210312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5" name="fv3"/>
          <p:cNvSpPr txBox="1"/>
          <p:nvPr/>
        </p:nvSpPr>
        <p:spPr>
          <a:xfrm>
            <a:off x="9188806" y="2331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9,000 m2</a:t>
            </a:r>
            <a:endParaRPr lang="en-US" sz="3000" dirty="0"/>
          </a:p>
        </p:txBody>
      </p:sp>
      <p:sp>
        <p:nvSpPr>
          <p:cNvPr id="16" name="fl3"/>
          <p:cNvSpPr txBox="1"/>
          <p:nvPr/>
        </p:nvSpPr>
        <p:spPr>
          <a:xfrm>
            <a:off x="9188806" y="3108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Total water features</a:t>
            </a:r>
            <a:endParaRPr lang="en-US" sz="1500" dirty="0"/>
          </a:p>
        </p:txBody>
      </p:sp>
      <p:sp>
        <p:nvSpPr>
          <p:cNvPr id="17" name="f4"/>
          <p:cNvSpPr/>
          <p:nvPr/>
        </p:nvSpPr>
        <p:spPr>
          <a:xfrm>
            <a:off x="548640" y="416052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8" name="fv4"/>
          <p:cNvSpPr txBox="1"/>
          <p:nvPr/>
        </p:nvSpPr>
        <p:spPr>
          <a:xfrm>
            <a:off x="731520" y="4389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3000" dirty="0"/>
          </a:p>
        </p:txBody>
      </p:sp>
      <p:sp>
        <p:nvSpPr>
          <p:cNvPr id="19" name="fl4"/>
          <p:cNvSpPr txBox="1"/>
          <p:nvPr/>
        </p:nvSpPr>
        <p:spPr>
          <a:xfrm>
            <a:off x="731520" y="5166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Footprint</a:t>
            </a:r>
            <a:endParaRPr lang="en-US" sz="1500" dirty="0"/>
          </a:p>
        </p:txBody>
      </p:sp>
      <p:sp>
        <p:nvSpPr>
          <p:cNvPr id="20" name="f5"/>
          <p:cNvSpPr/>
          <p:nvPr/>
        </p:nvSpPr>
        <p:spPr>
          <a:xfrm>
            <a:off x="3367735" y="416052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21" name="fv5"/>
          <p:cNvSpPr txBox="1"/>
          <p:nvPr/>
        </p:nvSpPr>
        <p:spPr>
          <a:xfrm>
            <a:off x="3550615" y="4389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110K m2</a:t>
            </a:r>
            <a:endParaRPr lang="en-US" sz="3000" dirty="0"/>
          </a:p>
        </p:txBody>
      </p:sp>
      <p:sp>
        <p:nvSpPr>
          <p:cNvPr id="22" name="fl5"/>
          <p:cNvSpPr txBox="1"/>
          <p:nvPr/>
        </p:nvSpPr>
        <p:spPr>
          <a:xfrm>
            <a:off x="3550615" y="5166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Commercial area</a:t>
            </a:r>
            <a:endParaRPr lang="en-US" sz="1500" dirty="0"/>
          </a:p>
        </p:txBody>
      </p:sp>
      <p:sp>
        <p:nvSpPr>
          <p:cNvPr id="23" name="f6"/>
          <p:cNvSpPr/>
          <p:nvPr/>
        </p:nvSpPr>
        <p:spPr>
          <a:xfrm>
            <a:off x="6186830" y="416052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24" name="fv6"/>
          <p:cNvSpPr txBox="1"/>
          <p:nvPr/>
        </p:nvSpPr>
        <p:spPr>
          <a:xfrm>
            <a:off x="6369710" y="4389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+90%</a:t>
            </a:r>
            <a:endParaRPr lang="en-US" sz="3000" dirty="0"/>
          </a:p>
        </p:txBody>
      </p:sp>
      <p:sp>
        <p:nvSpPr>
          <p:cNvPr id="25" name="fl6"/>
          <p:cNvSpPr txBox="1"/>
          <p:nvPr/>
        </p:nvSpPr>
        <p:spPr>
          <a:xfrm>
            <a:off x="6369710" y="5166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Units with water-feature views</a:t>
            </a:r>
            <a:endParaRPr lang="en-US" sz="1500" dirty="0"/>
          </a:p>
        </p:txBody>
      </p:sp>
      <p:sp>
        <p:nvSpPr>
          <p:cNvPr id="26" name="f7"/>
          <p:cNvSpPr/>
          <p:nvPr/>
        </p:nvSpPr>
        <p:spPr>
          <a:xfrm>
            <a:off x="9005926" y="416052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27" name="fv7"/>
          <p:cNvSpPr txBox="1"/>
          <p:nvPr/>
        </p:nvSpPr>
        <p:spPr>
          <a:xfrm>
            <a:off x="9188806" y="4389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28" name="fl7"/>
          <p:cNvSpPr txBox="1"/>
          <p:nvPr/>
        </p:nvSpPr>
        <p:spPr>
          <a:xfrm>
            <a:off x="9188806" y="5166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Units with green, open views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05   LOCATION &amp; TRANSPORT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Between two main roads. On the rail map.</a:t>
            </a:r>
            <a:endParaRPr lang="en-US" sz="4000" dirty="0"/>
          </a:p>
        </p:txBody>
      </p:sp>
      <p:sp>
        <p:nvSpPr>
          <p:cNvPr id="4" name="t0"/>
          <p:cNvSpPr/>
          <p:nvPr/>
        </p:nvSpPr>
        <p:spPr>
          <a:xfrm>
            <a:off x="548640" y="1783080"/>
            <a:ext cx="2606040" cy="16002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5" name="tv0"/>
          <p:cNvSpPr txBox="1"/>
          <p:nvPr/>
        </p:nvSpPr>
        <p:spPr>
          <a:xfrm>
            <a:off x="548640" y="19202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min</a:t>
            </a:r>
            <a:endParaRPr lang="en-US" sz="4400" dirty="0"/>
          </a:p>
        </p:txBody>
      </p:sp>
      <p:sp>
        <p:nvSpPr>
          <p:cNvPr id="6" name="tl0"/>
          <p:cNvSpPr txBox="1"/>
          <p:nvPr/>
        </p:nvSpPr>
        <p:spPr>
          <a:xfrm>
            <a:off x="548640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LRT station</a:t>
            </a:r>
            <a:endParaRPr lang="en-US" sz="1800" dirty="0"/>
          </a:p>
        </p:txBody>
      </p:sp>
      <p:sp>
        <p:nvSpPr>
          <p:cNvPr id="7" name="t1"/>
          <p:cNvSpPr/>
          <p:nvPr/>
        </p:nvSpPr>
        <p:spPr>
          <a:xfrm>
            <a:off x="3367735" y="1783080"/>
            <a:ext cx="2606040" cy="16002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8" name="tv1"/>
          <p:cNvSpPr txBox="1"/>
          <p:nvPr/>
        </p:nvSpPr>
        <p:spPr>
          <a:xfrm>
            <a:off x="3367735" y="19202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min</a:t>
            </a:r>
            <a:endParaRPr lang="en-US" sz="4400" dirty="0"/>
          </a:p>
        </p:txBody>
      </p:sp>
      <p:sp>
        <p:nvSpPr>
          <p:cNvPr id="9" name="tl1"/>
          <p:cNvSpPr txBox="1"/>
          <p:nvPr/>
        </p:nvSpPr>
        <p:spPr>
          <a:xfrm>
            <a:off x="3367735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Monorail station</a:t>
            </a:r>
            <a:endParaRPr lang="en-US" sz="1800" dirty="0"/>
          </a:p>
        </p:txBody>
      </p:sp>
      <p:sp>
        <p:nvSpPr>
          <p:cNvPr id="10" name="t2"/>
          <p:cNvSpPr/>
          <p:nvPr/>
        </p:nvSpPr>
        <p:spPr>
          <a:xfrm>
            <a:off x="6186830" y="1783080"/>
            <a:ext cx="2606040" cy="16002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1" name="tv2"/>
          <p:cNvSpPr txBox="1"/>
          <p:nvPr/>
        </p:nvSpPr>
        <p:spPr>
          <a:xfrm>
            <a:off x="6186830" y="19202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min</a:t>
            </a:r>
            <a:endParaRPr lang="en-US" sz="4400" dirty="0"/>
          </a:p>
        </p:txBody>
      </p:sp>
      <p:sp>
        <p:nvSpPr>
          <p:cNvPr id="12" name="tl2"/>
          <p:cNvSpPr txBox="1"/>
          <p:nvPr/>
        </p:nvSpPr>
        <p:spPr>
          <a:xfrm>
            <a:off x="6186830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Cairo airport</a:t>
            </a:r>
            <a:endParaRPr lang="en-US" sz="1800" dirty="0"/>
          </a:p>
        </p:txBody>
      </p:sp>
      <p:sp>
        <p:nvSpPr>
          <p:cNvPr id="13" name="t3"/>
          <p:cNvSpPr/>
          <p:nvPr/>
        </p:nvSpPr>
        <p:spPr>
          <a:xfrm>
            <a:off x="9005926" y="1783080"/>
            <a:ext cx="2606040" cy="16002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4" name="tv3"/>
          <p:cNvSpPr txBox="1"/>
          <p:nvPr/>
        </p:nvSpPr>
        <p:spPr>
          <a:xfrm>
            <a:off x="9005926" y="19202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min</a:t>
            </a:r>
            <a:endParaRPr lang="en-US" sz="4400" dirty="0"/>
          </a:p>
        </p:txBody>
      </p:sp>
      <p:sp>
        <p:nvSpPr>
          <p:cNvPr id="15" name="tl3"/>
          <p:cNvSpPr txBox="1"/>
          <p:nvPr/>
        </p:nvSpPr>
        <p:spPr>
          <a:xfrm>
            <a:off x="9005926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90th Street</a:t>
            </a:r>
            <a:endParaRPr lang="en-US" sz="1800" dirty="0"/>
          </a:p>
        </p:txBody>
      </p:sp>
      <p:sp>
        <p:nvSpPr>
          <p:cNvPr id="16" name="locbox"/>
          <p:cNvSpPr/>
          <p:nvPr/>
        </p:nvSpPr>
        <p:spPr>
          <a:xfrm>
            <a:off x="548640" y="3657600"/>
            <a:ext cx="11064240" cy="25603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pic>
        <p:nvPicPr>
          <p:cNvPr id="17" name="loc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931920"/>
            <a:ext cx="502920" cy="502920"/>
          </a:xfrm>
          <a:prstGeom prst="rect">
            <a:avLst/>
          </a:prstGeom>
        </p:spPr>
      </p:pic>
      <p:sp>
        <p:nvSpPr>
          <p:cNvPr id="18" name="loctxt"/>
          <p:cNvSpPr txBox="1"/>
          <p:nvPr/>
        </p:nvSpPr>
        <p:spPr>
          <a:xfrm>
            <a:off x="1645920" y="384048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Distances are from the sales kit. Between Suez Road and Ismailia Road, next to El Shorouk.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LRT is operating (first phase opened 2022) and serves El Shorouk and New Heliopolis.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East Nile Monorail: passenger service started 6 May 2026; the full 22-station line opened 27 June 2026.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nearby metro line is still planned.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06   COMPETITOR MAP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Who else is selling nearby.</a:t>
            </a:r>
            <a:endParaRPr lang="en-US" sz="4000" dirty="0"/>
          </a:p>
        </p:txBody>
      </p:sp>
      <p:sp>
        <p:nvSpPr>
          <p:cNvPr id="4" name="sub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Official: Zawya, Daily News Egypt. Broker figures (Enjaz, Bayut, Nawy, realestate-capsule) change often.</a:t>
            </a:r>
            <a:endParaRPr lang="en-US" sz="1600" dirty="0"/>
          </a:p>
        </p:txBody>
      </p:sp>
      <p:graphicFrame>
        <p:nvGraphicFramePr>
          <p:cNvPr id="7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286000"/>
                <a:gridCol w="1737360"/>
                <a:gridCol w="4937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Project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Developer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Area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What is known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The Lakes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SODIC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New Heliopolis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1.5% down, 10 yrs, EOI 50K, Flexi Plus, lagoon 3,000 m2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3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Talala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Madinet Masr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New Heliopolis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491 feddan, 4,174 fully finished units in phase 1 (official). Brokers: 5% down, 2 Bed 8.9-12.7M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Mayan El Shorouk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El Shorouk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Broker: 2 Bed from 5.7M, 10% down, 10 yrs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Sarai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Madinet Masr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New Cairo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Lagoon of 50,000 m2 (Nawy)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Hyde Park / iCity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Hyde Park / Mountain View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New Cairo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Crystal lagoon and beach park concepts (listings)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07   HEAD TO HEAD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The Lakes vs Talala.</a:t>
            </a:r>
            <a:endParaRPr lang="en-US" sz="4000" dirty="0"/>
          </a:p>
        </p:txBody>
      </p:sp>
      <p:sp>
        <p:nvSpPr>
          <p:cNvPr id="4" name="sub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Talala is the closest rival by location and price band. Broker data is marked.</a:t>
            </a:r>
            <a:endParaRPr lang="en-US" sz="1600" dirty="0"/>
          </a:p>
        </p:txBody>
      </p:sp>
      <p:graphicFrame>
        <p:nvGraphicFramePr>
          <p:cNvPr id="8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  <a:gridCol w="4389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Factor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The Lakes (SODIC)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Talala (Madinet Masr)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Down payment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1.5%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5% (brokers)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Finishing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Flexi Plus: core works done, owner finishes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Fully finished (official)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Scale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Phase of about 65 feddan (broker)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491 feddan, 4,174 units in phase 1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Entry price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Bed from 6.7M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Bed 4.1M-9.3M (broker, Feb 2026)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Delivery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2030 (brokers; confirm)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Within 4.5 years of Aug 2025 launch (official)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Hero feature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Swimmable lagoon, island cafe, sports club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Large integrated community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08   SWOT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Strengths, gaps, openings, threats.</a:t>
            </a:r>
            <a:endParaRPr lang="en-US" sz="4000" dirty="0"/>
          </a:p>
        </p:txBody>
      </p:sp>
      <p:sp>
        <p:nvSpPr>
          <p:cNvPr id="4" name="sw0"/>
          <p:cNvSpPr/>
          <p:nvPr/>
        </p:nvSpPr>
        <p:spPr>
          <a:xfrm>
            <a:off x="548640" y="1737360"/>
            <a:ext cx="5440680" cy="2103120"/>
          </a:xfrm>
          <a:prstGeom prst="roundRect">
            <a:avLst>
              <a:gd name="adj" fmla="val 6087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5" name="swd0"/>
          <p:cNvSpPr/>
          <p:nvPr/>
        </p:nvSpPr>
        <p:spPr>
          <a:xfrm>
            <a:off x="822960" y="198424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wl0"/>
          <p:cNvSpPr txBox="1"/>
          <p:nvPr/>
        </p:nvSpPr>
        <p:spPr>
          <a:xfrm>
            <a:off x="1234440" y="19202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STRENGTHS</a:t>
            </a:r>
            <a:endParaRPr lang="en-US" sz="1800" dirty="0"/>
          </a:p>
        </p:txBody>
      </p:sp>
      <p:sp>
        <p:nvSpPr>
          <p:cNvPr id="7" name="swt0"/>
          <p:cNvSpPr txBox="1"/>
          <p:nvPr/>
        </p:nvSpPr>
        <p:spPr>
          <a:xfrm>
            <a:off x="868680" y="2450592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SODIC brand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Swimmable lagoon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1.5% down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Club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Sasaki master plan, EDSA lagoon design</a:t>
            </a:r>
            <a:endParaRPr lang="en-US" sz="1500" dirty="0"/>
          </a:p>
        </p:txBody>
      </p:sp>
      <p:sp>
        <p:nvSpPr>
          <p:cNvPr id="8" name="sw1"/>
          <p:cNvSpPr/>
          <p:nvPr/>
        </p:nvSpPr>
        <p:spPr>
          <a:xfrm>
            <a:off x="6172200" y="1737360"/>
            <a:ext cx="5440680" cy="2103120"/>
          </a:xfrm>
          <a:prstGeom prst="roundRect">
            <a:avLst>
              <a:gd name="adj" fmla="val 6087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9" name="swd1"/>
          <p:cNvSpPr/>
          <p:nvPr/>
        </p:nvSpPr>
        <p:spPr>
          <a:xfrm>
            <a:off x="6446520" y="1984248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swl1"/>
          <p:cNvSpPr txBox="1"/>
          <p:nvPr/>
        </p:nvSpPr>
        <p:spPr>
          <a:xfrm>
            <a:off x="6858000" y="19202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3"/>
                </a:solidFill>
              </a:rPr>
              <a:t>WEAKNESSES</a:t>
            </a:r>
            <a:endParaRPr lang="en-US" sz="1800" dirty="0"/>
          </a:p>
        </p:txBody>
      </p:sp>
      <p:sp>
        <p:nvSpPr>
          <p:cNvPr id="11" name="swt1"/>
          <p:cNvSpPr txBox="1"/>
          <p:nvPr/>
        </p:nvSpPr>
        <p:spPr>
          <a:xfrm>
            <a:off x="6492240" y="2450592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Not delivered yet (2030 per brokers)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Owner pays finishing, AC and heaters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Price above finished rivals</a:t>
            </a:r>
            <a:endParaRPr lang="en-US" sz="1500" dirty="0"/>
          </a:p>
        </p:txBody>
      </p:sp>
      <p:sp>
        <p:nvSpPr>
          <p:cNvPr id="12" name="sw2"/>
          <p:cNvSpPr/>
          <p:nvPr/>
        </p:nvSpPr>
        <p:spPr>
          <a:xfrm>
            <a:off x="548640" y="4023360"/>
            <a:ext cx="5440680" cy="2103120"/>
          </a:xfrm>
          <a:prstGeom prst="roundRect">
            <a:avLst>
              <a:gd name="adj" fmla="val 6087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3" name="swd2"/>
          <p:cNvSpPr/>
          <p:nvPr/>
        </p:nvSpPr>
        <p:spPr>
          <a:xfrm>
            <a:off x="822960" y="4270248"/>
            <a:ext cx="274320" cy="2743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4" name="swl2"/>
          <p:cNvSpPr txBox="1"/>
          <p:nvPr/>
        </p:nvSpPr>
        <p:spPr>
          <a:xfrm>
            <a:off x="1234440" y="42062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5"/>
                </a:solidFill>
              </a:rPr>
              <a:t>OPPORTUNITIES</a:t>
            </a:r>
            <a:endParaRPr lang="en-US" sz="1800" dirty="0"/>
          </a:p>
        </p:txBody>
      </p:sp>
      <p:sp>
        <p:nvSpPr>
          <p:cNvPr id="15" name="swt2"/>
          <p:cNvSpPr txBox="1"/>
          <p:nvPr/>
        </p:nvSpPr>
        <p:spPr>
          <a:xfrm>
            <a:off x="868680" y="4736592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LRT and monorail working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Long-installment demand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Strong video content on a small budget</a:t>
            </a:r>
            <a:endParaRPr lang="en-US" sz="1500" dirty="0"/>
          </a:p>
        </p:txBody>
      </p:sp>
      <p:sp>
        <p:nvSpPr>
          <p:cNvPr id="16" name="sw3"/>
          <p:cNvSpPr/>
          <p:nvPr/>
        </p:nvSpPr>
        <p:spPr>
          <a:xfrm>
            <a:off x="6172200" y="4023360"/>
            <a:ext cx="5440680" cy="2103120"/>
          </a:xfrm>
          <a:prstGeom prst="roundRect">
            <a:avLst>
              <a:gd name="adj" fmla="val 6087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wd3"/>
          <p:cNvSpPr/>
          <p:nvPr/>
        </p:nvSpPr>
        <p:spPr>
          <a:xfrm>
            <a:off x="6446520" y="4270248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swl3"/>
          <p:cNvSpPr txBox="1"/>
          <p:nvPr/>
        </p:nvSpPr>
        <p:spPr>
          <a:xfrm>
            <a:off x="6858000" y="42062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4"/>
                </a:solidFill>
              </a:rPr>
              <a:t>THREATS</a:t>
            </a:r>
            <a:endParaRPr lang="en-US" sz="1800" dirty="0"/>
          </a:p>
        </p:txBody>
      </p:sp>
      <p:sp>
        <p:nvSpPr>
          <p:cNvPr id="19" name="swt3"/>
          <p:cNvSpPr txBox="1"/>
          <p:nvPr/>
        </p:nvSpPr>
        <p:spPr>
          <a:xfrm>
            <a:off x="6492240" y="4736592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Talala scale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Other lagoons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Real estate ad rules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Price changes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09   AUDIENCE HYPOTHESES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Four buyers to test.</a:t>
            </a:r>
            <a:endParaRPr lang="en-US" sz="4000" dirty="0"/>
          </a:p>
        </p:txBody>
      </p:sp>
      <p:sp>
        <p:nvSpPr>
          <p:cNvPr id="4" name="sub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Hypotheses from the unit mix. Validate with ad and WhatsApp data.</a:t>
            </a:r>
            <a:endParaRPr lang="en-US" sz="1600" dirty="0"/>
          </a:p>
        </p:txBody>
      </p:sp>
      <p:sp>
        <p:nvSpPr>
          <p:cNvPr id="5" name="a0"/>
          <p:cNvSpPr/>
          <p:nvPr/>
        </p:nvSpPr>
        <p:spPr>
          <a:xfrm>
            <a:off x="548640" y="2057400"/>
            <a:ext cx="2606040" cy="4114800"/>
          </a:xfrm>
          <a:prstGeom prst="roundRect">
            <a:avLst>
              <a:gd name="adj" fmla="val 4912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6" name="an0"/>
          <p:cNvSpPr/>
          <p:nvPr/>
        </p:nvSpPr>
        <p:spPr>
          <a:xfrm>
            <a:off x="822960" y="23317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ant0"/>
          <p:cNvSpPr txBox="1"/>
          <p:nvPr/>
        </p:nvSpPr>
        <p:spPr>
          <a:xfrm>
            <a:off x="82296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at0"/>
          <p:cNvSpPr txBox="1"/>
          <p:nvPr/>
        </p:nvSpPr>
        <p:spPr>
          <a:xfrm>
            <a:off x="822960" y="33375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First-home couple</a:t>
            </a:r>
            <a:endParaRPr lang="en-US" sz="2200" dirty="0"/>
          </a:p>
        </p:txBody>
      </p:sp>
      <p:sp>
        <p:nvSpPr>
          <p:cNvPr id="9" name="ad0"/>
          <p:cNvSpPr txBox="1"/>
          <p:nvPr/>
        </p:nvSpPr>
        <p:spPr>
          <a:xfrm>
            <a:off x="822960" y="429768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1 Bed, about 55K/month (illustr.). Message: start with 1.5%.</a:t>
            </a:r>
            <a:endParaRPr lang="en-US" sz="1600" dirty="0"/>
          </a:p>
        </p:txBody>
      </p:sp>
      <p:sp>
        <p:nvSpPr>
          <p:cNvPr id="10" name="a1"/>
          <p:cNvSpPr/>
          <p:nvPr/>
        </p:nvSpPr>
        <p:spPr>
          <a:xfrm>
            <a:off x="3367735" y="2057400"/>
            <a:ext cx="2606040" cy="4114800"/>
          </a:xfrm>
          <a:prstGeom prst="roundRect">
            <a:avLst>
              <a:gd name="adj" fmla="val 4912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1" name="an1"/>
          <p:cNvSpPr/>
          <p:nvPr/>
        </p:nvSpPr>
        <p:spPr>
          <a:xfrm>
            <a:off x="3642055" y="233172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ant1"/>
          <p:cNvSpPr txBox="1"/>
          <p:nvPr/>
        </p:nvSpPr>
        <p:spPr>
          <a:xfrm>
            <a:off x="3642055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at1"/>
          <p:cNvSpPr txBox="1"/>
          <p:nvPr/>
        </p:nvSpPr>
        <p:spPr>
          <a:xfrm>
            <a:off x="3642055" y="33375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Remote-working pair</a:t>
            </a:r>
            <a:endParaRPr lang="en-US" sz="2200" dirty="0"/>
          </a:p>
        </p:txBody>
      </p:sp>
      <p:sp>
        <p:nvSpPr>
          <p:cNvPr id="14" name="ad1"/>
          <p:cNvSpPr txBox="1"/>
          <p:nvPr/>
        </p:nvSpPr>
        <p:spPr>
          <a:xfrm>
            <a:off x="3642055" y="429768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2 Bed, about 89K/month. Reading nook and working pod.</a:t>
            </a:r>
            <a:endParaRPr lang="en-US" sz="1600" dirty="0"/>
          </a:p>
        </p:txBody>
      </p:sp>
      <p:sp>
        <p:nvSpPr>
          <p:cNvPr id="15" name="a2"/>
          <p:cNvSpPr/>
          <p:nvPr/>
        </p:nvSpPr>
        <p:spPr>
          <a:xfrm>
            <a:off x="6186830" y="2057400"/>
            <a:ext cx="2606040" cy="4114800"/>
          </a:xfrm>
          <a:prstGeom prst="roundRect">
            <a:avLst>
              <a:gd name="adj" fmla="val 4912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6" name="an2"/>
          <p:cNvSpPr/>
          <p:nvPr/>
        </p:nvSpPr>
        <p:spPr>
          <a:xfrm>
            <a:off x="6461150" y="233172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ant2"/>
          <p:cNvSpPr txBox="1"/>
          <p:nvPr/>
        </p:nvSpPr>
        <p:spPr>
          <a:xfrm>
            <a:off x="646115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at2"/>
          <p:cNvSpPr txBox="1"/>
          <p:nvPr/>
        </p:nvSpPr>
        <p:spPr>
          <a:xfrm>
            <a:off x="6461150" y="33375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family</a:t>
            </a:r>
            <a:endParaRPr lang="en-US" sz="2200" dirty="0"/>
          </a:p>
        </p:txBody>
      </p:sp>
      <p:sp>
        <p:nvSpPr>
          <p:cNvPr id="19" name="ad2"/>
          <p:cNvSpPr txBox="1"/>
          <p:nvPr/>
        </p:nvSpPr>
        <p:spPr>
          <a:xfrm>
            <a:off x="6461150" y="429768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3 Bed + Nanny, about 116K/month. Club, school nearby, kids areas.</a:t>
            </a:r>
            <a:endParaRPr lang="en-US" sz="1600" dirty="0"/>
          </a:p>
        </p:txBody>
      </p:sp>
      <p:sp>
        <p:nvSpPr>
          <p:cNvPr id="20" name="a3"/>
          <p:cNvSpPr/>
          <p:nvPr/>
        </p:nvSpPr>
        <p:spPr>
          <a:xfrm>
            <a:off x="9005926" y="2057400"/>
            <a:ext cx="2606040" cy="4114800"/>
          </a:xfrm>
          <a:prstGeom prst="roundRect">
            <a:avLst>
              <a:gd name="adj" fmla="val 4912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21" name="an3"/>
          <p:cNvSpPr/>
          <p:nvPr/>
        </p:nvSpPr>
        <p:spPr>
          <a:xfrm>
            <a:off x="9280246" y="233172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2" name="ant3"/>
          <p:cNvSpPr txBox="1"/>
          <p:nvPr/>
        </p:nvSpPr>
        <p:spPr>
          <a:xfrm>
            <a:off x="9280246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at3"/>
          <p:cNvSpPr txBox="1"/>
          <p:nvPr/>
        </p:nvSpPr>
        <p:spPr>
          <a:xfrm>
            <a:off x="9280246" y="33375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Garden and terrace lover</a:t>
            </a:r>
            <a:endParaRPr lang="en-US" sz="2200" dirty="0"/>
          </a:p>
        </p:txBody>
      </p:sp>
      <p:sp>
        <p:nvSpPr>
          <p:cNvPr id="24" name="ad3"/>
          <p:cNvSpPr txBox="1"/>
          <p:nvPr/>
        </p:nvSpPr>
        <p:spPr>
          <a:xfrm>
            <a:off x="9280246" y="429768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Ground-floor garden 39-108 m2 or top-floor terrace up to 100 m2.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10   CREATIVE PLATFORM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Three routes. One big idea.</a:t>
            </a:r>
            <a:endParaRPr lang="en-US" sz="4000" dirty="0"/>
          </a:p>
        </p:txBody>
      </p:sp>
      <p:sp>
        <p:nvSpPr>
          <p:cNvPr id="4" name="r0"/>
          <p:cNvSpPr/>
          <p:nvPr/>
        </p:nvSpPr>
        <p:spPr>
          <a:xfrm>
            <a:off x="548640" y="1783080"/>
            <a:ext cx="4114800" cy="4434840"/>
          </a:xfrm>
          <a:prstGeom prst="roundRect">
            <a:avLst>
              <a:gd name="adj" fmla="val 3111"/>
            </a:avLst>
          </a:prstGeom>
          <a:solidFill>
            <a:srgbClr val="0B3A47"/>
          </a:solidFill>
          <a:ln w="254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5" name="rl0"/>
          <p:cNvSpPr txBox="1"/>
          <p:nvPr/>
        </p:nvSpPr>
        <p:spPr>
          <a:xfrm>
            <a:off x="82296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4"/>
                </a:solidFill>
              </a:rPr>
              <a:t>LEAD ROUTE</a:t>
            </a:r>
            <a:endParaRPr lang="en-US" sz="1300" dirty="0"/>
          </a:p>
        </p:txBody>
      </p:sp>
      <p:sp>
        <p:nvSpPr>
          <p:cNvPr id="6" name="rc0"/>
          <p:cNvSpPr/>
          <p:nvPr/>
        </p:nvSpPr>
        <p:spPr>
          <a:xfrm>
            <a:off x="822960" y="24688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rlt0"/>
          <p:cNvSpPr txBox="1"/>
          <p:nvPr/>
        </p:nvSpPr>
        <p:spPr>
          <a:xfrm>
            <a:off x="82296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800" dirty="0"/>
          </a:p>
        </p:txBody>
      </p:sp>
      <p:sp>
        <p:nvSpPr>
          <p:cNvPr id="8" name="rt0"/>
          <p:cNvSpPr txBox="1"/>
          <p:nvPr/>
        </p:nvSpPr>
        <p:spPr>
          <a:xfrm>
            <a:off x="822960" y="33832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Day on the Water</a:t>
            </a:r>
            <a:endParaRPr lang="en-US" sz="2400" dirty="0"/>
          </a:p>
        </p:txBody>
      </p:sp>
      <p:sp>
        <p:nvSpPr>
          <p:cNvPr id="9" name="rar0"/>
          <p:cNvSpPr txBox="1"/>
          <p:nvPr/>
        </p:nvSpPr>
        <p:spPr>
          <a:xfrm>
            <a:off x="822960" y="4251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يوم كامل على الميّه</a:t>
            </a:r>
            <a:endParaRPr lang="en-US" sz="2000" dirty="0"/>
          </a:p>
        </p:txBody>
      </p:sp>
      <p:sp>
        <p:nvSpPr>
          <p:cNvPr id="10" name="rd0"/>
          <p:cNvSpPr txBox="1"/>
          <p:nvPr/>
        </p:nvSpPr>
        <p:spPr>
          <a:xfrm>
            <a:off x="822960" y="475488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Dawn terrace, lagoon, work pod, club, island cafe, lit path. Brand film and reel series.</a:t>
            </a:r>
            <a:endParaRPr lang="en-US" sz="1500" dirty="0"/>
          </a:p>
        </p:txBody>
      </p:sp>
      <p:sp>
        <p:nvSpPr>
          <p:cNvPr id="11" name="r1"/>
          <p:cNvSpPr/>
          <p:nvPr/>
        </p:nvSpPr>
        <p:spPr>
          <a:xfrm>
            <a:off x="4892040" y="1783080"/>
            <a:ext cx="3337560" cy="4434840"/>
          </a:xfrm>
          <a:prstGeom prst="roundRect">
            <a:avLst>
              <a:gd name="adj" fmla="val 3836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2" name="rl1"/>
          <p:cNvSpPr txBox="1"/>
          <p:nvPr/>
        </p:nvSpPr>
        <p:spPr>
          <a:xfrm>
            <a:off x="5166360" y="20116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SUPPORT</a:t>
            </a:r>
            <a:endParaRPr lang="en-US" sz="1300" dirty="0"/>
          </a:p>
        </p:txBody>
      </p:sp>
      <p:sp>
        <p:nvSpPr>
          <p:cNvPr id="13" name="rc1"/>
          <p:cNvSpPr/>
          <p:nvPr/>
        </p:nvSpPr>
        <p:spPr>
          <a:xfrm>
            <a:off x="5166360" y="24688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rlt1"/>
          <p:cNvSpPr txBox="1"/>
          <p:nvPr/>
        </p:nvSpPr>
        <p:spPr>
          <a:xfrm>
            <a:off x="516636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800" dirty="0"/>
          </a:p>
        </p:txBody>
      </p:sp>
      <p:sp>
        <p:nvSpPr>
          <p:cNvPr id="15" name="rt1"/>
          <p:cNvSpPr txBox="1"/>
          <p:nvPr/>
        </p:nvSpPr>
        <p:spPr>
          <a:xfrm>
            <a:off x="5166360" y="33832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Terrace, Your View</a:t>
            </a:r>
            <a:endParaRPr lang="en-US" sz="2400" dirty="0"/>
          </a:p>
        </p:txBody>
      </p:sp>
      <p:sp>
        <p:nvSpPr>
          <p:cNvPr id="16" name="rar1"/>
          <p:cNvSpPr txBox="1"/>
          <p:nvPr/>
        </p:nvSpPr>
        <p:spPr>
          <a:xfrm>
            <a:off x="5166360" y="42519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تراسك على المنظر</a:t>
            </a:r>
            <a:endParaRPr lang="en-US" sz="2000" dirty="0"/>
          </a:p>
        </p:txBody>
      </p:sp>
      <p:sp>
        <p:nvSpPr>
          <p:cNvPr id="17" name="rd1"/>
          <p:cNvSpPr txBox="1"/>
          <p:nvPr/>
        </p:nvSpPr>
        <p:spPr>
          <a:xfrm>
            <a:off x="5166360" y="475488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Every unit has a terrace (kit). POV videos "from my terrace". Great for retargeting.</a:t>
            </a:r>
            <a:endParaRPr lang="en-US" sz="1500" dirty="0"/>
          </a:p>
        </p:txBody>
      </p:sp>
      <p:sp>
        <p:nvSpPr>
          <p:cNvPr id="18" name="r2"/>
          <p:cNvSpPr/>
          <p:nvPr/>
        </p:nvSpPr>
        <p:spPr>
          <a:xfrm>
            <a:off x="8458200" y="1783080"/>
            <a:ext cx="3337560" cy="4434840"/>
          </a:xfrm>
          <a:prstGeom prst="roundRect">
            <a:avLst>
              <a:gd name="adj" fmla="val 3836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9" name="rl2"/>
          <p:cNvSpPr txBox="1"/>
          <p:nvPr/>
        </p:nvSpPr>
        <p:spPr>
          <a:xfrm>
            <a:off x="8732520" y="20116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5"/>
                </a:solidFill>
              </a:rPr>
              <a:t>CONVERT</a:t>
            </a:r>
            <a:endParaRPr lang="en-US" sz="1300" dirty="0"/>
          </a:p>
        </p:txBody>
      </p:sp>
      <p:sp>
        <p:nvSpPr>
          <p:cNvPr id="20" name="rc2"/>
          <p:cNvSpPr/>
          <p:nvPr/>
        </p:nvSpPr>
        <p:spPr>
          <a:xfrm>
            <a:off x="8732520" y="246888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1" name="rlt2"/>
          <p:cNvSpPr txBox="1"/>
          <p:nvPr/>
        </p:nvSpPr>
        <p:spPr>
          <a:xfrm>
            <a:off x="873252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800" dirty="0"/>
          </a:p>
        </p:txBody>
      </p:sp>
      <p:sp>
        <p:nvSpPr>
          <p:cNvPr id="22" name="rt2"/>
          <p:cNvSpPr txBox="1"/>
          <p:nvPr/>
        </p:nvSpPr>
        <p:spPr>
          <a:xfrm>
            <a:off x="8732520" y="33832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1.5%</a:t>
            </a:r>
            <a:endParaRPr lang="en-US" sz="2400" dirty="0"/>
          </a:p>
        </p:txBody>
      </p:sp>
      <p:sp>
        <p:nvSpPr>
          <p:cNvPr id="23" name="rar2"/>
          <p:cNvSpPr txBox="1"/>
          <p:nvPr/>
        </p:nvSpPr>
        <p:spPr>
          <a:xfrm>
            <a:off x="8732520" y="42519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ابدأ بـ ‎1.5%‎ بس</a:t>
            </a:r>
            <a:endParaRPr lang="en-US" sz="2000" dirty="0"/>
          </a:p>
        </p:txBody>
      </p:sp>
      <p:sp>
        <p:nvSpPr>
          <p:cNvPr id="24" name="rd2"/>
          <p:cNvSpPr txBox="1"/>
          <p:nvPr/>
        </p:nvSpPr>
        <p:spPr>
          <a:xfrm>
            <a:off x="8732520" y="475488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Payment-led carousels and calculators. Must show finishing costs to stay honest.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11   HERO FILM, 60 SECONDS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 Day on the Water.</a:t>
            </a:r>
            <a:endParaRPr lang="en-US" sz="4000" dirty="0"/>
          </a:p>
        </p:txBody>
      </p:sp>
      <p:sp>
        <p:nvSpPr>
          <p:cNvPr id="4" name="sub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Six beats. Every claim comes from the sales kit.</a:t>
            </a:r>
            <a:endParaRPr lang="en-US" sz="1600" dirty="0"/>
          </a:p>
        </p:txBody>
      </p:sp>
      <p:sp>
        <p:nvSpPr>
          <p:cNvPr id="5" name="bt0"/>
          <p:cNvSpPr/>
          <p:nvPr/>
        </p:nvSpPr>
        <p:spPr>
          <a:xfrm>
            <a:off x="548640" y="2057400"/>
            <a:ext cx="114300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btt0"/>
          <p:cNvSpPr txBox="1"/>
          <p:nvPr/>
        </p:nvSpPr>
        <p:spPr>
          <a:xfrm>
            <a:off x="548640" y="20574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0-5s</a:t>
            </a:r>
            <a:endParaRPr lang="en-US" sz="1600" dirty="0"/>
          </a:p>
        </p:txBody>
      </p:sp>
      <p:sp>
        <p:nvSpPr>
          <p:cNvPr id="7" name="bd0"/>
          <p:cNvSpPr txBox="1"/>
          <p:nvPr/>
        </p:nvSpPr>
        <p:spPr>
          <a:xfrm>
            <a:off x="1920240" y="201168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Dawn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Coffee on the terrace. Hook: "Your morning starts on the water."</a:t>
            </a:r>
            <a:endParaRPr lang="en-US" sz="1800" dirty="0"/>
          </a:p>
        </p:txBody>
      </p:sp>
      <p:sp>
        <p:nvSpPr>
          <p:cNvPr id="8" name="bt1"/>
          <p:cNvSpPr/>
          <p:nvPr/>
        </p:nvSpPr>
        <p:spPr>
          <a:xfrm>
            <a:off x="548640" y="2761488"/>
            <a:ext cx="114300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9" name="btt1"/>
          <p:cNvSpPr txBox="1"/>
          <p:nvPr/>
        </p:nvSpPr>
        <p:spPr>
          <a:xfrm>
            <a:off x="548640" y="276148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5-20s</a:t>
            </a:r>
            <a:endParaRPr lang="en-US" sz="1600" dirty="0"/>
          </a:p>
        </p:txBody>
      </p:sp>
      <p:sp>
        <p:nvSpPr>
          <p:cNvPr id="10" name="bd1"/>
          <p:cNvSpPr txBox="1"/>
          <p:nvPr/>
        </p:nvSpPr>
        <p:spPr>
          <a:xfrm>
            <a:off x="1920240" y="271576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Lagoon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3,000 m2 swimmable lagoon, sandy shore, island cafe.</a:t>
            </a:r>
            <a:endParaRPr lang="en-US" sz="1800" dirty="0"/>
          </a:p>
        </p:txBody>
      </p:sp>
      <p:sp>
        <p:nvSpPr>
          <p:cNvPr id="11" name="bt2"/>
          <p:cNvSpPr/>
          <p:nvPr/>
        </p:nvSpPr>
        <p:spPr>
          <a:xfrm>
            <a:off x="548640" y="3465576"/>
            <a:ext cx="114300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btt2"/>
          <p:cNvSpPr txBox="1"/>
          <p:nvPr/>
        </p:nvSpPr>
        <p:spPr>
          <a:xfrm>
            <a:off x="548640" y="3465576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20-35s</a:t>
            </a:r>
            <a:endParaRPr lang="en-US" sz="1600" dirty="0"/>
          </a:p>
        </p:txBody>
      </p:sp>
      <p:sp>
        <p:nvSpPr>
          <p:cNvPr id="13" name="bd2"/>
          <p:cNvSpPr txBox="1"/>
          <p:nvPr/>
        </p:nvSpPr>
        <p:spPr>
          <a:xfrm>
            <a:off x="1920240" y="3419856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Calm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Reading nook, working pod, walking paths.</a:t>
            </a:r>
            <a:endParaRPr lang="en-US" sz="1800" dirty="0"/>
          </a:p>
        </p:txBody>
      </p:sp>
      <p:sp>
        <p:nvSpPr>
          <p:cNvPr id="14" name="bt3"/>
          <p:cNvSpPr/>
          <p:nvPr/>
        </p:nvSpPr>
        <p:spPr>
          <a:xfrm>
            <a:off x="548640" y="4169664"/>
            <a:ext cx="114300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btt3"/>
          <p:cNvSpPr txBox="1"/>
          <p:nvPr/>
        </p:nvSpPr>
        <p:spPr>
          <a:xfrm>
            <a:off x="548640" y="4169664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35-45s</a:t>
            </a:r>
            <a:endParaRPr lang="en-US" sz="1600" dirty="0"/>
          </a:p>
        </p:txBody>
      </p:sp>
      <p:sp>
        <p:nvSpPr>
          <p:cNvPr id="16" name="bd3"/>
          <p:cNvSpPr txBox="1"/>
          <p:nvPr/>
        </p:nvSpPr>
        <p:spPr>
          <a:xfrm>
            <a:off x="1920240" y="4123944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Reach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Sports club close by. 10 min to the LRT station.</a:t>
            </a:r>
            <a:endParaRPr lang="en-US" sz="1800" dirty="0"/>
          </a:p>
        </p:txBody>
      </p:sp>
      <p:sp>
        <p:nvSpPr>
          <p:cNvPr id="17" name="bt4"/>
          <p:cNvSpPr/>
          <p:nvPr/>
        </p:nvSpPr>
        <p:spPr>
          <a:xfrm>
            <a:off x="548640" y="4873752"/>
            <a:ext cx="1143000" cy="54864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8" name="btt4"/>
          <p:cNvSpPr txBox="1"/>
          <p:nvPr/>
        </p:nvSpPr>
        <p:spPr>
          <a:xfrm>
            <a:off x="548640" y="487375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45-55s</a:t>
            </a:r>
            <a:endParaRPr lang="en-US" sz="1600" dirty="0"/>
          </a:p>
        </p:txBody>
      </p:sp>
      <p:sp>
        <p:nvSpPr>
          <p:cNvPr id="19" name="bd4"/>
          <p:cNvSpPr txBox="1"/>
          <p:nvPr/>
        </p:nvSpPr>
        <p:spPr>
          <a:xfrm>
            <a:off x="1920240" y="4828032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Offer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From 6.7M, 1.5% down, 10 years.</a:t>
            </a:r>
            <a:endParaRPr lang="en-US" sz="1800" dirty="0"/>
          </a:p>
        </p:txBody>
      </p:sp>
      <p:sp>
        <p:nvSpPr>
          <p:cNvPr id="20" name="bt5"/>
          <p:cNvSpPr/>
          <p:nvPr/>
        </p:nvSpPr>
        <p:spPr>
          <a:xfrm>
            <a:off x="548640" y="5577840"/>
            <a:ext cx="114300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" name="btt5"/>
          <p:cNvSpPr txBox="1"/>
          <p:nvPr/>
        </p:nvSpPr>
        <p:spPr>
          <a:xfrm>
            <a:off x="548640" y="55778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55-60s</a:t>
            </a:r>
            <a:endParaRPr lang="en-US" sz="1600" dirty="0"/>
          </a:p>
        </p:txBody>
      </p:sp>
      <p:sp>
        <p:nvSpPr>
          <p:cNvPr id="22" name="bd5"/>
          <p:cNvSpPr txBox="1"/>
          <p:nvPr/>
        </p:nvSpPr>
        <p:spPr>
          <a:xfrm>
            <a:off x="1920240" y="553212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CTA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Comment LAKES. Disclaimer on screen.</a:t>
            </a:r>
            <a:endParaRPr lang="en-US" sz="1800" dirty="0"/>
          </a:p>
        </p:txBody>
      </p:sp>
      <p:sp>
        <p:nvSpPr>
          <p:cNvPr id="23" name="vframe"/>
          <p:cNvSpPr/>
          <p:nvPr/>
        </p:nvSpPr>
        <p:spPr>
          <a:xfrm>
            <a:off x="8961120" y="1783080"/>
            <a:ext cx="2651760" cy="4526280"/>
          </a:xfrm>
          <a:prstGeom prst="roundRect">
            <a:avLst>
              <a:gd name="adj" fmla="val 6897"/>
            </a:avLst>
          </a:prstGeom>
          <a:solidFill>
            <a:srgbClr val="000000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pic>
        <p:nvPicPr>
          <p:cNvPr id="3" name="reel 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089136" y="1920240"/>
            <a:ext cx="2395728" cy="4251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12   SOCIAL-FIRST SERIES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Content that repeats.</a:t>
            </a:r>
            <a:endParaRPr lang="en-US" sz="4000" dirty="0"/>
          </a:p>
        </p:txBody>
      </p:sp>
      <p:sp>
        <p:nvSpPr>
          <p:cNvPr id="4" name="sub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Series are easier to produce than one-offs and train the audience to return.</a:t>
            </a:r>
            <a:endParaRPr lang="en-US" sz="1600" dirty="0"/>
          </a:p>
        </p:txBody>
      </p:sp>
      <p:sp>
        <p:nvSpPr>
          <p:cNvPr id="5" name="sr0"/>
          <p:cNvSpPr/>
          <p:nvPr/>
        </p:nvSpPr>
        <p:spPr>
          <a:xfrm>
            <a:off x="548640" y="2057400"/>
            <a:ext cx="3520440" cy="192024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6" name="sri0"/>
          <p:cNvSpPr/>
          <p:nvPr/>
        </p:nvSpPr>
        <p:spPr>
          <a:xfrm>
            <a:off x="822960" y="23317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srg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514600"/>
            <a:ext cx="365760" cy="365760"/>
          </a:xfrm>
          <a:prstGeom prst="rect">
            <a:avLst/>
          </a:prstGeom>
        </p:spPr>
      </p:pic>
      <p:sp>
        <p:nvSpPr>
          <p:cNvPr id="8" name="srt0"/>
          <p:cNvSpPr txBox="1"/>
          <p:nvPr/>
        </p:nvSpPr>
        <p:spPr>
          <a:xfrm>
            <a:off x="1737360" y="23317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Lagoon Diaries</a:t>
            </a:r>
            <a:endParaRPr lang="en-US" sz="2000" dirty="0"/>
          </a:p>
        </p:txBody>
      </p:sp>
      <p:sp>
        <p:nvSpPr>
          <p:cNvPr id="9" name="srd0"/>
          <p:cNvSpPr txBox="1"/>
          <p:nvPr/>
        </p:nvSpPr>
        <p:spPr>
          <a:xfrm>
            <a:off x="822960" y="3246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15s daily moments on the water.</a:t>
            </a:r>
            <a:endParaRPr lang="en-US" sz="1600" dirty="0"/>
          </a:p>
        </p:txBody>
      </p:sp>
      <p:sp>
        <p:nvSpPr>
          <p:cNvPr id="10" name="sr1"/>
          <p:cNvSpPr/>
          <p:nvPr/>
        </p:nvSpPr>
        <p:spPr>
          <a:xfrm>
            <a:off x="4282135" y="2057400"/>
            <a:ext cx="3520440" cy="192024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1" name="sri1"/>
          <p:cNvSpPr/>
          <p:nvPr/>
        </p:nvSpPr>
        <p:spPr>
          <a:xfrm>
            <a:off x="4556455" y="23317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srg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335" y="2514600"/>
            <a:ext cx="365760" cy="365760"/>
          </a:xfrm>
          <a:prstGeom prst="rect">
            <a:avLst/>
          </a:prstGeom>
        </p:spPr>
      </p:pic>
      <p:sp>
        <p:nvSpPr>
          <p:cNvPr id="13" name="srt1"/>
          <p:cNvSpPr txBox="1"/>
          <p:nvPr/>
        </p:nvSpPr>
        <p:spPr>
          <a:xfrm>
            <a:off x="5470855" y="23317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Walkthrough</a:t>
            </a:r>
            <a:endParaRPr lang="en-US" sz="2000" dirty="0"/>
          </a:p>
        </p:txBody>
      </p:sp>
      <p:sp>
        <p:nvSpPr>
          <p:cNvPr id="14" name="srd1"/>
          <p:cNvSpPr txBox="1"/>
          <p:nvPr/>
        </p:nvSpPr>
        <p:spPr>
          <a:xfrm>
            <a:off x="4556455" y="3246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60s tour per unit type.</a:t>
            </a:r>
            <a:endParaRPr lang="en-US" sz="1600" dirty="0"/>
          </a:p>
        </p:txBody>
      </p:sp>
      <p:sp>
        <p:nvSpPr>
          <p:cNvPr id="15" name="sr2"/>
          <p:cNvSpPr/>
          <p:nvPr/>
        </p:nvSpPr>
        <p:spPr>
          <a:xfrm>
            <a:off x="8015630" y="2057400"/>
            <a:ext cx="3520440" cy="192024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6" name="sri2"/>
          <p:cNvSpPr/>
          <p:nvPr/>
        </p:nvSpPr>
        <p:spPr>
          <a:xfrm>
            <a:off x="8289950" y="233172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srg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830" y="2514600"/>
            <a:ext cx="365760" cy="365760"/>
          </a:xfrm>
          <a:prstGeom prst="rect">
            <a:avLst/>
          </a:prstGeom>
        </p:spPr>
      </p:pic>
      <p:sp>
        <p:nvSpPr>
          <p:cNvPr id="18" name="srt2"/>
          <p:cNvSpPr txBox="1"/>
          <p:nvPr/>
        </p:nvSpPr>
        <p:spPr>
          <a:xfrm>
            <a:off x="9204350" y="23317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Explained</a:t>
            </a:r>
            <a:endParaRPr lang="en-US" sz="2000" dirty="0"/>
          </a:p>
        </p:txBody>
      </p:sp>
      <p:sp>
        <p:nvSpPr>
          <p:cNvPr id="19" name="srd2"/>
          <p:cNvSpPr txBox="1"/>
          <p:nvPr/>
        </p:nvSpPr>
        <p:spPr>
          <a:xfrm>
            <a:off x="8289950" y="3246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What 1.5% down means in EGP.</a:t>
            </a:r>
            <a:endParaRPr lang="en-US" sz="1600" dirty="0"/>
          </a:p>
        </p:txBody>
      </p:sp>
      <p:sp>
        <p:nvSpPr>
          <p:cNvPr id="20" name="sr3"/>
          <p:cNvSpPr/>
          <p:nvPr/>
        </p:nvSpPr>
        <p:spPr>
          <a:xfrm>
            <a:off x="548640" y="4206240"/>
            <a:ext cx="3520440" cy="192024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21" name="sri3"/>
          <p:cNvSpPr/>
          <p:nvPr/>
        </p:nvSpPr>
        <p:spPr>
          <a:xfrm>
            <a:off x="822960" y="448056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srg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663440"/>
            <a:ext cx="365760" cy="365760"/>
          </a:xfrm>
          <a:prstGeom prst="rect">
            <a:avLst/>
          </a:prstGeom>
        </p:spPr>
      </p:pic>
      <p:sp>
        <p:nvSpPr>
          <p:cNvPr id="23" name="srt3"/>
          <p:cNvSpPr txBox="1"/>
          <p:nvPr/>
        </p:nvSpPr>
        <p:spPr>
          <a:xfrm>
            <a:off x="1737360" y="44805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Neighbourhood Check</a:t>
            </a:r>
            <a:endParaRPr lang="en-US" sz="2000" dirty="0"/>
          </a:p>
        </p:txBody>
      </p:sp>
      <p:sp>
        <p:nvSpPr>
          <p:cNvPr id="24" name="srd3"/>
          <p:cNvSpPr txBox="1"/>
          <p:nvPr/>
        </p:nvSpPr>
        <p:spPr>
          <a:xfrm>
            <a:off x="822960" y="53949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LRT, monorail, roads, club.</a:t>
            </a:r>
            <a:endParaRPr lang="en-US" sz="1600" dirty="0"/>
          </a:p>
        </p:txBody>
      </p:sp>
      <p:sp>
        <p:nvSpPr>
          <p:cNvPr id="25" name="sr4"/>
          <p:cNvSpPr/>
          <p:nvPr/>
        </p:nvSpPr>
        <p:spPr>
          <a:xfrm>
            <a:off x="4282135" y="4206240"/>
            <a:ext cx="3520440" cy="192024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26" name="sri4"/>
          <p:cNvSpPr/>
          <p:nvPr/>
        </p:nvSpPr>
        <p:spPr>
          <a:xfrm>
            <a:off x="4556455" y="4480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srg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9335" y="4663440"/>
            <a:ext cx="365760" cy="365760"/>
          </a:xfrm>
          <a:prstGeom prst="rect">
            <a:avLst/>
          </a:prstGeom>
        </p:spPr>
      </p:pic>
      <p:sp>
        <p:nvSpPr>
          <p:cNvPr id="28" name="srt4"/>
          <p:cNvSpPr txBox="1"/>
          <p:nvPr/>
        </p:nvSpPr>
        <p:spPr>
          <a:xfrm>
            <a:off x="5470855" y="44805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 Plus Explained</a:t>
            </a:r>
            <a:endParaRPr lang="en-US" sz="2000" dirty="0"/>
          </a:p>
        </p:txBody>
      </p:sp>
      <p:sp>
        <p:nvSpPr>
          <p:cNvPr id="29" name="srd4"/>
          <p:cNvSpPr txBox="1"/>
          <p:nvPr/>
        </p:nvSpPr>
        <p:spPr>
          <a:xfrm>
            <a:off x="4556455" y="53949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What is included and what is not.</a:t>
            </a:r>
            <a:endParaRPr lang="en-US" sz="1600" dirty="0"/>
          </a:p>
        </p:txBody>
      </p:sp>
      <p:sp>
        <p:nvSpPr>
          <p:cNvPr id="30" name="sr5"/>
          <p:cNvSpPr/>
          <p:nvPr/>
        </p:nvSpPr>
        <p:spPr>
          <a:xfrm>
            <a:off x="8015630" y="4206240"/>
            <a:ext cx="3520440" cy="192024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31" name="sri5"/>
          <p:cNvSpPr/>
          <p:nvPr/>
        </p:nvSpPr>
        <p:spPr>
          <a:xfrm>
            <a:off x="8289950" y="448056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2" name="srg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2830" y="4663440"/>
            <a:ext cx="365760" cy="365760"/>
          </a:xfrm>
          <a:prstGeom prst="rect">
            <a:avLst/>
          </a:prstGeom>
        </p:spPr>
      </p:pic>
      <p:sp>
        <p:nvSpPr>
          <p:cNvPr id="33" name="srt5"/>
          <p:cNvSpPr txBox="1"/>
          <p:nvPr/>
        </p:nvSpPr>
        <p:spPr>
          <a:xfrm>
            <a:off x="9204350" y="44805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Planner</a:t>
            </a:r>
            <a:endParaRPr lang="en-US" sz="2000" dirty="0"/>
          </a:p>
        </p:txBody>
      </p:sp>
      <p:sp>
        <p:nvSpPr>
          <p:cNvPr id="34" name="srd5"/>
          <p:cNvSpPr txBox="1"/>
          <p:nvPr/>
        </p:nvSpPr>
        <p:spPr>
          <a:xfrm>
            <a:off x="8289950" y="53949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Short Q&amp;A reels.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13   AD CREATIVE MATRIX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Persona, hook, format.</a:t>
            </a:r>
            <a:endParaRPr lang="en-US" sz="4000" dirty="0"/>
          </a:p>
        </p:txBody>
      </p:sp>
      <p:sp>
        <p:nvSpPr>
          <p:cNvPr id="4" name="sub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Test one variable at a time. Winner = highest 3-second hold rate, then lowest cost per qualified lead.</a:t>
            </a:r>
            <a:endParaRPr lang="en-US" sz="1600" dirty="0"/>
          </a:p>
        </p:txBody>
      </p:sp>
      <p:graphicFrame>
        <p:nvGraphicFramePr>
          <p:cNvPr id="14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480560"/>
                <a:gridCol w="1920240"/>
                <a:gridCol w="20116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Persona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Hook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Format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CTA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First-home couple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"1 Bed from 6.7M. Start with 1.5%."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Carousel + reel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Comment LAKES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Remote workers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"A corner to work. A corner to read."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Reel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WhatsApp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Family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"Club, kids areas, school nearby."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60s film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Book a viewing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Garden / terrace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"A garden up to 108 m2."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Photo + reel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Send me the plans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14   AI VIDEO SHOT LIST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Eight scenes to generate.</a:t>
            </a:r>
            <a:endParaRPr lang="en-US" sz="4000" dirty="0"/>
          </a:p>
        </p:txBody>
      </p:sp>
      <p:sp>
        <p:nvSpPr>
          <p:cNvPr id="4" name="sub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Keep Terrano style: terracotta, curved balconies, 5 floors. Mark every AI scene "illustrative".</a:t>
            </a:r>
            <a:endParaRPr lang="en-US" sz="1600" dirty="0"/>
          </a:p>
        </p:txBody>
      </p:sp>
      <p:sp>
        <p:nvSpPr>
          <p:cNvPr id="5" name="sh0"/>
          <p:cNvSpPr/>
          <p:nvPr/>
        </p:nvSpPr>
        <p:spPr>
          <a:xfrm>
            <a:off x="548640" y="2103120"/>
            <a:ext cx="2606040" cy="1901952"/>
          </a:xfrm>
          <a:prstGeom prst="roundRect">
            <a:avLst>
              <a:gd name="adj" fmla="val 6731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6" name="shn0"/>
          <p:cNvSpPr/>
          <p:nvPr/>
        </p:nvSpPr>
        <p:spPr>
          <a:xfrm>
            <a:off x="777240" y="23042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hnt0"/>
          <p:cNvSpPr txBox="1"/>
          <p:nvPr/>
        </p:nvSpPr>
        <p:spPr>
          <a:xfrm>
            <a:off x="77724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ht0"/>
          <p:cNvSpPr txBox="1"/>
          <p:nvPr/>
        </p:nvSpPr>
        <p:spPr>
          <a:xfrm>
            <a:off x="1371600" y="2304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Lagoon aerial</a:t>
            </a:r>
            <a:endParaRPr lang="en-US" sz="1800" dirty="0"/>
          </a:p>
        </p:txBody>
      </p:sp>
      <p:sp>
        <p:nvSpPr>
          <p:cNvPr id="9" name="shd0"/>
          <p:cNvSpPr txBox="1"/>
          <p:nvPr/>
        </p:nvSpPr>
        <p:spPr>
          <a:xfrm>
            <a:off x="777240" y="2971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Turquoise swimmable lagoon, sandy shore, golden hour.</a:t>
            </a:r>
            <a:endParaRPr lang="en-US" sz="1600" dirty="0"/>
          </a:p>
        </p:txBody>
      </p:sp>
      <p:sp>
        <p:nvSpPr>
          <p:cNvPr id="10" name="sh1"/>
          <p:cNvSpPr/>
          <p:nvPr/>
        </p:nvSpPr>
        <p:spPr>
          <a:xfrm>
            <a:off x="3367735" y="2103120"/>
            <a:ext cx="2606040" cy="1901952"/>
          </a:xfrm>
          <a:prstGeom prst="roundRect">
            <a:avLst>
              <a:gd name="adj" fmla="val 6731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1" name="shn1"/>
          <p:cNvSpPr/>
          <p:nvPr/>
        </p:nvSpPr>
        <p:spPr>
          <a:xfrm>
            <a:off x="3596335" y="23042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hnt1"/>
          <p:cNvSpPr txBox="1"/>
          <p:nvPr/>
        </p:nvSpPr>
        <p:spPr>
          <a:xfrm>
            <a:off x="3596335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sht1"/>
          <p:cNvSpPr txBox="1"/>
          <p:nvPr/>
        </p:nvSpPr>
        <p:spPr>
          <a:xfrm>
            <a:off x="4190695" y="2304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Island cafe</a:t>
            </a:r>
            <a:endParaRPr lang="en-US" sz="1800" dirty="0"/>
          </a:p>
        </p:txBody>
      </p:sp>
      <p:sp>
        <p:nvSpPr>
          <p:cNvPr id="14" name="shd1"/>
          <p:cNvSpPr txBox="1"/>
          <p:nvPr/>
        </p:nvSpPr>
        <p:spPr>
          <a:xfrm>
            <a:off x="3596335" y="2971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Wooden decks, pavilion, soft light.</a:t>
            </a:r>
            <a:endParaRPr lang="en-US" sz="1600" dirty="0"/>
          </a:p>
        </p:txBody>
      </p:sp>
      <p:sp>
        <p:nvSpPr>
          <p:cNvPr id="15" name="sh2"/>
          <p:cNvSpPr/>
          <p:nvPr/>
        </p:nvSpPr>
        <p:spPr>
          <a:xfrm>
            <a:off x="6186830" y="2103120"/>
            <a:ext cx="2606040" cy="1901952"/>
          </a:xfrm>
          <a:prstGeom prst="roundRect">
            <a:avLst>
              <a:gd name="adj" fmla="val 6731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6" name="shn2"/>
          <p:cNvSpPr/>
          <p:nvPr/>
        </p:nvSpPr>
        <p:spPr>
          <a:xfrm>
            <a:off x="6415430" y="23042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shnt2"/>
          <p:cNvSpPr txBox="1"/>
          <p:nvPr/>
        </p:nvSpPr>
        <p:spPr>
          <a:xfrm>
            <a:off x="641543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sht2"/>
          <p:cNvSpPr txBox="1"/>
          <p:nvPr/>
        </p:nvSpPr>
        <p:spPr>
          <a:xfrm>
            <a:off x="7009790" y="2304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Terrace POV</a:t>
            </a:r>
            <a:endParaRPr lang="en-US" sz="1800" dirty="0"/>
          </a:p>
        </p:txBody>
      </p:sp>
      <p:sp>
        <p:nvSpPr>
          <p:cNvPr id="19" name="shd2"/>
          <p:cNvSpPr txBox="1"/>
          <p:nvPr/>
        </p:nvSpPr>
        <p:spPr>
          <a:xfrm>
            <a:off x="6415430" y="2971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Morning coffee, green water garden view.</a:t>
            </a:r>
            <a:endParaRPr lang="en-US" sz="1600" dirty="0"/>
          </a:p>
        </p:txBody>
      </p:sp>
      <p:sp>
        <p:nvSpPr>
          <p:cNvPr id="20" name="sh3"/>
          <p:cNvSpPr/>
          <p:nvPr/>
        </p:nvSpPr>
        <p:spPr>
          <a:xfrm>
            <a:off x="9005926" y="2103120"/>
            <a:ext cx="2606040" cy="1901952"/>
          </a:xfrm>
          <a:prstGeom prst="roundRect">
            <a:avLst>
              <a:gd name="adj" fmla="val 6731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21" name="shn3"/>
          <p:cNvSpPr/>
          <p:nvPr/>
        </p:nvSpPr>
        <p:spPr>
          <a:xfrm>
            <a:off x="9234526" y="23042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shnt3"/>
          <p:cNvSpPr txBox="1"/>
          <p:nvPr/>
        </p:nvSpPr>
        <p:spPr>
          <a:xfrm>
            <a:off x="9234526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sht3"/>
          <p:cNvSpPr txBox="1"/>
          <p:nvPr/>
        </p:nvSpPr>
        <p:spPr>
          <a:xfrm>
            <a:off x="9828886" y="2304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garden</a:t>
            </a:r>
            <a:endParaRPr lang="en-US" sz="1800" dirty="0"/>
          </a:p>
        </p:txBody>
      </p:sp>
      <p:sp>
        <p:nvSpPr>
          <p:cNvPr id="24" name="shd3"/>
          <p:cNvSpPr txBox="1"/>
          <p:nvPr/>
        </p:nvSpPr>
        <p:spPr>
          <a:xfrm>
            <a:off x="9234526" y="2971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Ground floor garden meets water channel.</a:t>
            </a:r>
            <a:endParaRPr lang="en-US" sz="1600" dirty="0"/>
          </a:p>
        </p:txBody>
      </p:sp>
      <p:sp>
        <p:nvSpPr>
          <p:cNvPr id="25" name="sh4"/>
          <p:cNvSpPr/>
          <p:nvPr/>
        </p:nvSpPr>
        <p:spPr>
          <a:xfrm>
            <a:off x="548640" y="4206240"/>
            <a:ext cx="2606040" cy="1901952"/>
          </a:xfrm>
          <a:prstGeom prst="roundRect">
            <a:avLst>
              <a:gd name="adj" fmla="val 6731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26" name="shn4"/>
          <p:cNvSpPr/>
          <p:nvPr/>
        </p:nvSpPr>
        <p:spPr>
          <a:xfrm>
            <a:off x="777240" y="44074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shnt4"/>
          <p:cNvSpPr txBox="1"/>
          <p:nvPr/>
        </p:nvSpPr>
        <p:spPr>
          <a:xfrm>
            <a:off x="777240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sht4"/>
          <p:cNvSpPr txBox="1"/>
          <p:nvPr/>
        </p:nvSpPr>
        <p:spPr>
          <a:xfrm>
            <a:off x="1371600" y="44074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path</a:t>
            </a:r>
            <a:endParaRPr lang="en-US" sz="1800" dirty="0"/>
          </a:p>
        </p:txBody>
      </p:sp>
      <p:sp>
        <p:nvSpPr>
          <p:cNvPr id="29" name="shd4"/>
          <p:cNvSpPr txBox="1"/>
          <p:nvPr/>
        </p:nvSpPr>
        <p:spPr>
          <a:xfrm>
            <a:off x="777240" y="5074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Walking and cycling, no cars in frame.</a:t>
            </a:r>
            <a:endParaRPr lang="en-US" sz="1600" dirty="0"/>
          </a:p>
        </p:txBody>
      </p:sp>
      <p:sp>
        <p:nvSpPr>
          <p:cNvPr id="30" name="sh5"/>
          <p:cNvSpPr/>
          <p:nvPr/>
        </p:nvSpPr>
        <p:spPr>
          <a:xfrm>
            <a:off x="3367735" y="4206240"/>
            <a:ext cx="2606040" cy="1901952"/>
          </a:xfrm>
          <a:prstGeom prst="roundRect">
            <a:avLst>
              <a:gd name="adj" fmla="val 6731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31" name="shn5"/>
          <p:cNvSpPr/>
          <p:nvPr/>
        </p:nvSpPr>
        <p:spPr>
          <a:xfrm>
            <a:off x="3596335" y="44074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shnt5"/>
          <p:cNvSpPr txBox="1"/>
          <p:nvPr/>
        </p:nvSpPr>
        <p:spPr>
          <a:xfrm>
            <a:off x="3596335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sht5"/>
          <p:cNvSpPr txBox="1"/>
          <p:nvPr/>
        </p:nvSpPr>
        <p:spPr>
          <a:xfrm>
            <a:off x="4190695" y="44074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Quiet corner</a:t>
            </a:r>
            <a:endParaRPr lang="en-US" sz="1800" dirty="0"/>
          </a:p>
        </p:txBody>
      </p:sp>
      <p:sp>
        <p:nvSpPr>
          <p:cNvPr id="34" name="shd5"/>
          <p:cNvSpPr txBox="1"/>
          <p:nvPr/>
        </p:nvSpPr>
        <p:spPr>
          <a:xfrm>
            <a:off x="3596335" y="5074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Reading nook and working pod.</a:t>
            </a:r>
            <a:endParaRPr lang="en-US" sz="1600" dirty="0"/>
          </a:p>
        </p:txBody>
      </p:sp>
      <p:sp>
        <p:nvSpPr>
          <p:cNvPr id="35" name="sh6"/>
          <p:cNvSpPr/>
          <p:nvPr/>
        </p:nvSpPr>
        <p:spPr>
          <a:xfrm>
            <a:off x="6186830" y="4206240"/>
            <a:ext cx="2606040" cy="1901952"/>
          </a:xfrm>
          <a:prstGeom prst="roundRect">
            <a:avLst>
              <a:gd name="adj" fmla="val 6731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36" name="shn6"/>
          <p:cNvSpPr/>
          <p:nvPr/>
        </p:nvSpPr>
        <p:spPr>
          <a:xfrm>
            <a:off x="6415430" y="44074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shnt6"/>
          <p:cNvSpPr txBox="1"/>
          <p:nvPr/>
        </p:nvSpPr>
        <p:spPr>
          <a:xfrm>
            <a:off x="6415430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7</a:t>
            </a:r>
            <a:endParaRPr lang="en-US" sz="1600" dirty="0"/>
          </a:p>
        </p:txBody>
      </p:sp>
      <p:sp>
        <p:nvSpPr>
          <p:cNvPr id="38" name="sht6"/>
          <p:cNvSpPr txBox="1"/>
          <p:nvPr/>
        </p:nvSpPr>
        <p:spPr>
          <a:xfrm>
            <a:off x="7009790" y="44074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Lobby</a:t>
            </a:r>
            <a:endParaRPr lang="en-US" sz="1800" dirty="0"/>
          </a:p>
        </p:txBody>
      </p:sp>
      <p:sp>
        <p:nvSpPr>
          <p:cNvPr id="39" name="shd6"/>
          <p:cNvSpPr txBox="1"/>
          <p:nvPr/>
        </p:nvSpPr>
        <p:spPr>
          <a:xfrm>
            <a:off x="6415430" y="5074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Residents lounge, warm wood and stone.</a:t>
            </a:r>
            <a:endParaRPr lang="en-US" sz="1600" dirty="0"/>
          </a:p>
        </p:txBody>
      </p:sp>
      <p:sp>
        <p:nvSpPr>
          <p:cNvPr id="40" name="sh7"/>
          <p:cNvSpPr/>
          <p:nvPr/>
        </p:nvSpPr>
        <p:spPr>
          <a:xfrm>
            <a:off x="9005926" y="4206240"/>
            <a:ext cx="2606040" cy="1901952"/>
          </a:xfrm>
          <a:prstGeom prst="roundRect">
            <a:avLst>
              <a:gd name="adj" fmla="val 6731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41" name="shn7"/>
          <p:cNvSpPr/>
          <p:nvPr/>
        </p:nvSpPr>
        <p:spPr>
          <a:xfrm>
            <a:off x="9234526" y="440740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2" name="shnt7"/>
          <p:cNvSpPr txBox="1"/>
          <p:nvPr/>
        </p:nvSpPr>
        <p:spPr>
          <a:xfrm>
            <a:off x="9234526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8</a:t>
            </a:r>
            <a:endParaRPr lang="en-US" sz="1600" dirty="0"/>
          </a:p>
        </p:txBody>
      </p:sp>
      <p:sp>
        <p:nvSpPr>
          <p:cNvPr id="43" name="sht7"/>
          <p:cNvSpPr txBox="1"/>
          <p:nvPr/>
        </p:nvSpPr>
        <p:spPr>
          <a:xfrm>
            <a:off x="9828886" y="44074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Night</a:t>
            </a:r>
            <a:endParaRPr lang="en-US" sz="1800" dirty="0"/>
          </a:p>
        </p:txBody>
      </p:sp>
      <p:sp>
        <p:nvSpPr>
          <p:cNvPr id="44" name="shd7"/>
          <p:cNvSpPr txBox="1"/>
          <p:nvPr/>
        </p:nvSpPr>
        <p:spPr>
          <a:xfrm>
            <a:off x="9234526" y="5074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Buildings reflected in the lagoon.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53" presetClass="entr" presetSubtype="16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53" presetClass="entr" presetSubtype="16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53" presetClass="entr" presetSubtype="16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53" presetClass="entr" presetSubtype="16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6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6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6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6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15   FUNNEL &amp; WHATSAPP FLOW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From first view to EOI.</a:t>
            </a:r>
            <a:endParaRPr lang="en-US" sz="4000" dirty="0"/>
          </a:p>
        </p:txBody>
      </p:sp>
      <p:sp>
        <p:nvSpPr>
          <p:cNvPr id="4" name="fn0"/>
          <p:cNvSpPr/>
          <p:nvPr/>
        </p:nvSpPr>
        <p:spPr>
          <a:xfrm>
            <a:off x="548640" y="1828800"/>
            <a:ext cx="5760720" cy="960120"/>
          </a:xfrm>
          <a:prstGeom prst="roundRect">
            <a:avLst>
              <a:gd name="adj" fmla="val 15238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fnt0"/>
          <p:cNvSpPr txBox="1"/>
          <p:nvPr/>
        </p:nvSpPr>
        <p:spPr>
          <a:xfrm>
            <a:off x="548640" y="182880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Awareness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Reels and film</a:t>
            </a:r>
            <a:endParaRPr lang="en-US" sz="2200" dirty="0"/>
          </a:p>
        </p:txBody>
      </p:sp>
      <p:sp>
        <p:nvSpPr>
          <p:cNvPr id="6" name="fn1"/>
          <p:cNvSpPr/>
          <p:nvPr/>
        </p:nvSpPr>
        <p:spPr>
          <a:xfrm>
            <a:off x="960120" y="2926080"/>
            <a:ext cx="4937760" cy="960120"/>
          </a:xfrm>
          <a:prstGeom prst="roundRect">
            <a:avLst>
              <a:gd name="adj" fmla="val 15238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fnt1"/>
          <p:cNvSpPr txBox="1"/>
          <p:nvPr/>
        </p:nvSpPr>
        <p:spPr>
          <a:xfrm>
            <a:off x="960120" y="29260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Consideration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Carousels, walkthroughs</a:t>
            </a:r>
            <a:endParaRPr lang="en-US" sz="2200" dirty="0"/>
          </a:p>
        </p:txBody>
      </p:sp>
      <p:sp>
        <p:nvSpPr>
          <p:cNvPr id="8" name="fn2"/>
          <p:cNvSpPr/>
          <p:nvPr/>
        </p:nvSpPr>
        <p:spPr>
          <a:xfrm>
            <a:off x="1371600" y="4023360"/>
            <a:ext cx="4114800" cy="960120"/>
          </a:xfrm>
          <a:prstGeom prst="roundRect">
            <a:avLst>
              <a:gd name="adj" fmla="val 15238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fnt2"/>
          <p:cNvSpPr txBox="1"/>
          <p:nvPr/>
        </p:nvSpPr>
        <p:spPr>
          <a:xfrm>
            <a:off x="1371600" y="402336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WhatsApp conversation</a:t>
            </a:r>
            <a:endParaRPr lang="en-US" sz="2200" dirty="0"/>
          </a:p>
        </p:txBody>
      </p:sp>
      <p:sp>
        <p:nvSpPr>
          <p:cNvPr id="10" name="fn3"/>
          <p:cNvSpPr/>
          <p:nvPr/>
        </p:nvSpPr>
        <p:spPr>
          <a:xfrm>
            <a:off x="1783080" y="5120640"/>
            <a:ext cx="3291840" cy="960120"/>
          </a:xfrm>
          <a:prstGeom prst="roundRect">
            <a:avLst>
              <a:gd name="adj" fmla="val 15238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fnt3"/>
          <p:cNvSpPr txBox="1"/>
          <p:nvPr/>
        </p:nvSpPr>
        <p:spPr>
          <a:xfrm>
            <a:off x="1783080" y="512064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EOI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Viewing, then 50,000 EGP</a:t>
            </a:r>
            <a:endParaRPr lang="en-US" sz="2200" dirty="0"/>
          </a:p>
        </p:txBody>
      </p:sp>
      <p:sp>
        <p:nvSpPr>
          <p:cNvPr id="12" name="wa"/>
          <p:cNvSpPr/>
          <p:nvPr/>
        </p:nvSpPr>
        <p:spPr>
          <a:xfrm>
            <a:off x="6583680" y="1783080"/>
            <a:ext cx="5029200" cy="4434840"/>
          </a:xfrm>
          <a:prstGeom prst="roundRect">
            <a:avLst>
              <a:gd name="adj" fmla="val 2887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pic>
        <p:nvPicPr>
          <p:cNvPr id="13" name="wa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011680"/>
            <a:ext cx="457200" cy="457200"/>
          </a:xfrm>
          <a:prstGeom prst="rect">
            <a:avLst/>
          </a:prstGeom>
        </p:spPr>
      </p:pic>
      <p:sp>
        <p:nvSpPr>
          <p:cNvPr id="14" name="walab"/>
          <p:cNvSpPr txBox="1"/>
          <p:nvPr/>
        </p:nvSpPr>
        <p:spPr>
          <a:xfrm>
            <a:off x="7498080" y="2011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WHATSAPP SCRIPT</a:t>
            </a:r>
            <a:endParaRPr lang="en-US" sz="1600" dirty="0"/>
          </a:p>
        </p:txBody>
      </p:sp>
      <p:sp>
        <p:nvSpPr>
          <p:cNvPr id="15" name="wat"/>
          <p:cNvSpPr txBox="1"/>
          <p:nvPr/>
        </p:nvSpPr>
        <p:spPr>
          <a:xfrm>
            <a:off x="6858000" y="269748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1. Welcome: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"Welcome to The Lakes. How many bedrooms do you need?"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2. Qualify: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budget, unit type, garden or terrace, viewing date.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3. Send: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prices "starting from", 1.5% down, 10 years, finishing note.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4. Follow up: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24 hours, then 3 days.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5. Close: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explain EOI terms. No fake urgency.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16   MEDIA PLAN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Where the budget goes (proposal).</a:t>
            </a:r>
            <a:endParaRPr lang="en-US" sz="40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457200" y="1691640"/>
          <a:ext cx="47548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mpd0"/>
          <p:cNvSpPr/>
          <p:nvPr/>
        </p:nvSpPr>
        <p:spPr>
          <a:xfrm>
            <a:off x="5669280" y="1938528"/>
            <a:ext cx="310896" cy="310896"/>
          </a:xfrm>
          <a:prstGeom prst="ellipse">
            <a:avLst/>
          </a:prstGeom>
          <a:solidFill>
            <a:srgbClr val="1FB8B0"/>
          </a:solidFill>
          <a:ln/>
        </p:spPr>
      </p:sp>
      <p:sp>
        <p:nvSpPr>
          <p:cNvPr id="6" name="mpt0"/>
          <p:cNvSpPr txBox="1"/>
          <p:nvPr/>
        </p:nvSpPr>
        <p:spPr>
          <a:xfrm>
            <a:off x="6217920" y="17830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Meta 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50%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Click-to-WhatsApp and lead forms. Main source of leads.</a:t>
            </a:r>
            <a:endParaRPr lang="en-US" sz="1800" dirty="0"/>
          </a:p>
        </p:txBody>
      </p:sp>
      <p:sp>
        <p:nvSpPr>
          <p:cNvPr id="7" name="mpd1"/>
          <p:cNvSpPr/>
          <p:nvPr/>
        </p:nvSpPr>
        <p:spPr>
          <a:xfrm>
            <a:off x="5669280" y="2715768"/>
            <a:ext cx="310896" cy="310896"/>
          </a:xfrm>
          <a:prstGeom prst="ellipse">
            <a:avLst/>
          </a:prstGeom>
          <a:solidFill>
            <a:srgbClr val="2F80C9"/>
          </a:solidFill>
          <a:ln/>
        </p:spPr>
      </p:sp>
      <p:sp>
        <p:nvSpPr>
          <p:cNvPr id="8" name="mpt1"/>
          <p:cNvSpPr txBox="1"/>
          <p:nvPr/>
        </p:nvSpPr>
        <p:spPr>
          <a:xfrm>
            <a:off x="6217920" y="25603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TikTok &amp; YouTube 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15%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Reach for the series content.</a:t>
            </a:r>
            <a:endParaRPr lang="en-US" sz="1800" dirty="0"/>
          </a:p>
        </p:txBody>
      </p:sp>
      <p:sp>
        <p:nvSpPr>
          <p:cNvPr id="9" name="mpd2"/>
          <p:cNvSpPr/>
          <p:nvPr/>
        </p:nvSpPr>
        <p:spPr>
          <a:xfrm>
            <a:off x="5669280" y="3493008"/>
            <a:ext cx="310896" cy="31089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0" name="mpt2"/>
          <p:cNvSpPr txBox="1"/>
          <p:nvPr/>
        </p:nvSpPr>
        <p:spPr>
          <a:xfrm>
            <a:off x="6217920" y="333756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Retargeting 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10%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Video viewers, WhatsApp openers, site visitors.</a:t>
            </a:r>
            <a:endParaRPr lang="en-US" sz="1800" dirty="0"/>
          </a:p>
        </p:txBody>
      </p:sp>
      <p:sp>
        <p:nvSpPr>
          <p:cNvPr id="11" name="mpd3"/>
          <p:cNvSpPr/>
          <p:nvPr/>
        </p:nvSpPr>
        <p:spPr>
          <a:xfrm>
            <a:off x="5669280" y="4270248"/>
            <a:ext cx="310896" cy="310896"/>
          </a:xfrm>
          <a:prstGeom prst="ellipse">
            <a:avLst/>
          </a:prstGeom>
          <a:solidFill>
            <a:srgbClr val="E07B4F"/>
          </a:solidFill>
          <a:ln/>
        </p:spPr>
      </p:sp>
      <p:sp>
        <p:nvSpPr>
          <p:cNvPr id="12" name="mpt3"/>
          <p:cNvSpPr txBox="1"/>
          <p:nvPr/>
        </p:nvSpPr>
        <p:spPr>
          <a:xfrm>
            <a:off x="6217920" y="41148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Production 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15%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AI scenes and editing.</a:t>
            </a:r>
            <a:endParaRPr lang="en-US" sz="1800" dirty="0"/>
          </a:p>
        </p:txBody>
      </p:sp>
      <p:sp>
        <p:nvSpPr>
          <p:cNvPr id="13" name="mpd4"/>
          <p:cNvSpPr/>
          <p:nvPr/>
        </p:nvSpPr>
        <p:spPr>
          <a:xfrm>
            <a:off x="5669280" y="5047488"/>
            <a:ext cx="310896" cy="310896"/>
          </a:xfrm>
          <a:prstGeom prst="ellipse">
            <a:avLst/>
          </a:prstGeom>
          <a:solidFill>
            <a:srgbClr val="8FA9B0"/>
          </a:solidFill>
          <a:ln/>
        </p:spPr>
      </p:sp>
      <p:sp>
        <p:nvSpPr>
          <p:cNvPr id="14" name="mpt4"/>
          <p:cNvSpPr txBox="1"/>
          <p:nvPr/>
        </p:nvSpPr>
        <p:spPr>
          <a:xfrm>
            <a:off x="6217920" y="48920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Test reserve 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10%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10% for what wins in week 2.</a:t>
            </a:r>
            <a:endParaRPr lang="en-US" sz="1800" dirty="0"/>
          </a:p>
        </p:txBody>
      </p:sp>
      <p:sp>
        <p:nvSpPr>
          <p:cNvPr id="15" name="mpn"/>
          <p:cNvSpPr txBox="1"/>
          <p:nvPr/>
        </p:nvSpPr>
        <p:spPr>
          <a:xfrm>
            <a:off x="5669280" y="57607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total budget comes from the client. Percentages are a starting hypothesis.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17   FOUR-WEEK PLAN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From launch to viewings.</a:t>
            </a:r>
            <a:endParaRPr lang="en-US" sz="4000" dirty="0"/>
          </a:p>
        </p:txBody>
      </p:sp>
      <p:sp>
        <p:nvSpPr>
          <p:cNvPr id="4" name="wline"/>
          <p:cNvSpPr/>
          <p:nvPr/>
        </p:nvSpPr>
        <p:spPr>
          <a:xfrm>
            <a:off x="1737360" y="2651760"/>
            <a:ext cx="8778240" cy="0"/>
          </a:xfrm>
          <a:prstGeom prst="line">
            <a:avLst/>
          </a:prstGeom>
          <a:noFill/>
          <a:ln w="38100">
            <a:solidFill>
              <a:srgbClr val="1B6F78"/>
            </a:solidFill>
            <a:prstDash val="solid"/>
          </a:ln>
        </p:spPr>
      </p:sp>
      <p:sp>
        <p:nvSpPr>
          <p:cNvPr id="5" name="wc0"/>
          <p:cNvSpPr/>
          <p:nvPr/>
        </p:nvSpPr>
        <p:spPr>
          <a:xfrm>
            <a:off x="1463040" y="2103120"/>
            <a:ext cx="1097280" cy="1097280"/>
          </a:xfrm>
          <a:prstGeom prst="ellipse">
            <a:avLst/>
          </a:prstGeom>
          <a:solidFill>
            <a:schemeClr val="accent1"/>
          </a:solidFill>
          <a:ln w="50800">
            <a:solidFill>
              <a:srgbClr val="06222C"/>
            </a:solidFill>
            <a:prstDash val="solid"/>
          </a:ln>
        </p:spPr>
      </p:sp>
      <p:sp>
        <p:nvSpPr>
          <p:cNvPr id="6" name="wn0"/>
          <p:cNvSpPr txBox="1"/>
          <p:nvPr/>
        </p:nvSpPr>
        <p:spPr>
          <a:xfrm>
            <a:off x="146304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wk0"/>
          <p:cNvSpPr/>
          <p:nvPr/>
        </p:nvSpPr>
        <p:spPr>
          <a:xfrm>
            <a:off x="548640" y="3520440"/>
            <a:ext cx="2606040" cy="2697480"/>
          </a:xfrm>
          <a:prstGeom prst="roundRect">
            <a:avLst>
              <a:gd name="adj" fmla="val 4912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8" name="wkl0"/>
          <p:cNvSpPr txBox="1"/>
          <p:nvPr/>
        </p:nvSpPr>
        <p:spPr>
          <a:xfrm>
            <a:off x="77724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WEEK 1</a:t>
            </a:r>
            <a:endParaRPr lang="en-US" sz="1300" dirty="0"/>
          </a:p>
        </p:txBody>
      </p:sp>
      <p:sp>
        <p:nvSpPr>
          <p:cNvPr id="9" name="wkt0"/>
          <p:cNvSpPr txBox="1"/>
          <p:nvPr/>
        </p:nvSpPr>
        <p:spPr>
          <a:xfrm>
            <a:off x="77724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Awareness</a:t>
            </a:r>
            <a:endParaRPr lang="en-US" sz="2200" dirty="0"/>
          </a:p>
        </p:txBody>
      </p:sp>
      <p:sp>
        <p:nvSpPr>
          <p:cNvPr id="10" name="wkd0"/>
          <p:cNvSpPr txBox="1"/>
          <p:nvPr/>
        </p:nvSpPr>
        <p:spPr>
          <a:xfrm>
            <a:off x="777240" y="46177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Hero film, lagoon reel, "8 numbers" carousel, test 3 hooks.</a:t>
            </a:r>
            <a:endParaRPr lang="en-US" sz="1600" dirty="0"/>
          </a:p>
        </p:txBody>
      </p:sp>
      <p:sp>
        <p:nvSpPr>
          <p:cNvPr id="11" name="wc1"/>
          <p:cNvSpPr/>
          <p:nvPr/>
        </p:nvSpPr>
        <p:spPr>
          <a:xfrm>
            <a:off x="4282135" y="2103120"/>
            <a:ext cx="1097280" cy="1097280"/>
          </a:xfrm>
          <a:prstGeom prst="ellipse">
            <a:avLst/>
          </a:prstGeom>
          <a:solidFill>
            <a:schemeClr val="accent5"/>
          </a:solidFill>
          <a:ln w="50800">
            <a:solidFill>
              <a:srgbClr val="06222C"/>
            </a:solidFill>
            <a:prstDash val="solid"/>
          </a:ln>
        </p:spPr>
      </p:sp>
      <p:sp>
        <p:nvSpPr>
          <p:cNvPr id="12" name="wn1"/>
          <p:cNvSpPr txBox="1"/>
          <p:nvPr/>
        </p:nvSpPr>
        <p:spPr>
          <a:xfrm>
            <a:off x="4282135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wk1"/>
          <p:cNvSpPr/>
          <p:nvPr/>
        </p:nvSpPr>
        <p:spPr>
          <a:xfrm>
            <a:off x="3367735" y="3520440"/>
            <a:ext cx="2606040" cy="2697480"/>
          </a:xfrm>
          <a:prstGeom prst="roundRect">
            <a:avLst>
              <a:gd name="adj" fmla="val 4912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4" name="wkl1"/>
          <p:cNvSpPr txBox="1"/>
          <p:nvPr/>
        </p:nvSpPr>
        <p:spPr>
          <a:xfrm>
            <a:off x="3596335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5"/>
                </a:solidFill>
              </a:rPr>
              <a:t>WEEK 2</a:t>
            </a:r>
            <a:endParaRPr lang="en-US" sz="1300" dirty="0"/>
          </a:p>
        </p:txBody>
      </p:sp>
      <p:sp>
        <p:nvSpPr>
          <p:cNvPr id="15" name="wkt1"/>
          <p:cNvSpPr txBox="1"/>
          <p:nvPr/>
        </p:nvSpPr>
        <p:spPr>
          <a:xfrm>
            <a:off x="3596335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</a:t>
            </a:r>
            <a:endParaRPr lang="en-US" sz="2200" dirty="0"/>
          </a:p>
        </p:txBody>
      </p:sp>
      <p:sp>
        <p:nvSpPr>
          <p:cNvPr id="16" name="wkd1"/>
          <p:cNvSpPr txBox="1"/>
          <p:nvPr/>
        </p:nvSpPr>
        <p:spPr>
          <a:xfrm>
            <a:off x="3596335" y="46177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Persona carousels, terrace POV, start Click-to-WhatsApp.</a:t>
            </a:r>
            <a:endParaRPr lang="en-US" sz="1600" dirty="0"/>
          </a:p>
        </p:txBody>
      </p:sp>
      <p:sp>
        <p:nvSpPr>
          <p:cNvPr id="17" name="wc2"/>
          <p:cNvSpPr/>
          <p:nvPr/>
        </p:nvSpPr>
        <p:spPr>
          <a:xfrm>
            <a:off x="7101230" y="2103120"/>
            <a:ext cx="1097280" cy="1097280"/>
          </a:xfrm>
          <a:prstGeom prst="ellipse">
            <a:avLst/>
          </a:prstGeom>
          <a:solidFill>
            <a:schemeClr val="accent2"/>
          </a:solidFill>
          <a:ln w="50800">
            <a:solidFill>
              <a:srgbClr val="06222C"/>
            </a:solidFill>
            <a:prstDash val="solid"/>
          </a:ln>
        </p:spPr>
      </p:sp>
      <p:sp>
        <p:nvSpPr>
          <p:cNvPr id="18" name="wn2"/>
          <p:cNvSpPr txBox="1"/>
          <p:nvPr/>
        </p:nvSpPr>
        <p:spPr>
          <a:xfrm>
            <a:off x="710123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wk2"/>
          <p:cNvSpPr/>
          <p:nvPr/>
        </p:nvSpPr>
        <p:spPr>
          <a:xfrm>
            <a:off x="6186830" y="3520440"/>
            <a:ext cx="2606040" cy="2697480"/>
          </a:xfrm>
          <a:prstGeom prst="roundRect">
            <a:avLst>
              <a:gd name="adj" fmla="val 4912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20" name="wkl2"/>
          <p:cNvSpPr txBox="1"/>
          <p:nvPr/>
        </p:nvSpPr>
        <p:spPr>
          <a:xfrm>
            <a:off x="641543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WEEK 3</a:t>
            </a:r>
            <a:endParaRPr lang="en-US" sz="1300" dirty="0"/>
          </a:p>
        </p:txBody>
      </p:sp>
      <p:sp>
        <p:nvSpPr>
          <p:cNvPr id="21" name="wkt2"/>
          <p:cNvSpPr txBox="1"/>
          <p:nvPr/>
        </p:nvSpPr>
        <p:spPr>
          <a:xfrm>
            <a:off x="641543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Consideration</a:t>
            </a:r>
            <a:endParaRPr lang="en-US" sz="2200" dirty="0"/>
          </a:p>
        </p:txBody>
      </p:sp>
      <p:sp>
        <p:nvSpPr>
          <p:cNvPr id="22" name="wkd2"/>
          <p:cNvSpPr txBox="1"/>
          <p:nvPr/>
        </p:nvSpPr>
        <p:spPr>
          <a:xfrm>
            <a:off x="6415430" y="46177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Flexi Plus explained, club video, retargeting.</a:t>
            </a:r>
            <a:endParaRPr lang="en-US" sz="1600" dirty="0"/>
          </a:p>
        </p:txBody>
      </p:sp>
      <p:sp>
        <p:nvSpPr>
          <p:cNvPr id="23" name="wc3"/>
          <p:cNvSpPr/>
          <p:nvPr/>
        </p:nvSpPr>
        <p:spPr>
          <a:xfrm>
            <a:off x="9920326" y="2103120"/>
            <a:ext cx="1097280" cy="1097280"/>
          </a:xfrm>
          <a:prstGeom prst="ellipse">
            <a:avLst/>
          </a:prstGeom>
          <a:solidFill>
            <a:schemeClr val="accent4"/>
          </a:solidFill>
          <a:ln w="50800">
            <a:solidFill>
              <a:srgbClr val="06222C"/>
            </a:solidFill>
            <a:prstDash val="solid"/>
          </a:ln>
        </p:spPr>
      </p:sp>
      <p:sp>
        <p:nvSpPr>
          <p:cNvPr id="24" name="wn3"/>
          <p:cNvSpPr txBox="1"/>
          <p:nvPr/>
        </p:nvSpPr>
        <p:spPr>
          <a:xfrm>
            <a:off x="9920326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5" name="wk3"/>
          <p:cNvSpPr/>
          <p:nvPr/>
        </p:nvSpPr>
        <p:spPr>
          <a:xfrm>
            <a:off x="9005926" y="3520440"/>
            <a:ext cx="2606040" cy="2697480"/>
          </a:xfrm>
          <a:prstGeom prst="roundRect">
            <a:avLst>
              <a:gd name="adj" fmla="val 4912"/>
            </a:avLst>
          </a:prstGeom>
          <a:solidFill>
            <a:srgbClr val="0B3A47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26" name="wkl3"/>
          <p:cNvSpPr txBox="1"/>
          <p:nvPr/>
        </p:nvSpPr>
        <p:spPr>
          <a:xfrm>
            <a:off x="9234526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4"/>
                </a:solidFill>
              </a:rPr>
              <a:t>WEEK 4</a:t>
            </a:r>
            <a:endParaRPr lang="en-US" sz="1300" dirty="0"/>
          </a:p>
        </p:txBody>
      </p:sp>
      <p:sp>
        <p:nvSpPr>
          <p:cNvPr id="27" name="wkt3"/>
          <p:cNvSpPr txBox="1"/>
          <p:nvPr/>
        </p:nvSpPr>
        <p:spPr>
          <a:xfrm>
            <a:off x="9234526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</a:t>
            </a:r>
            <a:endParaRPr lang="en-US" sz="2200" dirty="0"/>
          </a:p>
        </p:txBody>
      </p:sp>
      <p:sp>
        <p:nvSpPr>
          <p:cNvPr id="28" name="wkd3"/>
          <p:cNvSpPr txBox="1"/>
          <p:nvPr/>
        </p:nvSpPr>
        <p:spPr>
          <a:xfrm>
            <a:off x="9234526" y="46177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Day-on-the-water film, numbers reel, viewing offer.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18   KPIS &amp; TARGETS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What we measure.</a:t>
            </a:r>
            <a:endParaRPr lang="en-US" sz="4000" dirty="0"/>
          </a:p>
        </p:txBody>
      </p:sp>
      <p:sp>
        <p:nvSpPr>
          <p:cNvPr id="4" name="sub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Targets are set after a 2-week baseline. Starting hypotheses only.</a:t>
            </a:r>
            <a:endParaRPr lang="en-US" sz="1600" dirty="0"/>
          </a:p>
        </p:txBody>
      </p:sp>
      <p:graphicFrame>
        <p:nvGraphicFramePr>
          <p:cNvPr id="19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926080"/>
                <a:gridCol w="466344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KPI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Why it matters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Starting rule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3-second hold rate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Hook strength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Under 30%: change the hook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CTR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Ad appeal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Under 1%: change image or text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Cost per WhatsApp lead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Spend efficiency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Compare across ads weekly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Qualified lead %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Lead quality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Low: tighten targeting and questions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First response time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Sales speed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Over 1 hour: add auto-reply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Viewings and EOI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Real outcome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The campaign goal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19   COMPLIANCE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Say it right.</a:t>
            </a:r>
            <a:endParaRPr lang="en-US" sz="4000" dirty="0"/>
          </a:p>
        </p:txBody>
      </p:sp>
      <p:sp>
        <p:nvSpPr>
          <p:cNvPr id="4" name="cl"/>
          <p:cNvSpPr/>
          <p:nvPr/>
        </p:nvSpPr>
        <p:spPr>
          <a:xfrm>
            <a:off x="548640" y="1783080"/>
            <a:ext cx="3840480" cy="443484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5" name="cli"/>
          <p:cNvSpPr/>
          <p:nvPr/>
        </p:nvSpPr>
        <p:spPr>
          <a:xfrm>
            <a:off x="1005840" y="219456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l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487168"/>
            <a:ext cx="603504" cy="603504"/>
          </a:xfrm>
          <a:prstGeom prst="rect">
            <a:avLst/>
          </a:prstGeom>
        </p:spPr>
      </p:pic>
      <p:sp>
        <p:nvSpPr>
          <p:cNvPr id="7" name="clt"/>
          <p:cNvSpPr txBox="1"/>
          <p:nvPr/>
        </p:nvSpPr>
        <p:spPr>
          <a:xfrm>
            <a:off x="1005840" y="37033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estate ads are checked. Accuracy protects the brand.</a:t>
            </a:r>
            <a:endParaRPr lang="en-US" sz="2400" dirty="0"/>
          </a:p>
        </p:txBody>
      </p:sp>
      <p:sp>
        <p:nvSpPr>
          <p:cNvPr id="8" name="ru0"/>
          <p:cNvSpPr/>
          <p:nvPr/>
        </p:nvSpPr>
        <p:spPr>
          <a:xfrm>
            <a:off x="4663440" y="1737360"/>
            <a:ext cx="6949440" cy="841248"/>
          </a:xfrm>
          <a:prstGeom prst="roundRect">
            <a:avLst>
              <a:gd name="adj" fmla="val 152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9" name="run0"/>
          <p:cNvSpPr/>
          <p:nvPr/>
        </p:nvSpPr>
        <p:spPr>
          <a:xfrm>
            <a:off x="4846320" y="19293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rut0"/>
          <p:cNvSpPr txBox="1"/>
          <p:nvPr/>
        </p:nvSpPr>
        <p:spPr>
          <a:xfrm>
            <a:off x="484632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rux0"/>
          <p:cNvSpPr txBox="1"/>
          <p:nvPr/>
        </p:nvSpPr>
        <p:spPr>
          <a:xfrm>
            <a:off x="5486400" y="1764792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Say "starting from"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Prices change. Never "fixed price".</a:t>
            </a:r>
            <a:endParaRPr lang="en-US" sz="1600" dirty="0"/>
          </a:p>
        </p:txBody>
      </p:sp>
      <p:sp>
        <p:nvSpPr>
          <p:cNvPr id="12" name="ru1"/>
          <p:cNvSpPr/>
          <p:nvPr/>
        </p:nvSpPr>
        <p:spPr>
          <a:xfrm>
            <a:off x="4663440" y="2642616"/>
            <a:ext cx="6949440" cy="841248"/>
          </a:xfrm>
          <a:prstGeom prst="roundRect">
            <a:avLst>
              <a:gd name="adj" fmla="val 152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3" name="run1"/>
          <p:cNvSpPr/>
          <p:nvPr/>
        </p:nvSpPr>
        <p:spPr>
          <a:xfrm>
            <a:off x="4846320" y="2834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rut1"/>
          <p:cNvSpPr txBox="1"/>
          <p:nvPr/>
        </p:nvSpPr>
        <p:spPr>
          <a:xfrm>
            <a:off x="48463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rux1"/>
          <p:cNvSpPr txBox="1"/>
          <p:nvPr/>
        </p:nvSpPr>
        <p:spPr>
          <a:xfrm>
            <a:off x="5486400" y="2670048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Say "views of water features"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Not "all units on the water".</a:t>
            </a:r>
            <a:endParaRPr lang="en-US" sz="1600" dirty="0"/>
          </a:p>
        </p:txBody>
      </p:sp>
      <p:sp>
        <p:nvSpPr>
          <p:cNvPr id="16" name="ru2"/>
          <p:cNvSpPr/>
          <p:nvPr/>
        </p:nvSpPr>
        <p:spPr>
          <a:xfrm>
            <a:off x="4663440" y="3547872"/>
            <a:ext cx="6949440" cy="841248"/>
          </a:xfrm>
          <a:prstGeom prst="roundRect">
            <a:avLst>
              <a:gd name="adj" fmla="val 152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run2"/>
          <p:cNvSpPr/>
          <p:nvPr/>
        </p:nvSpPr>
        <p:spPr>
          <a:xfrm>
            <a:off x="4846320" y="37398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rut2"/>
          <p:cNvSpPr txBox="1"/>
          <p:nvPr/>
        </p:nvSpPr>
        <p:spPr>
          <a:xfrm>
            <a:off x="484632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rux2"/>
          <p:cNvSpPr txBox="1"/>
          <p:nvPr/>
        </p:nvSpPr>
        <p:spPr>
          <a:xfrm>
            <a:off x="5486400" y="3575304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Say "Flexi Plus: you choose finishing"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Not "fully finished". AC, heaters, kitchen units and sanitary ware are not included.</a:t>
            </a:r>
            <a:endParaRPr lang="en-US" sz="1600" dirty="0"/>
          </a:p>
        </p:txBody>
      </p:sp>
      <p:sp>
        <p:nvSpPr>
          <p:cNvPr id="20" name="ru3"/>
          <p:cNvSpPr/>
          <p:nvPr/>
        </p:nvSpPr>
        <p:spPr>
          <a:xfrm>
            <a:off x="4663440" y="4453128"/>
            <a:ext cx="6949440" cy="841248"/>
          </a:xfrm>
          <a:prstGeom prst="roundRect">
            <a:avLst>
              <a:gd name="adj" fmla="val 152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21" name="run3"/>
          <p:cNvSpPr/>
          <p:nvPr/>
        </p:nvSpPr>
        <p:spPr>
          <a:xfrm>
            <a:off x="4846320" y="46451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rut3"/>
          <p:cNvSpPr txBox="1"/>
          <p:nvPr/>
        </p:nvSpPr>
        <p:spPr>
          <a:xfrm>
            <a:off x="484632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rux3"/>
          <p:cNvSpPr txBox="1"/>
          <p:nvPr/>
        </p:nvSpPr>
        <p:spPr>
          <a:xfrm>
            <a:off x="5486400" y="4480560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Say "planned" for the metro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LRT and monorail are operating; the metro line is planned.</a:t>
            </a:r>
            <a:endParaRPr lang="en-US" sz="1600" dirty="0"/>
          </a:p>
        </p:txBody>
      </p:sp>
      <p:sp>
        <p:nvSpPr>
          <p:cNvPr id="24" name="ru4"/>
          <p:cNvSpPr/>
          <p:nvPr/>
        </p:nvSpPr>
        <p:spPr>
          <a:xfrm>
            <a:off x="4663440" y="5358384"/>
            <a:ext cx="6949440" cy="841248"/>
          </a:xfrm>
          <a:prstGeom prst="roundRect">
            <a:avLst>
              <a:gd name="adj" fmla="val 1521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25" name="run4"/>
          <p:cNvSpPr/>
          <p:nvPr/>
        </p:nvSpPr>
        <p:spPr>
          <a:xfrm>
            <a:off x="4846320" y="555040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6" name="rut4"/>
          <p:cNvSpPr txBox="1"/>
          <p:nvPr/>
        </p:nvSpPr>
        <p:spPr>
          <a:xfrm>
            <a:off x="4846320" y="5550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rux4"/>
          <p:cNvSpPr txBox="1"/>
          <p:nvPr/>
        </p:nvSpPr>
        <p:spPr>
          <a:xfrm>
            <a:off x="5486400" y="5385816"/>
            <a:ext cx="5989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Add the disclaimer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Images are illustrative. SODIC reserves the right to make alterations. Never promise returns.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20   RISKS &amp; OPEN QUESTIONS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What to confirm first.</a:t>
            </a:r>
            <a:endParaRPr lang="en-US" sz="4000" dirty="0"/>
          </a:p>
        </p:txBody>
      </p:sp>
      <p:graphicFrame>
        <p:nvGraphicFramePr>
          <p:cNvPr id="21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383280"/>
                <a:gridCol w="420624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Item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Why it matters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Down payment 1.5%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The kit text said 0%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</a:rPr>
                        <a:t>Confirm the final plan and its date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A4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EOI terms (50,000 EGP)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6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Deducted? Refundable?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6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</a:rPr>
                        <a:t>Get the written terms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65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Delivery date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Brokers say 2030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</a:rPr>
                        <a:t>Official date per building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A4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Club membership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6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Included or paid?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6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</a:rPr>
                        <a:t>Ask the developer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65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Maintenance fees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Part of total cost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</a:rPr>
                        <a:t>Get the figure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A4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Image rights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6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Use of renders and maps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6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</a:rPr>
                        <a:t>Written approval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5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65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21   RESEARCH SOURCES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Where the facts come from.</a:t>
            </a:r>
            <a:endParaRPr lang="en-US" sz="4000" dirty="0"/>
          </a:p>
        </p:txBody>
      </p:sp>
      <p:sp>
        <p:nvSpPr>
          <p:cNvPr id="4" name="so0"/>
          <p:cNvSpPr/>
          <p:nvPr/>
        </p:nvSpPr>
        <p:spPr>
          <a:xfrm>
            <a:off x="548640" y="1783080"/>
            <a:ext cx="5440680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5" name="son0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ont0"/>
          <p:cNvSpPr txBox="1"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ot0"/>
          <p:cNvSpPr txBox="1"/>
          <p:nvPr/>
        </p:nvSpPr>
        <p:spPr>
          <a:xfrm>
            <a:off x="1508760" y="189280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SODIC "The Lakes - Sales Kit": project facts, areas, finishing, distances.</a:t>
            </a:r>
            <a:endParaRPr lang="en-US" sz="1600" dirty="0"/>
          </a:p>
        </p:txBody>
      </p:sp>
      <p:sp>
        <p:nvSpPr>
          <p:cNvPr id="8" name="so1"/>
          <p:cNvSpPr/>
          <p:nvPr/>
        </p:nvSpPr>
        <p:spPr>
          <a:xfrm>
            <a:off x="6172200" y="1783080"/>
            <a:ext cx="5440680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9" name="son1"/>
          <p:cNvSpPr/>
          <p:nvPr/>
        </p:nvSpPr>
        <p:spPr>
          <a:xfrm>
            <a:off x="640080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ont1"/>
          <p:cNvSpPr txBox="1"/>
          <p:nvPr/>
        </p:nvSpPr>
        <p:spPr>
          <a:xfrm>
            <a:off x="64008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sot1"/>
          <p:cNvSpPr txBox="1"/>
          <p:nvPr/>
        </p:nvSpPr>
        <p:spPr>
          <a:xfrm>
            <a:off x="7132320" y="189280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Zawya and Daily News Egypt (Aug 2025): Talala launch figures.</a:t>
            </a:r>
            <a:endParaRPr lang="en-US" sz="1600" dirty="0"/>
          </a:p>
        </p:txBody>
      </p:sp>
      <p:sp>
        <p:nvSpPr>
          <p:cNvPr id="12" name="so2"/>
          <p:cNvSpPr/>
          <p:nvPr/>
        </p:nvSpPr>
        <p:spPr>
          <a:xfrm>
            <a:off x="548640" y="3264408"/>
            <a:ext cx="5440680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3" name="son2"/>
          <p:cNvSpPr/>
          <p:nvPr/>
        </p:nvSpPr>
        <p:spPr>
          <a:xfrm>
            <a:off x="777240" y="353872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ont2"/>
          <p:cNvSpPr txBox="1"/>
          <p:nvPr/>
        </p:nvSpPr>
        <p:spPr>
          <a:xfrm>
            <a:off x="777240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sot2"/>
          <p:cNvSpPr txBox="1"/>
          <p:nvPr/>
        </p:nvSpPr>
        <p:spPr>
          <a:xfrm>
            <a:off x="1508760" y="3374136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Alstom press release (6 May 2026) and Ahram Online (26 June 2026): monorail.</a:t>
            </a:r>
            <a:endParaRPr lang="en-US" sz="1600" dirty="0"/>
          </a:p>
        </p:txBody>
      </p:sp>
      <p:sp>
        <p:nvSpPr>
          <p:cNvPr id="16" name="so3"/>
          <p:cNvSpPr/>
          <p:nvPr/>
        </p:nvSpPr>
        <p:spPr>
          <a:xfrm>
            <a:off x="6172200" y="3264408"/>
            <a:ext cx="5440680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on3"/>
          <p:cNvSpPr/>
          <p:nvPr/>
        </p:nvSpPr>
        <p:spPr>
          <a:xfrm>
            <a:off x="6400800" y="353872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sont3"/>
          <p:cNvSpPr txBox="1"/>
          <p:nvPr/>
        </p:nvSpPr>
        <p:spPr>
          <a:xfrm>
            <a:off x="6400800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sot3"/>
          <p:cNvSpPr txBox="1"/>
          <p:nvPr/>
        </p:nvSpPr>
        <p:spPr>
          <a:xfrm>
            <a:off x="7132320" y="3374136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Wikipedia and Egypt Independent: Cairo LRT.</a:t>
            </a:r>
            <a:endParaRPr lang="en-US" sz="1600" dirty="0"/>
          </a:p>
        </p:txBody>
      </p:sp>
      <p:sp>
        <p:nvSpPr>
          <p:cNvPr id="20" name="so4"/>
          <p:cNvSpPr/>
          <p:nvPr/>
        </p:nvSpPr>
        <p:spPr>
          <a:xfrm>
            <a:off x="548640" y="4745736"/>
            <a:ext cx="5440680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21" name="son4"/>
          <p:cNvSpPr/>
          <p:nvPr/>
        </p:nvSpPr>
        <p:spPr>
          <a:xfrm>
            <a:off x="777240" y="5020056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2" name="sont4"/>
          <p:cNvSpPr txBox="1"/>
          <p:nvPr/>
        </p:nvSpPr>
        <p:spPr>
          <a:xfrm>
            <a:off x="777240" y="5020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sot4"/>
          <p:cNvSpPr txBox="1"/>
          <p:nvPr/>
        </p:nvSpPr>
        <p:spPr>
          <a:xfrm>
            <a:off x="1508760" y="4855464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Property Finder, Siva Properties, Enjaz, Bayut, Nawy: broker data (delivery, down payment, rival prices). Not official; checked 11 Oct 2026.</a:t>
            </a:r>
            <a:endParaRPr lang="en-US" sz="1600" dirty="0"/>
          </a:p>
        </p:txBody>
      </p:sp>
      <p:sp>
        <p:nvSpPr>
          <p:cNvPr id="24" name="so5"/>
          <p:cNvSpPr/>
          <p:nvPr/>
        </p:nvSpPr>
        <p:spPr>
          <a:xfrm>
            <a:off x="6172200" y="4745736"/>
            <a:ext cx="5440680" cy="132588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25" name="son5"/>
          <p:cNvSpPr/>
          <p:nvPr/>
        </p:nvSpPr>
        <p:spPr>
          <a:xfrm>
            <a:off x="6400800" y="502005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sont5"/>
          <p:cNvSpPr txBox="1"/>
          <p:nvPr/>
        </p:nvSpPr>
        <p:spPr>
          <a:xfrm>
            <a:off x="6400800" y="5020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6</a:t>
            </a:r>
            <a:endParaRPr lang="en-US" sz="1800" dirty="0"/>
          </a:p>
        </p:txBody>
      </p:sp>
      <p:sp>
        <p:nvSpPr>
          <p:cNvPr id="27" name="sot5"/>
          <p:cNvSpPr txBox="1"/>
          <p:nvPr/>
        </p:nvSpPr>
        <p:spPr>
          <a:xfrm>
            <a:off x="7132320" y="4855464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Your own numbers (1.5% down, 10 years, EOI 50,000, price list) were used for the offer slides.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pple0"/>
          <p:cNvSpPr/>
          <p:nvPr/>
        </p:nvSpPr>
        <p:spPr>
          <a:xfrm>
            <a:off x="8366760" y="2468880"/>
            <a:ext cx="1828800" cy="1828800"/>
          </a:xfrm>
          <a:prstGeom prst="ellipse">
            <a:avLst/>
          </a:prstGeom>
          <a:ln w="28575">
            <a:solidFill>
              <a:srgbClr val="2A97A0"/>
            </a:solidFill>
            <a:prstDash val="solid"/>
          </a:ln>
        </p:spPr>
      </p:sp>
      <p:sp>
        <p:nvSpPr>
          <p:cNvPr id="3" name="ripple1"/>
          <p:cNvSpPr/>
          <p:nvPr/>
        </p:nvSpPr>
        <p:spPr>
          <a:xfrm>
            <a:off x="7726680" y="1828800"/>
            <a:ext cx="3108960" cy="3108960"/>
          </a:xfrm>
          <a:prstGeom prst="ellipse">
            <a:avLst/>
          </a:prstGeom>
          <a:ln w="28575">
            <a:solidFill>
              <a:srgbClr val="22808A"/>
            </a:solidFill>
            <a:prstDash val="solid"/>
          </a:ln>
        </p:spPr>
      </p:sp>
      <p:sp>
        <p:nvSpPr>
          <p:cNvPr id="4" name="ripple2"/>
          <p:cNvSpPr/>
          <p:nvPr/>
        </p:nvSpPr>
        <p:spPr>
          <a:xfrm>
            <a:off x="7086600" y="1188720"/>
            <a:ext cx="4389120" cy="4389120"/>
          </a:xfrm>
          <a:prstGeom prst="ellipse">
            <a:avLst/>
          </a:prstGeom>
          <a:ln w="28575">
            <a:solidFill>
              <a:srgbClr val="1B6A74"/>
            </a:solidFill>
            <a:prstDash val="solid"/>
          </a:ln>
        </p:spPr>
      </p:sp>
      <p:sp>
        <p:nvSpPr>
          <p:cNvPr id="5" name="ripple3"/>
          <p:cNvSpPr/>
          <p:nvPr/>
        </p:nvSpPr>
        <p:spPr>
          <a:xfrm>
            <a:off x="6446520" y="548640"/>
            <a:ext cx="5669280" cy="5669280"/>
          </a:xfrm>
          <a:prstGeom prst="ellipse">
            <a:avLst/>
          </a:prstGeom>
          <a:ln w="28575">
            <a:solidFill>
              <a:srgbClr val="145861"/>
            </a:solidFill>
            <a:prstDash val="solid"/>
          </a:ln>
        </p:spPr>
      </p:sp>
      <p:sp>
        <p:nvSpPr>
          <p:cNvPr id="6" name="drop"/>
          <p:cNvSpPr/>
          <p:nvPr/>
        </p:nvSpPr>
        <p:spPr>
          <a:xfrm>
            <a:off x="8778240" y="288036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drop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5128" y="3127248"/>
            <a:ext cx="512064" cy="512064"/>
          </a:xfrm>
          <a:prstGeom prst="rect">
            <a:avLst/>
          </a:prstGeom>
        </p:spPr>
      </p:pic>
      <p:sp>
        <p:nvSpPr>
          <p:cNvPr id="8" name="mono"/>
          <p:cNvSpPr/>
          <p:nvPr/>
        </p:nvSpPr>
        <p:spPr>
          <a:xfrm>
            <a:off x="548640" y="59436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monotxt"/>
          <p:cNvSpPr txBox="1"/>
          <p:nvPr/>
        </p:nvSpPr>
        <p:spPr>
          <a:xfrm>
            <a:off x="548640" y="594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MT</a:t>
            </a:r>
            <a:endParaRPr lang="en-US" sz="2000" dirty="0"/>
          </a:p>
        </p:txBody>
      </p:sp>
      <p:sp>
        <p:nvSpPr>
          <p:cNvPr id="10" name="by"/>
          <p:cNvSpPr txBox="1"/>
          <p:nvPr/>
        </p:nvSpPr>
        <p:spPr>
          <a:xfrm>
            <a:off x="1371600" y="59436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chemeClr val="accent2"/>
                </a:solidFill>
              </a:rPr>
              <a:t>PREPARED BY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Mohamed Mostafa Taher Salem</a:t>
            </a:r>
            <a:endParaRPr lang="en-US" sz="1200" dirty="0"/>
          </a:p>
        </p:txBody>
      </p:sp>
      <p:sp>
        <p:nvSpPr>
          <p:cNvPr id="11" name="h1"/>
          <p:cNvSpPr txBox="1"/>
          <p:nvPr/>
        </p:nvSpPr>
        <p:spPr>
          <a:xfrm>
            <a:off x="548640" y="1691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into impact.</a:t>
            </a:r>
            <a:endParaRPr lang="en-US" sz="5400" dirty="0"/>
          </a:p>
        </p:txBody>
      </p:sp>
      <p:sp>
        <p:nvSpPr>
          <p:cNvPr id="12" name="h2"/>
          <p:cNvSpPr txBox="1"/>
          <p:nvPr/>
        </p:nvSpPr>
        <p:spPr>
          <a:xfrm>
            <a:off x="548640" y="2606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talk about the next brief.</a:t>
            </a:r>
            <a:endParaRPr lang="en-US" sz="3600" dirty="0"/>
          </a:p>
        </p:txBody>
      </p:sp>
      <p:pic>
        <p:nvPicPr>
          <p:cNvPr id="13" name="c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49040"/>
            <a:ext cx="274320" cy="274320"/>
          </a:xfrm>
          <a:prstGeom prst="rect">
            <a:avLst/>
          </a:prstGeom>
        </p:spPr>
      </p:pic>
      <p:sp>
        <p:nvSpPr>
          <p:cNvPr id="14" name="ct0"/>
          <p:cNvSpPr txBox="1"/>
          <p:nvPr/>
        </p:nvSpPr>
        <p:spPr>
          <a:xfrm>
            <a:off x="1051560" y="3703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mohamedostafataher@gmail.com</a:t>
            </a:r>
            <a:endParaRPr lang="en-US" sz="1800" dirty="0"/>
          </a:p>
        </p:txBody>
      </p:sp>
      <p:pic>
        <p:nvPicPr>
          <p:cNvPr id="15" name="c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06240"/>
            <a:ext cx="274320" cy="274320"/>
          </a:xfrm>
          <a:prstGeom prst="rect">
            <a:avLst/>
          </a:prstGeom>
        </p:spPr>
      </p:pic>
      <p:sp>
        <p:nvSpPr>
          <p:cNvPr id="16" name="ct1"/>
          <p:cNvSpPr txBox="1"/>
          <p:nvPr/>
        </p:nvSpPr>
        <p:spPr>
          <a:xfrm>
            <a:off x="1051560" y="4160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WhatsApp +20 111 009 5403</a:t>
            </a:r>
            <a:endParaRPr lang="en-US" sz="1800" dirty="0"/>
          </a:p>
        </p:txBody>
      </p:sp>
      <p:pic>
        <p:nvPicPr>
          <p:cNvPr id="17" name="c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663440"/>
            <a:ext cx="274320" cy="274320"/>
          </a:xfrm>
          <a:prstGeom prst="rect">
            <a:avLst/>
          </a:prstGeom>
        </p:spPr>
      </p:pic>
      <p:sp>
        <p:nvSpPr>
          <p:cNvPr id="18" name="ct2"/>
          <p:cNvSpPr txBox="1"/>
          <p:nvPr/>
        </p:nvSpPr>
        <p:spPr>
          <a:xfrm>
            <a:off x="1051560" y="4617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mohamedmostafa-one.vercel.app</a:t>
            </a:r>
            <a:endParaRPr lang="en-US" sz="1800" dirty="0"/>
          </a:p>
        </p:txBody>
      </p:sp>
      <p:pic>
        <p:nvPicPr>
          <p:cNvPr id="19" name="ci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120640"/>
            <a:ext cx="274320" cy="274320"/>
          </a:xfrm>
          <a:prstGeom prst="rect">
            <a:avLst/>
          </a:prstGeom>
        </p:spPr>
      </p:pic>
      <p:sp>
        <p:nvSpPr>
          <p:cNvPr id="20" name="ct3"/>
          <p:cNvSpPr txBox="1"/>
          <p:nvPr/>
        </p:nvSpPr>
        <p:spPr>
          <a:xfrm>
            <a:off x="1051560" y="5074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youtube.com/@mohamedmostafacreative</a:t>
            </a:r>
            <a:endParaRPr lang="en-US" sz="1800" dirty="0"/>
          </a:p>
        </p:txBody>
      </p:sp>
      <p:pic>
        <p:nvPicPr>
          <p:cNvPr id="21" name="ci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577840"/>
            <a:ext cx="274320" cy="274320"/>
          </a:xfrm>
          <a:prstGeom prst="rect">
            <a:avLst/>
          </a:prstGeom>
        </p:spPr>
      </p:pic>
      <p:sp>
        <p:nvSpPr>
          <p:cNvPr id="22" name="ct4"/>
          <p:cNvSpPr txBox="1"/>
          <p:nvPr/>
        </p:nvSpPr>
        <p:spPr>
          <a:xfrm>
            <a:off x="1051560" y="5532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Instagram @mohamedostafa5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6" dur="220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6" presetClass="emph" presetSubtype="0" repeatCount="indefinite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78" dur="220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mph" presetSubtype="0" repeatCount="indefinite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80" dur="22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81" presetID="26" presetClass="emph" presetSubtype="0" repeatCount="indefinite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Scale>
                                      <p:cBhvr>
                                        <p:cTn id="82" dur="22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Lakes Lagoon">
  <a:themeElements>
    <a:clrScheme name="Lakes Lagoon">
      <a:dk1>
        <a:srgbClr val="06222C"/>
      </a:dk1>
      <a:lt1>
        <a:srgbClr val="FFFFFF"/>
      </a:lt1>
      <a:dk2>
        <a:srgbClr val="0B4A5A"/>
      </a:dk2>
      <a:lt2>
        <a:srgbClr val="EAF6F5"/>
      </a:lt2>
      <a:accent1>
        <a:srgbClr val="1FB8B0"/>
      </a:accent1>
      <a:accent2>
        <a:srgbClr val="7FE3DA"/>
      </a:accent2>
      <a:accent3>
        <a:srgbClr val="E07B4F"/>
      </a:accent3>
      <a:accent4>
        <a:srgbClr val="F4B942"/>
      </a:accent4>
      <a:accent5>
        <a:srgbClr val="2F80C9"/>
      </a:accent5>
      <a:accent6>
        <a:srgbClr val="8FA9B0"/>
      </a:accent6>
      <a:hlink>
        <a:srgbClr val="1FB8B0"/>
      </a:hlink>
      <a:folHlink>
        <a:srgbClr val="8FA9B0"/>
      </a:folHlink>
    </a:clrScheme>
    <a:fontScheme name="Lakes Lago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Lakes - Full marketing &amp; creative plan</dc:title>
  <dc:subject>PptxGenJS Presentation</dc:subject>
  <dc:creator>Mohamed Mostafa Taher Salem</dc:creator>
  <cp:lastModifiedBy>Mohamed Mostafa Taher Salem</cp:lastModifiedBy>
  <cp:revision>1</cp:revision>
  <dcterms:created xsi:type="dcterms:W3CDTF">2026-10-11T10:20:09Z</dcterms:created>
  <dcterms:modified xsi:type="dcterms:W3CDTF">2026-10-11T10:20:09Z</dcterms:modified>
</cp:coreProperties>
</file>