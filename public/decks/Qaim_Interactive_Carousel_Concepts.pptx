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17"/>
    <p:sldId id="260" r:id="rId6"/>
    <p:sldId id="261" r:id="rId7"/>
    <p:sldId id="267" r:id="rId18"/>
    <p:sldId id="262" r:id="rId8"/>
    <p:sldId id="263" r:id="rId9"/>
    <p:sldId id="268" r:id="rId19"/>
    <p:sldId id="269" r:id="rId20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5781" y="678656"/>
            <a:ext cx="44148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11 · CONTENT DEVELOPMENT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35781" y="1028700"/>
            <a:ext cx="4414838" cy="1049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37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</a:t>
            </a:r>
            <a:r>
              <a:rPr lang="en-US" sz="375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r>
              <a:rPr lang="en-US" sz="37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7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35781" y="2249388"/>
            <a:ext cx="4414838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Qaim’s social content into clear, useful and Canva-ready carousel executions.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5781" y="3559485"/>
            <a:ext cx="4414838" cy="607219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</a:t>
            </a:r>
            <a:r>
              <a:rPr lang="en-US" sz="10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Mostafa Taher Salem</a:t>
            </a:r>
            <a:r>
              <a:rPr lang="en-US" sz="10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</a:t>
            </a:r>
            <a:r>
              <a:rPr lang="en-US" sz="10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21172333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77873" y="0"/>
            <a:ext cx="3566127" cy="5143500"/>
          </a:xfrm>
          <a:prstGeom prst="rect">
            <a:avLst/>
          </a:prstGeom>
          <a:solidFill>
            <a:srgbClr val="10172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048" y="257175"/>
            <a:ext cx="3051777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4344"/>
            <a:ext cx="81153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2" kern="0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BRIEF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14350" y="703659"/>
            <a:ext cx="81153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three concepts to </a:t>
            </a:r>
            <a:r>
              <a:rPr lang="en-US" sz="25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carousels.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514350" y="1357313"/>
            <a:ext cx="2590781" cy="200025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6" name="Shape 3"/>
          <p:cNvSpPr/>
          <p:nvPr/>
        </p:nvSpPr>
        <p:spPr>
          <a:xfrm>
            <a:off x="514350" y="1357313"/>
            <a:ext cx="2590781" cy="57150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557338"/>
            <a:ext cx="21907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4375" y="2032397"/>
            <a:ext cx="2190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the Concept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4375" y="2339578"/>
            <a:ext cx="2190731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audience, strategic job, product route and tone for each content idea.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76581" y="1357313"/>
            <a:ext cx="2590781" cy="200025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1" name="Shape 8"/>
          <p:cNvSpPr/>
          <p:nvPr/>
        </p:nvSpPr>
        <p:spPr>
          <a:xfrm>
            <a:off x="3276581" y="1357313"/>
            <a:ext cx="2590781" cy="57150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12" name="Text 9"/>
          <p:cNvSpPr/>
          <p:nvPr/>
        </p:nvSpPr>
        <p:spPr>
          <a:xfrm>
            <a:off x="3476606" y="1557338"/>
            <a:ext cx="21907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476606" y="2032397"/>
            <a:ext cx="2190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Copy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76606" y="2339578"/>
            <a:ext cx="2190731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frame-by-frame headlines, captions and clear calls to action that fit Qaim.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8813" y="1357313"/>
            <a:ext cx="2590781" cy="200025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16" name="Shape 13"/>
          <p:cNvSpPr/>
          <p:nvPr/>
        </p:nvSpPr>
        <p:spPr>
          <a:xfrm>
            <a:off x="6038813" y="1357313"/>
            <a:ext cx="2590781" cy="57150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17" name="Text 14"/>
          <p:cNvSpPr/>
          <p:nvPr/>
        </p:nvSpPr>
        <p:spPr>
          <a:xfrm>
            <a:off x="6238838" y="1557338"/>
            <a:ext cx="21907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238838" y="2032397"/>
            <a:ext cx="21907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in Canva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38838" y="2339578"/>
            <a:ext cx="2190731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the copy into portrait carousel frames using one consistent Qaim visual system.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4350" y="3643313"/>
            <a:ext cx="8115300" cy="2000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14350" y="3643313"/>
            <a:ext cx="57150" cy="200025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2" name="Text 19"/>
          <p:cNvSpPr/>
          <p:nvPr/>
        </p:nvSpPr>
        <p:spPr>
          <a:xfrm>
            <a:off x="514350" y="3643313"/>
            <a:ext cx="8115300" cy="20002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sz="105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PowerPoint case study that documents the Canva-ready design logic, copy and execution for all three carousels.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CONCEPT 1 STRATEGY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0063" y="667941"/>
            <a:ext cx="81438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Base, </a:t>
            </a:r>
            <a:r>
              <a:rPr lang="en-US" sz="265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Plans.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00063" y="1257970"/>
            <a:ext cx="4516301" cy="75210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Qaim base piece can move with the customer through errands, café time and an evening meet-up.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0063" y="2302966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JOB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0063" y="2560141"/>
            <a:ext cx="219385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discovery and everyday styling.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822507" y="2302966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22507" y="2560141"/>
            <a:ext cx="219385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men aged 18–35 who need practical outfit ideas.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3" y="3128739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ROUTE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0063" y="3385914"/>
            <a:ext cx="219385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SADA or Wide-Leg Jeans, then a current top and shoe.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22507" y="3128739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822507" y="3385914"/>
            <a:ext cx="2193857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Practical, confident and fast.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551" y="1257970"/>
            <a:ext cx="3270386" cy="23574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0063" y="3933081"/>
            <a:ext cx="81438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</a:t>
            </a: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Day. Your Look. </a:t>
            </a:r>
            <a:r>
              <a:rPr lang="en-US" sz="900" b="1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 interest, saves and website visits.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371475"/>
            <a:ext cx="4764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CAROUSEL 1 · CANVA EXECUTION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64344" y="575072"/>
            <a:ext cx="476488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Base, </a:t>
            </a:r>
            <a:r>
              <a:rPr lang="en-US" sz="21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Plans.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64344" y="1078706"/>
            <a:ext cx="4764881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product-led carousel that shows how one Qaim base piece can move across the customer’s day. The visual language is intentionally simple: one strong image, one offer block and one action.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64344" y="1780803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64344" y="1780803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8" name="Text 5"/>
          <p:cNvSpPr/>
          <p:nvPr/>
        </p:nvSpPr>
        <p:spPr>
          <a:xfrm>
            <a:off x="550069" y="1866528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01 · HOOK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50069" y="2002259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مشاوير؟ اختار أساس واحد.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0069" y="2175104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headline with full-body look.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882503" y="1780803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882503" y="1780803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3" name="Text 10"/>
          <p:cNvSpPr/>
          <p:nvPr/>
        </p:nvSpPr>
        <p:spPr>
          <a:xfrm>
            <a:off x="2968228" y="1866528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02 · PRODUCT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968228" y="2002259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اللوك يبدأ من قطعة واضحة.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968228" y="2175104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or cargo close-up.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64344" y="2443665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344" y="2443665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8" name="Text 15"/>
          <p:cNvSpPr/>
          <p:nvPr/>
        </p:nvSpPr>
        <p:spPr>
          <a:xfrm>
            <a:off x="550069" y="2529390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03 · DAILY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50069" y="2665121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keep it simple.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0069" y="2837966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daytime styling.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882503" y="2443665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2882503" y="2443665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23" name="Text 20"/>
          <p:cNvSpPr/>
          <p:nvPr/>
        </p:nvSpPr>
        <p:spPr>
          <a:xfrm>
            <a:off x="2968228" y="2529390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04 · CHANGE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968228" y="2665121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تفصيلة واحدة.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968228" y="2837966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or top change.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64344" y="3106527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64344" y="3106527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28" name="Text 25"/>
          <p:cNvSpPr/>
          <p:nvPr/>
        </p:nvSpPr>
        <p:spPr>
          <a:xfrm>
            <a:off x="550069" y="3192252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05 · FINISH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3327983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كمّل اللوك بالحذاء.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0069" y="3500828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Shoe-led finishing frame.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2882503" y="3106527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2882503" y="3106527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33" name="Text 30"/>
          <p:cNvSpPr/>
          <p:nvPr/>
        </p:nvSpPr>
        <p:spPr>
          <a:xfrm>
            <a:off x="2968228" y="3192252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06 · RECAP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968228" y="3327983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الأساس. خطط مختلفة.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968228" y="3500828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Three-option recap.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464344" y="3769389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64344" y="3769389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38" name="Text 35"/>
          <p:cNvSpPr/>
          <p:nvPr/>
        </p:nvSpPr>
        <p:spPr>
          <a:xfrm>
            <a:off x="550069" y="3855114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07 · CTA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50069" y="3990845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الآن وشوف المتاح.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50069" y="4163690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Qaim.shop and current sizes.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64344" y="4446538"/>
            <a:ext cx="4764881" cy="422821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42" name="Shape 39"/>
          <p:cNvSpPr/>
          <p:nvPr/>
        </p:nvSpPr>
        <p:spPr>
          <a:xfrm>
            <a:off x="464344" y="4446538"/>
            <a:ext cx="50006" cy="422821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43" name="Text 40"/>
          <p:cNvSpPr/>
          <p:nvPr/>
        </p:nvSpPr>
        <p:spPr>
          <a:xfrm>
            <a:off x="464344" y="4446538"/>
            <a:ext cx="4764881" cy="4228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mock-up: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“خصم يصل إلى 30%” is a creative placeholder. Confirm the real offer, 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and eligible products on Qaim.shop before publishing.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00700" y="371475"/>
            <a:ext cx="2786063" cy="4357688"/>
          </a:xfrm>
          <a:prstGeom prst="rect">
            <a:avLst/>
          </a:prstGeom>
          <a:solidFill>
            <a:srgbClr val="EADFCE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88" y="500063"/>
            <a:ext cx="2528888" cy="4100513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5843588" y="642938"/>
            <a:ext cx="2250281" cy="1598693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47" name="Text 43"/>
          <p:cNvSpPr/>
          <p:nvPr/>
        </p:nvSpPr>
        <p:spPr>
          <a:xfrm>
            <a:off x="6000750" y="771525"/>
            <a:ext cx="19359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 أساسك</a:t>
            </a:r>
            <a:r>
              <a:rPr lang="en-US" sz="14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وكمّل يومك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000750" y="1282973"/>
            <a:ext cx="1935956" cy="300038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49" name="Text 45"/>
          <p:cNvSpPr/>
          <p:nvPr/>
        </p:nvSpPr>
        <p:spPr>
          <a:xfrm>
            <a:off x="6000750" y="1282973"/>
            <a:ext cx="1935956" cy="3000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يصل إلى 30%*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6566836" y="1654448"/>
            <a:ext cx="803728" cy="278606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51" name="Text 47"/>
          <p:cNvSpPr/>
          <p:nvPr/>
        </p:nvSpPr>
        <p:spPr>
          <a:xfrm>
            <a:off x="6566836" y="1654448"/>
            <a:ext cx="803728" cy="278606"/>
          </a:xfrm>
          <a:prstGeom prst="rect">
            <a:avLst/>
          </a:prstGeom>
          <a:noFill/>
          <a:ln/>
        </p:spPr>
        <p:txBody>
          <a:bodyPr wrap="none" lIns="153035" tIns="76581" rIns="153035" bIns="76581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الآن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000750" y="2018779"/>
            <a:ext cx="193595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*Campaign concept — verify live offer before use.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CONCEPT 2 STRATEGY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0063" y="667941"/>
            <a:ext cx="81438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</a:t>
            </a:r>
            <a:r>
              <a:rPr lang="en-US" sz="265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00063" y="1257970"/>
            <a:ext cx="4512562" cy="75210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choice that connects the customer's mood to Qaim's product categories through relatable Egyptian situations.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0063" y="2302966"/>
            <a:ext cx="2191959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JOB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0063" y="2560141"/>
            <a:ext cx="2191959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and category discovery.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820609" y="2302966"/>
            <a:ext cx="2192015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20609" y="2560141"/>
            <a:ext cx="219201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men who enjoy relatable social content and quick choices.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3" y="3128739"/>
            <a:ext cx="2191959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ROUTE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0063" y="3385914"/>
            <a:ext cx="2191959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Kargo/SADA (Daily) vs. Sweatpant Wide Leg Qn (Weekend).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20609" y="3128739"/>
            <a:ext cx="2192015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820609" y="3385914"/>
            <a:ext cx="2192015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Egyptian humor, simple and interactive.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69812" y="1257970"/>
            <a:ext cx="3274126" cy="2357438"/>
          </a:xfrm>
          <a:prstGeom prst="rect">
            <a:avLst/>
          </a:prstGeom>
          <a:solidFill>
            <a:srgbClr val="1017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249" y="1329407"/>
            <a:ext cx="3131251" cy="22145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0063" y="3933081"/>
            <a:ext cx="81438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</a:t>
            </a: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Day. Your Look. </a:t>
            </a:r>
            <a:r>
              <a:rPr lang="en-US" sz="900" b="1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Comments, shares, and category navigation.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371475"/>
            <a:ext cx="4764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CAROUSEL 2 · CANVA EXECUTION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64344" y="575072"/>
            <a:ext cx="476488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</a:t>
            </a:r>
            <a:r>
              <a:rPr lang="en-US" sz="21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Weekend?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64344" y="1078706"/>
            <a:ext cx="4764881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carousel that turns outfit choice into a simple conversation. The design mirrors Canva social templates: split composition, bold question, one offer and a direct action.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64344" y="1780803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64344" y="1780803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8" name="Text 5"/>
          <p:cNvSpPr/>
          <p:nvPr/>
        </p:nvSpPr>
        <p:spPr>
          <a:xfrm>
            <a:off x="550069" y="1866528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01 · HOOK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50069" y="2002259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اختيارك بيقول إيه عن يومك؟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0069" y="2175104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vs Weekend split.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882503" y="1780803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882503" y="1780803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3" name="Text 10"/>
          <p:cNvSpPr/>
          <p:nvPr/>
        </p:nvSpPr>
        <p:spPr>
          <a:xfrm>
            <a:off x="2968228" y="1866528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02 · DAILY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968228" y="2002259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عندك مشاوير… Daily.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968228" y="2175104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Jeans/cargo styling.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64344" y="2443665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344" y="2443665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8" name="Text 15"/>
          <p:cNvSpPr/>
          <p:nvPr/>
        </p:nvSpPr>
        <p:spPr>
          <a:xfrm>
            <a:off x="550069" y="2529390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03 · WEEKEND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50069" y="2665121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اليوم رايق… Weekend.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0069" y="2837966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Sweatpant styling.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882503" y="2443665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2882503" y="2443665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23" name="Text 20"/>
          <p:cNvSpPr/>
          <p:nvPr/>
        </p:nvSpPr>
        <p:spPr>
          <a:xfrm>
            <a:off x="2968228" y="2529390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04 · VALUE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968228" y="2665121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= جاهز للخطة.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968228" y="2837966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product detail.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64344" y="3106527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64344" y="3106527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28" name="Text 25"/>
          <p:cNvSpPr/>
          <p:nvPr/>
        </p:nvSpPr>
        <p:spPr>
          <a:xfrm>
            <a:off x="550069" y="3192252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05 · VALUE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3327983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= راحة وشياكة.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0069" y="3500828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Relaxed full-body look.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2882503" y="3106527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2882503" y="3106527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33" name="Text 30"/>
          <p:cNvSpPr/>
          <p:nvPr/>
        </p:nvSpPr>
        <p:spPr>
          <a:xfrm>
            <a:off x="2968228" y="3192252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06 · INTERACTION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968228" y="3327983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ولا Weekend؟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968228" y="3500828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a comment.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464344" y="3769389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64344" y="3769389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38" name="Text 35"/>
          <p:cNvSpPr/>
          <p:nvPr/>
        </p:nvSpPr>
        <p:spPr>
          <a:xfrm>
            <a:off x="550069" y="3855114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07 · CTA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50069" y="3990845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الآن وشوف المتاح.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50069" y="4163690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Qaim.shop and categories.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64344" y="4446538"/>
            <a:ext cx="4764881" cy="422821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42" name="Shape 39"/>
          <p:cNvSpPr/>
          <p:nvPr/>
        </p:nvSpPr>
        <p:spPr>
          <a:xfrm>
            <a:off x="464344" y="4446538"/>
            <a:ext cx="50006" cy="422821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43" name="Text 40"/>
          <p:cNvSpPr/>
          <p:nvPr/>
        </p:nvSpPr>
        <p:spPr>
          <a:xfrm>
            <a:off x="464344" y="4446538"/>
            <a:ext cx="4764881" cy="4228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mock-up: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“خصم يصل إلى 30%” is placeholder copy. Replace it with a confirmed 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offer, date and eligible products before publishing.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00700" y="371475"/>
            <a:ext cx="2786063" cy="4357688"/>
          </a:xfrm>
          <a:prstGeom prst="rect">
            <a:avLst/>
          </a:prstGeom>
          <a:solidFill>
            <a:srgbClr val="EADFCE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88" y="500063"/>
            <a:ext cx="2528888" cy="4100513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5843588" y="642938"/>
            <a:ext cx="2250281" cy="1587977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47" name="Text 43"/>
          <p:cNvSpPr/>
          <p:nvPr/>
        </p:nvSpPr>
        <p:spPr>
          <a:xfrm>
            <a:off x="6000750" y="771525"/>
            <a:ext cx="193595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4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ولا</a:t>
            </a:r>
            <a:r>
              <a:rPr lang="en-US" sz="14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Weekend؟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6000750" y="1282973"/>
            <a:ext cx="1935956" cy="289322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49" name="Text 45"/>
          <p:cNvSpPr/>
          <p:nvPr/>
        </p:nvSpPr>
        <p:spPr>
          <a:xfrm>
            <a:off x="6000750" y="1282973"/>
            <a:ext cx="1935956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يصل إلى 30%*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6170358" y="1643732"/>
            <a:ext cx="1596684" cy="278606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51" name="Text 47"/>
          <p:cNvSpPr/>
          <p:nvPr/>
        </p:nvSpPr>
        <p:spPr>
          <a:xfrm>
            <a:off x="6170358" y="1643732"/>
            <a:ext cx="1596684" cy="278606"/>
          </a:xfrm>
          <a:prstGeom prst="rect">
            <a:avLst/>
          </a:prstGeom>
          <a:noFill/>
          <a:ln/>
        </p:spPr>
        <p:txBody>
          <a:bodyPr wrap="square" lIns="153035" tIns="76581" rIns="153035" bIns="76581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اختيارك واطلب الآن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000750" y="2008063"/>
            <a:ext cx="193595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*Campaign concept — verify live offer before use.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42913"/>
            <a:ext cx="81438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CONCEPT 3 STRATEGY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0063" y="667941"/>
            <a:ext cx="81438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</a:t>
            </a:r>
            <a:r>
              <a:rPr lang="en-US" sz="265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00063" y="1257970"/>
            <a:ext cx="4516301" cy="75210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product viewers move from a single item to a complete outfit by showing the perfect balance of Qaim pieces.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0063" y="2302966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JOB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0063" y="2560141"/>
            <a:ext cx="219385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and conversion support.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822507" y="2302966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822507" y="2560141"/>
            <a:ext cx="219385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viewers who need help building a complete outfit.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3" y="3128739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ROUTE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0063" y="3385914"/>
            <a:ext cx="2193857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top or jeans + a visible shoe option (Tommy, Nike, etc.).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822507" y="3128739"/>
            <a:ext cx="2193857" cy="2143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822507" y="3385914"/>
            <a:ext cx="2193857" cy="1735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Premium, useful and product-led.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551" y="1257970"/>
            <a:ext cx="3270386" cy="23574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0063" y="3933081"/>
            <a:ext cx="81438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</a:t>
            </a: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Day. Your Look. </a:t>
            </a:r>
            <a:r>
              <a:rPr lang="en-US" sz="900" b="1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Product-page views, add-to-cart and conversion.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344" y="371475"/>
            <a:ext cx="4764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CAROUSEL 3 · CANVA EXECUTION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64344" y="575072"/>
            <a:ext cx="476488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</a:t>
            </a:r>
            <a:r>
              <a:rPr lang="en-US" sz="21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64344" y="1078706"/>
            <a:ext cx="4764881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53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conversion-focused carousel that takes the customer from one product to a complete outfit, then removes hesitation with a clear details check and an order CTA.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64344" y="1780803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64344" y="1780803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8" name="Text 5"/>
          <p:cNvSpPr/>
          <p:nvPr/>
        </p:nvSpPr>
        <p:spPr>
          <a:xfrm>
            <a:off x="550069" y="1866528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01 · HOOK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50069" y="2002259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القطعة حلوة… بس اللوك كامل؟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0069" y="2175104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Single-piece close-up.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882503" y="1780803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882503" y="1780803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3" name="Text 10"/>
          <p:cNvSpPr/>
          <p:nvPr/>
        </p:nvSpPr>
        <p:spPr>
          <a:xfrm>
            <a:off x="2968228" y="1866528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02 · BASE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968228" y="2002259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 الأساس.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968228" y="2175104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Jeans, cargo or sweatpants.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464344" y="2443665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344" y="2443665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18" name="Text 15"/>
          <p:cNvSpPr/>
          <p:nvPr/>
        </p:nvSpPr>
        <p:spPr>
          <a:xfrm>
            <a:off x="550069" y="2529390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03 · BALANCE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50069" y="2665121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ظبّط التوازن.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0069" y="2837966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matching top.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882503" y="2443665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2882503" y="2443665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23" name="Text 20"/>
          <p:cNvSpPr/>
          <p:nvPr/>
        </p:nvSpPr>
        <p:spPr>
          <a:xfrm>
            <a:off x="2968228" y="2529390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04 · FINISH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968228" y="2665121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كمّلها بالحذاء.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968228" y="2837966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Qaim footwear.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64344" y="3106527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64344" y="3106527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28" name="Text 25"/>
          <p:cNvSpPr/>
          <p:nvPr/>
        </p:nvSpPr>
        <p:spPr>
          <a:xfrm>
            <a:off x="550069" y="3192252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05 · DETAIL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550069" y="3327983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التفاصيل بتفرق.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50069" y="3500828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complete look.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2882503" y="3106527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2882503" y="3106527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33" name="Text 30"/>
          <p:cNvSpPr/>
          <p:nvPr/>
        </p:nvSpPr>
        <p:spPr>
          <a:xfrm>
            <a:off x="2968228" y="3192252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06 · CHECK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968228" y="3327983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المقاس واللون.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968228" y="3500828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live product details.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464344" y="3769389"/>
            <a:ext cx="2346722" cy="6199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64344" y="3769389"/>
            <a:ext cx="2346722" cy="28575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38" name="Text 35"/>
          <p:cNvSpPr/>
          <p:nvPr/>
        </p:nvSpPr>
        <p:spPr>
          <a:xfrm>
            <a:off x="550069" y="3855114"/>
            <a:ext cx="2175272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F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07 · CTA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50069" y="3990845"/>
            <a:ext cx="217527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96000"/>
              </a:lnSpc>
              <a:buNone/>
            </a:pPr>
            <a:r>
              <a:rPr lang="en-US" sz="8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الآن.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50069" y="4163690"/>
            <a:ext cx="2175272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on Qaim.shop.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64344" y="4446538"/>
            <a:ext cx="4764881" cy="422821"/>
          </a:xfrm>
          <a:prstGeom prst="rect">
            <a:avLst/>
          </a:prstGeom>
          <a:solidFill>
            <a:srgbClr val="101722"/>
          </a:solidFill>
          <a:ln/>
        </p:spPr>
      </p:sp>
      <p:sp>
        <p:nvSpPr>
          <p:cNvPr id="42" name="Shape 39"/>
          <p:cNvSpPr/>
          <p:nvPr/>
        </p:nvSpPr>
        <p:spPr>
          <a:xfrm>
            <a:off x="464344" y="4446538"/>
            <a:ext cx="50006" cy="422821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43" name="Text 40"/>
          <p:cNvSpPr/>
          <p:nvPr/>
        </p:nvSpPr>
        <p:spPr>
          <a:xfrm>
            <a:off x="464344" y="4446538"/>
            <a:ext cx="4764881" cy="42282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mock-up: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“خصم يصل إلى 30%” and “Limited Time” are placeholders. Confirm the live 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Qaim offer, dates, products and stock before publishing.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00700" y="371475"/>
            <a:ext cx="2786063" cy="4357688"/>
          </a:xfrm>
          <a:prstGeom prst="rect">
            <a:avLst/>
          </a:prstGeom>
          <a:solidFill>
            <a:srgbClr val="EADFCE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88" y="500063"/>
            <a:ext cx="2528888" cy="4100513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5843588" y="642938"/>
            <a:ext cx="2250281" cy="1572239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47" name="Text 43"/>
          <p:cNvSpPr/>
          <p:nvPr/>
        </p:nvSpPr>
        <p:spPr>
          <a:xfrm>
            <a:off x="6000750" y="771525"/>
            <a:ext cx="1935956" cy="42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3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كمّل اللوك</a:t>
            </a:r>
            <a:r>
              <a:rPr lang="en-US" sz="13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5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بطريقتك</a:t>
            </a:r>
            <a:endParaRPr lang="en-US" sz="1350" dirty="0"/>
          </a:p>
        </p:txBody>
      </p:sp>
      <p:sp>
        <p:nvSpPr>
          <p:cNvPr id="48" name="Shape 44"/>
          <p:cNvSpPr/>
          <p:nvPr/>
        </p:nvSpPr>
        <p:spPr>
          <a:xfrm>
            <a:off x="6000750" y="1267234"/>
            <a:ext cx="1935956" cy="289322"/>
          </a:xfrm>
          <a:prstGeom prst="rect">
            <a:avLst/>
          </a:prstGeom>
          <a:solidFill>
            <a:srgbClr val="6F2028"/>
          </a:solidFill>
          <a:ln/>
        </p:spPr>
      </p:sp>
      <p:sp>
        <p:nvSpPr>
          <p:cNvPr id="49" name="Text 45"/>
          <p:cNvSpPr/>
          <p:nvPr/>
        </p:nvSpPr>
        <p:spPr>
          <a:xfrm>
            <a:off x="6000750" y="1267234"/>
            <a:ext cx="1935956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خصم يصل إلى 30%*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6566836" y="1627994"/>
            <a:ext cx="803728" cy="278606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51" name="Text 47"/>
          <p:cNvSpPr/>
          <p:nvPr/>
        </p:nvSpPr>
        <p:spPr>
          <a:xfrm>
            <a:off x="6566836" y="1627994"/>
            <a:ext cx="803728" cy="278606"/>
          </a:xfrm>
          <a:prstGeom prst="rect">
            <a:avLst/>
          </a:prstGeom>
          <a:noFill/>
          <a:ln/>
        </p:spPr>
        <p:txBody>
          <a:bodyPr wrap="none" lIns="153035" tIns="76581" rIns="153035" bIns="76581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الآن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6000750" y="1992325"/>
            <a:ext cx="1935956" cy="942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Limited-time concept · verify offer before use.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" y="320000"/>
            <a:ext cx="8115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2028"/>
                </a:solidFill>
                <a:latin typeface="Arial"/>
              </a:rPr>
              <a:t>03B · CONCEPT 1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610" y="500000"/>
            <a:ext cx="81153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01722"/>
                </a:solidFill>
                <a:latin typeface="Arial"/>
              </a:rPr>
              <a:t>Caption, Hashtags &amp; Why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610" y="970000"/>
            <a:ext cx="81153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610" y="1120000"/>
            <a:ext cx="4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2028"/>
                </a:solidFill>
                <a:latin typeface="Arial"/>
              </a:rPr>
              <a:t>Instagram / Facebook 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610" y="1420000"/>
            <a:ext cx="4650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«3 مشاوير في يوم واحد؟ مش محتاج تغيّر هدومك بالكامل.»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اختار قطعة أساسية واحدة من Qaim — جينز SADA أو Wide-Leg — وخليها تتحرك معاك من الصبح للسهرة: تفصيلة واحدة تتغيّر، والحذاء يكمّل الشكل.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نفس الأساس، 3 خطط مختلفة. جرّبه وقولنا هتبدأ منين؟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610" y="4150000"/>
            <a:ext cx="4650000" cy="635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610" y="4260000"/>
            <a:ext cx="4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1" i="0">
                <a:solidFill>
                  <a:srgbClr val="6F2028"/>
                </a:solidFill>
                <a:latin typeface="Arial"/>
              </a:rPr>
              <a:t>#Qaim #StyleWithQaim #EgyptianFashion #جينز_SADA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0000" y="1120000"/>
            <a:ext cx="3131390" cy="33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50000" y="1120000"/>
            <a:ext cx="3131390" cy="45720"/>
          </a:xfrm>
          <a:prstGeom prst="rect">
            <a:avLst/>
          </a:prstGeom>
          <a:solidFill>
            <a:srgbClr val="6F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0000" y="1300000"/>
            <a:ext cx="269139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722"/>
                </a:solidFill>
                <a:latin typeface="Arial"/>
              </a:rPr>
              <a:t>Why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0000" y="1660000"/>
            <a:ext cx="2691390" cy="2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Strategic job: </a:t>
            </a:r>
            <a:r>
              <a:rPr sz="1050" b="0" i="0">
                <a:solidFill>
                  <a:srgbClr val="536070"/>
                </a:solidFill>
                <a:latin typeface="Arial"/>
              </a:rPr>
              <a:t>Product discovery and everyday styling — the caption keeps the same “one base, three plans” promise as the carousel, so the swipe and the caption reinforce one idea instead of introducing a new one.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Primary KPIs: </a:t>
            </a:r>
            <a:r>
              <a:rPr sz="1050" b="0" i="0">
                <a:solidFill>
                  <a:srgbClr val="536070"/>
                </a:solidFill>
                <a:latin typeface="Arial"/>
              </a:rPr>
              <a:t>Saves, website visits, product-page views.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Accuracy check: </a:t>
            </a:r>
            <a:r>
              <a:rPr sz="1050" b="0" i="1">
                <a:solidFill>
                  <a:srgbClr val="536070"/>
                </a:solidFill>
                <a:latin typeface="Arial"/>
              </a:rPr>
              <a:t>Confirm the live discount, dates and eligible products on Qaim.shop before publishing — the 30% used in the carousel is a campaign placeholder, not a live offer.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" y="320000"/>
            <a:ext cx="8115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2028"/>
                </a:solidFill>
                <a:latin typeface="Arial"/>
              </a:rPr>
              <a:t>05B · CONCEPT 2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610" y="500000"/>
            <a:ext cx="81153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01722"/>
                </a:solidFill>
                <a:latin typeface="Arial"/>
              </a:rPr>
              <a:t>Caption, Hashtags &amp; Why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610" y="970000"/>
            <a:ext cx="81153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610" y="1120000"/>
            <a:ext cx="4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2028"/>
                </a:solidFill>
                <a:latin typeface="Arial"/>
              </a:rPr>
              <a:t>Instagram / Facebook 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610" y="1420000"/>
            <a:ext cx="4650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Daily ولا Weekend؟ اختيارك بيقولنا الكتير عن يومك.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لو يومك مليان مشاوير، جينز SADA أو الـKargo هيكونوا رفقاء يومك. ولو النهاردة يوم راحة، الـSweatpant Wide Leg Qn هيكمّل الاسترخاء من غير ما تنزل بشياكتك.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اكتب في الكومنتات: Daily ولا Weekend؟ ونشوف رأي الأغلبية.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610" y="4150000"/>
            <a:ext cx="4650000" cy="635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610" y="4260000"/>
            <a:ext cx="4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1" i="0">
                <a:solidFill>
                  <a:srgbClr val="6F2028"/>
                </a:solidFill>
                <a:latin typeface="Arial"/>
              </a:rPr>
              <a:t>#Qaim #DailyOrWeekend #EgyptianStyle #ستايل_يومك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0000" y="1120000"/>
            <a:ext cx="3131390" cy="33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50000" y="1120000"/>
            <a:ext cx="3131390" cy="45720"/>
          </a:xfrm>
          <a:prstGeom prst="rect">
            <a:avLst/>
          </a:prstGeom>
          <a:solidFill>
            <a:srgbClr val="6F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0000" y="1300000"/>
            <a:ext cx="269139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722"/>
                </a:solidFill>
                <a:latin typeface="Arial"/>
              </a:rPr>
              <a:t>Why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0000" y="1660000"/>
            <a:ext cx="2691390" cy="2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Strategic job: </a:t>
            </a:r>
            <a:r>
              <a:rPr sz="1050" b="0" i="0">
                <a:solidFill>
                  <a:srgbClr val="536070"/>
                </a:solidFill>
                <a:latin typeface="Arial"/>
              </a:rPr>
              <a:t>Engagement and category discovery — the caption ends with the same either/or question as Frame 6, so people who only read the caption still get pulled into the same interaction as the carousel.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Primary KPIs: </a:t>
            </a:r>
            <a:r>
              <a:rPr sz="1050" b="0" i="0">
                <a:solidFill>
                  <a:srgbClr val="536070"/>
                </a:solidFill>
                <a:latin typeface="Arial"/>
              </a:rPr>
              <a:t>Comments, shares, category-page navigation.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Accuracy check: </a:t>
            </a:r>
            <a:r>
              <a:rPr sz="1050" b="0" i="1">
                <a:solidFill>
                  <a:srgbClr val="536070"/>
                </a:solidFill>
                <a:latin typeface="Arial"/>
              </a:rPr>
              <a:t>Confirm current Jeans Kargo/SADA and Sweatpant Wide Leg Qn availability and the real discount before publishing.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" y="320000"/>
            <a:ext cx="8115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2028"/>
                </a:solidFill>
                <a:latin typeface="Arial"/>
              </a:rPr>
              <a:t>07B · CONCEPT 3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610" y="500000"/>
            <a:ext cx="81153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01722"/>
                </a:solidFill>
                <a:latin typeface="Arial"/>
              </a:rPr>
              <a:t>Caption, Hashtags &amp; Why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610" y="970000"/>
            <a:ext cx="8115300" cy="1270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610" y="1120000"/>
            <a:ext cx="4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2028"/>
                </a:solidFill>
                <a:latin typeface="Arial"/>
              </a:rPr>
              <a:t>Instagram / Facebook 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610" y="1420000"/>
            <a:ext cx="4650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القطعة حلوة لوحدها… بس اللوك الكامل هو اللي بيفرق.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ابدأ بأساس واحد من Qaim، ظبط التوازن بقطعة علوية مناسبة، وكمّل الشكل بحذاء زي Tommy أو Nike. التفاصيل الصغيرة زي المقاس واللون هي اللي بتحول القطعة لـLook متكامل.</a:t>
            </a:r>
          </a:p>
          <a:p>
            <a:pPr algn="r" rtl="1">
              <a:lnSpc>
                <a:spcPct val="130000"/>
              </a:lnSpc>
              <a:spcAft>
                <a:spcPts val="1000"/>
              </a:spcAft>
            </a:pPr>
            <a:r>
              <a:rPr sz="1150" b="0" i="0">
                <a:solidFill>
                  <a:srgbClr val="101722"/>
                </a:solidFill>
                <a:latin typeface="Arial"/>
              </a:rPr>
              <a:t>راجع مقاسك واطلب دلوقتي.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610" y="4150000"/>
            <a:ext cx="4650000" cy="6350"/>
          </a:xfrm>
          <a:prstGeom prst="rect">
            <a:avLst/>
          </a:prstGeom>
          <a:solidFill>
            <a:srgbClr val="D8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610" y="4260000"/>
            <a:ext cx="465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1" i="0">
                <a:solidFill>
                  <a:srgbClr val="6F2028"/>
                </a:solidFill>
                <a:latin typeface="Arial"/>
              </a:rPr>
              <a:t>#Qaim #CompleteTheLook #EgyptianMensFashion #QaimStyle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50000" y="1120000"/>
            <a:ext cx="3131390" cy="339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50000" y="1120000"/>
            <a:ext cx="3131390" cy="45720"/>
          </a:xfrm>
          <a:prstGeom prst="rect">
            <a:avLst/>
          </a:prstGeom>
          <a:solidFill>
            <a:srgbClr val="6F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0000" y="1300000"/>
            <a:ext cx="269139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1722"/>
                </a:solidFill>
                <a:latin typeface="Arial"/>
              </a:rPr>
              <a:t>Why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0000" y="1660000"/>
            <a:ext cx="2691390" cy="2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Strategic job: </a:t>
            </a:r>
            <a:r>
              <a:rPr sz="1050" b="0" i="0">
                <a:solidFill>
                  <a:srgbClr val="536070"/>
                </a:solidFill>
                <a:latin typeface="Arial"/>
              </a:rPr>
              <a:t>Consideration and conversion support — the caption mirrors the carousel's progression (base → balance → finish → check) so viewers who read the caption first still see the same logical path before the CTA.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Primary KPIs: </a:t>
            </a:r>
            <a:r>
              <a:rPr sz="1050" b="0" i="0">
                <a:solidFill>
                  <a:srgbClr val="536070"/>
                </a:solidFill>
                <a:latin typeface="Arial"/>
              </a:rPr>
              <a:t>Product-page views, add-to-cart, conversion rate.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050" b="1" i="0">
                <a:solidFill>
                  <a:srgbClr val="6F2028"/>
                </a:solidFill>
                <a:latin typeface="Arial"/>
              </a:rPr>
              <a:t>Accuracy check: </a:t>
            </a:r>
            <a:r>
              <a:rPr sz="1050" b="0" i="1">
                <a:solidFill>
                  <a:srgbClr val="536070"/>
                </a:solidFill>
                <a:latin typeface="Arial"/>
              </a:rPr>
              <a:t>Confirm live product details, sizes, colors and shoe availability (Tommy/Nike) on Qaim.shop before publishing.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" y="320000"/>
            <a:ext cx="8115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C94C"/>
                </a:solidFill>
                <a:latin typeface="Arial"/>
              </a:rPr>
              <a:t>08 · CONTENT JOURNEY &amp;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610" y="500000"/>
            <a:ext cx="81153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Three Concepts, One Content Journey.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610" y="970000"/>
            <a:ext cx="8115300" cy="1270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610" y="1160000"/>
            <a:ext cx="2590781" cy="165000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610" y="1160000"/>
            <a:ext cx="2590781" cy="457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610" y="1300000"/>
            <a:ext cx="2230781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C94C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610" y="1620000"/>
            <a:ext cx="2230781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610" y="1900000"/>
            <a:ext cx="2230781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C94C"/>
                </a:solidFill>
                <a:latin typeface="Arial"/>
              </a:rPr>
              <a:t>One Base, Three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610" y="2200000"/>
            <a:ext cx="2230781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9C0C9"/>
                </a:solidFill>
                <a:latin typeface="Arial"/>
              </a:rPr>
              <a:t>Product discovery — introduces one Qaim base piece and its range.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3391" y="1160000"/>
            <a:ext cx="2590781" cy="165000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3391" y="1160000"/>
            <a:ext cx="2590781" cy="457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3391" y="1300000"/>
            <a:ext cx="2230781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C94C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3391" y="1620000"/>
            <a:ext cx="2230781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ENGAGE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3391" y="1900000"/>
            <a:ext cx="2230781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C94C"/>
                </a:solidFill>
                <a:latin typeface="Arial"/>
              </a:rPr>
              <a:t>Daily or Weekend?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3391" y="2200000"/>
            <a:ext cx="2230781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9C0C9"/>
                </a:solidFill>
                <a:latin typeface="Arial"/>
              </a:rPr>
              <a:t>Engagement — turns product categories into a relatable, shareable choice.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4172" y="1160000"/>
            <a:ext cx="2590781" cy="1650000"/>
          </a:xfrm>
          <a:prstGeom prst="rect">
            <a:avLst/>
          </a:prstGeom>
          <a:solidFill>
            <a:srgbClr val="18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4172" y="1160000"/>
            <a:ext cx="2590781" cy="457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4172" y="1300000"/>
            <a:ext cx="2230781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2C94C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4172" y="1620000"/>
            <a:ext cx="2230781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CONVERT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4172" y="1900000"/>
            <a:ext cx="2230781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C94C"/>
                </a:solidFill>
                <a:latin typeface="Arial"/>
              </a:rPr>
              <a:t>Complete the 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4172" y="2200000"/>
            <a:ext cx="2230781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9C0C9"/>
                </a:solidFill>
                <a:latin typeface="Arial"/>
              </a:rPr>
              <a:t>Conversion — removes hesitation and pushes to an order.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610" y="3020000"/>
            <a:ext cx="81153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F2C94C"/>
                </a:solidFill>
                <a:latin typeface="Arial"/>
              </a:rPr>
              <a:t>Execution Rule: </a:t>
            </a:r>
            <a:r>
              <a:rPr sz="1100" b="0" i="0">
                <a:solidFill>
                  <a:srgbClr val="D8DDE5"/>
                </a:solidFill>
                <a:latin typeface="Arial"/>
              </a:rPr>
              <a:t>each carousel targets a different stage of the same customer journey, using the same Qaim visual system so the brand feels consistent from first scroll to final purchase.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610" y="3560000"/>
            <a:ext cx="8115300" cy="6350"/>
          </a:xfrm>
          <a:prstGeom prst="rect">
            <a:avLst/>
          </a:prstGeom>
          <a:solidFill>
            <a:srgbClr val="2A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610" y="3700000"/>
            <a:ext cx="39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2C94C"/>
                </a:solidFill>
                <a:latin typeface="Arial"/>
              </a:rPr>
              <a:t>STUDENT DETAILS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610" y="3980000"/>
            <a:ext cx="39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Presenter: </a:t>
            </a:r>
            <a:r>
              <a:rPr sz="1050" b="0" i="0">
                <a:solidFill>
                  <a:srgbClr val="D8DDE5"/>
                </a:solidFill>
                <a:latin typeface="Arial"/>
              </a:rPr>
              <a:t>Mohamed Mostafa Taher Salem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Student ID: </a:t>
            </a:r>
            <a:r>
              <a:rPr sz="1050" b="0" i="0">
                <a:solidFill>
                  <a:srgbClr val="D8DDE5"/>
                </a:solidFill>
                <a:latin typeface="Arial"/>
              </a:rPr>
              <a:t>21172333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00" y="3700000"/>
            <a:ext cx="3900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2C94C"/>
                </a:solidFill>
                <a:latin typeface="Arial"/>
              </a:rPr>
              <a:t>OFFICIAL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00" y="3980000"/>
            <a:ext cx="39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Website: </a:t>
            </a:r>
            <a:r>
              <a:rPr sz="1050" b="0" i="0">
                <a:solidFill>
                  <a:srgbClr val="D8DDE5"/>
                </a:solidFill>
                <a:latin typeface="Arial"/>
              </a:rPr>
              <a:t>qaim.shop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Facebook: </a:t>
            </a:r>
            <a:r>
              <a:rPr sz="1050" b="0" i="0">
                <a:solidFill>
                  <a:srgbClr val="D8DDE5"/>
                </a:solidFill>
                <a:latin typeface="Arial"/>
              </a:rPr>
              <a:t>@Qaimbrand.AA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Review Date: </a:t>
            </a:r>
            <a:r>
              <a:rPr sz="1050" b="0" i="0">
                <a:solidFill>
                  <a:srgbClr val="D8DDE5"/>
                </a:solidFill>
                <a:latin typeface="Arial"/>
              </a:rPr>
              <a:t>01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2026-09-02T04:44:12Z</dcterms:created>
  <dcterms:modified xsi:type="dcterms:W3CDTF">2026-09-02T04:44:12Z</dcterms:modified>
</cp:coreProperties>
</file>