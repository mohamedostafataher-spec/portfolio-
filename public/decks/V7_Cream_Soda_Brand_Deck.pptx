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0DFAB-E45A-482B-90A3-B43A11A4D8AC}" type="datetimeFigureOut"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C1414-B71B-4B14-82A3-C55D30EA851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360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mgs/crop_cover_sunse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03720" y="0"/>
            <a:ext cx="52578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37960" y="0"/>
            <a:ext cx="502920" cy="6858000"/>
          </a:xfrm>
          <a:prstGeom prst="rect">
            <a:avLst/>
          </a:prstGeom>
          <a:solidFill>
            <a:srgbClr val="0B3B47">
              <a:alpha val="8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3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 ·  BRAND &amp; CAMPAIGN DECK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0574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V7 CREAM SODA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3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Edition — “Every Generation Has Its Summer” Campaign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66928" y="3611880"/>
            <a:ext cx="594360" cy="27432"/>
          </a:xfrm>
          <a:prstGeom prst="rect">
            <a:avLst/>
          </a:prstGeom>
          <a:solidFill>
            <a:srgbClr val="E3B36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38862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generation has its summer... This is ours.”
</a:t>
            </a:r>
            <a:r>
              <a:rPr lang="en-US" sz="1500" i="1" dirty="0">
                <a:solidFill>
                  <a:srgbClr val="F7F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جيل له صيفه... وده صيفنا.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989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Snapshot   ·   Campaign Strategy   ·   Content Execution   ·   Production Plan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55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Campaign: Summer Edition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BRAND SNAPSHOT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V7 Cream Soda?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347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 |  SUMMER EDITION CAMPAIGN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12802"/>
          </a:xfrm>
          <a:prstGeom prst="rect">
            <a:avLst/>
          </a:prstGeom>
          <a:solidFill>
            <a:srgbClr val="DCE7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481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755648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is an Egyptian sparkling beverage brand. Its Summer Edition campaign is built around one idea: every generation has lived its own real Egyptian summer — and now it’s ours.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697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9535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0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generation has its summer. This is ours.”   ·   </a:t>
            </a:r>
            <a:r>
              <a:rPr lang="en-US" sz="1350" i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“كل جيل له صيفه... وده صيفنا.”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611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IDENTITY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913632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teal + cream palette, taken straight from the V7 can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Sea &amp; Mediterranean coastlines — Sahel, Sharm, Marsa Matrouh, Hurghada — as backdrops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Condensation, ice and splash detail for a tactile “cold refresh” feel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Golden-hour light and palm trees as a recurring summer motif</a:t>
            </a:r>
            <a:endParaRPr lang="en-US" sz="1300" dirty="0"/>
          </a:p>
        </p:txBody>
      </p:sp>
      <p:pic>
        <p:nvPicPr>
          <p:cNvPr id="12" name="Image 0" descr="/home/claude/work/imgs/sign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03720" y="1481328"/>
            <a:ext cx="4754880" cy="4572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903720" y="1481328"/>
            <a:ext cx="4754880" cy="4572000"/>
          </a:xfrm>
          <a:prstGeom prst="rect">
            <a:avLst/>
          </a:prstGeom>
          <a:ln w="12700">
            <a:solidFill>
              <a:srgbClr val="DCE7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CAMPAIGN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Generation Has Its Summer — At a Glance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347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 |  SUMMER EDITION CAMPAIGN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12802"/>
          </a:xfrm>
          <a:prstGeom prst="rect">
            <a:avLst/>
          </a:prstGeom>
          <a:solidFill>
            <a:srgbClr val="DCE7E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508760"/>
            <a:ext cx="2670048" cy="4526280"/>
          </a:xfrm>
          <a:prstGeom prst="roundRect">
            <a:avLst>
              <a:gd name="adj" fmla="val 3082"/>
            </a:avLst>
          </a:prstGeom>
          <a:solidFill>
            <a:srgbClr val="F1F6F5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1792224"/>
            <a:ext cx="566928" cy="566928"/>
          </a:xfrm>
          <a:prstGeom prst="ellipse">
            <a:avLst/>
          </a:prstGeom>
          <a:solidFill>
            <a:srgbClr val="1C8C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54480" y="1792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74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674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603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C9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25496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Objective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3383280"/>
            <a:ext cx="215798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V7 Summer Edition through a 3-generation journey that lands on V7 as our generation’s drink — with zero false historical claims.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74136" y="1508760"/>
            <a:ext cx="2670048" cy="4526280"/>
          </a:xfrm>
          <a:prstGeom prst="roundRect">
            <a:avLst>
              <a:gd name="adj" fmla="val 3082"/>
            </a:avLst>
          </a:prstGeom>
          <a:solidFill>
            <a:srgbClr val="F1F6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425696" y="1792224"/>
            <a:ext cx="566928" cy="566928"/>
          </a:xfrm>
          <a:prstGeom prst="ellipse">
            <a:avLst/>
          </a:prstGeom>
          <a:solidFill>
            <a:srgbClr val="1C8C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25696" y="1792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74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74" dirty="0"/>
          </a:p>
        </p:txBody>
      </p:sp>
      <p:sp>
        <p:nvSpPr>
          <p:cNvPr id="15" name="Text 13"/>
          <p:cNvSpPr txBox="1"/>
          <p:nvPr/>
        </p:nvSpPr>
        <p:spPr>
          <a:xfrm>
            <a:off x="3557016" y="25603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C9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557016" y="2825496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30168" y="3383280"/>
            <a:ext cx="215798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generation has its summer. This is ours.” V7 steps in as a new role for today, never rewritten history.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5352" y="1508760"/>
            <a:ext cx="2670048" cy="4526280"/>
          </a:xfrm>
          <a:prstGeom prst="roundRect">
            <a:avLst>
              <a:gd name="adj" fmla="val 3082"/>
            </a:avLst>
          </a:prstGeom>
          <a:solidFill>
            <a:srgbClr val="F1F6F5"/>
          </a:solidFill>
          <a:ln/>
        </p:spPr>
      </p:sp>
      <p:sp>
        <p:nvSpPr>
          <p:cNvPr id="19" name="Shape 17"/>
          <p:cNvSpPr/>
          <p:nvPr/>
        </p:nvSpPr>
        <p:spPr>
          <a:xfrm>
            <a:off x="7296912" y="1792224"/>
            <a:ext cx="566928" cy="566928"/>
          </a:xfrm>
          <a:prstGeom prst="ellipse">
            <a:avLst/>
          </a:prstGeom>
          <a:solidFill>
            <a:srgbClr val="1C8C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96912" y="1792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74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674" dirty="0"/>
          </a:p>
        </p:txBody>
      </p:sp>
      <p:sp>
        <p:nvSpPr>
          <p:cNvPr id="21" name="Text 19"/>
          <p:cNvSpPr txBox="1"/>
          <p:nvPr/>
        </p:nvSpPr>
        <p:spPr>
          <a:xfrm>
            <a:off x="6428232" y="25603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C9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2825496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Generations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01384" y="3383280"/>
            <a:ext cx="215798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Zaman, the 90s Generation, and Our Generation (18–29) — the campaign’s hero and core buyer.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16568" y="1508760"/>
            <a:ext cx="2670048" cy="4526280"/>
          </a:xfrm>
          <a:prstGeom prst="roundRect">
            <a:avLst>
              <a:gd name="adj" fmla="val 3082"/>
            </a:avLst>
          </a:prstGeom>
          <a:solidFill>
            <a:srgbClr val="F1F6F5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68128" y="1792224"/>
            <a:ext cx="566928" cy="566928"/>
          </a:xfrm>
          <a:prstGeom prst="ellipse">
            <a:avLst/>
          </a:prstGeom>
          <a:solidFill>
            <a:srgbClr val="1C8C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68128" y="1792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74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74" dirty="0"/>
          </a:p>
        </p:txBody>
      </p:sp>
      <p:sp>
        <p:nvSpPr>
          <p:cNvPr id="27" name="Text 25"/>
          <p:cNvSpPr txBox="1"/>
          <p:nvPr/>
        </p:nvSpPr>
        <p:spPr>
          <a:xfrm>
            <a:off x="9299448" y="256032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C9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299448" y="2825496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System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372600" y="3383280"/>
            <a:ext cx="215798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social posts + 1 Hero Film, sequenced across a full launch-week content calendar.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3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BIG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generation has its summer.
</a:t>
            </a:r>
            <a:r>
              <a:rPr lang="en-US" sz="4000" b="1" dirty="0">
                <a:solidFill>
                  <a:srgbClr val="E3B3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ours.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8FD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جيل له صيفه... وده صيفنا.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79008" y="4343400"/>
            <a:ext cx="603504" cy="27432"/>
          </a:xfrm>
          <a:prstGeom prst="rect">
            <a:avLst/>
          </a:prstGeom>
          <a:solidFill>
            <a:srgbClr val="E3B36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65960" y="4617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50" dirty="0">
                <a:solidFill>
                  <a:srgbClr val="C9D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 Egypt was never just heat and sea — it’s a place, a memory, a group of people, and a drink tied to the moment. Every generation once had a drink that brought the group together. Now it’s our generation’s turn.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AUDIENCE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Audience — Three Real Generations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347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 |  SUMMER EDITION CAMPAIGN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12802"/>
          </a:xfrm>
          <a:prstGeom prst="rect">
            <a:avLst/>
          </a:prstGeom>
          <a:solidFill>
            <a:srgbClr val="DCE7E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81328"/>
            <a:ext cx="3566160" cy="3246120"/>
          </a:xfrm>
          <a:prstGeom prst="roundRect">
            <a:avLst>
              <a:gd name="adj" fmla="val 2535"/>
            </a:avLst>
          </a:prstGeom>
          <a:solidFill>
            <a:srgbClr val="F1F6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737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6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50–70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41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Zaman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803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Ras El Bar &amp; Gamasa — a genuine storytelling role, shares the content with their kids.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0248" y="1481328"/>
            <a:ext cx="3566160" cy="3246120"/>
          </a:xfrm>
          <a:prstGeom prst="roundRect">
            <a:avLst>
              <a:gd name="adj" fmla="val 2535"/>
            </a:avLst>
          </a:prstGeom>
          <a:solidFill>
            <a:srgbClr val="F1F6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98848" y="1737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6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30–44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441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90s Generation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8803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Agami &amp; Marina — now buying for the family trip.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37576" y="1481328"/>
            <a:ext cx="3566160" cy="3246120"/>
          </a:xfrm>
          <a:prstGeom prst="roundRect">
            <a:avLst>
              <a:gd name="adj" fmla="val 2535"/>
            </a:avLst>
          </a:prstGeom>
          <a:solidFill>
            <a:srgbClr val="1C8C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66176" y="1682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3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HERO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266176" y="19385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18–29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2670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Generation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31089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more than one summer a year (Sahel, Sharm, Matrouh, Hurghada) — V7’s core buyer.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98348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EAF2F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148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&amp; BEHAVIOUR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 &amp; TikTok for Our Generation — Facebook for older generations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generation loves comparing its summer to the next one’s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Generation travels to more than one destination in a single summer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CAMPAIGN STRUCTURE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Journey Through Three Generations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347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 |  SUMMER EDITION CAMPAIGN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12802"/>
          </a:xfrm>
          <a:prstGeom prst="rect">
            <a:avLst/>
          </a:prstGeom>
          <a:solidFill>
            <a:srgbClr val="DCE7E6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286000"/>
            <a:ext cx="10149840" cy="27432"/>
          </a:xfrm>
          <a:prstGeom prst="rect">
            <a:avLst/>
          </a:prstGeom>
          <a:solidFill>
            <a:srgbClr val="DCE7E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1C8C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9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9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70s–80s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 Zaman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41071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 El Bar / Gamasa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886200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1F6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86968" y="4050792"/>
            <a:ext cx="3026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chalet, plastic chairs, an old radio, worn inflatables, an unbranded soda bottle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1965960"/>
            <a:ext cx="640080" cy="640080"/>
          </a:xfrm>
          <a:prstGeom prst="ellipse">
            <a:avLst/>
          </a:prstGeom>
          <a:solidFill>
            <a:srgbClr val="1C8C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348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9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9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2743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90s–Early 2000s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90s Generation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341071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Agami / Old Marina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3886200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1F6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36008" y="4050792"/>
            <a:ext cx="3026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Cassette tape, printed photos, an old car or minibus, plastic bags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83880" y="1965960"/>
            <a:ext cx="640080" cy="640080"/>
          </a:xfrm>
          <a:prstGeom prst="ellipse">
            <a:avLst/>
          </a:prstGeom>
          <a:solidFill>
            <a:srgbClr val="E3B36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838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9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9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2743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— Now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18388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Generation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341071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+ Sharm + Matrouh + Hurghada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83880" y="3886200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1F6F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85048" y="4050792"/>
            <a:ext cx="3026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car, bluetooth speaker, phone, cooler full of V7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GENERATION SPOTLIGHT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 Zaman &amp; The 90s Generation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347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 |  SUMMER EDITION CAMPAIGN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12802"/>
          </a:xfrm>
          <a:prstGeom prst="rect">
            <a:avLst/>
          </a:prstGeom>
          <a:solidFill>
            <a:srgbClr val="DCE7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4813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70s–80s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7373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 El Bar / Gamasa — Gen Zaman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14884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“Back then... summer had a different shape, and a different drink that brought everyone together.”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816352"/>
            <a:ext cx="5349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chalet or simple summer apartment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Colourful plastic chairs + a ceiling fan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old radio playing in the living room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playing football on the sand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 inflatables, a table of glass cups and ice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489204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EAF2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" y="5010912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HONESTY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5248656"/>
            <a:ext cx="5020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drink in this scene is a generic, unbranded soda bottle — V7 never appears or is mentioned here.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4813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90s–Early 2000s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7373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Agami / Old Marina — 90s Generation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14884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“After that... every summer brought new memories, new taste, and a drink with its place in the group.”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816352"/>
            <a:ext cx="5349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to the coast in an old car or minibus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cassette tape playing a summer song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photos from the beach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bags and food containers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striped beach umbrella + squash on the sand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489204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EAF2F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73952" y="5010912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HONESTY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473952" y="5248656"/>
            <a:ext cx="5020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drink appears distant or with an unreadable brand — a complete avoidance of any inaccurate historical claim for V7.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GENERATION SPOTLIGHT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Generation — One Summer, Many Faces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347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 |  SUMMER EDITION CAMPAIGN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12802"/>
          </a:xfrm>
          <a:prstGeom prst="rect">
            <a:avLst/>
          </a:prstGeom>
          <a:solidFill>
            <a:srgbClr val="DCE7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463040"/>
            <a:ext cx="6263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generation doesn’t live one single summer; every trip has its own shape, every place its own memories — and they all come together over V7 Cream Soda.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3063240" cy="960120"/>
          </a:xfrm>
          <a:prstGeom prst="roundRect">
            <a:avLst>
              <a:gd name="adj" fmla="val 6667"/>
            </a:avLst>
          </a:prstGeom>
          <a:solidFill>
            <a:srgbClr val="1C8C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633472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Sahel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999232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Friends’ Summer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2514600"/>
            <a:ext cx="3063240" cy="960120"/>
          </a:xfrm>
          <a:prstGeom prst="roundRect">
            <a:avLst>
              <a:gd name="adj" fmla="val 6667"/>
            </a:avLst>
          </a:prstGeom>
          <a:solidFill>
            <a:srgbClr val="F1F6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913632" y="2633472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Sharm El-Sheikh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13632" y="2999232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Summer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657600"/>
            <a:ext cx="3063240" cy="960120"/>
          </a:xfrm>
          <a:prstGeom prst="roundRect">
            <a:avLst>
              <a:gd name="adj" fmla="val 6667"/>
            </a:avLst>
          </a:prstGeom>
          <a:solidFill>
            <a:srgbClr val="F1F6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" y="3776472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Marsa Matrouh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4142232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&amp; Sea Summer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3657600"/>
            <a:ext cx="3063240" cy="960120"/>
          </a:xfrm>
          <a:prstGeom prst="roundRect">
            <a:avLst>
              <a:gd name="adj" fmla="val 6667"/>
            </a:avLst>
          </a:prstGeom>
          <a:solidFill>
            <a:srgbClr val="F1F6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913632" y="3776472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Hurghada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13632" y="4142232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&amp; Togetherness Summer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709160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Additional quick cuts without slowing the film: Ain Sokhna, Ras El Bar, Agami, Dahab, Alexandria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5349240"/>
            <a:ext cx="6263640" cy="685800"/>
          </a:xfrm>
          <a:prstGeom prst="roundRect">
            <a:avLst>
              <a:gd name="adj" fmla="val 8000"/>
            </a:avLst>
          </a:prstGeom>
          <a:solidFill>
            <a:srgbClr val="0B3B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5349240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3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now... it’s our turn.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Summer Edition — our generation’s summer.</a:t>
            </a:r>
            <a:endParaRPr lang="en-US" sz="1250" dirty="0"/>
          </a:p>
        </p:txBody>
      </p:sp>
      <p:pic>
        <p:nvPicPr>
          <p:cNvPr id="22" name="Image 0" descr="/home/claude/work/imgs/sign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40880" y="1463040"/>
            <a:ext cx="4617720" cy="45720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7040880" y="1463040"/>
            <a:ext cx="4617720" cy="4572000"/>
          </a:xfrm>
          <a:prstGeom prst="rect">
            <a:avLst/>
          </a:prstGeom>
          <a:ln w="12700">
            <a:solidFill>
              <a:srgbClr val="DCE7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OUR GENERATION — DESTINATIONS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Coasts, One Feeling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347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 |  SUMMER EDITION CAMPAIGN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12802"/>
          </a:xfrm>
          <a:prstGeom prst="rect">
            <a:avLst/>
          </a:prstGeom>
          <a:solidFill>
            <a:srgbClr val="DCE7E6"/>
          </a:solidFill>
          <a:ln/>
        </p:spPr>
      </p:sp>
      <p:pic>
        <p:nvPicPr>
          <p:cNvPr id="6" name="Image 0" descr="/home/claude/work/imgs/crop_destgri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63040"/>
            <a:ext cx="6400800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463040"/>
            <a:ext cx="6400800" cy="4572000"/>
          </a:xfrm>
          <a:prstGeom prst="rect">
            <a:avLst/>
          </a:prstGeom>
          <a:ln w="12700">
            <a:solidFill>
              <a:srgbClr val="DCE7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78040" y="1463040"/>
            <a:ext cx="4480560" cy="1097280"/>
          </a:xfrm>
          <a:prstGeom prst="roundRect">
            <a:avLst>
              <a:gd name="adj" fmla="val 5000"/>
            </a:avLst>
          </a:prstGeom>
          <a:solidFill>
            <a:srgbClr val="F1F6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79208" y="1581912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379208" y="1865376"/>
            <a:ext cx="4078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 the Sahel... summer starts from the first trip with friends.”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78040" y="2679192"/>
            <a:ext cx="4480560" cy="1097280"/>
          </a:xfrm>
          <a:prstGeom prst="roundRect">
            <a:avLst>
              <a:gd name="adj" fmla="val 5000"/>
            </a:avLst>
          </a:prstGeom>
          <a:solidFill>
            <a:srgbClr val="EAF2F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79208" y="2798064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379208" y="3081528"/>
            <a:ext cx="4078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Sharm... summer is a new adventure every time.”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178040" y="3895344"/>
            <a:ext cx="4480560" cy="1097280"/>
          </a:xfrm>
          <a:prstGeom prst="roundRect">
            <a:avLst>
              <a:gd name="adj" fmla="val 5000"/>
            </a:avLst>
          </a:prstGeom>
          <a:solidFill>
            <a:srgbClr val="F1F6F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79208" y="401421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Marsa Matrouh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379208" y="4297680"/>
            <a:ext cx="4078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Matrouh... summer slows down, and the sea takes you far away.”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178040" y="5111496"/>
            <a:ext cx="4480560" cy="1097280"/>
          </a:xfrm>
          <a:prstGeom prst="roundRect">
            <a:avLst>
              <a:gd name="adj" fmla="val 5000"/>
            </a:avLst>
          </a:prstGeom>
          <a:solidFill>
            <a:srgbClr val="EAF2F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79208" y="5230368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Hurghada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7379208" y="5513832"/>
            <a:ext cx="4078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Hurghada... every day in the sea makes a new memory.”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CREATIVE MECHANIC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Transitions Between Generations — Match Cuts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347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 |  SUMMER EDITION CAMPAIGN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12802"/>
          </a:xfrm>
          <a:prstGeom prst="rect">
            <a:avLst/>
          </a:prstGeom>
          <a:solidFill>
            <a:srgbClr val="DCE7E6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55680" cy="3566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 Zaman (Ras El Bar)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90s Gen (Agami)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Gen (Sahel)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62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radio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Cassette tape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Bluetooth speaker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62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soda bottle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Unclear-brand drink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V7 in the 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62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minibus / 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car on the coast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62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Luggage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summer bag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Plastic bag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beach bag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62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Plastic chairs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Striped umbrella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beach chairs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30352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EAF2F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53035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transition is a purely visual match cut — the product itself is never blended with the past.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SOUND IDENTITY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Sounds of Every Generation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347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 |  SUMMER EDITION CAMPAIGN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12802"/>
          </a:xfrm>
          <a:prstGeom prst="rect">
            <a:avLst/>
          </a:prstGeom>
          <a:solidFill>
            <a:srgbClr val="DCE7E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554480"/>
            <a:ext cx="2670048" cy="2788920"/>
          </a:xfrm>
          <a:prstGeom prst="roundRect">
            <a:avLst>
              <a:gd name="adj" fmla="val 2740"/>
            </a:avLst>
          </a:prstGeom>
          <a:solidFill>
            <a:srgbClr val="F1F6F5"/>
          </a:solidFill>
          <a:ln/>
        </p:spPr>
      </p:sp>
      <p:sp>
        <p:nvSpPr>
          <p:cNvPr id="7" name="Shape 5"/>
          <p:cNvSpPr/>
          <p:nvPr/>
        </p:nvSpPr>
        <p:spPr>
          <a:xfrm>
            <a:off x="1563624" y="1828800"/>
            <a:ext cx="548640" cy="548640"/>
          </a:xfrm>
          <a:prstGeom prst="ellipse">
            <a:avLst/>
          </a:prstGeom>
          <a:solidFill>
            <a:srgbClr val="1C8C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6362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162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5603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 Radio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306324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radio static — Gen Zaman scenes only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74136" y="1554480"/>
            <a:ext cx="2670048" cy="2788920"/>
          </a:xfrm>
          <a:prstGeom prst="roundRect">
            <a:avLst>
              <a:gd name="adj" fmla="val 2740"/>
            </a:avLst>
          </a:prstGeom>
          <a:solidFill>
            <a:srgbClr val="F1F6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1828800"/>
            <a:ext cx="548640" cy="548640"/>
          </a:xfrm>
          <a:prstGeom prst="ellipse">
            <a:avLst/>
          </a:prstGeom>
          <a:solidFill>
            <a:srgbClr val="1C8C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348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62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25603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Cassette Tape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75304" y="306324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Audible cassette-tape playback sound — 90s Generation scenes only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5352" y="1554480"/>
            <a:ext cx="2670048" cy="2788920"/>
          </a:xfrm>
          <a:prstGeom prst="roundRect">
            <a:avLst>
              <a:gd name="adj" fmla="val 2740"/>
            </a:avLst>
          </a:prstGeom>
          <a:solidFill>
            <a:srgbClr val="F1F6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306056" y="1828800"/>
            <a:ext cx="548640" cy="548640"/>
          </a:xfrm>
          <a:prstGeom prst="ellipse">
            <a:avLst/>
          </a:prstGeom>
          <a:solidFill>
            <a:srgbClr val="1C8C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0605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♫</a:t>
            </a:r>
            <a:endParaRPr lang="en-US" sz="162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5603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Bluetooth Speaker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06324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contemporary summer beat — Our Generation scenes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16568" y="1554480"/>
            <a:ext cx="2670048" cy="2788920"/>
          </a:xfrm>
          <a:prstGeom prst="roundRect">
            <a:avLst>
              <a:gd name="adj" fmla="val 2740"/>
            </a:avLst>
          </a:prstGeom>
          <a:solidFill>
            <a:srgbClr val="F1F6F5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77272" y="1828800"/>
            <a:ext cx="548640" cy="548640"/>
          </a:xfrm>
          <a:prstGeom prst="ellipse">
            <a:avLst/>
          </a:prstGeom>
          <a:solidFill>
            <a:srgbClr val="1C8C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17727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✵</a:t>
            </a:r>
            <a:endParaRPr lang="en-US" sz="162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25603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Opening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317736" y="306324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real can-opening sound — never used as a time-transition device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663440"/>
            <a:ext cx="11155680" cy="1325880"/>
          </a:xfrm>
          <a:prstGeom prst="roundRect">
            <a:avLst>
              <a:gd name="adj" fmla="val 4828"/>
            </a:avLst>
          </a:prstGeom>
          <a:solidFill>
            <a:srgbClr val="0B3B4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3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WAVES &amp; LAUGHTER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120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waves and natural laughter stay constant through every Our Generation scene across all four destinations — unscripted, but the thread that ties every generation’s feeling together.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PRODUCTION DIRECTION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Locks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347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 |  SUMMER EDITION CAMPAIGN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12802"/>
          </a:xfrm>
          <a:prstGeom prst="rect">
            <a:avLst/>
          </a:prstGeom>
          <a:solidFill>
            <a:srgbClr val="DCE7E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554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1F6F5"/>
          </a:solidFill>
          <a:ln/>
        </p:spPr>
      </p:sp>
      <p:sp>
        <p:nvSpPr>
          <p:cNvPr id="7" name="Shape 5"/>
          <p:cNvSpPr/>
          <p:nvPr/>
        </p:nvSpPr>
        <p:spPr>
          <a:xfrm>
            <a:off x="845820" y="2286000"/>
            <a:ext cx="502920" cy="502920"/>
          </a:xfrm>
          <a:prstGeom prst="ellipse">
            <a:avLst/>
          </a:prstGeom>
          <a:solidFill>
            <a:srgbClr val="E3B36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58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5" dirty="0">
                <a:solidFill>
                  <a:srgbClr val="0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85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847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Lock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267712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drink in Gen Zaman &amp; 90s scenes is always a generic, unbranded bottle. V7 appears in Our Generation scenes only.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1F6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606540" y="2286000"/>
            <a:ext cx="502920" cy="502920"/>
          </a:xfrm>
          <a:prstGeom prst="ellipse">
            <a:avLst/>
          </a:prstGeom>
          <a:solidFill>
            <a:srgbClr val="E3B36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65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5" dirty="0">
                <a:solidFill>
                  <a:srgbClr val="0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85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1847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Lock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267712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can shape, colour and design in every appearance — no alterations allowed.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1F6F5"/>
          </a:solidFill>
          <a:ln/>
        </p:spPr>
      </p:sp>
      <p:sp>
        <p:nvSpPr>
          <p:cNvPr id="17" name="Shape 15"/>
          <p:cNvSpPr/>
          <p:nvPr/>
        </p:nvSpPr>
        <p:spPr>
          <a:xfrm>
            <a:off x="845820" y="4572000"/>
            <a:ext cx="502920" cy="502920"/>
          </a:xfrm>
          <a:prstGeom prst="ellipse">
            <a:avLst/>
          </a:prstGeom>
          <a:solidFill>
            <a:srgbClr val="E3B36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58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5" dirty="0">
                <a:solidFill>
                  <a:srgbClr val="0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85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133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Lock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4553712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Zaman: warm, filmic tones · 90s: warmer tones with light grain · Our Gen: turquoise, cream, natural light.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840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1F6F5"/>
          </a:solidFill>
          <a:ln/>
        </p:spPr>
      </p:sp>
      <p:sp>
        <p:nvSpPr>
          <p:cNvPr id="22" name="Shape 20"/>
          <p:cNvSpPr/>
          <p:nvPr/>
        </p:nvSpPr>
        <p:spPr>
          <a:xfrm>
            <a:off x="6606540" y="4572000"/>
            <a:ext cx="502920" cy="502920"/>
          </a:xfrm>
          <a:prstGeom prst="ellipse">
            <a:avLst/>
          </a:prstGeom>
          <a:solidFill>
            <a:srgbClr val="E3B36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0654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5" dirty="0">
                <a:solidFill>
                  <a:srgbClr val="0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85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4133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Editing Lock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4553712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visual match cuts between generations — never implying V7 existed before our generation.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EXECUTION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Journey — 5 Posts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347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 |  SUMMER EDITION CAMPAIGN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12802"/>
          </a:xfrm>
          <a:prstGeom prst="rect">
            <a:avLst/>
          </a:prstGeom>
          <a:solidFill>
            <a:srgbClr val="DCE7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posts (3 videos + 1 carousel + 1 static) built on the “Every Generation Has Its Summer” journey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2029968" cy="2788920"/>
          </a:xfrm>
          <a:prstGeom prst="roundRect">
            <a:avLst>
              <a:gd name="adj" fmla="val 3604"/>
            </a:avLst>
          </a:prstGeom>
          <a:solidFill>
            <a:srgbClr val="F1F6F5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2331720"/>
            <a:ext cx="457200" cy="457200"/>
          </a:xfrm>
          <a:prstGeom prst="ellipse">
            <a:avLst/>
          </a:prstGeom>
          <a:solidFill>
            <a:srgbClr val="0B3B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89304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29718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Reel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32735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Teaser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" y="379476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generation had its summer”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532888" y="317754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79192" y="2103120"/>
            <a:ext cx="2029968" cy="2788920"/>
          </a:xfrm>
          <a:prstGeom prst="roundRect">
            <a:avLst>
              <a:gd name="adj" fmla="val 3604"/>
            </a:avLst>
          </a:prstGeom>
          <a:solidFill>
            <a:srgbClr val="F1F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3465576" y="2331720"/>
            <a:ext cx="457200" cy="457200"/>
          </a:xfrm>
          <a:prstGeom prst="ellipse">
            <a:avLst/>
          </a:prstGeom>
          <a:solidFill>
            <a:srgbClr val="0B3B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65576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788920" y="29718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Reel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32735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Reveal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2807208" y="379476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“and now it’s our turn”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317754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55464" y="2103120"/>
            <a:ext cx="2029968" cy="2788920"/>
          </a:xfrm>
          <a:prstGeom prst="roundRect">
            <a:avLst>
              <a:gd name="adj" fmla="val 3604"/>
            </a:avLst>
          </a:prstGeom>
          <a:solidFill>
            <a:srgbClr val="F1F6F5"/>
          </a:solidFill>
          <a:ln/>
        </p:spPr>
      </p:sp>
      <p:sp>
        <p:nvSpPr>
          <p:cNvPr id="22" name="Shape 20"/>
          <p:cNvSpPr/>
          <p:nvPr/>
        </p:nvSpPr>
        <p:spPr>
          <a:xfrm>
            <a:off x="5641848" y="2331720"/>
            <a:ext cx="457200" cy="457200"/>
          </a:xfrm>
          <a:prstGeom prst="ellipse">
            <a:avLst/>
          </a:prstGeom>
          <a:solidFill>
            <a:srgbClr val="0B3B4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4184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965192" y="29718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Reel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965192" y="32735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Experience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983480" y="379476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destinations, one drink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885432" y="317754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31736" y="2103120"/>
            <a:ext cx="2029968" cy="2788920"/>
          </a:xfrm>
          <a:prstGeom prst="roundRect">
            <a:avLst>
              <a:gd name="adj" fmla="val 3604"/>
            </a:avLst>
          </a:prstGeom>
          <a:solidFill>
            <a:srgbClr val="F1F6F5"/>
          </a:solidFill>
          <a:ln/>
        </p:spPr>
      </p:sp>
      <p:sp>
        <p:nvSpPr>
          <p:cNvPr id="29" name="Shape 27"/>
          <p:cNvSpPr/>
          <p:nvPr/>
        </p:nvSpPr>
        <p:spPr>
          <a:xfrm>
            <a:off x="7818120" y="2331720"/>
            <a:ext cx="457200" cy="457200"/>
          </a:xfrm>
          <a:prstGeom prst="ellipse">
            <a:avLst/>
          </a:prstGeom>
          <a:solidFill>
            <a:srgbClr val="0B3B4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181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141464" y="29718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Carousel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141464" y="32735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159752" y="379476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summer is yours?”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061704" y="317754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208008" y="2103120"/>
            <a:ext cx="2029968" cy="2788920"/>
          </a:xfrm>
          <a:prstGeom prst="roundRect">
            <a:avLst>
              <a:gd name="adj" fmla="val 3604"/>
            </a:avLst>
          </a:prstGeom>
          <a:solidFill>
            <a:srgbClr val="1C8C93"/>
          </a:solidFill>
          <a:ln/>
        </p:spPr>
      </p:sp>
      <p:sp>
        <p:nvSpPr>
          <p:cNvPr id="36" name="Shape 34"/>
          <p:cNvSpPr/>
          <p:nvPr/>
        </p:nvSpPr>
        <p:spPr>
          <a:xfrm>
            <a:off x="9994392" y="2331720"/>
            <a:ext cx="457200" cy="457200"/>
          </a:xfrm>
          <a:prstGeom prst="ellipse">
            <a:avLst/>
          </a:prstGeom>
          <a:solidFill>
            <a:srgbClr val="E3B36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9943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9317736" y="29718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Static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317736" y="32735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CTA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9336024" y="379476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E4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generation has its summer... this is ours.”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525780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EAF2F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77240" y="5257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Hero Film (45s master film) tells the full 3-generation journey up to our generation.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EXECUTION — POST 1/5 &amp; 2/5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Teaser &amp; Reveal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347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 |  SUMMER EDITION CAMPAIGN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12802"/>
          </a:xfrm>
          <a:prstGeom prst="rect">
            <a:avLst/>
          </a:prstGeom>
          <a:solidFill>
            <a:srgbClr val="DCE7E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63040"/>
            <a:ext cx="5349240" cy="384048"/>
          </a:xfrm>
          <a:prstGeom prst="roundRect">
            <a:avLst>
              <a:gd name="adj" fmla="val 119048"/>
            </a:avLst>
          </a:prstGeom>
          <a:solidFill>
            <a:srgbClr val="0B3B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46304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3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REEL · 15s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95681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Teaser</a:t>
            </a:r>
            <a:endParaRPr lang="en-US" sz="1800" dirty="0"/>
          </a:p>
        </p:txBody>
      </p:sp>
      <p:pic>
        <p:nvPicPr>
          <p:cNvPr id="9" name="Image 0" descr="/home/claude/work/imgs/hero_cove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2395728"/>
            <a:ext cx="5349240" cy="2331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2395728"/>
            <a:ext cx="5349240" cy="2331720"/>
          </a:xfrm>
          <a:prstGeom prst="rect">
            <a:avLst/>
          </a:prstGeom>
          <a:ln w="12700">
            <a:solidFill>
              <a:srgbClr val="DCE7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484632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507492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montage of 3 generations — radio, cassette, and bluetooth speaker — with no clear V7 appearance, ending on a direct question: “Every generation had its summer... and what will yours look like? Coming soon...”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09360" y="1463040"/>
            <a:ext cx="5349240" cy="384048"/>
          </a:xfrm>
          <a:prstGeom prst="roundRect">
            <a:avLst>
              <a:gd name="adj" fmla="val 119048"/>
            </a:avLst>
          </a:prstGeom>
          <a:solidFill>
            <a:srgbClr val="0B3B4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146304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3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REEL · 18s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195681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Reveal</a:t>
            </a:r>
            <a:endParaRPr lang="en-US" sz="1800" dirty="0"/>
          </a:p>
        </p:txBody>
      </p:sp>
      <p:pic>
        <p:nvPicPr>
          <p:cNvPr id="16" name="Image 1" descr="/home/claude/work/imgs/revea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2395728"/>
            <a:ext cx="5349240" cy="23317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309360" y="2395728"/>
            <a:ext cx="5349240" cy="2331720"/>
          </a:xfrm>
          <a:prstGeom prst="rect">
            <a:avLst/>
          </a:prstGeom>
          <a:ln w="12700">
            <a:solidFill>
              <a:srgbClr val="DCE7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309360" y="484632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6309360" y="507492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Gen Zaman (Ras El Bar) to the 90s Generation (Agami) to Our Generation (Sahel) — ending with a clear V7 reveal: “and now... it’s our turn. V7 Cream Soda — Summer Edition.”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EXECUTION — POST 3/5 &amp; 4/5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Experience &amp; Engagement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347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 |  SUMMER EDITION CAMPAIGN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12802"/>
          </a:xfrm>
          <a:prstGeom prst="rect">
            <a:avLst/>
          </a:prstGeom>
          <a:solidFill>
            <a:srgbClr val="DCE7E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63040"/>
            <a:ext cx="5349240" cy="384048"/>
          </a:xfrm>
          <a:prstGeom prst="roundRect">
            <a:avLst>
              <a:gd name="adj" fmla="val 119048"/>
            </a:avLst>
          </a:prstGeom>
          <a:solidFill>
            <a:srgbClr val="0B3B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46304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3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REEL · 20s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95681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Experience</a:t>
            </a:r>
            <a:endParaRPr lang="en-US" sz="1800" dirty="0"/>
          </a:p>
        </p:txBody>
      </p:sp>
      <p:pic>
        <p:nvPicPr>
          <p:cNvPr id="9" name="Image 0" descr="/home/claude/work/imgs/walking_triptych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2395728"/>
            <a:ext cx="5349240" cy="2331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2395728"/>
            <a:ext cx="5349240" cy="2331720"/>
          </a:xfrm>
          <a:prstGeom prst="rect">
            <a:avLst/>
          </a:prstGeom>
          <a:ln w="12700">
            <a:solidFill>
              <a:srgbClr val="DCE7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484632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507492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 across Sahel, Sharm, Matrouh and Hurghada — different places, same feeling: “V7 Cream Soda — our generation’s summer.” V7 present in every trip.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09360" y="1463040"/>
            <a:ext cx="5349240" cy="384048"/>
          </a:xfrm>
          <a:prstGeom prst="roundRect">
            <a:avLst>
              <a:gd name="adj" fmla="val 119048"/>
            </a:avLst>
          </a:prstGeom>
          <a:solidFill>
            <a:srgbClr val="0B3B4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146304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3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CAROUSEL · 6 slides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195681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</a:t>
            </a:r>
            <a:endParaRPr lang="en-US" sz="1800" dirty="0"/>
          </a:p>
        </p:txBody>
      </p:sp>
      <p:pic>
        <p:nvPicPr>
          <p:cNvPr id="16" name="Image 1" descr="/home/claude/work/imgs/carousel_fina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2395728"/>
            <a:ext cx="5349240" cy="23317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309360" y="2395728"/>
            <a:ext cx="5349240" cy="2331720"/>
          </a:xfrm>
          <a:prstGeom prst="rect">
            <a:avLst/>
          </a:prstGeom>
          <a:ln w="12700">
            <a:solidFill>
              <a:srgbClr val="DCE7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309360" y="484632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6309360" y="507492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summer is yours?” — a simple question inviting every age group to share their kind of summer. Closes on: V7 is there. #صيف_كل_جيل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EXECUTION — POST 5/5 &amp; HERO FILM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CTA &amp; Hero Film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347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 |  SUMMER EDITION CAMPAIGN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12802"/>
          </a:xfrm>
          <a:prstGeom prst="rect">
            <a:avLst/>
          </a:prstGeom>
          <a:solidFill>
            <a:srgbClr val="DCE7E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63040"/>
            <a:ext cx="5349240" cy="384048"/>
          </a:xfrm>
          <a:prstGeom prst="roundRect">
            <a:avLst>
              <a:gd name="adj" fmla="val 119048"/>
            </a:avLst>
          </a:prstGeom>
          <a:solidFill>
            <a:srgbClr val="0B3B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46304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3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STATIC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95681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CTA</a:t>
            </a:r>
            <a:endParaRPr lang="en-US" sz="1800" dirty="0"/>
          </a:p>
        </p:txBody>
      </p:sp>
      <p:pic>
        <p:nvPicPr>
          <p:cNvPr id="9" name="Image 0" descr="/home/claude/work/imgs/product_her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2395728"/>
            <a:ext cx="5349240" cy="35204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2395728"/>
            <a:ext cx="5349240" cy="3520440"/>
          </a:xfrm>
          <a:prstGeom prst="rect">
            <a:avLst/>
          </a:prstGeom>
          <a:ln w="12700">
            <a:solidFill>
              <a:srgbClr val="DCE7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1463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FILM · 0:00–0:45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1920240"/>
            <a:ext cx="960120" cy="384048"/>
          </a:xfrm>
          <a:prstGeom prst="roundRect">
            <a:avLst>
              <a:gd name="adj" fmla="val 119048"/>
            </a:avLst>
          </a:prstGeom>
          <a:solidFill>
            <a:srgbClr val="EAF2F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09360" y="19202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19202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 El Bar/Gamasa — a kid running on sand, old radio, generic bottle on a plastic table: “Every generation had its summer...”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309360" y="2816352"/>
            <a:ext cx="960120" cy="384048"/>
          </a:xfrm>
          <a:prstGeom prst="roundRect">
            <a:avLst>
              <a:gd name="adj" fmla="val 119048"/>
            </a:avLst>
          </a:prstGeom>
          <a:solidFill>
            <a:srgbClr val="EAF2F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309360" y="28163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6–16s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7406640" y="281635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Agami/Marina → match cuts: radio→speaker, printed photo→phone, old car→modern car, cup→V7 in ice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309360" y="3712464"/>
            <a:ext cx="960120" cy="384048"/>
          </a:xfrm>
          <a:prstGeom prst="roundRect">
            <a:avLst>
              <a:gd name="adj" fmla="val 119048"/>
            </a:avLst>
          </a:prstGeom>
          <a:solidFill>
            <a:srgbClr val="EAF2F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309360" y="371246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16–32s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406640" y="371246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→ Sharm/Matrouh/Hurghada quick montage → back to Sahel: a guy opens the cooler, pulls out V7, opens it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309360" y="4608576"/>
            <a:ext cx="960120" cy="384048"/>
          </a:xfrm>
          <a:prstGeom prst="roundRect">
            <a:avLst>
              <a:gd name="adj" fmla="val 119048"/>
            </a:avLst>
          </a:prstGeom>
          <a:solidFill>
            <a:srgbClr val="EAF2F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309360" y="46085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32–45s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7406640" y="4608576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“And now... it’s our turn.” Hero product shot in ice and sand — “Every generation has its summer... this is ours.”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EXECUTION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Calendar — Launch Week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347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 |  SUMMER EDITION CAMPAIGN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12802"/>
          </a:xfrm>
          <a:prstGeom prst="rect">
            <a:avLst/>
          </a:prstGeom>
          <a:solidFill>
            <a:srgbClr val="DCE7E6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55680" cy="44348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Timing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 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Hero Film — Launch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campaign with its strongest visual asset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 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curiosity after the launch buzz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6:00 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Reveals “now it’s our turn”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Tuesday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7:00 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Experience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Spotlights the four destinations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Thursday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6:00 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Carousel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Pre-weekend — drives engagement across all 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10:00 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purchase-intent moment — actual travel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UGC Repost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C5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 campaign life, closes the engagement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CASE STUDY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Campaign Works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347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 |  SUMMER EDITION CAMPAIGN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12802"/>
          </a:xfrm>
          <a:prstGeom prst="rect">
            <a:avLst/>
          </a:prstGeom>
          <a:solidFill>
            <a:srgbClr val="DCE7E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00784"/>
            <a:ext cx="457200" cy="457200"/>
          </a:xfrm>
          <a:prstGeom prst="ellipse">
            <a:avLst/>
          </a:prstGeom>
          <a:solidFill>
            <a:srgbClr val="1C8C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50876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Insight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508760"/>
            <a:ext cx="7726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Egyptian generation has its own real summer spot — Ras El Bar, Agami, the North Coast — and the memories tied to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542032"/>
            <a:ext cx="457200" cy="457200"/>
          </a:xfrm>
          <a:prstGeom prst="ellipse">
            <a:avLst/>
          </a:prstGeom>
          <a:solidFill>
            <a:srgbClr val="1C8C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350008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Creative Idea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350008"/>
            <a:ext cx="7726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generation has its summer” — a journey through 3 real generations that lands on V7 as our generation’s drink, with no historical overreach.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304288"/>
            <a:ext cx="11155680" cy="9144"/>
          </a:xfrm>
          <a:prstGeom prst="rect">
            <a:avLst/>
          </a:prstGeom>
          <a:solidFill>
            <a:srgbClr val="DCE7E6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1C8C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191256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Role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191256"/>
            <a:ext cx="7726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is the current generation’s drink. It appears in our generation’s scenes only, and unifies 4 different destinations under one feeling.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145536"/>
            <a:ext cx="11155680" cy="9144"/>
          </a:xfrm>
          <a:prstGeom prst="rect">
            <a:avLst/>
          </a:prstGeom>
          <a:solidFill>
            <a:srgbClr val="DCE7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224528"/>
            <a:ext cx="457200" cy="457200"/>
          </a:xfrm>
          <a:prstGeom prst="ellipse">
            <a:avLst/>
          </a:prstGeom>
          <a:solidFill>
            <a:srgbClr val="1C8C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032504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System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4032504"/>
            <a:ext cx="7726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Film + Teaser + Reveal + Product Experience + Engagement + CTA.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986784"/>
            <a:ext cx="11155680" cy="9144"/>
          </a:xfrm>
          <a:prstGeom prst="rect">
            <a:avLst/>
          </a:prstGeom>
          <a:solidFill>
            <a:srgbClr val="DCE7E6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5065776"/>
            <a:ext cx="457200" cy="457200"/>
          </a:xfrm>
          <a:prstGeom prst="ellipse">
            <a:avLst/>
          </a:prstGeom>
          <a:solidFill>
            <a:srgbClr val="1C8C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87375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Value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4873752"/>
            <a:ext cx="7726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/ Product / Visual / Editing locks, a sound identity per generation, full historical honesty.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4828032"/>
            <a:ext cx="11155680" cy="9144"/>
          </a:xfrm>
          <a:prstGeom prst="rect">
            <a:avLst/>
          </a:prstGeom>
          <a:solidFill>
            <a:srgbClr val="DCE7E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3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V7 Cream Soda — Campaign Complete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576072"/>
          </a:xfrm>
          <a:prstGeom prst="roundRect">
            <a:avLst>
              <a:gd name="adj" fmla="val 11111"/>
            </a:avLst>
          </a:prstGeom>
          <a:solidFill>
            <a:srgbClr val="123F4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51076"/>
            <a:ext cx="457200" cy="457200"/>
          </a:xfrm>
          <a:prstGeom prst="ellipse">
            <a:avLst/>
          </a:prstGeom>
          <a:solidFill>
            <a:srgbClr val="E3B36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510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9784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Audience (3 generations), Big Idea (“Every generation has its summer... this is ours.”)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11064240" cy="576072"/>
          </a:xfrm>
          <a:prstGeom prst="roundRect">
            <a:avLst>
              <a:gd name="adj" fmla="val 11111"/>
            </a:avLst>
          </a:prstGeom>
          <a:solidFill>
            <a:srgbClr val="123F49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464308"/>
            <a:ext cx="457200" cy="457200"/>
          </a:xfrm>
          <a:prstGeom prst="ellipse">
            <a:avLst/>
          </a:prstGeom>
          <a:solidFill>
            <a:srgbClr val="E3B36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4643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404872"/>
            <a:ext cx="9784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3-generation journey (Zaman, 90s, Our Generation) + 4 destinations for Our Generation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18104"/>
            <a:ext cx="11064240" cy="576072"/>
          </a:xfrm>
          <a:prstGeom prst="roundRect">
            <a:avLst>
              <a:gd name="adj" fmla="val 11111"/>
            </a:avLst>
          </a:prstGeom>
          <a:solidFill>
            <a:srgbClr val="123F49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177540"/>
            <a:ext cx="457200" cy="457200"/>
          </a:xfrm>
          <a:prstGeom prst="ellipse">
            <a:avLst/>
          </a:prstGeom>
          <a:solidFill>
            <a:srgbClr val="E3B36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177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118104"/>
            <a:ext cx="9784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Cuts + Sound Identity + Production Locks (full historical honesty)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31336"/>
            <a:ext cx="11064240" cy="576072"/>
          </a:xfrm>
          <a:prstGeom prst="roundRect">
            <a:avLst>
              <a:gd name="adj" fmla="val 11111"/>
            </a:avLst>
          </a:prstGeom>
          <a:solidFill>
            <a:srgbClr val="123F49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3890772"/>
            <a:ext cx="457200" cy="457200"/>
          </a:xfrm>
          <a:prstGeom prst="ellipse">
            <a:avLst/>
          </a:prstGeom>
          <a:solidFill>
            <a:srgbClr val="E3B36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38907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831336"/>
            <a:ext cx="9784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posts + Content Calendar + Hero Film (45s) + 3 video scripts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44568"/>
            <a:ext cx="11064240" cy="576072"/>
          </a:xfrm>
          <a:prstGeom prst="roundRect">
            <a:avLst>
              <a:gd name="adj" fmla="val 11111"/>
            </a:avLst>
          </a:prstGeom>
          <a:solidFill>
            <a:srgbClr val="123F49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4604004"/>
            <a:ext cx="457200" cy="457200"/>
          </a:xfrm>
          <a:prstGeom prst="ellipse">
            <a:avLst/>
          </a:prstGeom>
          <a:solidFill>
            <a:srgbClr val="E3B36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6040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544568"/>
            <a:ext cx="9784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Case Study explaining the creative &amp; cultural logic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3B36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Cream Soda  ·  Summer Edition 2026 — Every Generation Has Its Summer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</cp:revision>
  <dcterms:created xsi:type="dcterms:W3CDTF">2026-09-15T22:00:20Z</dcterms:created>
  <dcterms:modified xsi:type="dcterms:W3CDTF">2026-09-21T18:31:11Z</dcterms:modified>
</cp:coreProperties>
</file>