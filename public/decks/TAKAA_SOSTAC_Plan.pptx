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A1A"/>
              </a:solidFill>
              <a:ln w="25400" cap="flat">
                <a:solidFill>
                  <a:srgbClr val="0A163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C25A"/>
              </a:solidFill>
              <a:ln w="25400" cap="flat">
                <a:solidFill>
                  <a:srgbClr val="0A163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E63B5"/>
              </a:solidFill>
              <a:ln w="25400" cap="flat">
                <a:solidFill>
                  <a:srgbClr val="0A163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9B5B0"/>
              </a:solidFill>
              <a:ln w="25400" cap="flat">
                <a:solidFill>
                  <a:srgbClr val="0A1630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9FB0D8"/>
              </a:solidFill>
              <a:ln w="25400" cap="flat">
                <a:solidFill>
                  <a:srgbClr val="0A163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Production</c:v>
                </c:pt>
                <c:pt idx="2">
                  <c:v>Creators &amp; UGC</c:v>
                </c:pt>
                <c:pt idx="3">
                  <c:v>Sampling &amp; events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your mood needs a tweak, not a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hyperlink" Target="https://instagram.com/p/DdHJzz-jGrm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nstagram.com/mohamedostafa5" TargetMode="External"/><Relationship Id="rId3" Type="http://schemas.openxmlformats.org/officeDocument/2006/relationships/hyperlink" Target="https://instagram.com/p/DdHJzz-jGrm" TargetMode="External"/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58545" y="-1645920"/>
            <a:ext cx="6400800" cy="6400800"/>
          </a:xfrm>
          <a:prstGeom prst="ellipse">
            <a:avLst/>
          </a:prstGeom>
          <a:ln w="25400">
            <a:solidFill>
              <a:srgbClr val="1F3B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" y="-365760"/>
            <a:ext cx="3840480" cy="3840480"/>
          </a:xfrm>
          <a:prstGeom prst="ellipse">
            <a:avLst/>
          </a:prstGeom>
          <a:ln w="25400">
            <a:solidFill>
              <a:srgbClr val="1F3B73"/>
            </a:solidFill>
            <a:prstDash val="solid"/>
          </a:ln>
        </p:spPr>
      </p:sp>
      <p:pic>
        <p:nvPicPr>
          <p:cNvPr id="4" name="cover-photo" descr="/tmp/tk/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0"/>
            <a:ext cx="493776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-360000">
            <a:off x="7071055" y="-914400"/>
            <a:ext cx="411480" cy="91440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7375" y="731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DRINK  ·  EGYPTIAN LIFESTYLE BRAND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7375" y="118872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TAKAA</a:t>
            </a:r>
            <a:endParaRPr lang="en-US" sz="12200" dirty="0"/>
          </a:p>
        </p:txBody>
      </p:sp>
      <p:sp>
        <p:nvSpPr>
          <p:cNvPr id="8" name="Text 5"/>
          <p:cNvSpPr txBox="1"/>
          <p:nvPr/>
        </p:nvSpPr>
        <p:spPr>
          <a:xfrm>
            <a:off x="487375" y="34290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mood needs</a:t>
            </a:r>
            <a:endParaRPr lang="en-US" sz="4400" dirty="0"/>
          </a:p>
          <a:p>
            <a:pPr algn="l" indent="0" marL="0">
              <a:buNone/>
            </a:pPr>
            <a:r>
              <a:rPr lang="en-US" altLang="en-US" sz="4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tweak.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87375" y="507492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7375" y="50749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Tweak.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7375" y="5715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Mohamed Mostafa Taher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" y="6355080"/>
            <a:ext cx="11643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TWEAK  •  TAKE THE TWEAK  •  TAKE THE TWEAK  •  TAKE THE TWEAK  •  TAKE THE TWEAK  •  TAKE THE TWEAK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51215" y="914400"/>
            <a:ext cx="3474720" cy="34747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9543" y="978408"/>
            <a:ext cx="2798064" cy="4860544"/>
          </a:xfrm>
          <a:prstGeom prst="roundRect">
            <a:avLst>
              <a:gd name="adj" fmla="val 719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brand-can" descr="/tmp/tk/ppt/media/image-10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2695" y="1051560"/>
            <a:ext cx="2651760" cy="4714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7375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TAKAA?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10735" y="45720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10735" y="4572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brand by Mohamed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7375" y="105156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mood doesn't need a reset.</a:t>
            </a:r>
            <a:endParaRPr lang="en-US" sz="3000" dirty="0"/>
          </a:p>
          <a:p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tweak.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87375" y="2926080"/>
            <a:ext cx="69494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8815" y="3090672"/>
            <a:ext cx="91440" cy="768096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3135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3135" y="34564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 Egyptian energy-drink brand built on one idea: small tweaks, big mood shifts.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7375" y="4160520"/>
            <a:ext cx="69494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8815" y="4325112"/>
            <a:ext cx="91440" cy="768096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3135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VIBE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3135" y="46908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Pyramids, felucca boats and the Cairo skyline at golden hour. Ice and condensation for a cold-refresh feel.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7375" y="5394960"/>
            <a:ext cx="69494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8815" y="5559552"/>
            <a:ext cx="91440" cy="768096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3135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3135" y="59253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 + warm orange. A hand-drawn logotype that sounds like the brand: young, loud, fast.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PLAN: SOSTAC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 from </a:t>
            </a:r>
            <a:pPr algn="l" indent="0" marL="0">
              <a:buNone/>
            </a:pPr>
            <a:r>
              <a:rPr lang="en-US" altLang="en-US" sz="38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results.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480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we now?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69748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29260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800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want to be?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37744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6060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4480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get there?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69748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260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800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of the strategy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26060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7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480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to execute 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21240" y="2697480"/>
            <a:ext cx="1737360" cy="3200400"/>
          </a:xfrm>
          <a:prstGeom prst="roundRect">
            <a:avLst>
              <a:gd name="adj" fmla="val 8421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1240" y="29260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7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72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4800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and adjust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SOSTAC® is a planning framework by PR Smith. Market data checked October 2026.</a:t>
            </a:r>
            <a:endParaRPr lang="en-US" sz="1100" dirty="0"/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Egypt's energy-drink shelf is crowded,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price-sensitive and shifting.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06040" cy="2377440"/>
          </a:xfrm>
          <a:prstGeom prst="roundRect">
            <a:avLst>
              <a:gd name="adj" fmla="val 6154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~4.9×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Bull vs Sting shelf price per 250 ml can: EGP 55.99 vs EGP 11.50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2377440"/>
          </a:xfrm>
          <a:prstGeom prst="roundRect">
            <a:avLst>
              <a:gd name="adj" fmla="val 6154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14.5%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urban inflation in Egypt, August 2026. Shoppers watch every pound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606040" cy="2377440"/>
          </a:xfrm>
          <a:prstGeom prst="roundRect">
            <a:avLst>
              <a:gd name="adj" fmla="val 6154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23.9M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users in Egypt, June 2026. The biggest group is aged 18–24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15400" y="2468880"/>
            <a:ext cx="2606040" cy="2377440"/>
          </a:xfrm>
          <a:prstGeom prst="roundRect">
            <a:avLst>
              <a:gd name="adj" fmla="val 6154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$2.61B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 energy-drink market in 2026, growing about 5% a year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5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what?  </a:t>
            </a:r>
            <a:pPr algn="l" indent="0" marL="0">
              <a:buNone/>
            </a:pPr>
            <a:r>
              <a:rPr lang="en-US" altLang="en-US" sz="15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price-squeezed market and a young, Instagram-first audience: a new brand wins on story and identity, not on price or scale.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Carrefour Egypt online prices (Oct 2026); CAPMAS via Trading Economics (Aug 2026); NapoleonCat (Jun 2026); Mordor Intelligence (2026).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brands, but none owns an Egyptian mood.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STANDS IN EGYPT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TAKAA'S OPENING (OUR READ)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C2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Bull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Bull GmbH, Austria. Distributed in Egypt by Mansour Group since 2008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leader on most brand KPIs (Sagaci). EGP 55.99 for a 250 ml can online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global, sports-led voice, not an everyday Egyptian 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C2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PepsiCo. Launched in Egypt in 2014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EGP 11.50 for 250 ml. Preference rose from 22% to 57% between early 2022 and Sept 2023 (Sagaci)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Wins on price, says little about identity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C2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Monster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Monster Beverage Corporation, USA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of the global giants active across the region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Action-sports energy, not daily-life mood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C2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Horse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Horse Energy Drinks, Austria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Priced above Sting, in the premium tier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Imported feel, little local storytelling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C2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 Energy Drinks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Priced above Sting, in the premium tier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1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Egyptian cultural link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16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Carrefour Egypt online prices (Oct 2026); Sagaci Research (latest public brand-tracker data, Sept 2023); Kenresearch. "Opening" column is our read.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sharp identity, a small start.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82296" cy="14630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distinct Egyptian look: navy, orange, Cairo landmarks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clear line: "Take the Tweak."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already built: carousel, AI film, CapCut edit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468880"/>
            <a:ext cx="82296" cy="1463040"/>
          </a:xfrm>
          <a:prstGeom prst="rect">
            <a:avLst/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468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0779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concept brand: no awareness or distribution yet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match Sting on price or Red Bull on scale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Starting audience is small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480560"/>
            <a:ext cx="82296" cy="1463040"/>
          </a:xfrm>
          <a:prstGeom prst="rect">
            <a:avLst/>
          </a:prstGeom>
          <a:solidFill>
            <a:srgbClr val="FFC25A"/>
          </a:solidFill>
          <a:ln w="12700">
            <a:solidFill>
              <a:srgbClr val="FFC2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80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B2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1947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Price-sensitive shoppers open to new options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Retail shelves reshuffled after the 2024 boycotts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Short-form video is cheap to produce and test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2976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480560"/>
            <a:ext cx="82296" cy="1463040"/>
          </a:xfrm>
          <a:prstGeom prst="rect">
            <a:avLst/>
          </a:prstGeom>
          <a:solidFill>
            <a:srgbClr val="B23A1B"/>
          </a:solidFill>
          <a:ln w="12700">
            <a:solidFill>
              <a:srgbClr val="B23A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480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B23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91947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Sting's price pressure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 Bull's brand strength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Inflation at 14.5% (Aug 2026) squeezes spending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goals for the first 90 days.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103120" cy="2926080"/>
          </a:xfrm>
          <a:prstGeom prst="roundRect">
            <a:avLst>
              <a:gd name="adj" fmla="val 695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trials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2468880"/>
            <a:ext cx="2103120" cy="2926080"/>
          </a:xfrm>
          <a:prstGeom prst="roundRect">
            <a:avLst>
              <a:gd name="adj" fmla="val 695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 hr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reply time on DMs and comments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2103120" cy="2926080"/>
          </a:xfrm>
          <a:prstGeom prst="roundRect">
            <a:avLst>
              <a:gd name="adj" fmla="val 695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views and 5,000 followers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69480" y="2468880"/>
            <a:ext cx="2103120" cy="2926080"/>
          </a:xfrm>
          <a:prstGeom prst="roundRect">
            <a:avLst>
              <a:gd name="adj" fmla="val 695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Capped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trial, set before launch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09760" y="2468880"/>
            <a:ext cx="2103120" cy="2926080"/>
          </a:xfrm>
          <a:prstGeom prst="roundRect">
            <a:avLst>
              <a:gd name="adj" fmla="val 695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SIZZLE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4297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of user-made content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targets. They are set against a zero-follower start and get validated once real baseline data comes in.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the 5 Ss (Sell, Serve, Speak, Save, Sizzle).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lift for everyday Egyptian moods.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577840"/>
            <a:ext cx="5120640" cy="27432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14600"/>
            <a:ext cx="27432" cy="3108960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5669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 →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EVERYDAY MOOD 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4663440"/>
            <a:ext cx="256032" cy="256032"/>
          </a:xfrm>
          <a:prstGeom prst="ellipse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937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4663440"/>
            <a:ext cx="256032" cy="256032"/>
          </a:xfrm>
          <a:prstGeom prst="ellipse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4937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Bull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840480"/>
            <a:ext cx="256032" cy="256032"/>
          </a:xfrm>
          <a:prstGeom prst="ellipse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5074920"/>
            <a:ext cx="256032" cy="256032"/>
          </a:xfrm>
          <a:prstGeom prst="ellipse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5349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Horse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4343400"/>
            <a:ext cx="256032" cy="256032"/>
          </a:xfrm>
          <a:prstGeom prst="ellipse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0" y="4617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788920"/>
            <a:ext cx="822960" cy="8229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map, our read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468880"/>
            <a:ext cx="82296" cy="7772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9077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Egyptians 18–34: students, office workers and commuters. 18–24 is the biggest Instagram age group in Egypt (8.7M users, Jun 2026).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61188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794760"/>
            <a:ext cx="82296" cy="7772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25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mood-tweak drink. A small lift with Egyptian soul, priced between value and premium.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92240" y="493776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5120640"/>
            <a:ext cx="82296" cy="7772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5559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"Refresh the mood, not the whole day."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under every post.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82296" cy="12344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Egyptians 18–34 with daily mood dips: tired mornings, traffic, deadlines.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468880"/>
            <a:ext cx="82296" cy="12344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077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mood-tweak drink: a small lift, Egyptian soul, mid-priced.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468880"/>
            <a:ext cx="82296" cy="12344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077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day. New mood. A relatable dip, then one switch.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7223760" cy="1828800"/>
          </a:xfrm>
          <a:prstGeom prst="roundRect">
            <a:avLst>
              <a:gd name="adj" fmla="val 7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51960"/>
            <a:ext cx="82296" cy="14630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9087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8006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Moments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48006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Cairo Golden Hour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48006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48006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9788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Tweak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406908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4251960"/>
            <a:ext cx="82296" cy="14630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6908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reset your day. We tweak your mood."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adapted from the Content Marketing series by @learnwithmazen1.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plan: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what, where and when.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517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first, then first-time trials (slide 7).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2286000"/>
            <a:ext cx="26517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246888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9077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first (23.9M users in Egypt), plus TikTok and Pinterest.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63056" y="2286000"/>
            <a:ext cx="26517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246888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9077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8-slide carousels, a 50-sec AI film, 17-sec CapCut Reels, stories.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70264" y="2286000"/>
            <a:ext cx="26517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70264" y="246888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458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29077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organic posts a week, plus paid boosts on the best 3-second holds.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43484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87375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film becomes three 15-sec cuts, stills for carousels and Pinterest pins.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425196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443484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7375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split on slide 16.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46720" y="425196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4434840"/>
            <a:ext cx="82296" cy="14173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7375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altLang="en-US" sz="13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weeks: foundation, launch, scale (slide 15).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adapted from the Content Marketing series by @learnwithmazen1.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steps, already tested on TAKAA.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0332720" cy="457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743200"/>
            <a:ext cx="731520" cy="731520"/>
          </a:xfrm>
          <a:prstGeom prst="ellipse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Pinterest, Reels and TikTok trend scan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731520" cy="731520"/>
          </a:xfrm>
          <a:prstGeom prst="ellipse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"5 Signs Your Mood Needs a Tweak"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731520" cy="731520"/>
          </a:xfrm>
          <a:prstGeom prst="ellipse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"Take the Tweak." and one clear CTA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74320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video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Carousel, AI film and CapCut edit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49640" y="2743200"/>
            <a:ext cx="731520" cy="731520"/>
          </a:xfrm>
          <a:prstGeom prst="ellipse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496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one hook at a time, keep the 3-sec winners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24160" y="2743200"/>
            <a:ext cx="731520" cy="731520"/>
          </a:xfrm>
          <a:prstGeom prst="ellipse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review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4297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and DMs shape the next batch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adapted from the Content Marketing series by @learnwithmazen1.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3474720"/>
            <a:ext cx="4572000" cy="4572000"/>
          </a:xfrm>
          <a:prstGeom prst="ellipse">
            <a:avLst/>
          </a:prstGeom>
          <a:ln w="25400">
            <a:solidFill>
              <a:srgbClr val="1F3B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8815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SIGNS </a:t>
            </a:r>
            <a:pPr algn="l" indent="0" marL="0">
              <a:buNone/>
            </a:pPr>
            <a:r>
              <a:rPr lang="en-US" altLang="en-US" sz="38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MOOD NEEDS A TWEAK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78815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8-slide carousel  ·  live on Instagram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7103" y="1920240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6" name="carousel-1" descr="/tmp/tk/ppt/media/image-8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" y="1965960"/>
            <a:ext cx="1280160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68703" y="2176272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8" name="carousel-2" descr="/tmp/tk/ppt/media/image-8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23" y="2221992"/>
            <a:ext cx="1280160" cy="1600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40303" y="1920240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carousel-3" descr="/tmp/tk/ppt/media/image-8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023" y="1965960"/>
            <a:ext cx="1280160" cy="1600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711903" y="2176272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2" name="carousel-4" descr="/tmp/tk/ppt/media/image-8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623" y="2221992"/>
            <a:ext cx="1280160" cy="1600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83503" y="1920240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4" name="carousel-5" descr="/tmp/tk/ppt/media/image-8-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223" y="1965960"/>
            <a:ext cx="1280160" cy="16002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455103" y="2176272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6" name="carousel-6" descr="/tmp/tk/ppt/media/image-8-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823" y="2221992"/>
            <a:ext cx="1280160" cy="16002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826703" y="1920240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carousel-7" descr="/tmp/tk/ppt/media/image-8-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2423" y="1965960"/>
            <a:ext cx="1280160" cy="16002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10198303" y="2176272"/>
            <a:ext cx="1371600" cy="1691640"/>
          </a:xfrm>
          <a:prstGeom prst="roundRect">
            <a:avLst>
              <a:gd name="adj" fmla="val 666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0" name="carousel-8" descr="/tmp/tk/ppt/media/image-8-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4023" y="2221992"/>
            <a:ext cx="1280160" cy="160020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688543" y="406908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688543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woke up tired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2883103" y="406908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2883103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annoying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5077663" y="406908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5077663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Here, but not really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7272223" y="406908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7272223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little switch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9466783" y="4069080"/>
            <a:ext cx="2057400" cy="420624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9466783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move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578815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SWITCH: </a:t>
            </a:r>
            <a:pPr algn="l" indent="0" marL="0">
              <a:buNone/>
            </a:pPr>
            <a:r>
              <a:rPr lang="en-US" altLang="en-US" sz="28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day. new mood.</a:t>
            </a:r>
            <a:endParaRPr lang="en-US" sz="2800" dirty="0"/>
          </a:p>
        </p:txBody>
      </p:sp>
      <p:sp>
        <p:nvSpPr>
          <p:cNvPr id="32" name="Shape 22"/>
          <p:cNvSpPr/>
          <p:nvPr/>
        </p:nvSpPr>
        <p:spPr>
          <a:xfrm>
            <a:off x="551383" y="5669280"/>
            <a:ext cx="4325112" cy="64008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3" name="Text 23">
            <a:hlinkClick r:id="rId9" tooltip=""/>
          </p:cNvPr>
          <p:cNvSpPr txBox="1"/>
          <p:nvPr/>
        </p:nvSpPr>
        <p:spPr>
          <a:xfrm>
            <a:off x="551383" y="566928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b="1" u="sng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live post  →</a:t>
            </a:r>
            <a:endParaRPr lang="en-US" sz="1700" dirty="0"/>
          </a:p>
        </p:txBody>
      </p:sp>
      <p:sp>
        <p:nvSpPr>
          <p:cNvPr id="34" name="Text 24"/>
          <p:cNvSpPr txBox="1"/>
          <p:nvPr/>
        </p:nvSpPr>
        <p:spPr>
          <a:xfrm>
            <a:off x="5059375" y="5852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1080×1350  ·  Canva + AI visuals  ·  one navy/orange grade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8335" y="2926080"/>
            <a:ext cx="5486400" cy="54864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21063" y="795528"/>
            <a:ext cx="2295144" cy="3966464"/>
          </a:xfrm>
          <a:prstGeom prst="roundRect">
            <a:avLst>
              <a:gd name="adj" fmla="val 8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" name="film-1" descr="/tmp/tk/ppt/media/image-7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4215" y="868680"/>
            <a:ext cx="2148840" cy="382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60743" y="1069848"/>
            <a:ext cx="2295144" cy="3966464"/>
          </a:xfrm>
          <a:prstGeom prst="roundRect">
            <a:avLst>
              <a:gd name="adj" fmla="val 8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film-2" descr="/tmp/tk/ppt/media/image-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895" y="1143000"/>
            <a:ext cx="2148840" cy="3820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00423" y="795528"/>
            <a:ext cx="2295144" cy="3966464"/>
          </a:xfrm>
          <a:prstGeom prst="roundRect">
            <a:avLst>
              <a:gd name="adj" fmla="val 8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film-3" descr="/tmp/tk/ppt/media/image-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575" y="868680"/>
            <a:ext cx="2148840" cy="38201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7375" y="640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COMMERCIAL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487375" y="10515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can.</a:t>
            </a:r>
            <a:endParaRPr lang="en-US" sz="3400" dirty="0"/>
          </a:p>
          <a:p>
            <a:pPr algn="l" indent="0" marL="0">
              <a:buNone/>
            </a:pPr>
            <a:r>
              <a:rPr lang="en-US" altLang="en-US" sz="3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Cairo.</a:t>
            </a:r>
            <a:endParaRPr lang="en-US" sz="3400" dirty="0"/>
          </a:p>
        </p:txBody>
      </p:sp>
      <p:sp>
        <p:nvSpPr>
          <p:cNvPr id="11" name="Text 6"/>
          <p:cNvSpPr txBox="1"/>
          <p:nvPr/>
        </p:nvSpPr>
        <p:spPr>
          <a:xfrm>
            <a:off x="487375" y="2468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 floats past the skyline, the pyramids and the Nile, then lands in a golden-hour splash. It closes on the logo card and tagline.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87375" y="3886200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78815" y="38862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493215" y="3886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floats through scenery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7375" y="4453128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78815" y="4453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493215" y="44531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rooftop reveals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7375" y="5020056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78815" y="50200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493215" y="5020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Whoosh cuts: landmark to product</a:t>
            </a:r>
            <a:endParaRPr lang="en-US" sz="1100" dirty="0"/>
          </a:p>
        </p:txBody>
      </p:sp>
      <p:sp>
        <p:nvSpPr>
          <p:cNvPr id="21" name="film-link-button"/>
          <p:cNvSpPr/>
          <p:nvPr/>
        </p:nvSpPr>
        <p:spPr>
          <a:xfrm>
            <a:off x="487375" y="566928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87375" y="5669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WATCH THE FILM · 9:16 · 50 SEC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0"/>
            <a:ext cx="5120640" cy="6858000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6783" y="749808"/>
            <a:ext cx="2157984" cy="3722624"/>
          </a:xfrm>
          <a:prstGeom prst="roundRect">
            <a:avLst>
              <a:gd name="adj" fmla="val 93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" name="capcut-1" descr="/tmp/tk/ppt/media/image-10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822960"/>
            <a:ext cx="2011680" cy="357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3663" y="1207008"/>
            <a:ext cx="2157984" cy="3722624"/>
          </a:xfrm>
          <a:prstGeom prst="roundRect">
            <a:avLst>
              <a:gd name="adj" fmla="val 93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capcut-2" descr="/tmp/tk/ppt/media/image-1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280160"/>
            <a:ext cx="2011680" cy="357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7375" y="548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TEMPLATE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87375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trending template.</a:t>
            </a:r>
            <a:endParaRPr lang="en-US" sz="3600" dirty="0"/>
          </a:p>
          <a:p>
            <a:pPr algn="l" indent="0" marL="0">
              <a:buNone/>
            </a:pPr>
            <a:r>
              <a:rPr lang="en-US" altLang="en-US" sz="3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TAKAA edit.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487375" y="2560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picked a viral product pop-reveal template and kept its rhythm: snap zooms and the can-opening beat.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87375" y="361188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7375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218895" y="3611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 the stock product for the real TAKAA can and label.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87375" y="4361688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7375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218895" y="43616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Cairo rooftop at sunset replaces the generic backdrop.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87375" y="5111496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7375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1218895" y="51114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ice and condensation for the cold-refresh look.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87375" y="589788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7375" y="5897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Tweak.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12-week roadmap.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319272" y="2148840"/>
            <a:ext cx="2025396" cy="347472"/>
          </a:xfrm>
          <a:prstGeom prst="roundRect">
            <a:avLst>
              <a:gd name="adj" fmla="val 21053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14884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9532" y="2148840"/>
            <a:ext cx="3412236" cy="347472"/>
          </a:xfrm>
          <a:prstGeom prst="roundRect">
            <a:avLst>
              <a:gd name="adj" fmla="val 2105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2100" y="2148840"/>
            <a:ext cx="3467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6632" y="2148840"/>
            <a:ext cx="2718816" cy="347472"/>
          </a:xfrm>
          <a:prstGeom prst="roundRect">
            <a:avLst>
              <a:gd name="adj" fmla="val 21053"/>
            </a:avLst>
          </a:prstGeom>
          <a:solidFill>
            <a:srgbClr val="B27500"/>
          </a:solidFill>
          <a:ln w="12700">
            <a:solidFill>
              <a:srgbClr val="B275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39200" y="2148840"/>
            <a:ext cx="277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526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8526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868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7868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7210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7210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552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6552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5894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5894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4578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4578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3920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3920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3262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3262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2604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2604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19460" y="2578608"/>
            <a:ext cx="69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919460" y="2880360"/>
            <a:ext cx="9144" cy="3108960"/>
          </a:xfrm>
          <a:prstGeom prst="rect">
            <a:avLst/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page, identity, content bank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19272" y="3017520"/>
            <a:ext cx="2025396" cy="320040"/>
          </a:xfrm>
          <a:prstGeom prst="roundRect">
            <a:avLst>
              <a:gd name="adj" fmla="val 28571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19272" y="3520440"/>
            <a:ext cx="4105656" cy="320040"/>
          </a:xfrm>
          <a:prstGeom prst="roundRect">
            <a:avLst>
              <a:gd name="adj" fmla="val 28571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launch: 4 posts a week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9532" y="4023360"/>
            <a:ext cx="6185916" cy="320040"/>
          </a:xfrm>
          <a:prstGeom prst="roundRect">
            <a:avLst>
              <a:gd name="adj" fmla="val 28571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480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boosts on top performers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92952" y="4526280"/>
            <a:ext cx="5492496" cy="320040"/>
          </a:xfrm>
          <a:prstGeom prst="roundRect">
            <a:avLst>
              <a:gd name="adj" fmla="val 28571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4983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and UGC seeding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79792" y="5029200"/>
            <a:ext cx="4105656" cy="320040"/>
          </a:xfrm>
          <a:prstGeom prst="roundRect">
            <a:avLst>
              <a:gd name="adj" fmla="val 28571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5486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scale winners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560052" y="5532120"/>
            <a:ext cx="2025396" cy="320040"/>
          </a:xfrm>
          <a:prstGeom prst="roundRect">
            <a:avLst>
              <a:gd name="adj" fmla="val 28571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101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goes.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9456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828800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0" y="2395728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social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6151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on the best organic posts, plus retargeting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0" y="3145536"/>
            <a:ext cx="274320" cy="274320"/>
          </a:xfrm>
          <a:prstGeom prst="ellipse">
            <a:avLst/>
          </a:prstGeom>
          <a:solidFill>
            <a:srgbClr val="FFC25A"/>
          </a:solidFill>
          <a:ln w="12700">
            <a:solidFill>
              <a:srgbClr val="FFC2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035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film, carousels and CapCut edits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0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486400" y="3895344"/>
            <a:ext cx="274320" cy="274320"/>
          </a:xfrm>
          <a:prstGeom prst="ellipse">
            <a:avLst/>
          </a:prstGeom>
          <a:solidFill>
            <a:srgbClr val="3E63B5"/>
          </a:solidFill>
          <a:ln w="12700">
            <a:solidFill>
              <a:srgbClr val="3E63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3785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&amp; UGC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Seeding with micro-creators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0" y="37856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5486400" y="4645152"/>
            <a:ext cx="274320" cy="274320"/>
          </a:xfrm>
          <a:prstGeom prst="ellipse">
            <a:avLst/>
          </a:prstGeom>
          <a:solidFill>
            <a:srgbClr val="19B5B0"/>
          </a:solidFill>
          <a:ln w="12700">
            <a:solidFill>
              <a:srgbClr val="19B5B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45354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&amp; events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packs at campuses and offices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0" y="45354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5486400" y="5394960"/>
            <a:ext cx="274320" cy="274320"/>
          </a:xfrm>
          <a:prstGeom prst="ellipse">
            <a:avLst/>
          </a:prstGeom>
          <a:solidFill>
            <a:srgbClr val="9FB0D8"/>
          </a:solidFill>
          <a:ln w="12700">
            <a:solidFill>
              <a:srgbClr val="9FB0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5285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5614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to react to what the data says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0" y="5285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FC2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split. Amounts are set once the real budget is confirmed.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274320"/>
            <a:ext cx="3840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32000" b="1" dirty="0">
                <a:solidFill>
                  <a:srgbClr val="F3E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</a:t>
            </a:r>
            <a:pPr algn="l" indent="0" marL="0">
              <a:buNone/>
            </a:pPr>
            <a:r>
              <a:rPr lang="en-US" altLang="en-US" sz="30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track, and what we do about it.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3-SEC HOLD RATE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35%+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A4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people stop scrolling?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4%+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comments, saves, shares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A4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50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built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8862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0" y="4050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TRIAL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0A16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Capped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A4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of paid spend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38862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21040" y="4050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TRIALS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5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sales signal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75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week:  </a:t>
            </a:r>
            <a:pPr algn="l" indent="0" marL="0">
              <a:buNone/>
            </a:pPr>
            <a:r>
              <a:rPr lang="en-US" altLang="en-US" sz="1500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one variable, scale the winners, pause the losers, brief the next batch.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09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7A6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targets are proposed and get validated against real baseline data. Sources: Instagram Insights, TikTok Analytics.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4128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4128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70464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7046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899648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89964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28832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2288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558016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D3B3"/>
          </a:solidFill>
          <a:ln w="12700">
            <a:solidFill>
              <a:srgbClr val="E6D3B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55801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887200" y="6355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8872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81505" y="-1828800"/>
            <a:ext cx="6400800" cy="6400800"/>
          </a:xfrm>
          <a:prstGeom prst="ellipse">
            <a:avLst/>
          </a:prstGeom>
          <a:ln w="25400">
            <a:solidFill>
              <a:srgbClr val="1F3B73"/>
            </a:solidFill>
            <a:prstDash val="solid"/>
          </a:ln>
        </p:spPr>
      </p:sp>
      <p:pic>
        <p:nvPicPr>
          <p:cNvPr id="3" name="closing-photo" descr="/tmp/tk/ppt/media/image-8-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594360"/>
            <a:ext cx="448056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670487" y="822960"/>
            <a:ext cx="109728" cy="51206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7375" y="7315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800" b="1" dirty="0">
                <a:solidFill>
                  <a:srgbClr val="FFF1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THE</a:t>
            </a:r>
            <a:endParaRPr lang="en-US" sz="5800" dirty="0"/>
          </a:p>
          <a:p>
            <a:pPr algn="l" indent="0" marL="0">
              <a:buNone/>
            </a:pPr>
            <a:r>
              <a:rPr lang="en-US" altLang="en-US" sz="58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TWEAK.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487375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C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Mostafa Taher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87375" y="3749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Marketing  ·  Digital Marketing × AI Creativity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7375" y="4434840"/>
            <a:ext cx="6035040" cy="640080"/>
          </a:xfrm>
          <a:prstGeom prst="roundRect">
            <a:avLst>
              <a:gd name="adj" fmla="val 17143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8815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500" dirty="0"/>
          </a:p>
        </p:txBody>
      </p:sp>
      <p:sp>
        <p:nvSpPr>
          <p:cNvPr id="10" name="Text 7">
            <a:hlinkClick r:id="rId2" tooltip=""/>
          </p:cNvPr>
          <p:cNvSpPr txBox="1"/>
          <p:nvPr/>
        </p:nvSpPr>
        <p:spPr>
          <a:xfrm>
            <a:off x="2041855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u="sng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instagram.com/mohamedostafa5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7375" y="5212080"/>
            <a:ext cx="6035040" cy="640080"/>
          </a:xfrm>
          <a:prstGeom prst="roundRect">
            <a:avLst>
              <a:gd name="adj" fmla="val 17143"/>
            </a:avLst>
          </a:prstGeom>
          <a:solidFill>
            <a:srgbClr val="16264D"/>
          </a:solidFill>
          <a:ln w="12700">
            <a:solidFill>
              <a:srgbClr val="1626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8815" y="5212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500" dirty="0"/>
          </a:p>
        </p:txBody>
      </p:sp>
      <p:sp>
        <p:nvSpPr>
          <p:cNvPr id="13" name="Text 10">
            <a:hlinkClick r:id="rId3" tooltip=""/>
          </p:cNvPr>
          <p:cNvSpPr txBox="1"/>
          <p:nvPr/>
        </p:nvSpPr>
        <p:spPr>
          <a:xfrm>
            <a:off x="2041855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u="sng" dirty="0">
                <a:solidFill>
                  <a:srgbClr val="FFF1D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instagram.com/p/DdHJzz-jGrm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" y="6355080"/>
            <a:ext cx="11643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A1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TWEAK  •  TAKE THE TWEAK  •  TAKE THE TWEAK  •  TAKE THE TWEAK  •  TAKE THE TWEAK  •  TAKE THE TWEAK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TAKAA — Take the Tweak</dc:title>
  <dc:subject>PptxGenJS Presentation</dc:subject>
  <dc:creator>Mohamed Mostafa Taher</dc:creator>
  <cp:lastModifiedBy>Mohamed Mostafa Taher</cp:lastModifiedBy>
  <cp:revision>1</cp:revision>
  <dcterms:created xsi:type="dcterms:W3CDTF">2026-10-11T11:48:27Z</dcterms:created>
  <dcterms:modified xsi:type="dcterms:W3CDTF">2026-10-11T11:48:27Z</dcterms:modified>
</cp:coreProperties>
</file>