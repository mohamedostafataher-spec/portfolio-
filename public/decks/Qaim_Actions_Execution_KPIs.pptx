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1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Engagement Rate %</c:v>
                </c:pt>
              </c:strCache>
            </c:strRef>
          </c:tx>
          <c:spPr>
            <a:solidFill>
              <a:srgbClr val="800020"/>
            </a:solidFill>
            <a:ln w="38100" cap="flat">
              <a:solidFill>
                <a:srgbClr val="800020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11111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7"/>
            <c:spPr>
              <a:solidFill>
                <a:srgbClr val="800020"/>
              </a:solidFill>
              <a:ln w="9525" cap="flat">
                <a:solidFill>
                  <a:srgbClr val="800020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W1</c:v>
                  </c:pt>
                  <c:pt idx="1">
                    <c:v>W2</c:v>
                  </c:pt>
                  <c:pt idx="2">
                    <c:v>W3</c:v>
                  </c:pt>
                  <c:pt idx="3">
                    <c:v>W4</c:v>
                  </c:pt>
                  <c:pt idx="4">
                    <c:v>W5</c:v>
                  </c:pt>
                  <c:pt idx="5">
                    <c:v>W6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3.1</c:v>
                </c:pt>
                <c:pt idx="1">
                  <c:v>3.4</c:v>
                </c:pt>
                <c:pt idx="2">
                  <c:v>3.9</c:v>
                </c:pt>
                <c:pt idx="3">
                  <c:v>4.1</c:v>
                </c:pt>
                <c:pt idx="4">
                  <c:v>4.5</c:v>
                </c:pt>
                <c:pt idx="5">
                  <c:v>4.8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11111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33333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33333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7F7F7"/>
        </a:solidFill>
        <a:ln>
          <a:noFill/>
        </a:ln>
        <a:effectLst/>
      </c:spPr>
    </c:plotArea>
    <c:plotVisOnly val="1"/>
    <c:dispBlanksAs val="span"/>
  </c:chart>
  <c:spPr>
    <a:solidFill>
      <a:srgbClr val="F7F7F7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image" Target="../media/image-9-3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1.xml"/><Relationship Id="rId1" Type="http://schemas.openxmlformats.org/officeDocument/2006/relationships/image" Target="../media/image-11-1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e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jpe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jpe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jpe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707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800020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194560" y="4206240"/>
            <a:ext cx="5120640" cy="5120640"/>
          </a:xfrm>
          <a:prstGeom prst="ellipse">
            <a:avLst/>
          </a:prstGeom>
          <a:solidFill>
            <a:srgbClr val="B8860B">
              <a:alpha val="2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95528" y="658368"/>
            <a:ext cx="621792" cy="621792"/>
          </a:xfrm>
          <a:prstGeom prst="ellipse">
            <a:avLst/>
          </a:prstGeom>
          <a:solidFill>
            <a:srgbClr val="D4AF37"/>
          </a:solidFill>
          <a:ln/>
        </p:spPr>
      </p:sp>
      <p:pic>
        <p:nvPicPr>
          <p:cNvPr id="5" name="Image 0" descr="/home/claude/work/qaim_logo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685800"/>
            <a:ext cx="566928" cy="566928"/>
          </a:xfrm>
          <a:prstGeom prst="ellipse">
            <a:avLst/>
          </a:prstGeom>
        </p:spPr>
      </p:pic>
      <p:sp>
        <p:nvSpPr>
          <p:cNvPr id="6" name="Text 3"/>
          <p:cNvSpPr/>
          <p:nvPr/>
        </p:nvSpPr>
        <p:spPr>
          <a:xfrm>
            <a:off x="1508760" y="804672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ASSIGNMENT 10  ·  QAIM / قِيَمٌ  ·  EGYPTIAN MEN'S FASHION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795528" y="196596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CFCFC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SOSTAC Model Application</a:t>
            </a:r>
            <a:endParaRPr lang="en-US" sz="3600" dirty="0"/>
          </a:p>
        </p:txBody>
      </p:sp>
      <p:sp>
        <p:nvSpPr>
          <p:cNvPr id="8" name="Text 5"/>
          <p:cNvSpPr/>
          <p:nvPr/>
        </p:nvSpPr>
        <p:spPr>
          <a:xfrm>
            <a:off x="795528" y="256032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Actions &amp; Control “KPIs”</a:t>
            </a:r>
            <a:endParaRPr lang="en-US" sz="4400" dirty="0"/>
          </a:p>
        </p:txBody>
      </p:sp>
      <p:sp>
        <p:nvSpPr>
          <p:cNvPr id="9" name="Shape 6"/>
          <p:cNvSpPr/>
          <p:nvPr/>
        </p:nvSpPr>
        <p:spPr>
          <a:xfrm>
            <a:off x="822960" y="3520440"/>
            <a:ext cx="2377440" cy="0"/>
          </a:xfrm>
          <a:prstGeom prst="line">
            <a:avLst/>
          </a:prstGeom>
          <a:noFill/>
          <a:ln w="19050">
            <a:solidFill>
              <a:srgbClr val="D4AF37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22960" y="370332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by: </a:t>
            </a:r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Mohamed Mostafa Taher   |   ID: 21172333
</a:t>
            </a:r>
            <a:pPr indent="0" marL="0">
              <a:lnSpc>
                <a:spcPct val="130000"/>
              </a:lnSpc>
              <a:buNone/>
            </a:pPr>
            <a:r>
              <a:rPr lang="en-US" sz="1500" i="1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Qaim – Egyptian Men's Fashion E-commerce Platform  ·  qaim.shop  ·  facebook.com/Qaimbrand.AA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822960" y="4709160"/>
            <a:ext cx="10543032" cy="1600200"/>
          </a:xfrm>
          <a:prstGeom prst="roundRect">
            <a:avLst>
              <a:gd name="adj" fmla="val 4571"/>
            </a:avLst>
          </a:prstGeom>
          <a:solidFill>
            <a:srgbClr val="241018"/>
          </a:solidFill>
          <a:ln w="12700">
            <a:solidFill>
              <a:srgbClr val="3A142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097280" y="4846320"/>
            <a:ext cx="1005840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6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Task:  </a:t>
            </a:r>
            <a:pPr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CFC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Based on the objectives, strategy and tactics already set for Qaim, this deck defines the </a:t>
            </a:r>
            <a:pPr indent="0" marL="0">
              <a:lnSpc>
                <a:spcPct val="13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Actions</a:t>
            </a:r>
            <a:pPr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CFC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needed to execute the plan, and the </a:t>
            </a:r>
            <a:pPr indent="0" marL="0">
              <a:lnSpc>
                <a:spcPct val="13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system (KPIs)</a:t>
            </a:r>
            <a:pPr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CFC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used to track, review and optimize performance every week.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29768" y="320040"/>
            <a:ext cx="512064" cy="512064"/>
          </a:xfrm>
          <a:prstGeom prst="ellipse">
            <a:avLst/>
          </a:prstGeom>
          <a:solidFill>
            <a:srgbClr val="D4AF37"/>
          </a:solidFill>
          <a:ln/>
        </p:spPr>
      </p:sp>
      <p:pic>
        <p:nvPicPr>
          <p:cNvPr id="3" name="Image 0" descr="/home/claude/work/qaim_logo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47472"/>
            <a:ext cx="457200" cy="457200"/>
          </a:xfrm>
          <a:prstGeom prst="ellipse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97280" y="329184"/>
            <a:ext cx="8961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40" kern="0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 · SOSTAC SO FAR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097280" y="585216"/>
            <a:ext cx="101498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Strategy to Action &amp; Control</a:t>
            </a:r>
            <a:endParaRPr lang="en-US" sz="2300" dirty="0"/>
          </a:p>
        </p:txBody>
      </p:sp>
      <p:sp>
        <p:nvSpPr>
          <p:cNvPr id="6" name="Text 3"/>
          <p:cNvSpPr/>
          <p:nvPr/>
        </p:nvSpPr>
        <p:spPr>
          <a:xfrm>
            <a:off x="9966960" y="365760"/>
            <a:ext cx="17647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Assignment 10  |  ID 21172333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457200" y="1207008"/>
            <a:ext cx="11274552" cy="0"/>
          </a:xfrm>
          <a:prstGeom prst="line">
            <a:avLst/>
          </a:prstGeom>
          <a:noFill/>
          <a:ln w="12700">
            <a:solidFill>
              <a:srgbClr val="E4E0D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57200" y="1417320"/>
            <a:ext cx="11155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Actions and Control are how everything already built in Assignments 6–8 actually gets executed, measured and improved week after week.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457200" y="1920240"/>
            <a:ext cx="11274552" cy="786384"/>
          </a:xfrm>
          <a:prstGeom prst="roundRect">
            <a:avLst>
              <a:gd name="adj" fmla="val 10465"/>
            </a:avLst>
          </a:prstGeom>
          <a:solidFill>
            <a:srgbClr val="F7F7F7"/>
          </a:solidFill>
          <a:ln w="12700">
            <a:solidFill>
              <a:srgbClr val="E4E0DA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58368" y="2057400"/>
            <a:ext cx="512064" cy="512064"/>
          </a:xfrm>
          <a:prstGeom prst="ellipse">
            <a:avLst/>
          </a:prstGeom>
          <a:solidFill>
            <a:srgbClr val="111111"/>
          </a:solidFill>
          <a:ln/>
        </p:spPr>
      </p:sp>
      <p:pic>
        <p:nvPicPr>
          <p:cNvPr id="11" name="Image 1" descr="/home/claude/work/icon_targe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1505" y="2190537"/>
            <a:ext cx="245791" cy="245791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371600" y="1920240"/>
            <a:ext cx="219456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Objectives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3657600" y="1920240"/>
            <a:ext cx="786384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SMART goals — Engagement, Reach, Traffic, Orders</a:t>
            </a:r>
            <a:endParaRPr lang="en-US" sz="1500" dirty="0"/>
          </a:p>
        </p:txBody>
      </p:sp>
      <p:sp>
        <p:nvSpPr>
          <p:cNvPr id="14" name="Shape 10"/>
          <p:cNvSpPr/>
          <p:nvPr/>
        </p:nvSpPr>
        <p:spPr>
          <a:xfrm>
            <a:off x="457200" y="2834640"/>
            <a:ext cx="11274552" cy="786384"/>
          </a:xfrm>
          <a:prstGeom prst="roundRect">
            <a:avLst>
              <a:gd name="adj" fmla="val 10465"/>
            </a:avLst>
          </a:prstGeom>
          <a:solidFill>
            <a:srgbClr val="F7F7F7"/>
          </a:solidFill>
          <a:ln w="12700">
            <a:solidFill>
              <a:srgbClr val="E4E0DA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658368" y="2971800"/>
            <a:ext cx="512064" cy="512064"/>
          </a:xfrm>
          <a:prstGeom prst="ellipse">
            <a:avLst/>
          </a:prstGeom>
          <a:solidFill>
            <a:srgbClr val="111111"/>
          </a:solidFill>
          <a:ln/>
        </p:spPr>
      </p:sp>
      <p:pic>
        <p:nvPicPr>
          <p:cNvPr id="16" name="Image 2" descr="/home/claude/work/icon_compas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1505" y="3104937"/>
            <a:ext cx="245791" cy="245791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371600" y="2834640"/>
            <a:ext cx="219456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Strategy</a:t>
            </a:r>
            <a:endParaRPr lang="en-US" sz="1800" dirty="0"/>
          </a:p>
        </p:txBody>
      </p:sp>
      <p:sp>
        <p:nvSpPr>
          <p:cNvPr id="18" name="Text 13"/>
          <p:cNvSpPr/>
          <p:nvPr/>
        </p:nvSpPr>
        <p:spPr>
          <a:xfrm>
            <a:off x="3657600" y="2834640"/>
            <a:ext cx="786384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Educate → Style → Prove → Convert</a:t>
            </a:r>
            <a:endParaRPr lang="en-US" sz="1500" dirty="0"/>
          </a:p>
        </p:txBody>
      </p:sp>
      <p:sp>
        <p:nvSpPr>
          <p:cNvPr id="19" name="Shape 14"/>
          <p:cNvSpPr/>
          <p:nvPr/>
        </p:nvSpPr>
        <p:spPr>
          <a:xfrm>
            <a:off x="457200" y="3749040"/>
            <a:ext cx="11274552" cy="786384"/>
          </a:xfrm>
          <a:prstGeom prst="roundRect">
            <a:avLst>
              <a:gd name="adj" fmla="val 10465"/>
            </a:avLst>
          </a:prstGeom>
          <a:solidFill>
            <a:srgbClr val="F7F7F7"/>
          </a:solidFill>
          <a:ln w="12700">
            <a:solidFill>
              <a:srgbClr val="E4E0DA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658368" y="3886200"/>
            <a:ext cx="512064" cy="512064"/>
          </a:xfrm>
          <a:prstGeom prst="ellipse">
            <a:avLst/>
          </a:prstGeom>
          <a:solidFill>
            <a:srgbClr val="111111"/>
          </a:solidFill>
          <a:ln/>
        </p:spPr>
      </p:sp>
      <p:pic>
        <p:nvPicPr>
          <p:cNvPr id="21" name="Image 3" descr="/home/claude/work/icon_layer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1505" y="4019337"/>
            <a:ext cx="245791" cy="245791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371600" y="3749040"/>
            <a:ext cx="219456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Tactics</a:t>
            </a:r>
            <a:endParaRPr lang="en-US" sz="1800" dirty="0"/>
          </a:p>
        </p:txBody>
      </p:sp>
      <p:sp>
        <p:nvSpPr>
          <p:cNvPr id="23" name="Text 17"/>
          <p:cNvSpPr/>
          <p:nvPr/>
        </p:nvSpPr>
        <p:spPr>
          <a:xfrm>
            <a:off x="3657600" y="3749040"/>
            <a:ext cx="786384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weekly tactics + 2 AI Reels + 2 Carousels</a:t>
            </a:r>
            <a:endParaRPr lang="en-US" sz="1500" dirty="0"/>
          </a:p>
        </p:txBody>
      </p:sp>
      <p:sp>
        <p:nvSpPr>
          <p:cNvPr id="24" name="Shape 18"/>
          <p:cNvSpPr/>
          <p:nvPr/>
        </p:nvSpPr>
        <p:spPr>
          <a:xfrm>
            <a:off x="457200" y="4663440"/>
            <a:ext cx="11274552" cy="786384"/>
          </a:xfrm>
          <a:prstGeom prst="roundRect">
            <a:avLst>
              <a:gd name="adj" fmla="val 10465"/>
            </a:avLst>
          </a:prstGeom>
          <a:solidFill>
            <a:srgbClr val="800020"/>
          </a:solidFill>
          <a:ln w="12700">
            <a:solidFill>
              <a:srgbClr val="800020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658368" y="4800600"/>
            <a:ext cx="512064" cy="512064"/>
          </a:xfrm>
          <a:prstGeom prst="ellipse">
            <a:avLst/>
          </a:prstGeom>
          <a:solidFill>
            <a:srgbClr val="D4AF37"/>
          </a:solidFill>
          <a:ln/>
        </p:spPr>
      </p:sp>
      <p:pic>
        <p:nvPicPr>
          <p:cNvPr id="26" name="Image 4" descr="/home/claude/work/icon_gear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1505" y="4933737"/>
            <a:ext cx="245791" cy="245791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371600" y="4663440"/>
            <a:ext cx="219456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Actions</a:t>
            </a:r>
            <a:endParaRPr lang="en-US" sz="1800" dirty="0"/>
          </a:p>
        </p:txBody>
      </p:sp>
      <p:sp>
        <p:nvSpPr>
          <p:cNvPr id="28" name="Text 21"/>
          <p:cNvSpPr/>
          <p:nvPr/>
        </p:nvSpPr>
        <p:spPr>
          <a:xfrm>
            <a:off x="3657600" y="4663440"/>
            <a:ext cx="786384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F3E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does what, with what tools, and when</a:t>
            </a:r>
            <a:endParaRPr lang="en-US" sz="1500" dirty="0"/>
          </a:p>
        </p:txBody>
      </p:sp>
      <p:sp>
        <p:nvSpPr>
          <p:cNvPr id="29" name="Shape 22"/>
          <p:cNvSpPr/>
          <p:nvPr/>
        </p:nvSpPr>
        <p:spPr>
          <a:xfrm>
            <a:off x="457200" y="5577840"/>
            <a:ext cx="11274552" cy="786384"/>
          </a:xfrm>
          <a:prstGeom prst="roundRect">
            <a:avLst>
              <a:gd name="adj" fmla="val 10465"/>
            </a:avLst>
          </a:prstGeom>
          <a:solidFill>
            <a:srgbClr val="800020"/>
          </a:solidFill>
          <a:ln w="12700">
            <a:solidFill>
              <a:srgbClr val="800020"/>
            </a:solidFill>
            <a:prstDash val="solid"/>
          </a:ln>
        </p:spPr>
      </p:sp>
      <p:sp>
        <p:nvSpPr>
          <p:cNvPr id="30" name="Shape 23"/>
          <p:cNvSpPr/>
          <p:nvPr/>
        </p:nvSpPr>
        <p:spPr>
          <a:xfrm>
            <a:off x="658368" y="5715000"/>
            <a:ext cx="512064" cy="512064"/>
          </a:xfrm>
          <a:prstGeom prst="ellipse">
            <a:avLst/>
          </a:prstGeom>
          <a:solidFill>
            <a:srgbClr val="D4AF37"/>
          </a:solidFill>
          <a:ln/>
        </p:spPr>
      </p:sp>
      <p:pic>
        <p:nvPicPr>
          <p:cNvPr id="31" name="Image 5" descr="/home/claude/work/icon_gaug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1505" y="5848137"/>
            <a:ext cx="245791" cy="245791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1371600" y="5577840"/>
            <a:ext cx="219456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Control</a:t>
            </a:r>
            <a:endParaRPr lang="en-US" sz="1800" dirty="0"/>
          </a:p>
        </p:txBody>
      </p:sp>
      <p:sp>
        <p:nvSpPr>
          <p:cNvPr id="33" name="Text 25"/>
          <p:cNvSpPr/>
          <p:nvPr/>
        </p:nvSpPr>
        <p:spPr>
          <a:xfrm>
            <a:off x="3657600" y="5577840"/>
            <a:ext cx="786384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F3E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KPIs, weekly dashboard, decision rules</a:t>
            </a:r>
            <a:endParaRPr lang="en-US" sz="1500" dirty="0"/>
          </a:p>
        </p:txBody>
      </p:sp>
      <p:sp>
        <p:nvSpPr>
          <p:cNvPr id="34" name="Shape 26"/>
          <p:cNvSpPr/>
          <p:nvPr/>
        </p:nvSpPr>
        <p:spPr>
          <a:xfrm>
            <a:off x="457200" y="6537960"/>
            <a:ext cx="11274552" cy="868680"/>
          </a:xfrm>
          <a:prstGeom prst="roundRect">
            <a:avLst>
              <a:gd name="adj" fmla="val 8421"/>
            </a:avLst>
          </a:prstGeom>
          <a:solidFill>
            <a:srgbClr val="F7F7F7"/>
          </a:solidFill>
          <a:ln w="12700">
            <a:solidFill>
              <a:srgbClr val="E4E0D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35" name="Text 27"/>
          <p:cNvSpPr/>
          <p:nvPr/>
        </p:nvSpPr>
        <p:spPr>
          <a:xfrm>
            <a:off x="731520" y="6537960"/>
            <a:ext cx="10698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deck focuses on:  </a:t>
            </a:r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turning weekly tactics into assigned Actions, and tracking results through a live Control (KPI) system.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29768" y="320040"/>
            <a:ext cx="512064" cy="512064"/>
          </a:xfrm>
          <a:prstGeom prst="ellipse">
            <a:avLst/>
          </a:prstGeom>
          <a:solidFill>
            <a:srgbClr val="D4AF37"/>
          </a:solidFill>
          <a:ln/>
        </p:spPr>
      </p:sp>
      <p:pic>
        <p:nvPicPr>
          <p:cNvPr id="3" name="Image 0" descr="/home/claude/work/qaim_logo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47472"/>
            <a:ext cx="457200" cy="457200"/>
          </a:xfrm>
          <a:prstGeom prst="ellipse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97280" y="329184"/>
            <a:ext cx="8961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40" kern="0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ACTIONS · EXECUTION OWNERSHIP (1 OF 2)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097280" y="585216"/>
            <a:ext cx="101498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Action Plan — Who Does What, Every Week</a:t>
            </a:r>
            <a:endParaRPr lang="en-US" sz="2300" dirty="0"/>
          </a:p>
        </p:txBody>
      </p:sp>
      <p:sp>
        <p:nvSpPr>
          <p:cNvPr id="6" name="Text 3"/>
          <p:cNvSpPr/>
          <p:nvPr/>
        </p:nvSpPr>
        <p:spPr>
          <a:xfrm>
            <a:off x="9966960" y="365760"/>
            <a:ext cx="17647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Assignment 10  |  ID 21172333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457200" y="1207008"/>
            <a:ext cx="11274552" cy="0"/>
          </a:xfrm>
          <a:prstGeom prst="line">
            <a:avLst/>
          </a:prstGeom>
          <a:noFill/>
          <a:ln w="12700">
            <a:solidFill>
              <a:srgbClr val="E4E0DA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457200" y="1417320"/>
            <a:ext cx="5440680" cy="4434840"/>
          </a:xfrm>
          <a:prstGeom prst="roundRect">
            <a:avLst>
              <a:gd name="adj" fmla="val 1649"/>
            </a:avLst>
          </a:prstGeom>
          <a:solidFill>
            <a:srgbClr val="F7F7F7"/>
          </a:solidFill>
          <a:ln w="12700">
            <a:solidFill>
              <a:srgbClr val="E4E0D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731520" y="1691640"/>
            <a:ext cx="658368" cy="658368"/>
          </a:xfrm>
          <a:prstGeom prst="ellipse">
            <a:avLst/>
          </a:prstGeom>
          <a:solidFill>
            <a:srgbClr val="800020"/>
          </a:solidFill>
          <a:ln/>
        </p:spPr>
      </p:sp>
      <p:pic>
        <p:nvPicPr>
          <p:cNvPr id="10" name="Image 1" descr="/home/claude/work/icon_vide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2696" y="1862816"/>
            <a:ext cx="316017" cy="316017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554480" y="1691640"/>
            <a:ext cx="4114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Creator / Editor</a:t>
            </a:r>
            <a:endParaRPr lang="en-US" sz="1700" dirty="0"/>
          </a:p>
        </p:txBody>
      </p:sp>
      <p:sp>
        <p:nvSpPr>
          <p:cNvPr id="12" name="Shape 8"/>
          <p:cNvSpPr/>
          <p:nvPr/>
        </p:nvSpPr>
        <p:spPr>
          <a:xfrm>
            <a:off x="731520" y="2514600"/>
            <a:ext cx="4892040" cy="0"/>
          </a:xfrm>
          <a:prstGeom prst="line">
            <a:avLst/>
          </a:prstGeom>
          <a:noFill/>
          <a:ln w="12700">
            <a:solidFill>
              <a:srgbClr val="D4AF37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777240" y="2697480"/>
            <a:ext cx="4800600" cy="2971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03200" indent="-203200">
              <a:lnSpc>
                <a:spcPct val="125000"/>
              </a:lnSpc>
              <a:spcAft>
                <a:spcPts val="1400"/>
              </a:spcAft>
              <a:buSzPct val="100000"/>
              <a:buChar char="▪"/>
            </a:pPr>
            <a:r>
              <a:rPr lang="en-US" sz="15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Film &amp; edit 2 Educational Reels + AI Voice-Overs per week</a:t>
            </a:r>
            <a:endParaRPr lang="en-US" sz="1550" dirty="0"/>
          </a:p>
          <a:p>
            <a:pPr marL="203200" indent="-203200">
              <a:lnSpc>
                <a:spcPct val="125000"/>
              </a:lnSpc>
              <a:spcAft>
                <a:spcPts val="1400"/>
              </a:spcAft>
              <a:buSzPct val="100000"/>
              <a:buChar char="▪"/>
            </a:pPr>
            <a:r>
              <a:rPr lang="en-US" sz="15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2 Carousels (styling + trust) per week</a:t>
            </a:r>
            <a:endParaRPr lang="en-US" sz="1550" dirty="0"/>
          </a:p>
          <a:p>
            <a:pPr marL="203200" indent="-203200">
              <a:lnSpc>
                <a:spcPct val="125000"/>
              </a:lnSpc>
              <a:spcAft>
                <a:spcPts val="1400"/>
              </a:spcAft>
              <a:buSzPct val="100000"/>
              <a:buChar char="▪"/>
            </a:pPr>
            <a:r>
              <a:rPr lang="en-US" sz="15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 weekly Stories assets</a:t>
            </a:r>
            <a:endParaRPr lang="en-US" sz="1550" dirty="0"/>
          </a:p>
        </p:txBody>
      </p:sp>
      <p:sp>
        <p:nvSpPr>
          <p:cNvPr id="14" name="Shape 10"/>
          <p:cNvSpPr/>
          <p:nvPr/>
        </p:nvSpPr>
        <p:spPr>
          <a:xfrm>
            <a:off x="6291072" y="1417320"/>
            <a:ext cx="5440680" cy="4434840"/>
          </a:xfrm>
          <a:prstGeom prst="roundRect">
            <a:avLst>
              <a:gd name="adj" fmla="val 1649"/>
            </a:avLst>
          </a:prstGeom>
          <a:solidFill>
            <a:srgbClr val="F7F7F7"/>
          </a:solidFill>
          <a:ln w="12700">
            <a:solidFill>
              <a:srgbClr val="E4E0D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565392" y="1691640"/>
            <a:ext cx="658368" cy="658368"/>
          </a:xfrm>
          <a:prstGeom prst="ellipse">
            <a:avLst/>
          </a:prstGeom>
          <a:solidFill>
            <a:srgbClr val="800020"/>
          </a:solidFill>
          <a:ln/>
        </p:spPr>
      </p:sp>
      <p:pic>
        <p:nvPicPr>
          <p:cNvPr id="16" name="Image 2" descr="/home/claude/work/icon_commen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36568" y="1862816"/>
            <a:ext cx="316017" cy="316017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7388352" y="1691640"/>
            <a:ext cx="4114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Manager</a:t>
            </a:r>
            <a:endParaRPr lang="en-US" sz="1700" dirty="0"/>
          </a:p>
        </p:txBody>
      </p:sp>
      <p:sp>
        <p:nvSpPr>
          <p:cNvPr id="18" name="Shape 13"/>
          <p:cNvSpPr/>
          <p:nvPr/>
        </p:nvSpPr>
        <p:spPr>
          <a:xfrm>
            <a:off x="6565392" y="2514600"/>
            <a:ext cx="4892040" cy="0"/>
          </a:xfrm>
          <a:prstGeom prst="line">
            <a:avLst/>
          </a:prstGeom>
          <a:noFill/>
          <a:ln w="12700">
            <a:solidFill>
              <a:srgbClr val="D4AF37"/>
            </a:solidFill>
            <a:prstDash val="solid"/>
          </a:ln>
        </p:spPr>
      </p:sp>
      <p:sp>
        <p:nvSpPr>
          <p:cNvPr id="19" name="Text 14"/>
          <p:cNvSpPr/>
          <p:nvPr/>
        </p:nvSpPr>
        <p:spPr>
          <a:xfrm>
            <a:off x="6611112" y="2697480"/>
            <a:ext cx="4800600" cy="2971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03200" indent="-203200">
              <a:lnSpc>
                <a:spcPct val="125000"/>
              </a:lnSpc>
              <a:spcAft>
                <a:spcPts val="1400"/>
              </a:spcAft>
              <a:buSzPct val="100000"/>
              <a:buChar char="▪"/>
            </a:pPr>
            <a:r>
              <a:rPr lang="en-US" sz="15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 daily Stories (polls, Q&amp;A)</a:t>
            </a:r>
            <a:endParaRPr lang="en-US" sz="1550" dirty="0"/>
          </a:p>
          <a:p>
            <a:pPr marL="203200" indent="-203200">
              <a:lnSpc>
                <a:spcPct val="125000"/>
              </a:lnSpc>
              <a:spcAft>
                <a:spcPts val="1400"/>
              </a:spcAft>
              <a:buSzPct val="100000"/>
              <a:buChar char="▪"/>
            </a:pPr>
            <a:r>
              <a:rPr lang="en-US" sz="15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Reply to comments &amp; DMs within 24 hours</a:t>
            </a:r>
            <a:endParaRPr lang="en-US" sz="1550" dirty="0"/>
          </a:p>
          <a:p>
            <a:pPr marL="203200" indent="-203200">
              <a:lnSpc>
                <a:spcPct val="125000"/>
              </a:lnSpc>
              <a:spcAft>
                <a:spcPts val="1400"/>
              </a:spcAft>
              <a:buSzPct val="100000"/>
              <a:buChar char="▪"/>
            </a:pPr>
            <a:r>
              <a:rPr lang="en-US" sz="15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 and repost UGC / reviews</a:t>
            </a:r>
            <a:endParaRPr lang="en-US" sz="15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29768" y="320040"/>
            <a:ext cx="512064" cy="512064"/>
          </a:xfrm>
          <a:prstGeom prst="ellipse">
            <a:avLst/>
          </a:prstGeom>
          <a:solidFill>
            <a:srgbClr val="D4AF37"/>
          </a:solidFill>
          <a:ln/>
        </p:spPr>
      </p:sp>
      <p:pic>
        <p:nvPicPr>
          <p:cNvPr id="3" name="Image 0" descr="/home/claude/work/qaim_logo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47472"/>
            <a:ext cx="457200" cy="457200"/>
          </a:xfrm>
          <a:prstGeom prst="ellipse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97280" y="329184"/>
            <a:ext cx="8961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40" kern="0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ACTIONS · EXECUTION OWNERSHIP (2 OF 2)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097280" y="585216"/>
            <a:ext cx="101498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Action Plan — Who Does What, Every Week</a:t>
            </a:r>
            <a:endParaRPr lang="en-US" sz="2300" dirty="0"/>
          </a:p>
        </p:txBody>
      </p:sp>
      <p:sp>
        <p:nvSpPr>
          <p:cNvPr id="6" name="Text 3"/>
          <p:cNvSpPr/>
          <p:nvPr/>
        </p:nvSpPr>
        <p:spPr>
          <a:xfrm>
            <a:off x="9966960" y="365760"/>
            <a:ext cx="17647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Assignment 10  |  ID 21172333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457200" y="1207008"/>
            <a:ext cx="11274552" cy="0"/>
          </a:xfrm>
          <a:prstGeom prst="line">
            <a:avLst/>
          </a:prstGeom>
          <a:noFill/>
          <a:ln w="12700">
            <a:solidFill>
              <a:srgbClr val="E4E0DA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457200" y="1417320"/>
            <a:ext cx="5440680" cy="4434840"/>
          </a:xfrm>
          <a:prstGeom prst="roundRect">
            <a:avLst>
              <a:gd name="adj" fmla="val 1649"/>
            </a:avLst>
          </a:prstGeom>
          <a:solidFill>
            <a:srgbClr val="F7F7F7"/>
          </a:solidFill>
          <a:ln w="12700">
            <a:solidFill>
              <a:srgbClr val="E4E0D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731520" y="1691640"/>
            <a:ext cx="658368" cy="658368"/>
          </a:xfrm>
          <a:prstGeom prst="ellipse">
            <a:avLst/>
          </a:prstGeom>
          <a:solidFill>
            <a:srgbClr val="800020"/>
          </a:solidFill>
          <a:ln/>
        </p:spPr>
      </p:sp>
      <p:pic>
        <p:nvPicPr>
          <p:cNvPr id="10" name="Image 1" descr="/home/claude/work/icon_chartlin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2696" y="1862816"/>
            <a:ext cx="316017" cy="316017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554480" y="1691640"/>
            <a:ext cx="4114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/ Performance Owner</a:t>
            </a:r>
            <a:endParaRPr lang="en-US" sz="1700" dirty="0"/>
          </a:p>
        </p:txBody>
      </p:sp>
      <p:sp>
        <p:nvSpPr>
          <p:cNvPr id="12" name="Shape 8"/>
          <p:cNvSpPr/>
          <p:nvPr/>
        </p:nvSpPr>
        <p:spPr>
          <a:xfrm>
            <a:off x="731520" y="2514600"/>
            <a:ext cx="4892040" cy="0"/>
          </a:xfrm>
          <a:prstGeom prst="line">
            <a:avLst/>
          </a:prstGeom>
          <a:noFill/>
          <a:ln w="12700">
            <a:solidFill>
              <a:srgbClr val="D4AF37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777240" y="2697480"/>
            <a:ext cx="4800600" cy="2971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03200" indent="-203200">
              <a:lnSpc>
                <a:spcPct val="125000"/>
              </a:lnSpc>
              <a:spcAft>
                <a:spcPts val="1400"/>
              </a:spcAft>
              <a:buSzPct val="100000"/>
              <a:buChar char="▪"/>
            </a:pPr>
            <a:r>
              <a:rPr lang="en-US" sz="15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the weekly KPI dashboard</a:t>
            </a:r>
            <a:endParaRPr lang="en-US" sz="1550" dirty="0"/>
          </a:p>
          <a:p>
            <a:pPr marL="203200" indent="-203200">
              <a:lnSpc>
                <a:spcPct val="125000"/>
              </a:lnSpc>
              <a:spcAft>
                <a:spcPts val="1400"/>
              </a:spcAft>
              <a:buSzPct val="100000"/>
              <a:buChar char="▪"/>
            </a:pPr>
            <a:r>
              <a:rPr lang="en-US" sz="15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Boost the top-performing organic posts</a:t>
            </a:r>
            <a:endParaRPr lang="en-US" sz="1550" dirty="0"/>
          </a:p>
          <a:p>
            <a:pPr marL="203200" indent="-203200">
              <a:lnSpc>
                <a:spcPct val="125000"/>
              </a:lnSpc>
              <a:spcAft>
                <a:spcPts val="1400"/>
              </a:spcAft>
              <a:buSzPct val="100000"/>
              <a:buChar char="▪"/>
            </a:pPr>
            <a:r>
              <a:rPr lang="en-US" sz="15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the monthly optimization review</a:t>
            </a:r>
            <a:endParaRPr lang="en-US" sz="1550" dirty="0"/>
          </a:p>
        </p:txBody>
      </p:sp>
      <p:sp>
        <p:nvSpPr>
          <p:cNvPr id="14" name="Shape 10"/>
          <p:cNvSpPr/>
          <p:nvPr/>
        </p:nvSpPr>
        <p:spPr>
          <a:xfrm>
            <a:off x="6291072" y="1417320"/>
            <a:ext cx="5440680" cy="4434840"/>
          </a:xfrm>
          <a:prstGeom prst="roundRect">
            <a:avLst>
              <a:gd name="adj" fmla="val 1649"/>
            </a:avLst>
          </a:prstGeom>
          <a:solidFill>
            <a:srgbClr val="F7F7F7"/>
          </a:solidFill>
          <a:ln w="12700">
            <a:solidFill>
              <a:srgbClr val="E4E0D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565392" y="1691640"/>
            <a:ext cx="658368" cy="658368"/>
          </a:xfrm>
          <a:prstGeom prst="ellipse">
            <a:avLst/>
          </a:prstGeom>
          <a:solidFill>
            <a:srgbClr val="800020"/>
          </a:solidFill>
          <a:ln/>
        </p:spPr>
      </p:sp>
      <p:pic>
        <p:nvPicPr>
          <p:cNvPr id="16" name="Image 2" descr="/home/claude/work/icon_car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36568" y="1862816"/>
            <a:ext cx="316017" cy="316017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7388352" y="1691640"/>
            <a:ext cx="4114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Operations (WhatsApp / Website)</a:t>
            </a:r>
            <a:endParaRPr lang="en-US" sz="1700" dirty="0"/>
          </a:p>
        </p:txBody>
      </p:sp>
      <p:sp>
        <p:nvSpPr>
          <p:cNvPr id="18" name="Shape 13"/>
          <p:cNvSpPr/>
          <p:nvPr/>
        </p:nvSpPr>
        <p:spPr>
          <a:xfrm>
            <a:off x="6565392" y="2514600"/>
            <a:ext cx="4892040" cy="0"/>
          </a:xfrm>
          <a:prstGeom prst="line">
            <a:avLst/>
          </a:prstGeom>
          <a:noFill/>
          <a:ln w="12700">
            <a:solidFill>
              <a:srgbClr val="D4AF37"/>
            </a:solidFill>
            <a:prstDash val="solid"/>
          </a:ln>
        </p:spPr>
      </p:sp>
      <p:sp>
        <p:nvSpPr>
          <p:cNvPr id="19" name="Text 14"/>
          <p:cNvSpPr/>
          <p:nvPr/>
        </p:nvSpPr>
        <p:spPr>
          <a:xfrm>
            <a:off x="6611112" y="2697480"/>
            <a:ext cx="4800600" cy="2971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03200" indent="-203200">
              <a:lnSpc>
                <a:spcPct val="125000"/>
              </a:lnSpc>
              <a:spcAft>
                <a:spcPts val="1400"/>
              </a:spcAft>
              <a:buSzPct val="100000"/>
              <a:buChar char="▪"/>
            </a:pPr>
            <a:r>
              <a:rPr lang="en-US" sz="15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Respond to WhatsApp inquiries fast</a:t>
            </a:r>
            <a:endParaRPr lang="en-US" sz="1550" dirty="0"/>
          </a:p>
          <a:p>
            <a:pPr marL="203200" indent="-203200">
              <a:lnSpc>
                <a:spcPct val="125000"/>
              </a:lnSpc>
              <a:spcAft>
                <a:spcPts val="1400"/>
              </a:spcAft>
              <a:buSzPct val="100000"/>
              <a:buChar char="▪"/>
            </a:pPr>
            <a:r>
              <a:rPr lang="en-US" sz="15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stock, sizes &amp; delivery info</a:t>
            </a:r>
            <a:endParaRPr lang="en-US" sz="1550" dirty="0"/>
          </a:p>
          <a:p>
            <a:pPr marL="203200" indent="-203200">
              <a:lnSpc>
                <a:spcPct val="125000"/>
              </a:lnSpc>
              <a:spcAft>
                <a:spcPts val="1400"/>
              </a:spcAft>
              <a:buSzPct val="100000"/>
              <a:buChar char="▪"/>
            </a:pPr>
            <a:r>
              <a:rPr lang="en-US" sz="15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 real customer feedback back to the content team</a:t>
            </a:r>
            <a:endParaRPr lang="en-US" sz="15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29768" y="320040"/>
            <a:ext cx="512064" cy="512064"/>
          </a:xfrm>
          <a:prstGeom prst="ellipse">
            <a:avLst/>
          </a:prstGeom>
          <a:solidFill>
            <a:srgbClr val="D4AF37"/>
          </a:solidFill>
          <a:ln/>
        </p:spPr>
      </p:sp>
      <p:pic>
        <p:nvPicPr>
          <p:cNvPr id="3" name="Image 0" descr="/home/claude/work/qaim_logo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47472"/>
            <a:ext cx="457200" cy="457200"/>
          </a:xfrm>
          <a:prstGeom prst="ellipse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97280" y="329184"/>
            <a:ext cx="8961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40" kern="0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ACTIONS · RESOURCES (1 OF 2)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097280" y="585216"/>
            <a:ext cx="101498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Tools &amp; Resources Needed to Execute the Plan</a:t>
            </a:r>
            <a:endParaRPr lang="en-US" sz="2300" dirty="0"/>
          </a:p>
        </p:txBody>
      </p:sp>
      <p:sp>
        <p:nvSpPr>
          <p:cNvPr id="6" name="Text 3"/>
          <p:cNvSpPr/>
          <p:nvPr/>
        </p:nvSpPr>
        <p:spPr>
          <a:xfrm>
            <a:off x="9966960" y="365760"/>
            <a:ext cx="17647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Assignment 10  |  ID 21172333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457200" y="1207008"/>
            <a:ext cx="11274552" cy="0"/>
          </a:xfrm>
          <a:prstGeom prst="line">
            <a:avLst/>
          </a:prstGeom>
          <a:noFill/>
          <a:ln w="12700">
            <a:solidFill>
              <a:srgbClr val="E4E0DA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457200" y="1417320"/>
            <a:ext cx="5440680" cy="4434840"/>
          </a:xfrm>
          <a:prstGeom prst="roundRect">
            <a:avLst>
              <a:gd name="adj" fmla="val 1649"/>
            </a:avLst>
          </a:prstGeom>
          <a:solidFill>
            <a:srgbClr val="F7F7F7"/>
          </a:solidFill>
          <a:ln w="12700">
            <a:solidFill>
              <a:srgbClr val="E4E0D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731520" y="1691640"/>
            <a:ext cx="566928" cy="566928"/>
          </a:xfrm>
          <a:prstGeom prst="ellipse">
            <a:avLst/>
          </a:prstGeom>
          <a:solidFill>
            <a:srgbClr val="800020"/>
          </a:solidFill>
          <a:ln/>
        </p:spPr>
      </p:sp>
      <p:pic>
        <p:nvPicPr>
          <p:cNvPr id="10" name="Image 1" descr="/home/claude/work/icon_shir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8921" y="1839041"/>
            <a:ext cx="272125" cy="272125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463040" y="1691640"/>
            <a:ext cx="4206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Creation</a:t>
            </a:r>
            <a:endParaRPr lang="en-US" sz="1650" dirty="0"/>
          </a:p>
        </p:txBody>
      </p:sp>
      <p:sp>
        <p:nvSpPr>
          <p:cNvPr id="12" name="Text 8"/>
          <p:cNvSpPr/>
          <p:nvPr/>
        </p:nvSpPr>
        <p:spPr>
          <a:xfrm>
            <a:off x="777240" y="2468880"/>
            <a:ext cx="48006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03200" indent="-203200">
              <a:lnSpc>
                <a:spcPct val="125000"/>
              </a:lnSpc>
              <a:spcAft>
                <a:spcPts val="1300"/>
              </a:spcAft>
              <a:buSzPct val="100000"/>
              <a:buChar char="▪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Smartphone / camera for Reels &amp; product shots</a:t>
            </a:r>
            <a:endParaRPr lang="en-US" sz="1500" dirty="0"/>
          </a:p>
          <a:p>
            <a:pPr marL="203200" indent="-203200">
              <a:lnSpc>
                <a:spcPct val="125000"/>
              </a:lnSpc>
              <a:spcAft>
                <a:spcPts val="1300"/>
              </a:spcAft>
              <a:buSzPct val="100000"/>
              <a:buChar char="▪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CapCut or Premiere Rush for editing</a:t>
            </a:r>
            <a:endParaRPr lang="en-US" sz="1500" dirty="0"/>
          </a:p>
          <a:p>
            <a:pPr marL="203200" indent="-203200">
              <a:lnSpc>
                <a:spcPct val="125000"/>
              </a:lnSpc>
              <a:spcAft>
                <a:spcPts val="1300"/>
              </a:spcAft>
              <a:buSzPct val="100000"/>
              <a:buChar char="▪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voice-over tool (e.g. ElevenLabs)</a:t>
            </a:r>
            <a:endParaRPr lang="en-US" sz="1500" dirty="0"/>
          </a:p>
          <a:p>
            <a:pPr marL="203200" indent="-203200">
              <a:lnSpc>
                <a:spcPct val="125000"/>
              </a:lnSpc>
              <a:spcAft>
                <a:spcPts val="1300"/>
              </a:spcAft>
              <a:buSzPct val="100000"/>
              <a:buChar char="▪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Canva / AI image tool for Carousels</a:t>
            </a:r>
            <a:endParaRPr lang="en-US" sz="1500" dirty="0"/>
          </a:p>
        </p:txBody>
      </p:sp>
      <p:sp>
        <p:nvSpPr>
          <p:cNvPr id="13" name="Shape 9"/>
          <p:cNvSpPr/>
          <p:nvPr/>
        </p:nvSpPr>
        <p:spPr>
          <a:xfrm>
            <a:off x="6291072" y="1417320"/>
            <a:ext cx="5440680" cy="4434840"/>
          </a:xfrm>
          <a:prstGeom prst="roundRect">
            <a:avLst>
              <a:gd name="adj" fmla="val 1649"/>
            </a:avLst>
          </a:prstGeom>
          <a:solidFill>
            <a:srgbClr val="111111"/>
          </a:solidFill>
          <a:ln w="12700">
            <a:solidFill>
              <a:srgbClr val="3A1420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6565392" y="1691640"/>
            <a:ext cx="566928" cy="566928"/>
          </a:xfrm>
          <a:prstGeom prst="ellipse">
            <a:avLst/>
          </a:prstGeom>
          <a:solidFill>
            <a:srgbClr val="D4AF37"/>
          </a:solidFill>
          <a:ln/>
        </p:spPr>
      </p:sp>
      <p:pic>
        <p:nvPicPr>
          <p:cNvPr id="15" name="Image 2" descr="/home/claude/work/icon_calend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12793" y="1839041"/>
            <a:ext cx="272125" cy="272125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7296912" y="1691640"/>
            <a:ext cx="4206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Publishing &amp; Scheduling</a:t>
            </a:r>
            <a:endParaRPr lang="en-US" sz="1650" dirty="0"/>
          </a:p>
        </p:txBody>
      </p:sp>
      <p:sp>
        <p:nvSpPr>
          <p:cNvPr id="17" name="Text 12"/>
          <p:cNvSpPr/>
          <p:nvPr/>
        </p:nvSpPr>
        <p:spPr>
          <a:xfrm>
            <a:off x="6611112" y="2468880"/>
            <a:ext cx="48006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03200" indent="-203200">
              <a:lnSpc>
                <a:spcPct val="125000"/>
              </a:lnSpc>
              <a:spcAft>
                <a:spcPts val="1300"/>
              </a:spcAft>
              <a:buSzPct val="100000"/>
              <a:buChar char="▪"/>
            </a:pPr>
            <a:r>
              <a:rPr lang="en-US" sz="1500" dirty="0">
                <a:solidFill>
                  <a:srgbClr val="E8E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 Business Suite (Facebook + Instagram)</a:t>
            </a:r>
            <a:endParaRPr lang="en-US" sz="1500" dirty="0"/>
          </a:p>
          <a:p>
            <a:pPr marL="203200" indent="-203200">
              <a:lnSpc>
                <a:spcPct val="125000"/>
              </a:lnSpc>
              <a:spcAft>
                <a:spcPts val="1300"/>
              </a:spcAft>
              <a:buSzPct val="100000"/>
              <a:buChar char="▪"/>
            </a:pPr>
            <a:r>
              <a:rPr lang="en-US" sz="1500" dirty="0">
                <a:solidFill>
                  <a:srgbClr val="E8E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calendar (Sheet or Notion)</a:t>
            </a:r>
            <a:endParaRPr lang="en-US" sz="1500" dirty="0"/>
          </a:p>
          <a:p>
            <a:pPr marL="203200" indent="-203200">
              <a:lnSpc>
                <a:spcPct val="125000"/>
              </a:lnSpc>
              <a:spcAft>
                <a:spcPts val="1300"/>
              </a:spcAft>
              <a:buSzPct val="100000"/>
              <a:buChar char="▪"/>
            </a:pPr>
            <a:r>
              <a:rPr lang="en-US" sz="1500" dirty="0">
                <a:solidFill>
                  <a:srgbClr val="E8E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Hashtag &amp; caption bank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29768" y="320040"/>
            <a:ext cx="512064" cy="512064"/>
          </a:xfrm>
          <a:prstGeom prst="ellipse">
            <a:avLst/>
          </a:prstGeom>
          <a:solidFill>
            <a:srgbClr val="D4AF37"/>
          </a:solidFill>
          <a:ln/>
        </p:spPr>
      </p:sp>
      <p:pic>
        <p:nvPicPr>
          <p:cNvPr id="3" name="Image 0" descr="/home/claude/work/qaim_logo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47472"/>
            <a:ext cx="457200" cy="457200"/>
          </a:xfrm>
          <a:prstGeom prst="ellipse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97280" y="329184"/>
            <a:ext cx="8961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40" kern="0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ACTIONS · RESOURCES (2 OF 2)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097280" y="585216"/>
            <a:ext cx="101498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Tools &amp; Resources Needed to Execute the Plan</a:t>
            </a:r>
            <a:endParaRPr lang="en-US" sz="2300" dirty="0"/>
          </a:p>
        </p:txBody>
      </p:sp>
      <p:sp>
        <p:nvSpPr>
          <p:cNvPr id="6" name="Text 3"/>
          <p:cNvSpPr/>
          <p:nvPr/>
        </p:nvSpPr>
        <p:spPr>
          <a:xfrm>
            <a:off x="9966960" y="365760"/>
            <a:ext cx="17647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Assignment 10  |  ID 21172333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457200" y="1207008"/>
            <a:ext cx="11274552" cy="0"/>
          </a:xfrm>
          <a:prstGeom prst="line">
            <a:avLst/>
          </a:prstGeom>
          <a:noFill/>
          <a:ln w="12700">
            <a:solidFill>
              <a:srgbClr val="E4E0DA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457200" y="1417320"/>
            <a:ext cx="5440680" cy="4434840"/>
          </a:xfrm>
          <a:prstGeom prst="roundRect">
            <a:avLst>
              <a:gd name="adj" fmla="val 1649"/>
            </a:avLst>
          </a:prstGeom>
          <a:solidFill>
            <a:srgbClr val="F7F7F7"/>
          </a:solidFill>
          <a:ln w="12700">
            <a:solidFill>
              <a:srgbClr val="E4E0D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731520" y="1691640"/>
            <a:ext cx="566928" cy="566928"/>
          </a:xfrm>
          <a:prstGeom prst="ellipse">
            <a:avLst/>
          </a:prstGeom>
          <a:solidFill>
            <a:srgbClr val="800020"/>
          </a:solidFill>
          <a:ln/>
        </p:spPr>
      </p:sp>
      <p:pic>
        <p:nvPicPr>
          <p:cNvPr id="10" name="Image 1" descr="/home/claude/work/icon_user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8921" y="1839041"/>
            <a:ext cx="272125" cy="272125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463040" y="1691640"/>
            <a:ext cx="4206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&amp; Sales</a:t>
            </a:r>
            <a:endParaRPr lang="en-US" sz="1650" dirty="0"/>
          </a:p>
        </p:txBody>
      </p:sp>
      <p:sp>
        <p:nvSpPr>
          <p:cNvPr id="12" name="Text 8"/>
          <p:cNvSpPr/>
          <p:nvPr/>
        </p:nvSpPr>
        <p:spPr>
          <a:xfrm>
            <a:off x="777240" y="2468880"/>
            <a:ext cx="48006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03200" indent="-203200">
              <a:lnSpc>
                <a:spcPct val="125000"/>
              </a:lnSpc>
              <a:spcAft>
                <a:spcPts val="1300"/>
              </a:spcAft>
              <a:buSzPct val="100000"/>
              <a:buChar char="▪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Business (quick replies, catalog)</a:t>
            </a:r>
            <a:endParaRPr lang="en-US" sz="1500" dirty="0"/>
          </a:p>
          <a:p>
            <a:pPr marL="203200" indent="-203200">
              <a:lnSpc>
                <a:spcPct val="125000"/>
              </a:lnSpc>
              <a:spcAft>
                <a:spcPts val="1300"/>
              </a:spcAft>
              <a:buSzPct val="100000"/>
              <a:buChar char="▪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Qaim.shop order dashboard</a:t>
            </a:r>
            <a:endParaRPr lang="en-US" sz="1500" dirty="0"/>
          </a:p>
          <a:p>
            <a:pPr marL="203200" indent="-203200">
              <a:lnSpc>
                <a:spcPct val="125000"/>
              </a:lnSpc>
              <a:spcAft>
                <a:spcPts val="1300"/>
              </a:spcAft>
              <a:buSzPct val="100000"/>
              <a:buChar char="▪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Saved review / UGC folder</a:t>
            </a:r>
            <a:endParaRPr lang="en-US" sz="1500" dirty="0"/>
          </a:p>
        </p:txBody>
      </p:sp>
      <p:sp>
        <p:nvSpPr>
          <p:cNvPr id="13" name="Shape 9"/>
          <p:cNvSpPr/>
          <p:nvPr/>
        </p:nvSpPr>
        <p:spPr>
          <a:xfrm>
            <a:off x="6291072" y="1417320"/>
            <a:ext cx="5440680" cy="4434840"/>
          </a:xfrm>
          <a:prstGeom prst="roundRect">
            <a:avLst>
              <a:gd name="adj" fmla="val 1649"/>
            </a:avLst>
          </a:prstGeom>
          <a:solidFill>
            <a:srgbClr val="111111"/>
          </a:solidFill>
          <a:ln w="12700">
            <a:solidFill>
              <a:srgbClr val="3A1420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6565392" y="1691640"/>
            <a:ext cx="566928" cy="566928"/>
          </a:xfrm>
          <a:prstGeom prst="ellipse">
            <a:avLst/>
          </a:prstGeom>
          <a:solidFill>
            <a:srgbClr val="D4AF37"/>
          </a:solidFill>
          <a:ln/>
        </p:spPr>
      </p:sp>
      <p:pic>
        <p:nvPicPr>
          <p:cNvPr id="15" name="Image 2" descr="/home/claude/work/icon_gaug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12793" y="1839041"/>
            <a:ext cx="272125" cy="272125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7296912" y="1691640"/>
            <a:ext cx="4206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Measurement</a:t>
            </a:r>
            <a:endParaRPr lang="en-US" sz="1650" dirty="0"/>
          </a:p>
        </p:txBody>
      </p:sp>
      <p:sp>
        <p:nvSpPr>
          <p:cNvPr id="17" name="Text 12"/>
          <p:cNvSpPr/>
          <p:nvPr/>
        </p:nvSpPr>
        <p:spPr>
          <a:xfrm>
            <a:off x="6611112" y="2468880"/>
            <a:ext cx="48006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03200" indent="-203200">
              <a:lnSpc>
                <a:spcPct val="125000"/>
              </a:lnSpc>
              <a:spcAft>
                <a:spcPts val="1300"/>
              </a:spcAft>
              <a:buSzPct val="100000"/>
              <a:buChar char="▪"/>
            </a:pPr>
            <a:r>
              <a:rPr lang="en-US" sz="1500" dirty="0">
                <a:solidFill>
                  <a:srgbClr val="E8E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 Business Suite Insights</a:t>
            </a:r>
            <a:endParaRPr lang="en-US" sz="1500" dirty="0"/>
          </a:p>
          <a:p>
            <a:pPr marL="203200" indent="-203200">
              <a:lnSpc>
                <a:spcPct val="125000"/>
              </a:lnSpc>
              <a:spcAft>
                <a:spcPts val="1300"/>
              </a:spcAft>
              <a:buSzPct val="100000"/>
              <a:buChar char="▪"/>
            </a:pPr>
            <a:r>
              <a:rPr lang="en-US" sz="1500" dirty="0">
                <a:solidFill>
                  <a:srgbClr val="E8E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Qaim.shop analytics (clicks, orders)</a:t>
            </a:r>
            <a:endParaRPr lang="en-US" sz="1500" dirty="0"/>
          </a:p>
          <a:p>
            <a:pPr marL="203200" indent="-203200">
              <a:lnSpc>
                <a:spcPct val="125000"/>
              </a:lnSpc>
              <a:spcAft>
                <a:spcPts val="1300"/>
              </a:spcAft>
              <a:buSzPct val="100000"/>
              <a:buChar char="▪"/>
            </a:pPr>
            <a:r>
              <a:rPr lang="en-US" sz="1500" dirty="0">
                <a:solidFill>
                  <a:srgbClr val="E8E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KPI tracking sheet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29768" y="320040"/>
            <a:ext cx="512064" cy="512064"/>
          </a:xfrm>
          <a:prstGeom prst="ellipse">
            <a:avLst/>
          </a:prstGeom>
          <a:solidFill>
            <a:srgbClr val="D4AF37"/>
          </a:solidFill>
          <a:ln/>
        </p:spPr>
      </p:sp>
      <p:pic>
        <p:nvPicPr>
          <p:cNvPr id="3" name="Image 0" descr="/home/claude/work/qaim_logo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47472"/>
            <a:ext cx="457200" cy="457200"/>
          </a:xfrm>
          <a:prstGeom prst="ellipse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97280" y="329184"/>
            <a:ext cx="8961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40" kern="0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ACTIONS · ROLLOUT PLAN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097280" y="585216"/>
            <a:ext cx="101498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3-Month Implementation Timeline</a:t>
            </a:r>
            <a:endParaRPr lang="en-US" sz="2300" dirty="0"/>
          </a:p>
        </p:txBody>
      </p:sp>
      <p:sp>
        <p:nvSpPr>
          <p:cNvPr id="6" name="Text 3"/>
          <p:cNvSpPr/>
          <p:nvPr/>
        </p:nvSpPr>
        <p:spPr>
          <a:xfrm>
            <a:off x="9966960" y="365760"/>
            <a:ext cx="17647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Assignment 10  |  ID 21172333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457200" y="1207008"/>
            <a:ext cx="11274552" cy="0"/>
          </a:xfrm>
          <a:prstGeom prst="line">
            <a:avLst/>
          </a:prstGeom>
          <a:noFill/>
          <a:ln w="12700">
            <a:solidFill>
              <a:srgbClr val="E4E0DA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457200" y="1417320"/>
            <a:ext cx="2834640" cy="1371600"/>
          </a:xfrm>
          <a:prstGeom prst="roundRect">
            <a:avLst>
              <a:gd name="adj" fmla="val 6000"/>
            </a:avLst>
          </a:prstGeom>
          <a:solidFill>
            <a:srgbClr val="800020"/>
          </a:solidFill>
          <a:ln/>
        </p:spPr>
      </p:sp>
      <p:sp>
        <p:nvSpPr>
          <p:cNvPr id="9" name="Text 6"/>
          <p:cNvSpPr/>
          <p:nvPr/>
        </p:nvSpPr>
        <p:spPr>
          <a:xfrm>
            <a:off x="640080" y="1417320"/>
            <a:ext cx="2514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Month 1 — Testing</a:t>
            </a:r>
            <a:endParaRPr lang="en-US" sz="1700" dirty="0"/>
          </a:p>
        </p:txBody>
      </p:sp>
      <p:sp>
        <p:nvSpPr>
          <p:cNvPr id="10" name="Shape 7"/>
          <p:cNvSpPr/>
          <p:nvPr/>
        </p:nvSpPr>
        <p:spPr>
          <a:xfrm>
            <a:off x="3456432" y="1417320"/>
            <a:ext cx="8275320" cy="1371600"/>
          </a:xfrm>
          <a:prstGeom prst="roundRect">
            <a:avLst>
              <a:gd name="adj" fmla="val 5333"/>
            </a:avLst>
          </a:prstGeom>
          <a:solidFill>
            <a:srgbClr val="F7F7F7"/>
          </a:solidFill>
          <a:ln w="12700">
            <a:solidFill>
              <a:srgbClr val="E4E0D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3703320" y="1490472"/>
            <a:ext cx="7818120" cy="12252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03200" indent="-203200">
              <a:lnSpc>
                <a:spcPct val="115000"/>
              </a:lnSpc>
              <a:spcAft>
                <a:spcPts val="800"/>
              </a:spcAft>
              <a:buSzPct val="100000"/>
              <a:buChar char="▪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the full weekly content system (2 Reels, 1 Carousel, Stories)</a:t>
            </a:r>
            <a:endParaRPr lang="en-US" sz="1500" dirty="0"/>
          </a:p>
          <a:p>
            <a:pPr marL="203200" indent="-203200">
              <a:lnSpc>
                <a:spcPct val="115000"/>
              </a:lnSpc>
              <a:spcAft>
                <a:spcPts val="800"/>
              </a:spcAft>
              <a:buSzPct val="100000"/>
              <a:buChar char="▪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hooks, posting times &amp; formats</a:t>
            </a:r>
            <a:endParaRPr lang="en-US" sz="1500" dirty="0"/>
          </a:p>
          <a:p>
            <a:pPr marL="203200" indent="-203200">
              <a:lnSpc>
                <a:spcPct val="115000"/>
              </a:lnSpc>
              <a:spcAft>
                <a:spcPts val="800"/>
              </a:spcAft>
              <a:buSzPct val="100000"/>
              <a:buChar char="▪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Establish baseline KPI numbers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457200" y="2926080"/>
            <a:ext cx="2834640" cy="1371600"/>
          </a:xfrm>
          <a:prstGeom prst="roundRect">
            <a:avLst>
              <a:gd name="adj" fmla="val 6000"/>
            </a:avLst>
          </a:prstGeom>
          <a:solidFill>
            <a:srgbClr val="6E1226"/>
          </a:solidFill>
          <a:ln/>
        </p:spPr>
      </p:sp>
      <p:sp>
        <p:nvSpPr>
          <p:cNvPr id="13" name="Text 10"/>
          <p:cNvSpPr/>
          <p:nvPr/>
        </p:nvSpPr>
        <p:spPr>
          <a:xfrm>
            <a:off x="640080" y="2926080"/>
            <a:ext cx="2514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Month 2 — Optimization</a:t>
            </a:r>
            <a:endParaRPr lang="en-US" sz="1700" dirty="0"/>
          </a:p>
        </p:txBody>
      </p:sp>
      <p:sp>
        <p:nvSpPr>
          <p:cNvPr id="14" name="Shape 11"/>
          <p:cNvSpPr/>
          <p:nvPr/>
        </p:nvSpPr>
        <p:spPr>
          <a:xfrm>
            <a:off x="3456432" y="2926080"/>
            <a:ext cx="8275320" cy="1371600"/>
          </a:xfrm>
          <a:prstGeom prst="roundRect">
            <a:avLst>
              <a:gd name="adj" fmla="val 5333"/>
            </a:avLst>
          </a:prstGeom>
          <a:solidFill>
            <a:srgbClr val="F7F7F7"/>
          </a:solidFill>
          <a:ln w="12700">
            <a:solidFill>
              <a:srgbClr val="E4E0D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3703320" y="2999232"/>
            <a:ext cx="7818120" cy="12252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03200" indent="-203200">
              <a:lnSpc>
                <a:spcPct val="115000"/>
              </a:lnSpc>
              <a:spcAft>
                <a:spcPts val="800"/>
              </a:spcAft>
              <a:buSzPct val="100000"/>
              <a:buChar char="▪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Double down on best-performing Reel &amp; Carousel formats</a:t>
            </a:r>
            <a:endParaRPr lang="en-US" sz="1500" dirty="0"/>
          </a:p>
          <a:p>
            <a:pPr marL="203200" indent="-203200">
              <a:lnSpc>
                <a:spcPct val="115000"/>
              </a:lnSpc>
              <a:spcAft>
                <a:spcPts val="800"/>
              </a:spcAft>
              <a:buSzPct val="100000"/>
              <a:buChar char="▪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Increase WhatsApp CTA frequency</a:t>
            </a:r>
            <a:endParaRPr lang="en-US" sz="1500" dirty="0"/>
          </a:p>
          <a:p>
            <a:pPr marL="203200" indent="-203200">
              <a:lnSpc>
                <a:spcPct val="115000"/>
              </a:lnSpc>
              <a:spcAft>
                <a:spcPts val="800"/>
              </a:spcAft>
              <a:buSzPct val="100000"/>
              <a:buChar char="▪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light paid boosting on top organic posts</a:t>
            </a:r>
            <a:endParaRPr lang="en-US" sz="1500" dirty="0"/>
          </a:p>
        </p:txBody>
      </p:sp>
      <p:sp>
        <p:nvSpPr>
          <p:cNvPr id="16" name="Shape 13"/>
          <p:cNvSpPr/>
          <p:nvPr/>
        </p:nvSpPr>
        <p:spPr>
          <a:xfrm>
            <a:off x="457200" y="4434840"/>
            <a:ext cx="2834640" cy="1371600"/>
          </a:xfrm>
          <a:prstGeom prst="roundRect">
            <a:avLst>
              <a:gd name="adj" fmla="val 6000"/>
            </a:avLst>
          </a:prstGeom>
          <a:solidFill>
            <a:srgbClr val="B8860B"/>
          </a:solidFill>
          <a:ln/>
        </p:spPr>
      </p:sp>
      <p:sp>
        <p:nvSpPr>
          <p:cNvPr id="17" name="Text 14"/>
          <p:cNvSpPr/>
          <p:nvPr/>
        </p:nvSpPr>
        <p:spPr>
          <a:xfrm>
            <a:off x="640080" y="4434840"/>
            <a:ext cx="2514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Month 3 — Growth</a:t>
            </a:r>
            <a:endParaRPr lang="en-US" sz="1700" dirty="0"/>
          </a:p>
        </p:txBody>
      </p:sp>
      <p:sp>
        <p:nvSpPr>
          <p:cNvPr id="18" name="Shape 15"/>
          <p:cNvSpPr/>
          <p:nvPr/>
        </p:nvSpPr>
        <p:spPr>
          <a:xfrm>
            <a:off x="3456432" y="4434840"/>
            <a:ext cx="8275320" cy="1371600"/>
          </a:xfrm>
          <a:prstGeom prst="roundRect">
            <a:avLst>
              <a:gd name="adj" fmla="val 5333"/>
            </a:avLst>
          </a:prstGeom>
          <a:solidFill>
            <a:srgbClr val="F7F7F7"/>
          </a:solidFill>
          <a:ln w="12700">
            <a:solidFill>
              <a:srgbClr val="E4E0D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9" name="Text 16"/>
          <p:cNvSpPr/>
          <p:nvPr/>
        </p:nvSpPr>
        <p:spPr>
          <a:xfrm>
            <a:off x="3703320" y="4507992"/>
            <a:ext cx="7818120" cy="12252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03200" indent="-203200">
              <a:lnSpc>
                <a:spcPct val="115000"/>
              </a:lnSpc>
              <a:spcAft>
                <a:spcPts val="800"/>
              </a:spcAft>
              <a:buSzPct val="100000"/>
              <a:buChar char="▪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formats proven in Month 1–2</a:t>
            </a:r>
            <a:endParaRPr lang="en-US" sz="1500" dirty="0"/>
          </a:p>
          <a:p>
            <a:pPr marL="203200" indent="-203200">
              <a:lnSpc>
                <a:spcPct val="115000"/>
              </a:lnSpc>
              <a:spcAft>
                <a:spcPts val="800"/>
              </a:spcAft>
              <a:buSzPct val="100000"/>
              <a:buChar char="▪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1 micro-influencer collaboration</a:t>
            </a:r>
            <a:endParaRPr lang="en-US" sz="1500" dirty="0"/>
          </a:p>
          <a:p>
            <a:pPr marL="203200" indent="-203200">
              <a:lnSpc>
                <a:spcPct val="115000"/>
              </a:lnSpc>
              <a:spcAft>
                <a:spcPts val="800"/>
              </a:spcAft>
              <a:buSzPct val="100000"/>
              <a:buChar char="▪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full-quarter KPIs vs SMART objectives</a:t>
            </a:r>
            <a:endParaRPr lang="en-US" sz="1500" dirty="0"/>
          </a:p>
        </p:txBody>
      </p:sp>
      <p:sp>
        <p:nvSpPr>
          <p:cNvPr id="20" name="Shape 17"/>
          <p:cNvSpPr/>
          <p:nvPr/>
        </p:nvSpPr>
        <p:spPr>
          <a:xfrm>
            <a:off x="457200" y="5989320"/>
            <a:ext cx="11274552" cy="502920"/>
          </a:xfrm>
          <a:prstGeom prst="roundRect">
            <a:avLst>
              <a:gd name="adj" fmla="val 14545"/>
            </a:avLst>
          </a:prstGeom>
          <a:solidFill>
            <a:srgbClr val="F7F7F7"/>
          </a:solidFill>
          <a:ln w="12700">
            <a:solidFill>
              <a:srgbClr val="E4E0DA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57200" y="5989320"/>
            <a:ext cx="112745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a proposed academic implementation plan, not a historical result.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707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29768" y="320040"/>
            <a:ext cx="512064" cy="512064"/>
          </a:xfrm>
          <a:prstGeom prst="ellipse">
            <a:avLst/>
          </a:prstGeom>
          <a:solidFill>
            <a:srgbClr val="D4AF37"/>
          </a:solidFill>
          <a:ln/>
        </p:spPr>
      </p:sp>
      <p:pic>
        <p:nvPicPr>
          <p:cNvPr id="3" name="Image 0" descr="/home/claude/work/qaim_logo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47472"/>
            <a:ext cx="457200" cy="457200"/>
          </a:xfrm>
          <a:prstGeom prst="ellipse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97280" y="329184"/>
            <a:ext cx="8961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40" kern="0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· KPI FRAMEWORK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097280" y="585216"/>
            <a:ext cx="101498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Objective Has a KPI, a Target and an Owner</a:t>
            </a:r>
            <a:endParaRPr lang="en-US" sz="2300" dirty="0"/>
          </a:p>
        </p:txBody>
      </p:sp>
      <p:sp>
        <p:nvSpPr>
          <p:cNvPr id="6" name="Text 3"/>
          <p:cNvSpPr/>
          <p:nvPr/>
        </p:nvSpPr>
        <p:spPr>
          <a:xfrm>
            <a:off x="9966960" y="365760"/>
            <a:ext cx="17647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Assignment 10  |  ID 21172333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457200" y="1207008"/>
            <a:ext cx="11274552" cy="0"/>
          </a:xfrm>
          <a:prstGeom prst="line">
            <a:avLst/>
          </a:prstGeom>
          <a:noFill/>
          <a:ln w="12700">
            <a:solidFill>
              <a:srgbClr val="3A1420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457200" y="1417320"/>
            <a:ext cx="11274552" cy="457200"/>
          </a:xfrm>
          <a:prstGeom prst="rect">
            <a:avLst/>
          </a:prstGeom>
          <a:noFill/>
          <a:ln/>
        </p:spPr>
      </p:sp>
      <p:sp>
        <p:nvSpPr>
          <p:cNvPr id="9" name="Shape 6"/>
          <p:cNvSpPr/>
          <p:nvPr/>
        </p:nvSpPr>
        <p:spPr>
          <a:xfrm>
            <a:off x="457200" y="1417320"/>
            <a:ext cx="11274552" cy="457200"/>
          </a:xfrm>
          <a:prstGeom prst="rect">
            <a:avLst/>
          </a:prstGeom>
          <a:solidFill>
            <a:srgbClr val="800020"/>
          </a:solidFill>
          <a:ln/>
        </p:spPr>
      </p:sp>
      <p:sp>
        <p:nvSpPr>
          <p:cNvPr id="10" name="Text 7"/>
          <p:cNvSpPr/>
          <p:nvPr/>
        </p:nvSpPr>
        <p:spPr>
          <a:xfrm>
            <a:off x="594360" y="141732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2697480" y="1417320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Tracked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7360920" y="141732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9921240" y="1417320"/>
            <a:ext cx="17647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457200" y="1874520"/>
            <a:ext cx="11274552" cy="841248"/>
          </a:xfrm>
          <a:prstGeom prst="rect">
            <a:avLst/>
          </a:prstGeom>
          <a:solidFill>
            <a:srgbClr val="241018"/>
          </a:solidFill>
          <a:ln w="6350">
            <a:solidFill>
              <a:srgbClr val="3A142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94360" y="1874520"/>
            <a:ext cx="192024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Engagement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2697480" y="1874520"/>
            <a:ext cx="448056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8E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Engagement Rate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8E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(likes, comments, shares / reach)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7360920" y="1874520"/>
            <a:ext cx="237744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E8C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+20% in 3 months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9921240" y="1874520"/>
            <a:ext cx="1764792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8E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Owner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457200" y="2715768"/>
            <a:ext cx="11274552" cy="841248"/>
          </a:xfrm>
          <a:prstGeom prst="rect">
            <a:avLst/>
          </a:prstGeom>
          <a:solidFill>
            <a:srgbClr val="1D0C13"/>
          </a:solidFill>
          <a:ln w="6350">
            <a:solidFill>
              <a:srgbClr val="3A1420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94360" y="2715768"/>
            <a:ext cx="192024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Reel Reach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2697480" y="2715768"/>
            <a:ext cx="448056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8E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Reel Reach per post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7360920" y="2715768"/>
            <a:ext cx="237744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E8C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+20% in 3 months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9921240" y="2715768"/>
            <a:ext cx="1764792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8E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Creator</a:t>
            </a:r>
            <a:endParaRPr lang="en-US" sz="1400" dirty="0"/>
          </a:p>
        </p:txBody>
      </p:sp>
      <p:sp>
        <p:nvSpPr>
          <p:cNvPr id="24" name="Shape 21"/>
          <p:cNvSpPr/>
          <p:nvPr/>
        </p:nvSpPr>
        <p:spPr>
          <a:xfrm>
            <a:off x="457200" y="3557016"/>
            <a:ext cx="11274552" cy="841248"/>
          </a:xfrm>
          <a:prstGeom prst="rect">
            <a:avLst/>
          </a:prstGeom>
          <a:solidFill>
            <a:srgbClr val="241018"/>
          </a:solidFill>
          <a:ln w="6350">
            <a:solidFill>
              <a:srgbClr val="3A1420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594360" y="3557016"/>
            <a:ext cx="192024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Website Traffic</a:t>
            </a:r>
            <a:endParaRPr lang="en-US" sz="1400" dirty="0"/>
          </a:p>
        </p:txBody>
      </p:sp>
      <p:sp>
        <p:nvSpPr>
          <p:cNvPr id="26" name="Text 23"/>
          <p:cNvSpPr/>
          <p:nvPr/>
        </p:nvSpPr>
        <p:spPr>
          <a:xfrm>
            <a:off x="2697480" y="3557016"/>
            <a:ext cx="448056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8E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Qaim.shop sessions from social</a:t>
            </a:r>
            <a:endParaRPr lang="en-US" sz="1400" dirty="0"/>
          </a:p>
        </p:txBody>
      </p:sp>
      <p:sp>
        <p:nvSpPr>
          <p:cNvPr id="27" name="Text 24"/>
          <p:cNvSpPr/>
          <p:nvPr/>
        </p:nvSpPr>
        <p:spPr>
          <a:xfrm>
            <a:off x="7360920" y="3557016"/>
            <a:ext cx="237744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E8C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+15% in 3 months</a:t>
            </a:r>
            <a:endParaRPr lang="en-US" sz="1400" dirty="0"/>
          </a:p>
        </p:txBody>
      </p:sp>
      <p:sp>
        <p:nvSpPr>
          <p:cNvPr id="28" name="Text 25"/>
          <p:cNvSpPr/>
          <p:nvPr/>
        </p:nvSpPr>
        <p:spPr>
          <a:xfrm>
            <a:off x="9921240" y="3557016"/>
            <a:ext cx="1764792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8E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Owner</a:t>
            </a:r>
            <a:endParaRPr lang="en-US" sz="1400" dirty="0"/>
          </a:p>
        </p:txBody>
      </p:sp>
      <p:sp>
        <p:nvSpPr>
          <p:cNvPr id="29" name="Shape 26"/>
          <p:cNvSpPr/>
          <p:nvPr/>
        </p:nvSpPr>
        <p:spPr>
          <a:xfrm>
            <a:off x="457200" y="4398264"/>
            <a:ext cx="11274552" cy="841248"/>
          </a:xfrm>
          <a:prstGeom prst="rect">
            <a:avLst/>
          </a:prstGeom>
          <a:solidFill>
            <a:srgbClr val="1D0C13"/>
          </a:solidFill>
          <a:ln w="6350">
            <a:solidFill>
              <a:srgbClr val="3A1420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594360" y="4398264"/>
            <a:ext cx="192024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Orders</a:t>
            </a:r>
            <a:endParaRPr lang="en-US" sz="1400" dirty="0"/>
          </a:p>
        </p:txBody>
      </p:sp>
      <p:sp>
        <p:nvSpPr>
          <p:cNvPr id="31" name="Text 28"/>
          <p:cNvSpPr/>
          <p:nvPr/>
        </p:nvSpPr>
        <p:spPr>
          <a:xfrm>
            <a:off x="2697480" y="4398264"/>
            <a:ext cx="448056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8E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inquiries → confirmed orders</a:t>
            </a:r>
            <a:endParaRPr lang="en-US" sz="1400" dirty="0"/>
          </a:p>
        </p:txBody>
      </p:sp>
      <p:sp>
        <p:nvSpPr>
          <p:cNvPr id="32" name="Text 29"/>
          <p:cNvSpPr/>
          <p:nvPr/>
        </p:nvSpPr>
        <p:spPr>
          <a:xfrm>
            <a:off x="7360920" y="4398264"/>
            <a:ext cx="237744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E8C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+20% in 3 months</a:t>
            </a:r>
            <a:endParaRPr lang="en-US" sz="1400" dirty="0"/>
          </a:p>
        </p:txBody>
      </p:sp>
      <p:sp>
        <p:nvSpPr>
          <p:cNvPr id="33" name="Text 30"/>
          <p:cNvSpPr/>
          <p:nvPr/>
        </p:nvSpPr>
        <p:spPr>
          <a:xfrm>
            <a:off x="9921240" y="4398264"/>
            <a:ext cx="1764792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8E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Operations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707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29768" y="320040"/>
            <a:ext cx="512064" cy="512064"/>
          </a:xfrm>
          <a:prstGeom prst="ellipse">
            <a:avLst/>
          </a:prstGeom>
          <a:solidFill>
            <a:srgbClr val="D4AF37"/>
          </a:solidFill>
          <a:ln/>
        </p:spPr>
      </p:sp>
      <p:pic>
        <p:nvPicPr>
          <p:cNvPr id="3" name="Image 0" descr="/home/claude/work/qaim_logo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47472"/>
            <a:ext cx="457200" cy="457200"/>
          </a:xfrm>
          <a:prstGeom prst="ellipse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97280" y="329184"/>
            <a:ext cx="8961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40" kern="0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· KPI FRAMEWORK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097280" y="585216"/>
            <a:ext cx="101498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Supporting Content KPIs — Tracked Weekly</a:t>
            </a:r>
            <a:endParaRPr lang="en-US" sz="2300" dirty="0"/>
          </a:p>
        </p:txBody>
      </p:sp>
      <p:sp>
        <p:nvSpPr>
          <p:cNvPr id="6" name="Text 3"/>
          <p:cNvSpPr/>
          <p:nvPr/>
        </p:nvSpPr>
        <p:spPr>
          <a:xfrm>
            <a:off x="9966960" y="365760"/>
            <a:ext cx="17647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Assignment 10  |  ID 21172333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457200" y="1207008"/>
            <a:ext cx="11274552" cy="0"/>
          </a:xfrm>
          <a:prstGeom prst="line">
            <a:avLst/>
          </a:prstGeom>
          <a:noFill/>
          <a:ln w="12700">
            <a:solidFill>
              <a:srgbClr val="3A142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57200" y="14173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B9B0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roll up into the four objective-level KPIs on the previous slide.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57200" y="1920240"/>
            <a:ext cx="3611880" cy="1645920"/>
          </a:xfrm>
          <a:prstGeom prst="roundRect">
            <a:avLst>
              <a:gd name="adj" fmla="val 5000"/>
            </a:avLst>
          </a:prstGeom>
          <a:solidFill>
            <a:srgbClr val="241018"/>
          </a:solidFill>
          <a:ln w="12700">
            <a:solidFill>
              <a:srgbClr val="3A142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943100" y="2176272"/>
            <a:ext cx="640080" cy="640080"/>
          </a:xfrm>
          <a:prstGeom prst="ellipse">
            <a:avLst/>
          </a:prstGeom>
          <a:solidFill>
            <a:srgbClr val="D4AF37"/>
          </a:solidFill>
          <a:ln/>
        </p:spPr>
      </p:sp>
      <p:pic>
        <p:nvPicPr>
          <p:cNvPr id="11" name="Image 1" descr="/home/claude/work/icon_bookmar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9521" y="2342693"/>
            <a:ext cx="307238" cy="30723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94360" y="2880360"/>
            <a:ext cx="3337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Saves &amp; Shares</a:t>
            </a:r>
            <a:endParaRPr lang="en-US" sz="1450" dirty="0"/>
          </a:p>
        </p:txBody>
      </p:sp>
      <p:sp>
        <p:nvSpPr>
          <p:cNvPr id="13" name="Shape 9"/>
          <p:cNvSpPr/>
          <p:nvPr/>
        </p:nvSpPr>
        <p:spPr>
          <a:xfrm>
            <a:off x="4288536" y="1920240"/>
            <a:ext cx="3611880" cy="1645920"/>
          </a:xfrm>
          <a:prstGeom prst="roundRect">
            <a:avLst>
              <a:gd name="adj" fmla="val 5000"/>
            </a:avLst>
          </a:prstGeom>
          <a:solidFill>
            <a:srgbClr val="241018"/>
          </a:solidFill>
          <a:ln w="12700">
            <a:solidFill>
              <a:srgbClr val="3A1420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5774436" y="2176272"/>
            <a:ext cx="640080" cy="640080"/>
          </a:xfrm>
          <a:prstGeom prst="ellipse">
            <a:avLst/>
          </a:prstGeom>
          <a:solidFill>
            <a:srgbClr val="D4AF37"/>
          </a:solidFill>
          <a:ln/>
        </p:spPr>
      </p:sp>
      <p:pic>
        <p:nvPicPr>
          <p:cNvPr id="15" name="Image 2" descr="/home/claude/work/icon_clock2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0857" y="2342693"/>
            <a:ext cx="307238" cy="307238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4425696" y="2880360"/>
            <a:ext cx="3337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Time</a:t>
            </a:r>
            <a:endParaRPr lang="en-US" sz="1450" dirty="0"/>
          </a:p>
        </p:txBody>
      </p:sp>
      <p:sp>
        <p:nvSpPr>
          <p:cNvPr id="17" name="Shape 12"/>
          <p:cNvSpPr/>
          <p:nvPr/>
        </p:nvSpPr>
        <p:spPr>
          <a:xfrm>
            <a:off x="8119872" y="1920240"/>
            <a:ext cx="3611880" cy="1645920"/>
          </a:xfrm>
          <a:prstGeom prst="roundRect">
            <a:avLst>
              <a:gd name="adj" fmla="val 5000"/>
            </a:avLst>
          </a:prstGeom>
          <a:solidFill>
            <a:srgbClr val="241018"/>
          </a:solidFill>
          <a:ln w="12700">
            <a:solidFill>
              <a:srgbClr val="3A1420"/>
            </a:solidFill>
            <a:prstDash val="solid"/>
          </a:ln>
        </p:spPr>
      </p:sp>
      <p:sp>
        <p:nvSpPr>
          <p:cNvPr id="18" name="Shape 13"/>
          <p:cNvSpPr/>
          <p:nvPr/>
        </p:nvSpPr>
        <p:spPr>
          <a:xfrm>
            <a:off x="9605772" y="2176272"/>
            <a:ext cx="640080" cy="640080"/>
          </a:xfrm>
          <a:prstGeom prst="ellipse">
            <a:avLst/>
          </a:prstGeom>
          <a:solidFill>
            <a:srgbClr val="D4AF37"/>
          </a:solidFill>
          <a:ln/>
        </p:spPr>
      </p:sp>
      <p:pic>
        <p:nvPicPr>
          <p:cNvPr id="19" name="Image 3" descr="/home/claude/work/icon_user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72193" y="2342693"/>
            <a:ext cx="307238" cy="307238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8257032" y="2880360"/>
            <a:ext cx="3337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 Visits</a:t>
            </a:r>
            <a:endParaRPr lang="en-US" sz="1450" dirty="0"/>
          </a:p>
        </p:txBody>
      </p:sp>
      <p:sp>
        <p:nvSpPr>
          <p:cNvPr id="21" name="Shape 15"/>
          <p:cNvSpPr/>
          <p:nvPr/>
        </p:nvSpPr>
        <p:spPr>
          <a:xfrm>
            <a:off x="457200" y="3785616"/>
            <a:ext cx="3611880" cy="1645920"/>
          </a:xfrm>
          <a:prstGeom prst="roundRect">
            <a:avLst>
              <a:gd name="adj" fmla="val 5000"/>
            </a:avLst>
          </a:prstGeom>
          <a:solidFill>
            <a:srgbClr val="241018"/>
          </a:solidFill>
          <a:ln w="12700">
            <a:solidFill>
              <a:srgbClr val="3A1420"/>
            </a:solidFill>
            <a:prstDash val="solid"/>
          </a:ln>
        </p:spPr>
      </p:sp>
      <p:sp>
        <p:nvSpPr>
          <p:cNvPr id="22" name="Shape 16"/>
          <p:cNvSpPr/>
          <p:nvPr/>
        </p:nvSpPr>
        <p:spPr>
          <a:xfrm>
            <a:off x="1943100" y="4041648"/>
            <a:ext cx="640080" cy="640080"/>
          </a:xfrm>
          <a:prstGeom prst="ellipse">
            <a:avLst/>
          </a:prstGeom>
          <a:solidFill>
            <a:srgbClr val="D4AF37"/>
          </a:solidFill>
          <a:ln/>
        </p:spPr>
      </p:sp>
      <p:pic>
        <p:nvPicPr>
          <p:cNvPr id="23" name="Image 4" descr="/home/claude/work/icon_ey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09521" y="4208069"/>
            <a:ext cx="307238" cy="307238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594360" y="4745736"/>
            <a:ext cx="3337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Page Views</a:t>
            </a:r>
            <a:endParaRPr lang="en-US" sz="1450" dirty="0"/>
          </a:p>
        </p:txBody>
      </p:sp>
      <p:sp>
        <p:nvSpPr>
          <p:cNvPr id="25" name="Shape 18"/>
          <p:cNvSpPr/>
          <p:nvPr/>
        </p:nvSpPr>
        <p:spPr>
          <a:xfrm>
            <a:off x="4288536" y="3785616"/>
            <a:ext cx="3611880" cy="1645920"/>
          </a:xfrm>
          <a:prstGeom prst="roundRect">
            <a:avLst>
              <a:gd name="adj" fmla="val 5000"/>
            </a:avLst>
          </a:prstGeom>
          <a:solidFill>
            <a:srgbClr val="241018"/>
          </a:solidFill>
          <a:ln w="12700">
            <a:solidFill>
              <a:srgbClr val="3A1420"/>
            </a:solidFill>
            <a:prstDash val="solid"/>
          </a:ln>
        </p:spPr>
      </p:sp>
      <p:sp>
        <p:nvSpPr>
          <p:cNvPr id="26" name="Shape 19"/>
          <p:cNvSpPr/>
          <p:nvPr/>
        </p:nvSpPr>
        <p:spPr>
          <a:xfrm>
            <a:off x="5774436" y="4041648"/>
            <a:ext cx="640080" cy="640080"/>
          </a:xfrm>
          <a:prstGeom prst="ellipse">
            <a:avLst/>
          </a:prstGeom>
          <a:solidFill>
            <a:srgbClr val="D4AF37"/>
          </a:solidFill>
          <a:ln/>
        </p:spPr>
      </p:sp>
      <p:pic>
        <p:nvPicPr>
          <p:cNvPr id="27" name="Image 5" descr="/home/claude/work/icon_comment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40857" y="4208069"/>
            <a:ext cx="307238" cy="307238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4425696" y="4745736"/>
            <a:ext cx="3337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 Response Time</a:t>
            </a:r>
            <a:endParaRPr lang="en-US" sz="1450" dirty="0"/>
          </a:p>
        </p:txBody>
      </p:sp>
      <p:sp>
        <p:nvSpPr>
          <p:cNvPr id="29" name="Shape 21"/>
          <p:cNvSpPr/>
          <p:nvPr/>
        </p:nvSpPr>
        <p:spPr>
          <a:xfrm>
            <a:off x="8119872" y="3785616"/>
            <a:ext cx="3611880" cy="1645920"/>
          </a:xfrm>
          <a:prstGeom prst="roundRect">
            <a:avLst>
              <a:gd name="adj" fmla="val 5000"/>
            </a:avLst>
          </a:prstGeom>
          <a:solidFill>
            <a:srgbClr val="241018"/>
          </a:solidFill>
          <a:ln w="12700">
            <a:solidFill>
              <a:srgbClr val="3A1420"/>
            </a:solidFill>
            <a:prstDash val="solid"/>
          </a:ln>
        </p:spPr>
      </p:sp>
      <p:sp>
        <p:nvSpPr>
          <p:cNvPr id="30" name="Shape 22"/>
          <p:cNvSpPr/>
          <p:nvPr/>
        </p:nvSpPr>
        <p:spPr>
          <a:xfrm>
            <a:off x="9605772" y="4041648"/>
            <a:ext cx="640080" cy="640080"/>
          </a:xfrm>
          <a:prstGeom prst="ellipse">
            <a:avLst/>
          </a:prstGeom>
          <a:solidFill>
            <a:srgbClr val="D4AF37"/>
          </a:solidFill>
          <a:ln/>
        </p:spPr>
      </p:sp>
      <p:pic>
        <p:nvPicPr>
          <p:cNvPr id="31" name="Image 6" descr="/home/claude/work/icon_clock2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772193" y="4208069"/>
            <a:ext cx="307238" cy="307238"/>
          </a:xfrm>
          <a:prstGeom prst="rect">
            <a:avLst/>
          </a:prstGeom>
        </p:spPr>
      </p:pic>
      <p:sp>
        <p:nvSpPr>
          <p:cNvPr id="32" name="Text 23"/>
          <p:cNvSpPr/>
          <p:nvPr/>
        </p:nvSpPr>
        <p:spPr>
          <a:xfrm>
            <a:off x="8257032" y="4745736"/>
            <a:ext cx="3337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Response Time</a:t>
            </a:r>
            <a:endParaRPr lang="en-US" sz="14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29768" y="320040"/>
            <a:ext cx="512064" cy="512064"/>
          </a:xfrm>
          <a:prstGeom prst="ellipse">
            <a:avLst/>
          </a:prstGeom>
          <a:solidFill>
            <a:srgbClr val="D4AF37"/>
          </a:solidFill>
          <a:ln/>
        </p:spPr>
      </p:sp>
      <p:pic>
        <p:nvPicPr>
          <p:cNvPr id="3" name="Image 0" descr="/home/claude/work/qaim_logo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47472"/>
            <a:ext cx="457200" cy="457200"/>
          </a:xfrm>
          <a:prstGeom prst="ellipse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97280" y="329184"/>
            <a:ext cx="8961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40" kern="0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· REPORTING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097280" y="585216"/>
            <a:ext cx="101498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Weekly KPI Dashboard — Reviewed Every Monday</a:t>
            </a:r>
            <a:endParaRPr lang="en-US" sz="2300" dirty="0"/>
          </a:p>
        </p:txBody>
      </p:sp>
      <p:sp>
        <p:nvSpPr>
          <p:cNvPr id="6" name="Text 3"/>
          <p:cNvSpPr/>
          <p:nvPr/>
        </p:nvSpPr>
        <p:spPr>
          <a:xfrm>
            <a:off x="9966960" y="365760"/>
            <a:ext cx="17647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Assignment 10  |  ID 21172333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457200" y="1207008"/>
            <a:ext cx="11274552" cy="0"/>
          </a:xfrm>
          <a:prstGeom prst="line">
            <a:avLst/>
          </a:prstGeom>
          <a:noFill/>
          <a:ln w="12700">
            <a:solidFill>
              <a:srgbClr val="E4E0DA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457200" y="1417320"/>
            <a:ext cx="5440680" cy="1965960"/>
          </a:xfrm>
          <a:prstGeom prst="roundRect">
            <a:avLst>
              <a:gd name="adj" fmla="val 3721"/>
            </a:avLst>
          </a:prstGeom>
          <a:solidFill>
            <a:srgbClr val="111111"/>
          </a:solidFill>
          <a:ln w="12700">
            <a:solidFill>
              <a:srgbClr val="E4E0D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31520" y="1600200"/>
            <a:ext cx="4892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CFC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Engagement Rate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731520" y="1874520"/>
            <a:ext cx="2377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D4AF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4.8%</a:t>
            </a:r>
            <a:endParaRPr lang="en-US" sz="3400" dirty="0"/>
          </a:p>
        </p:txBody>
      </p:sp>
      <p:sp>
        <p:nvSpPr>
          <p:cNvPr id="11" name="Text 8"/>
          <p:cNvSpPr/>
          <p:nvPr/>
        </p:nvSpPr>
        <p:spPr>
          <a:xfrm>
            <a:off x="731520" y="2587752"/>
            <a:ext cx="4892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5.5%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731520" y="2953512"/>
            <a:ext cx="4892040" cy="146304"/>
          </a:xfrm>
          <a:prstGeom prst="roundRect">
            <a:avLst>
              <a:gd name="adj" fmla="val 50000"/>
            </a:avLst>
          </a:prstGeom>
          <a:solidFill>
            <a:srgbClr val="3A1420"/>
          </a:solidFill>
          <a:ln/>
        </p:spPr>
      </p:sp>
      <p:sp>
        <p:nvSpPr>
          <p:cNvPr id="13" name="Shape 10"/>
          <p:cNvSpPr/>
          <p:nvPr/>
        </p:nvSpPr>
        <p:spPr>
          <a:xfrm>
            <a:off x="731520" y="2953512"/>
            <a:ext cx="4256075" cy="146304"/>
          </a:xfrm>
          <a:prstGeom prst="roundRect">
            <a:avLst>
              <a:gd name="adj" fmla="val 50000"/>
            </a:avLst>
          </a:prstGeom>
          <a:solidFill>
            <a:srgbClr val="D4AF37"/>
          </a:solidFill>
          <a:ln/>
        </p:spPr>
      </p:sp>
      <p:sp>
        <p:nvSpPr>
          <p:cNvPr id="14" name="Text 11"/>
          <p:cNvSpPr/>
          <p:nvPr/>
        </p:nvSpPr>
        <p:spPr>
          <a:xfrm>
            <a:off x="731520" y="3154680"/>
            <a:ext cx="4892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87% of target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6291072" y="1417320"/>
            <a:ext cx="5440680" cy="1965960"/>
          </a:xfrm>
          <a:prstGeom prst="roundRect">
            <a:avLst>
              <a:gd name="adj" fmla="val 3721"/>
            </a:avLst>
          </a:prstGeom>
          <a:solidFill>
            <a:srgbClr val="111111"/>
          </a:solidFill>
          <a:ln w="12700">
            <a:solidFill>
              <a:srgbClr val="E4E0DA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565392" y="1600200"/>
            <a:ext cx="4892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CFC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Reel Reach</a:t>
            </a:r>
            <a:endParaRPr lang="en-US" sz="1450" dirty="0"/>
          </a:p>
        </p:txBody>
      </p:sp>
      <p:sp>
        <p:nvSpPr>
          <p:cNvPr id="17" name="Text 14"/>
          <p:cNvSpPr/>
          <p:nvPr/>
        </p:nvSpPr>
        <p:spPr>
          <a:xfrm>
            <a:off x="6565392" y="1874520"/>
            <a:ext cx="2377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D4AF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18.4K</a:t>
            </a:r>
            <a:endParaRPr lang="en-US" sz="3400" dirty="0"/>
          </a:p>
        </p:txBody>
      </p:sp>
      <p:sp>
        <p:nvSpPr>
          <p:cNvPr id="18" name="Text 15"/>
          <p:cNvSpPr/>
          <p:nvPr/>
        </p:nvSpPr>
        <p:spPr>
          <a:xfrm>
            <a:off x="6565392" y="2587752"/>
            <a:ext cx="4892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22K</a:t>
            </a:r>
            <a:endParaRPr lang="en-US" sz="1250" dirty="0"/>
          </a:p>
        </p:txBody>
      </p:sp>
      <p:sp>
        <p:nvSpPr>
          <p:cNvPr id="19" name="Shape 16"/>
          <p:cNvSpPr/>
          <p:nvPr/>
        </p:nvSpPr>
        <p:spPr>
          <a:xfrm>
            <a:off x="6565392" y="2953512"/>
            <a:ext cx="4892040" cy="146304"/>
          </a:xfrm>
          <a:prstGeom prst="roundRect">
            <a:avLst>
              <a:gd name="adj" fmla="val 50000"/>
            </a:avLst>
          </a:prstGeom>
          <a:solidFill>
            <a:srgbClr val="3A1420"/>
          </a:solidFill>
          <a:ln/>
        </p:spPr>
      </p:sp>
      <p:sp>
        <p:nvSpPr>
          <p:cNvPr id="20" name="Shape 17"/>
          <p:cNvSpPr/>
          <p:nvPr/>
        </p:nvSpPr>
        <p:spPr>
          <a:xfrm>
            <a:off x="6565392" y="2953512"/>
            <a:ext cx="4109314" cy="146304"/>
          </a:xfrm>
          <a:prstGeom prst="roundRect">
            <a:avLst>
              <a:gd name="adj" fmla="val 50000"/>
            </a:avLst>
          </a:prstGeom>
          <a:solidFill>
            <a:srgbClr val="D4AF37"/>
          </a:solidFill>
          <a:ln/>
        </p:spPr>
      </p:sp>
      <p:sp>
        <p:nvSpPr>
          <p:cNvPr id="21" name="Text 18"/>
          <p:cNvSpPr/>
          <p:nvPr/>
        </p:nvSpPr>
        <p:spPr>
          <a:xfrm>
            <a:off x="6565392" y="3154680"/>
            <a:ext cx="4892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84% of target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457200" y="3611880"/>
            <a:ext cx="5440680" cy="1965960"/>
          </a:xfrm>
          <a:prstGeom prst="roundRect">
            <a:avLst>
              <a:gd name="adj" fmla="val 3721"/>
            </a:avLst>
          </a:prstGeom>
          <a:solidFill>
            <a:srgbClr val="111111"/>
          </a:solidFill>
          <a:ln w="12700">
            <a:solidFill>
              <a:srgbClr val="E4E0DA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731520" y="3794760"/>
            <a:ext cx="4892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CFC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Website Clicks / wk</a:t>
            </a:r>
            <a:endParaRPr lang="en-US" sz="1450" dirty="0"/>
          </a:p>
        </p:txBody>
      </p:sp>
      <p:sp>
        <p:nvSpPr>
          <p:cNvPr id="24" name="Text 21"/>
          <p:cNvSpPr/>
          <p:nvPr/>
        </p:nvSpPr>
        <p:spPr>
          <a:xfrm>
            <a:off x="731520" y="4069080"/>
            <a:ext cx="2377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D4AF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612</a:t>
            </a:r>
            <a:endParaRPr lang="en-US" sz="3400" dirty="0"/>
          </a:p>
        </p:txBody>
      </p:sp>
      <p:sp>
        <p:nvSpPr>
          <p:cNvPr id="25" name="Text 22"/>
          <p:cNvSpPr/>
          <p:nvPr/>
        </p:nvSpPr>
        <p:spPr>
          <a:xfrm>
            <a:off x="731520" y="4782312"/>
            <a:ext cx="4892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700</a:t>
            </a:r>
            <a:endParaRPr lang="en-US" sz="1250" dirty="0"/>
          </a:p>
        </p:txBody>
      </p:sp>
      <p:sp>
        <p:nvSpPr>
          <p:cNvPr id="26" name="Shape 23"/>
          <p:cNvSpPr/>
          <p:nvPr/>
        </p:nvSpPr>
        <p:spPr>
          <a:xfrm>
            <a:off x="731520" y="5148072"/>
            <a:ext cx="4892040" cy="146304"/>
          </a:xfrm>
          <a:prstGeom prst="roundRect">
            <a:avLst>
              <a:gd name="adj" fmla="val 50000"/>
            </a:avLst>
          </a:prstGeom>
          <a:solidFill>
            <a:srgbClr val="3A1420"/>
          </a:solidFill>
          <a:ln/>
        </p:spPr>
      </p:sp>
      <p:sp>
        <p:nvSpPr>
          <p:cNvPr id="27" name="Shape 24"/>
          <p:cNvSpPr/>
          <p:nvPr/>
        </p:nvSpPr>
        <p:spPr>
          <a:xfrm>
            <a:off x="731520" y="5148072"/>
            <a:ext cx="4256075" cy="146304"/>
          </a:xfrm>
          <a:prstGeom prst="roundRect">
            <a:avLst>
              <a:gd name="adj" fmla="val 50000"/>
            </a:avLst>
          </a:prstGeom>
          <a:solidFill>
            <a:srgbClr val="D4AF37"/>
          </a:solidFill>
          <a:ln/>
        </p:spPr>
      </p:sp>
      <p:sp>
        <p:nvSpPr>
          <p:cNvPr id="28" name="Text 25"/>
          <p:cNvSpPr/>
          <p:nvPr/>
        </p:nvSpPr>
        <p:spPr>
          <a:xfrm>
            <a:off x="731520" y="5349240"/>
            <a:ext cx="4892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87% of target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6291072" y="3611880"/>
            <a:ext cx="5440680" cy="1965960"/>
          </a:xfrm>
          <a:prstGeom prst="roundRect">
            <a:avLst>
              <a:gd name="adj" fmla="val 3721"/>
            </a:avLst>
          </a:prstGeom>
          <a:solidFill>
            <a:srgbClr val="111111"/>
          </a:solidFill>
          <a:ln w="12700">
            <a:solidFill>
              <a:srgbClr val="E4E0DA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6565392" y="3794760"/>
            <a:ext cx="4892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CFC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Orders / wk</a:t>
            </a:r>
            <a:endParaRPr lang="en-US" sz="1450" dirty="0"/>
          </a:p>
        </p:txBody>
      </p:sp>
      <p:sp>
        <p:nvSpPr>
          <p:cNvPr id="31" name="Text 28"/>
          <p:cNvSpPr/>
          <p:nvPr/>
        </p:nvSpPr>
        <p:spPr>
          <a:xfrm>
            <a:off x="6565392" y="4069080"/>
            <a:ext cx="2377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D4AF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39</a:t>
            </a:r>
            <a:endParaRPr lang="en-US" sz="3400" dirty="0"/>
          </a:p>
        </p:txBody>
      </p:sp>
      <p:sp>
        <p:nvSpPr>
          <p:cNvPr id="32" name="Text 29"/>
          <p:cNvSpPr/>
          <p:nvPr/>
        </p:nvSpPr>
        <p:spPr>
          <a:xfrm>
            <a:off x="6565392" y="4782312"/>
            <a:ext cx="4892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45</a:t>
            </a:r>
            <a:endParaRPr lang="en-US" sz="1250" dirty="0"/>
          </a:p>
        </p:txBody>
      </p:sp>
      <p:sp>
        <p:nvSpPr>
          <p:cNvPr id="33" name="Shape 30"/>
          <p:cNvSpPr/>
          <p:nvPr/>
        </p:nvSpPr>
        <p:spPr>
          <a:xfrm>
            <a:off x="6565392" y="5148072"/>
            <a:ext cx="4892040" cy="146304"/>
          </a:xfrm>
          <a:prstGeom prst="roundRect">
            <a:avLst>
              <a:gd name="adj" fmla="val 50000"/>
            </a:avLst>
          </a:prstGeom>
          <a:solidFill>
            <a:srgbClr val="3A1420"/>
          </a:solidFill>
          <a:ln/>
        </p:spPr>
      </p:sp>
      <p:sp>
        <p:nvSpPr>
          <p:cNvPr id="34" name="Shape 31"/>
          <p:cNvSpPr/>
          <p:nvPr/>
        </p:nvSpPr>
        <p:spPr>
          <a:xfrm>
            <a:off x="6565392" y="5148072"/>
            <a:ext cx="4256075" cy="146304"/>
          </a:xfrm>
          <a:prstGeom prst="roundRect">
            <a:avLst>
              <a:gd name="adj" fmla="val 50000"/>
            </a:avLst>
          </a:prstGeom>
          <a:solidFill>
            <a:srgbClr val="D4AF37"/>
          </a:solidFill>
          <a:ln/>
        </p:spPr>
      </p:sp>
      <p:sp>
        <p:nvSpPr>
          <p:cNvPr id="35" name="Text 32"/>
          <p:cNvSpPr/>
          <p:nvPr/>
        </p:nvSpPr>
        <p:spPr>
          <a:xfrm>
            <a:off x="6565392" y="5349240"/>
            <a:ext cx="4892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87% of target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29768" y="320040"/>
            <a:ext cx="512064" cy="512064"/>
          </a:xfrm>
          <a:prstGeom prst="ellipse">
            <a:avLst/>
          </a:prstGeom>
          <a:solidFill>
            <a:srgbClr val="D4AF37"/>
          </a:solidFill>
          <a:ln/>
        </p:spPr>
      </p:sp>
      <p:pic>
        <p:nvPicPr>
          <p:cNvPr id="3" name="Image 0" descr="/home/claude/work/qaim_logo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47472"/>
            <a:ext cx="457200" cy="457200"/>
          </a:xfrm>
          <a:prstGeom prst="ellipse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97280" y="329184"/>
            <a:ext cx="8961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40" kern="0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· REPORTING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097280" y="585216"/>
            <a:ext cx="101498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Engagement Trend &amp; Real Baseline Reference</a:t>
            </a:r>
            <a:endParaRPr lang="en-US" sz="2300" dirty="0"/>
          </a:p>
        </p:txBody>
      </p:sp>
      <p:sp>
        <p:nvSpPr>
          <p:cNvPr id="6" name="Text 3"/>
          <p:cNvSpPr/>
          <p:nvPr/>
        </p:nvSpPr>
        <p:spPr>
          <a:xfrm>
            <a:off x="9966960" y="365760"/>
            <a:ext cx="17647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Assignment 10  |  ID 21172333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457200" y="1207008"/>
            <a:ext cx="11274552" cy="0"/>
          </a:xfrm>
          <a:prstGeom prst="line">
            <a:avLst/>
          </a:prstGeom>
          <a:noFill/>
          <a:ln w="12700">
            <a:solidFill>
              <a:srgbClr val="E4E0DA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457200" y="1417320"/>
            <a:ext cx="6949440" cy="4434840"/>
          </a:xfrm>
          <a:prstGeom prst="roundRect">
            <a:avLst>
              <a:gd name="adj" fmla="val 1649"/>
            </a:avLst>
          </a:prstGeom>
          <a:solidFill>
            <a:srgbClr val="F7F7F7"/>
          </a:solidFill>
          <a:ln w="12700">
            <a:solidFill>
              <a:srgbClr val="E4E0D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731520" y="160020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Engagement Rate — Last 6 Weeks (Illustrative)</a:t>
            </a:r>
            <a:endParaRPr lang="en-US" sz="1500" dirty="0"/>
          </a:p>
        </p:txBody>
      </p:sp>
      <p:graphicFrame>
        <p:nvGraphicFramePr>
          <p:cNvPr id="10" name="Chart 0" descr=""/>
          <p:cNvGraphicFramePr/>
          <p:nvPr/>
        </p:nvGraphicFramePr>
        <p:xfrm>
          <a:off x="731520" y="2057400"/>
          <a:ext cx="640080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1" name="Shape 7"/>
          <p:cNvSpPr/>
          <p:nvPr/>
        </p:nvSpPr>
        <p:spPr>
          <a:xfrm>
            <a:off x="7571232" y="1417320"/>
            <a:ext cx="4160520" cy="4434840"/>
          </a:xfrm>
          <a:prstGeom prst="roundRect">
            <a:avLst>
              <a:gd name="adj" fmla="val 1758"/>
            </a:avLst>
          </a:prstGeom>
          <a:solidFill>
            <a:srgbClr val="F7F7F7"/>
          </a:solidFill>
          <a:ln w="12700">
            <a:solidFill>
              <a:srgbClr val="E4E0D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2" name="Text 8"/>
          <p:cNvSpPr/>
          <p:nvPr/>
        </p:nvSpPr>
        <p:spPr>
          <a:xfrm>
            <a:off x="7845552" y="1618488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800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Reference</a:t>
            </a:r>
            <a:endParaRPr lang="en-US" sz="1550" dirty="0"/>
          </a:p>
        </p:txBody>
      </p:sp>
      <p:sp>
        <p:nvSpPr>
          <p:cNvPr id="13" name="Text 9"/>
          <p:cNvSpPr/>
          <p:nvPr/>
        </p:nvSpPr>
        <p:spPr>
          <a:xfrm>
            <a:off x="7845552" y="2103120"/>
            <a:ext cx="365760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62K
</a:t>
            </a:r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Facebook followers
</a:t>
            </a:r>
            <a:pPr indent="0" marL="0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592  </a:t>
            </a:r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posts published
</a:t>
            </a:r>
            <a:pPr indent="0" marL="0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96%  </a:t>
            </a:r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 rating
</a:t>
            </a:r>
            <a:endParaRPr lang="en-US" sz="3000" dirty="0"/>
          </a:p>
        </p:txBody>
      </p:sp>
      <p:sp>
        <p:nvSpPr>
          <p:cNvPr id="14" name="Text 10"/>
          <p:cNvSpPr/>
          <p:nvPr/>
        </p:nvSpPr>
        <p:spPr>
          <a:xfrm>
            <a:off x="7845552" y="530352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Qaim official Facebook page (facebook.com/Qaimbrand.AA) &amp; qaim.shop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29768" y="320040"/>
            <a:ext cx="512064" cy="512064"/>
          </a:xfrm>
          <a:prstGeom prst="ellipse">
            <a:avLst/>
          </a:prstGeom>
          <a:solidFill>
            <a:srgbClr val="D4AF37"/>
          </a:solidFill>
          <a:ln/>
        </p:spPr>
      </p:sp>
      <p:pic>
        <p:nvPicPr>
          <p:cNvPr id="3" name="Image 0" descr="/home/claude/work/qaim_logo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47472"/>
            <a:ext cx="457200" cy="457200"/>
          </a:xfrm>
          <a:prstGeom prst="ellipse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97280" y="329184"/>
            <a:ext cx="8961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40" kern="0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· DECISION RULES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097280" y="585216"/>
            <a:ext cx="101498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Optimization Decision Rules — If This, Then That</a:t>
            </a:r>
            <a:endParaRPr lang="en-US" sz="2300" dirty="0"/>
          </a:p>
        </p:txBody>
      </p:sp>
      <p:sp>
        <p:nvSpPr>
          <p:cNvPr id="6" name="Text 3"/>
          <p:cNvSpPr/>
          <p:nvPr/>
        </p:nvSpPr>
        <p:spPr>
          <a:xfrm>
            <a:off x="9966960" y="365760"/>
            <a:ext cx="17647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Assignment 10  |  ID 21172333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457200" y="1207008"/>
            <a:ext cx="11274552" cy="0"/>
          </a:xfrm>
          <a:prstGeom prst="line">
            <a:avLst/>
          </a:prstGeom>
          <a:noFill/>
          <a:ln w="12700">
            <a:solidFill>
              <a:srgbClr val="E4E0DA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457200" y="1417320"/>
            <a:ext cx="11274552" cy="1078992"/>
          </a:xfrm>
          <a:prstGeom prst="roundRect">
            <a:avLst>
              <a:gd name="adj" fmla="val 6780"/>
            </a:avLst>
          </a:prstGeom>
          <a:solidFill>
            <a:srgbClr val="F7F7F7"/>
          </a:solidFill>
          <a:ln w="12700">
            <a:solidFill>
              <a:srgbClr val="E4E0D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658368" y="1700784"/>
            <a:ext cx="512064" cy="512064"/>
          </a:xfrm>
          <a:prstGeom prst="ellipse">
            <a:avLst/>
          </a:prstGeom>
          <a:solidFill>
            <a:srgbClr val="9E2B2B"/>
          </a:solidFill>
          <a:ln/>
        </p:spPr>
      </p:sp>
      <p:pic>
        <p:nvPicPr>
          <p:cNvPr id="10" name="Image 1" descr="/home/claude/work/icon_warning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1505" y="1833921"/>
            <a:ext cx="245791" cy="245791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371600" y="150876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Retention</a:t>
            </a:r>
            <a:endParaRPr lang="en-US" sz="1550" dirty="0"/>
          </a:p>
        </p:txBody>
      </p:sp>
      <p:sp>
        <p:nvSpPr>
          <p:cNvPr id="12" name="Text 8"/>
          <p:cNvSpPr/>
          <p:nvPr/>
        </p:nvSpPr>
        <p:spPr>
          <a:xfrm>
            <a:off x="1371600" y="1984248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i="1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Viewers drop off before 3 seconds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4434840" y="1554480"/>
            <a:ext cx="0" cy="804672"/>
          </a:xfrm>
          <a:prstGeom prst="line">
            <a:avLst/>
          </a:prstGeom>
          <a:noFill/>
          <a:ln w="12700">
            <a:solidFill>
              <a:srgbClr val="E4E0DA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4663440" y="1417320"/>
            <a:ext cx="6858000" cy="1078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50" b="1" dirty="0">
                <a:solidFill>
                  <a:srgbClr val="800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Action:  </a:t>
            </a:r>
            <a:pPr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the first 3-second hook; test a new opening question or visual.</a:t>
            </a:r>
            <a:endParaRPr lang="en-US" sz="1450" dirty="0"/>
          </a:p>
        </p:txBody>
      </p:sp>
      <p:sp>
        <p:nvSpPr>
          <p:cNvPr id="15" name="Shape 11"/>
          <p:cNvSpPr/>
          <p:nvPr/>
        </p:nvSpPr>
        <p:spPr>
          <a:xfrm>
            <a:off x="457200" y="2606040"/>
            <a:ext cx="11274552" cy="1078992"/>
          </a:xfrm>
          <a:prstGeom prst="roundRect">
            <a:avLst>
              <a:gd name="adj" fmla="val 6780"/>
            </a:avLst>
          </a:prstGeom>
          <a:solidFill>
            <a:srgbClr val="F7F7F7"/>
          </a:solidFill>
          <a:ln w="12700">
            <a:solidFill>
              <a:srgbClr val="E4E0D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58368" y="2889504"/>
            <a:ext cx="512064" cy="512064"/>
          </a:xfrm>
          <a:prstGeom prst="ellipse">
            <a:avLst/>
          </a:prstGeom>
          <a:solidFill>
            <a:srgbClr val="2E7D4F"/>
          </a:solidFill>
          <a:ln/>
        </p:spPr>
      </p:sp>
      <p:pic>
        <p:nvPicPr>
          <p:cNvPr id="17" name="Image 2" descr="/home/claude/work/icon_bookmar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1505" y="3022641"/>
            <a:ext cx="245791" cy="245791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371600" y="269748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Saves</a:t>
            </a:r>
            <a:endParaRPr lang="en-US" sz="1550" dirty="0"/>
          </a:p>
        </p:txBody>
      </p:sp>
      <p:sp>
        <p:nvSpPr>
          <p:cNvPr id="19" name="Text 14"/>
          <p:cNvSpPr/>
          <p:nvPr/>
        </p:nvSpPr>
        <p:spPr>
          <a:xfrm>
            <a:off x="1371600" y="3172968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i="1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Carousel or Reel is saved above average</a:t>
            </a:r>
            <a:endParaRPr lang="en-US" sz="1150" dirty="0"/>
          </a:p>
        </p:txBody>
      </p:sp>
      <p:sp>
        <p:nvSpPr>
          <p:cNvPr id="20" name="Shape 15"/>
          <p:cNvSpPr/>
          <p:nvPr/>
        </p:nvSpPr>
        <p:spPr>
          <a:xfrm>
            <a:off x="4434840" y="2743200"/>
            <a:ext cx="0" cy="804672"/>
          </a:xfrm>
          <a:prstGeom prst="line">
            <a:avLst/>
          </a:prstGeom>
          <a:noFill/>
          <a:ln w="12700">
            <a:solidFill>
              <a:srgbClr val="E4E0DA"/>
            </a:solidFill>
            <a:prstDash val="solid"/>
          </a:ln>
        </p:spPr>
      </p:sp>
      <p:sp>
        <p:nvSpPr>
          <p:cNvPr id="21" name="Text 16"/>
          <p:cNvSpPr/>
          <p:nvPr/>
        </p:nvSpPr>
        <p:spPr>
          <a:xfrm>
            <a:off x="4663440" y="2606040"/>
            <a:ext cx="6858000" cy="1078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50" b="1" dirty="0">
                <a:solidFill>
                  <a:srgbClr val="800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Action:  </a:t>
            </a:r>
            <a:pPr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 similar / follow-up formats quickly while interest is high.</a:t>
            </a:r>
            <a:endParaRPr lang="en-US" sz="1450" dirty="0"/>
          </a:p>
        </p:txBody>
      </p:sp>
      <p:sp>
        <p:nvSpPr>
          <p:cNvPr id="22" name="Shape 17"/>
          <p:cNvSpPr/>
          <p:nvPr/>
        </p:nvSpPr>
        <p:spPr>
          <a:xfrm>
            <a:off x="457200" y="3794760"/>
            <a:ext cx="11274552" cy="1078992"/>
          </a:xfrm>
          <a:prstGeom prst="roundRect">
            <a:avLst>
              <a:gd name="adj" fmla="val 6780"/>
            </a:avLst>
          </a:prstGeom>
          <a:solidFill>
            <a:srgbClr val="F7F7F7"/>
          </a:solidFill>
          <a:ln w="12700">
            <a:solidFill>
              <a:srgbClr val="E4E0D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658368" y="4078224"/>
            <a:ext cx="512064" cy="512064"/>
          </a:xfrm>
          <a:prstGeom prst="ellipse">
            <a:avLst/>
          </a:prstGeom>
          <a:solidFill>
            <a:srgbClr val="2E7D4F"/>
          </a:solidFill>
          <a:ln/>
        </p:spPr>
      </p:sp>
      <p:pic>
        <p:nvPicPr>
          <p:cNvPr id="24" name="Image 3" descr="/home/claude/work/icon_shar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1505" y="4211361"/>
            <a:ext cx="245791" cy="245791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1371600" y="388620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Shares</a:t>
            </a:r>
            <a:endParaRPr lang="en-US" sz="1550" dirty="0"/>
          </a:p>
        </p:txBody>
      </p:sp>
      <p:sp>
        <p:nvSpPr>
          <p:cNvPr id="26" name="Text 20"/>
          <p:cNvSpPr/>
          <p:nvPr/>
        </p:nvSpPr>
        <p:spPr>
          <a:xfrm>
            <a:off x="1371600" y="4361688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i="1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post is shared more than usual</a:t>
            </a:r>
            <a:endParaRPr lang="en-US" sz="1150" dirty="0"/>
          </a:p>
        </p:txBody>
      </p:sp>
      <p:sp>
        <p:nvSpPr>
          <p:cNvPr id="27" name="Shape 21"/>
          <p:cNvSpPr/>
          <p:nvPr/>
        </p:nvSpPr>
        <p:spPr>
          <a:xfrm>
            <a:off x="4434840" y="3931920"/>
            <a:ext cx="0" cy="804672"/>
          </a:xfrm>
          <a:prstGeom prst="line">
            <a:avLst/>
          </a:prstGeom>
          <a:noFill/>
          <a:ln w="12700">
            <a:solidFill>
              <a:srgbClr val="E4E0DA"/>
            </a:solidFill>
            <a:prstDash val="solid"/>
          </a:ln>
        </p:spPr>
      </p:sp>
      <p:sp>
        <p:nvSpPr>
          <p:cNvPr id="28" name="Text 22"/>
          <p:cNvSpPr/>
          <p:nvPr/>
        </p:nvSpPr>
        <p:spPr>
          <a:xfrm>
            <a:off x="4663440" y="3794760"/>
            <a:ext cx="6858000" cy="1078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50" b="1" dirty="0">
                <a:solidFill>
                  <a:srgbClr val="800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Action:  </a:t>
            </a:r>
            <a:pPr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shareable variant (checklist, meme, quote card) from the same idea.</a:t>
            </a:r>
            <a:endParaRPr lang="en-US" sz="1450" dirty="0"/>
          </a:p>
        </p:txBody>
      </p:sp>
      <p:sp>
        <p:nvSpPr>
          <p:cNvPr id="29" name="Shape 23"/>
          <p:cNvSpPr/>
          <p:nvPr/>
        </p:nvSpPr>
        <p:spPr>
          <a:xfrm>
            <a:off x="457200" y="4983480"/>
            <a:ext cx="11274552" cy="1078992"/>
          </a:xfrm>
          <a:prstGeom prst="roundRect">
            <a:avLst>
              <a:gd name="adj" fmla="val 6780"/>
            </a:avLst>
          </a:prstGeom>
          <a:solidFill>
            <a:srgbClr val="F7F7F7"/>
          </a:solidFill>
          <a:ln w="12700">
            <a:solidFill>
              <a:srgbClr val="E4E0D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30" name="Shape 24"/>
          <p:cNvSpPr/>
          <p:nvPr/>
        </p:nvSpPr>
        <p:spPr>
          <a:xfrm>
            <a:off x="658368" y="5266944"/>
            <a:ext cx="512064" cy="512064"/>
          </a:xfrm>
          <a:prstGeom prst="ellipse">
            <a:avLst/>
          </a:prstGeom>
          <a:solidFill>
            <a:srgbClr val="B8860B"/>
          </a:solidFill>
          <a:ln/>
        </p:spPr>
      </p:sp>
      <p:pic>
        <p:nvPicPr>
          <p:cNvPr id="31" name="Image 4" descr="/home/claude/work/icon_cart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1505" y="5400081"/>
            <a:ext cx="245791" cy="245791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1371600" y="507492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Clicks, Fewer Orders</a:t>
            </a:r>
            <a:endParaRPr lang="en-US" sz="1550" dirty="0"/>
          </a:p>
        </p:txBody>
      </p:sp>
      <p:sp>
        <p:nvSpPr>
          <p:cNvPr id="33" name="Text 26"/>
          <p:cNvSpPr/>
          <p:nvPr/>
        </p:nvSpPr>
        <p:spPr>
          <a:xfrm>
            <a:off x="1371600" y="5550408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i="1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Website clicks rise but WhatsApp orders stay flat</a:t>
            </a:r>
            <a:endParaRPr lang="en-US" sz="1150" dirty="0"/>
          </a:p>
        </p:txBody>
      </p:sp>
      <p:sp>
        <p:nvSpPr>
          <p:cNvPr id="34" name="Shape 27"/>
          <p:cNvSpPr/>
          <p:nvPr/>
        </p:nvSpPr>
        <p:spPr>
          <a:xfrm>
            <a:off x="4434840" y="5120640"/>
            <a:ext cx="0" cy="804672"/>
          </a:xfrm>
          <a:prstGeom prst="line">
            <a:avLst/>
          </a:prstGeom>
          <a:noFill/>
          <a:ln w="12700">
            <a:solidFill>
              <a:srgbClr val="E4E0DA"/>
            </a:solidFill>
            <a:prstDash val="solid"/>
          </a:ln>
        </p:spPr>
      </p:sp>
      <p:sp>
        <p:nvSpPr>
          <p:cNvPr id="35" name="Text 28"/>
          <p:cNvSpPr/>
          <p:nvPr/>
        </p:nvSpPr>
        <p:spPr>
          <a:xfrm>
            <a:off x="4663440" y="4983480"/>
            <a:ext cx="6858000" cy="1078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50" b="1" dirty="0">
                <a:solidFill>
                  <a:srgbClr val="800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Action:  </a:t>
            </a:r>
            <a:pPr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 next content on trust: sizing help, delivery &amp; exchange policy.</a:t>
            </a:r>
            <a:endParaRPr lang="en-US" sz="14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707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29768" y="320040"/>
            <a:ext cx="512064" cy="512064"/>
          </a:xfrm>
          <a:prstGeom prst="ellipse">
            <a:avLst/>
          </a:prstGeom>
          <a:solidFill>
            <a:srgbClr val="D4AF37"/>
          </a:solidFill>
          <a:ln/>
        </p:spPr>
      </p:sp>
      <p:pic>
        <p:nvPicPr>
          <p:cNvPr id="3" name="Image 0" descr="/home/claude/work/qaim_logo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47472"/>
            <a:ext cx="457200" cy="457200"/>
          </a:xfrm>
          <a:prstGeom prst="ellipse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97280" y="329184"/>
            <a:ext cx="8961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40" kern="0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· REVIEW CYCLE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097280" y="585216"/>
            <a:ext cx="101498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Review Cadence — Daily to Quarterly</a:t>
            </a:r>
            <a:endParaRPr lang="en-US" sz="2300" dirty="0"/>
          </a:p>
        </p:txBody>
      </p:sp>
      <p:sp>
        <p:nvSpPr>
          <p:cNvPr id="6" name="Text 3"/>
          <p:cNvSpPr/>
          <p:nvPr/>
        </p:nvSpPr>
        <p:spPr>
          <a:xfrm>
            <a:off x="9966960" y="365760"/>
            <a:ext cx="17647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Assignment 10  |  ID 21172333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457200" y="1207008"/>
            <a:ext cx="11274552" cy="0"/>
          </a:xfrm>
          <a:prstGeom prst="line">
            <a:avLst/>
          </a:prstGeom>
          <a:noFill/>
          <a:ln w="12700">
            <a:solidFill>
              <a:srgbClr val="3A1420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457200" y="1508760"/>
            <a:ext cx="11274552" cy="1051560"/>
          </a:xfrm>
          <a:prstGeom prst="roundRect">
            <a:avLst>
              <a:gd name="adj" fmla="val 6957"/>
            </a:avLst>
          </a:prstGeom>
          <a:solidFill>
            <a:srgbClr val="241018"/>
          </a:solidFill>
          <a:ln w="12700">
            <a:solidFill>
              <a:srgbClr val="3A1420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85800" y="1760220"/>
            <a:ext cx="548640" cy="548640"/>
          </a:xfrm>
          <a:prstGeom prst="ellipse">
            <a:avLst/>
          </a:prstGeom>
          <a:solidFill>
            <a:srgbClr val="D4AF37"/>
          </a:solidFill>
          <a:ln/>
        </p:spPr>
      </p:sp>
      <p:pic>
        <p:nvPicPr>
          <p:cNvPr id="10" name="Image 1" descr="/home/claude/work/icon_clock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8446" y="1902866"/>
            <a:ext cx="263347" cy="263347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463040" y="1508760"/>
            <a:ext cx="18288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Daily</a:t>
            </a:r>
            <a:endParaRPr lang="en-US" sz="1800" dirty="0"/>
          </a:p>
        </p:txBody>
      </p:sp>
      <p:sp>
        <p:nvSpPr>
          <p:cNvPr id="12" name="Text 8"/>
          <p:cNvSpPr/>
          <p:nvPr/>
        </p:nvSpPr>
        <p:spPr>
          <a:xfrm>
            <a:off x="3383280" y="1508760"/>
            <a:ext cx="28346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8C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Manager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6309360" y="1508760"/>
            <a:ext cx="51663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CFC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Reply to comments/DMs, post Stories, check WhatsApp queue.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457200" y="2688336"/>
            <a:ext cx="11274552" cy="1051560"/>
          </a:xfrm>
          <a:prstGeom prst="roundRect">
            <a:avLst>
              <a:gd name="adj" fmla="val 6957"/>
            </a:avLst>
          </a:prstGeom>
          <a:solidFill>
            <a:srgbClr val="241018"/>
          </a:solidFill>
          <a:ln w="12700">
            <a:solidFill>
              <a:srgbClr val="3A1420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685800" y="2939796"/>
            <a:ext cx="548640" cy="548640"/>
          </a:xfrm>
          <a:prstGeom prst="ellipse">
            <a:avLst/>
          </a:prstGeom>
          <a:solidFill>
            <a:srgbClr val="D4AF37"/>
          </a:solidFill>
          <a:ln/>
        </p:spPr>
      </p:sp>
      <p:pic>
        <p:nvPicPr>
          <p:cNvPr id="16" name="Image 2" descr="/home/claude/work/icon_calend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8446" y="3082442"/>
            <a:ext cx="263347" cy="263347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463040" y="2688336"/>
            <a:ext cx="18288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Weekly</a:t>
            </a:r>
            <a:endParaRPr lang="en-US" sz="1800" dirty="0"/>
          </a:p>
        </p:txBody>
      </p:sp>
      <p:sp>
        <p:nvSpPr>
          <p:cNvPr id="18" name="Text 13"/>
          <p:cNvSpPr/>
          <p:nvPr/>
        </p:nvSpPr>
        <p:spPr>
          <a:xfrm>
            <a:off x="3383280" y="2688336"/>
            <a:ext cx="28346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8C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Content Team</a:t>
            </a:r>
            <a:endParaRPr lang="en-US" sz="1450" dirty="0"/>
          </a:p>
        </p:txBody>
      </p:sp>
      <p:sp>
        <p:nvSpPr>
          <p:cNvPr id="19" name="Text 14"/>
          <p:cNvSpPr/>
          <p:nvPr/>
        </p:nvSpPr>
        <p:spPr>
          <a:xfrm>
            <a:off x="6309360" y="2688336"/>
            <a:ext cx="51663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CFC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KPI dashboard, compare vs targets, decide next week's content.</a:t>
            </a:r>
            <a:endParaRPr lang="en-US" sz="1400" dirty="0"/>
          </a:p>
        </p:txBody>
      </p:sp>
      <p:sp>
        <p:nvSpPr>
          <p:cNvPr id="20" name="Shape 15"/>
          <p:cNvSpPr/>
          <p:nvPr/>
        </p:nvSpPr>
        <p:spPr>
          <a:xfrm>
            <a:off x="457200" y="3867912"/>
            <a:ext cx="11274552" cy="1051560"/>
          </a:xfrm>
          <a:prstGeom prst="roundRect">
            <a:avLst>
              <a:gd name="adj" fmla="val 6957"/>
            </a:avLst>
          </a:prstGeom>
          <a:solidFill>
            <a:srgbClr val="241018"/>
          </a:solidFill>
          <a:ln w="12700">
            <a:solidFill>
              <a:srgbClr val="3A1420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685800" y="4119372"/>
            <a:ext cx="548640" cy="548640"/>
          </a:xfrm>
          <a:prstGeom prst="ellipse">
            <a:avLst/>
          </a:prstGeom>
          <a:solidFill>
            <a:srgbClr val="D4AF37"/>
          </a:solidFill>
          <a:ln/>
        </p:spPr>
      </p:sp>
      <p:pic>
        <p:nvPicPr>
          <p:cNvPr id="22" name="Image 3" descr="/home/claude/work/icon_chartlin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8446" y="4262018"/>
            <a:ext cx="263347" cy="263347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463040" y="3867912"/>
            <a:ext cx="18288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Monthly</a:t>
            </a:r>
            <a:endParaRPr lang="en-US" sz="1800" dirty="0"/>
          </a:p>
        </p:txBody>
      </p:sp>
      <p:sp>
        <p:nvSpPr>
          <p:cNvPr id="24" name="Text 18"/>
          <p:cNvSpPr/>
          <p:nvPr/>
        </p:nvSpPr>
        <p:spPr>
          <a:xfrm>
            <a:off x="3383280" y="3867912"/>
            <a:ext cx="28346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8C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Owner</a:t>
            </a:r>
            <a:endParaRPr lang="en-US" sz="1450" dirty="0"/>
          </a:p>
        </p:txBody>
      </p:sp>
      <p:sp>
        <p:nvSpPr>
          <p:cNvPr id="25" name="Text 19"/>
          <p:cNvSpPr/>
          <p:nvPr/>
        </p:nvSpPr>
        <p:spPr>
          <a:xfrm>
            <a:off x="6309360" y="3867912"/>
            <a:ext cx="51663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CFC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 KPI trend, apply decision rules, adjust content mix &amp; spend.</a:t>
            </a:r>
            <a:endParaRPr lang="en-US" sz="1400" dirty="0"/>
          </a:p>
        </p:txBody>
      </p:sp>
      <p:sp>
        <p:nvSpPr>
          <p:cNvPr id="26" name="Shape 20"/>
          <p:cNvSpPr/>
          <p:nvPr/>
        </p:nvSpPr>
        <p:spPr>
          <a:xfrm>
            <a:off x="457200" y="5047488"/>
            <a:ext cx="11274552" cy="1051560"/>
          </a:xfrm>
          <a:prstGeom prst="roundRect">
            <a:avLst>
              <a:gd name="adj" fmla="val 6957"/>
            </a:avLst>
          </a:prstGeom>
          <a:solidFill>
            <a:srgbClr val="241018"/>
          </a:solidFill>
          <a:ln w="12700">
            <a:solidFill>
              <a:srgbClr val="3A1420"/>
            </a:solidFill>
            <a:prstDash val="solid"/>
          </a:ln>
        </p:spPr>
      </p:sp>
      <p:sp>
        <p:nvSpPr>
          <p:cNvPr id="27" name="Shape 21"/>
          <p:cNvSpPr/>
          <p:nvPr/>
        </p:nvSpPr>
        <p:spPr>
          <a:xfrm>
            <a:off x="685800" y="5298948"/>
            <a:ext cx="548640" cy="548640"/>
          </a:xfrm>
          <a:prstGeom prst="ellipse">
            <a:avLst/>
          </a:prstGeom>
          <a:solidFill>
            <a:srgbClr val="D4AF37"/>
          </a:solidFill>
          <a:ln/>
        </p:spPr>
      </p:sp>
      <p:pic>
        <p:nvPicPr>
          <p:cNvPr id="28" name="Image 4" descr="/home/claude/work/icon_flag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8446" y="5441594"/>
            <a:ext cx="263347" cy="263347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1463040" y="5047488"/>
            <a:ext cx="18288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Quarterly</a:t>
            </a:r>
            <a:endParaRPr lang="en-US" sz="1800" dirty="0"/>
          </a:p>
        </p:txBody>
      </p:sp>
      <p:sp>
        <p:nvSpPr>
          <p:cNvPr id="30" name="Text 23"/>
          <p:cNvSpPr/>
          <p:nvPr/>
        </p:nvSpPr>
        <p:spPr>
          <a:xfrm>
            <a:off x="3383280" y="5047488"/>
            <a:ext cx="28346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8C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 / Brand Owner</a:t>
            </a:r>
            <a:endParaRPr lang="en-US" sz="1450" dirty="0"/>
          </a:p>
        </p:txBody>
      </p:sp>
      <p:sp>
        <p:nvSpPr>
          <p:cNvPr id="31" name="Text 24"/>
          <p:cNvSpPr/>
          <p:nvPr/>
        </p:nvSpPr>
        <p:spPr>
          <a:xfrm>
            <a:off x="6309360" y="5047488"/>
            <a:ext cx="51663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CFC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SMART objectives, reset targets, plan next quarter's strategy.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29768" y="320040"/>
            <a:ext cx="512064" cy="512064"/>
          </a:xfrm>
          <a:prstGeom prst="ellipse">
            <a:avLst/>
          </a:prstGeom>
          <a:solidFill>
            <a:srgbClr val="D4AF37"/>
          </a:solidFill>
          <a:ln/>
        </p:spPr>
      </p:sp>
      <p:pic>
        <p:nvPicPr>
          <p:cNvPr id="3" name="Image 0" descr="/home/claude/work/qaim_logo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47472"/>
            <a:ext cx="457200" cy="457200"/>
          </a:xfrm>
          <a:prstGeom prst="ellipse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97280" y="329184"/>
            <a:ext cx="8961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40" kern="0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ACTIONS · RISK MANAGEMENT (1 OF 2)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097280" y="585216"/>
            <a:ext cx="101498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Risks &amp; Contingency Actions</a:t>
            </a:r>
            <a:endParaRPr lang="en-US" sz="2300" dirty="0"/>
          </a:p>
        </p:txBody>
      </p:sp>
      <p:sp>
        <p:nvSpPr>
          <p:cNvPr id="6" name="Text 3"/>
          <p:cNvSpPr/>
          <p:nvPr/>
        </p:nvSpPr>
        <p:spPr>
          <a:xfrm>
            <a:off x="9966960" y="365760"/>
            <a:ext cx="17647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Assignment 10  |  ID 21172333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457200" y="1207008"/>
            <a:ext cx="11274552" cy="0"/>
          </a:xfrm>
          <a:prstGeom prst="line">
            <a:avLst/>
          </a:prstGeom>
          <a:noFill/>
          <a:ln w="12700">
            <a:solidFill>
              <a:srgbClr val="E4E0DA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457200" y="1417320"/>
            <a:ext cx="11274552" cy="1920240"/>
          </a:xfrm>
          <a:prstGeom prst="roundRect">
            <a:avLst>
              <a:gd name="adj" fmla="val 3810"/>
            </a:avLst>
          </a:prstGeom>
          <a:solidFill>
            <a:srgbClr val="F7F7F7"/>
          </a:solidFill>
          <a:ln w="12700">
            <a:solidFill>
              <a:srgbClr val="E4E0D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731520" y="1691640"/>
            <a:ext cx="594360" cy="594360"/>
          </a:xfrm>
          <a:prstGeom prst="ellipse">
            <a:avLst/>
          </a:prstGeom>
          <a:solidFill>
            <a:srgbClr val="800020"/>
          </a:solidFill>
          <a:ln/>
        </p:spPr>
      </p:sp>
      <p:pic>
        <p:nvPicPr>
          <p:cNvPr id="10" name="Image 1" descr="/home/claude/work/icon_warning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6054" y="1846174"/>
            <a:ext cx="285293" cy="285293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600200" y="1618488"/>
            <a:ext cx="9144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engagement in Month 1 while testing formats</a:t>
            </a:r>
            <a:endParaRPr lang="en-US" sz="1650" dirty="0"/>
          </a:p>
        </p:txBody>
      </p:sp>
      <p:sp>
        <p:nvSpPr>
          <p:cNvPr id="12" name="Shape 8"/>
          <p:cNvSpPr/>
          <p:nvPr/>
        </p:nvSpPr>
        <p:spPr>
          <a:xfrm>
            <a:off x="731520" y="2286000"/>
            <a:ext cx="10698480" cy="0"/>
          </a:xfrm>
          <a:prstGeom prst="line">
            <a:avLst/>
          </a:prstGeom>
          <a:noFill/>
          <a:ln w="12700">
            <a:solidFill>
              <a:srgbClr val="E4E0DA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731520" y="2423160"/>
            <a:ext cx="10698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800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Contingency:  </a:t>
            </a:r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Increase Story frequency and reply speed to boost algorithmic signals while Reels are optimized.</a:t>
            </a:r>
            <a:endParaRPr lang="en-US" sz="1500" dirty="0"/>
          </a:p>
        </p:txBody>
      </p:sp>
      <p:sp>
        <p:nvSpPr>
          <p:cNvPr id="14" name="Shape 10"/>
          <p:cNvSpPr/>
          <p:nvPr/>
        </p:nvSpPr>
        <p:spPr>
          <a:xfrm>
            <a:off x="457200" y="3520440"/>
            <a:ext cx="11274552" cy="1920240"/>
          </a:xfrm>
          <a:prstGeom prst="roundRect">
            <a:avLst>
              <a:gd name="adj" fmla="val 3810"/>
            </a:avLst>
          </a:prstGeom>
          <a:solidFill>
            <a:srgbClr val="F7F7F7"/>
          </a:solidFill>
          <a:ln w="12700">
            <a:solidFill>
              <a:srgbClr val="E4E0D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731520" y="3794760"/>
            <a:ext cx="594360" cy="594360"/>
          </a:xfrm>
          <a:prstGeom prst="ellipse">
            <a:avLst/>
          </a:prstGeom>
          <a:solidFill>
            <a:srgbClr val="800020"/>
          </a:solidFill>
          <a:ln/>
        </p:spPr>
      </p:sp>
      <p:pic>
        <p:nvPicPr>
          <p:cNvPr id="16" name="Image 2" descr="/home/claude/work/icon_car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054" y="3949294"/>
            <a:ext cx="285293" cy="285293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600200" y="3721608"/>
            <a:ext cx="9144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Stockouts on a promoted product (e.g. Jeans SADA)</a:t>
            </a:r>
            <a:endParaRPr lang="en-US" sz="1650" dirty="0"/>
          </a:p>
        </p:txBody>
      </p:sp>
      <p:sp>
        <p:nvSpPr>
          <p:cNvPr id="18" name="Shape 13"/>
          <p:cNvSpPr/>
          <p:nvPr/>
        </p:nvSpPr>
        <p:spPr>
          <a:xfrm>
            <a:off x="731520" y="4389120"/>
            <a:ext cx="10698480" cy="0"/>
          </a:xfrm>
          <a:prstGeom prst="line">
            <a:avLst/>
          </a:prstGeom>
          <a:noFill/>
          <a:ln w="12700">
            <a:solidFill>
              <a:srgbClr val="E4E0DA"/>
            </a:solidFill>
            <a:prstDash val="solid"/>
          </a:ln>
        </p:spPr>
      </p:sp>
      <p:sp>
        <p:nvSpPr>
          <p:cNvPr id="19" name="Text 14"/>
          <p:cNvSpPr/>
          <p:nvPr/>
        </p:nvSpPr>
        <p:spPr>
          <a:xfrm>
            <a:off x="731520" y="4526280"/>
            <a:ext cx="10698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800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Contingency:  </a:t>
            </a:r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Pause paid promotion on that SKU immediately; redirect content to in-stock alternatives.</a:t>
            </a:r>
            <a:endParaRPr lang="en-US" sz="15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29768" y="320040"/>
            <a:ext cx="512064" cy="512064"/>
          </a:xfrm>
          <a:prstGeom prst="ellipse">
            <a:avLst/>
          </a:prstGeom>
          <a:solidFill>
            <a:srgbClr val="D4AF37"/>
          </a:solidFill>
          <a:ln/>
        </p:spPr>
      </p:sp>
      <p:pic>
        <p:nvPicPr>
          <p:cNvPr id="3" name="Image 0" descr="/home/claude/work/qaim_logo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47472"/>
            <a:ext cx="457200" cy="457200"/>
          </a:xfrm>
          <a:prstGeom prst="ellipse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97280" y="329184"/>
            <a:ext cx="8961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40" kern="0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ACTIONS · RISK MANAGEMENT (2 OF 2)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097280" y="585216"/>
            <a:ext cx="101498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Risks &amp; Contingency Actions</a:t>
            </a:r>
            <a:endParaRPr lang="en-US" sz="2300" dirty="0"/>
          </a:p>
        </p:txBody>
      </p:sp>
      <p:sp>
        <p:nvSpPr>
          <p:cNvPr id="6" name="Text 3"/>
          <p:cNvSpPr/>
          <p:nvPr/>
        </p:nvSpPr>
        <p:spPr>
          <a:xfrm>
            <a:off x="9966960" y="365760"/>
            <a:ext cx="17647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Assignment 10  |  ID 21172333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457200" y="1207008"/>
            <a:ext cx="11274552" cy="0"/>
          </a:xfrm>
          <a:prstGeom prst="line">
            <a:avLst/>
          </a:prstGeom>
          <a:noFill/>
          <a:ln w="12700">
            <a:solidFill>
              <a:srgbClr val="E4E0DA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457200" y="1417320"/>
            <a:ext cx="11274552" cy="1920240"/>
          </a:xfrm>
          <a:prstGeom prst="roundRect">
            <a:avLst>
              <a:gd name="adj" fmla="val 3810"/>
            </a:avLst>
          </a:prstGeom>
          <a:solidFill>
            <a:srgbClr val="F7F7F7"/>
          </a:solidFill>
          <a:ln w="12700">
            <a:solidFill>
              <a:srgbClr val="E4E0D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731520" y="1691640"/>
            <a:ext cx="594360" cy="594360"/>
          </a:xfrm>
          <a:prstGeom prst="ellipse">
            <a:avLst/>
          </a:prstGeom>
          <a:solidFill>
            <a:srgbClr val="800020"/>
          </a:solidFill>
          <a:ln/>
        </p:spPr>
      </p:sp>
      <p:pic>
        <p:nvPicPr>
          <p:cNvPr id="10" name="Image 1" descr="/home/claude/work/icon_commen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6054" y="1846174"/>
            <a:ext cx="285293" cy="285293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600200" y="1618488"/>
            <a:ext cx="9144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 comment or review goes semi-viral</a:t>
            </a:r>
            <a:endParaRPr lang="en-US" sz="1650" dirty="0"/>
          </a:p>
        </p:txBody>
      </p:sp>
      <p:sp>
        <p:nvSpPr>
          <p:cNvPr id="12" name="Shape 8"/>
          <p:cNvSpPr/>
          <p:nvPr/>
        </p:nvSpPr>
        <p:spPr>
          <a:xfrm>
            <a:off x="731520" y="2286000"/>
            <a:ext cx="10698480" cy="0"/>
          </a:xfrm>
          <a:prstGeom prst="line">
            <a:avLst/>
          </a:prstGeom>
          <a:noFill/>
          <a:ln w="12700">
            <a:solidFill>
              <a:srgbClr val="E4E0DA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731520" y="2423160"/>
            <a:ext cx="10698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800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Contingency:  </a:t>
            </a:r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Respond publicly within hours with a calm, solution-focused reply; follow up privately via WhatsApp.</a:t>
            </a:r>
            <a:endParaRPr lang="en-US" sz="1500" dirty="0"/>
          </a:p>
        </p:txBody>
      </p:sp>
      <p:sp>
        <p:nvSpPr>
          <p:cNvPr id="14" name="Shape 10"/>
          <p:cNvSpPr/>
          <p:nvPr/>
        </p:nvSpPr>
        <p:spPr>
          <a:xfrm>
            <a:off x="457200" y="3520440"/>
            <a:ext cx="11274552" cy="1920240"/>
          </a:xfrm>
          <a:prstGeom prst="roundRect">
            <a:avLst>
              <a:gd name="adj" fmla="val 3810"/>
            </a:avLst>
          </a:prstGeom>
          <a:solidFill>
            <a:srgbClr val="F7F7F7"/>
          </a:solidFill>
          <a:ln w="12700">
            <a:solidFill>
              <a:srgbClr val="E4E0D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731520" y="3794760"/>
            <a:ext cx="594360" cy="594360"/>
          </a:xfrm>
          <a:prstGeom prst="ellipse">
            <a:avLst/>
          </a:prstGeom>
          <a:solidFill>
            <a:srgbClr val="800020"/>
          </a:solidFill>
          <a:ln/>
        </p:spPr>
      </p:sp>
      <p:pic>
        <p:nvPicPr>
          <p:cNvPr id="16" name="Image 2" descr="/home/claude/work/icon_refresh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054" y="3949294"/>
            <a:ext cx="285293" cy="285293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600200" y="3721608"/>
            <a:ext cx="9144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AI-generated content feels repetitive to followers</a:t>
            </a:r>
            <a:endParaRPr lang="en-US" sz="1650" dirty="0"/>
          </a:p>
        </p:txBody>
      </p:sp>
      <p:sp>
        <p:nvSpPr>
          <p:cNvPr id="18" name="Shape 13"/>
          <p:cNvSpPr/>
          <p:nvPr/>
        </p:nvSpPr>
        <p:spPr>
          <a:xfrm>
            <a:off x="731520" y="4389120"/>
            <a:ext cx="10698480" cy="0"/>
          </a:xfrm>
          <a:prstGeom prst="line">
            <a:avLst/>
          </a:prstGeom>
          <a:noFill/>
          <a:ln w="12700">
            <a:solidFill>
              <a:srgbClr val="E4E0DA"/>
            </a:solidFill>
            <a:prstDash val="solid"/>
          </a:ln>
        </p:spPr>
      </p:sp>
      <p:sp>
        <p:nvSpPr>
          <p:cNvPr id="19" name="Text 14"/>
          <p:cNvSpPr/>
          <p:nvPr/>
        </p:nvSpPr>
        <p:spPr>
          <a:xfrm>
            <a:off x="731520" y="4526280"/>
            <a:ext cx="10698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800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Contingency:  </a:t>
            </a:r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Rotate hooks, presenters' framing and visual style monthly; mix AI content with real UGC reposts.</a:t>
            </a:r>
            <a:endParaRPr lang="en-US" sz="15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707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0" y="-1828800"/>
            <a:ext cx="5486400" cy="5486400"/>
          </a:xfrm>
          <a:prstGeom prst="ellipse">
            <a:avLst/>
          </a:prstGeom>
          <a:solidFill>
            <a:srgbClr val="800020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521208" y="384048"/>
            <a:ext cx="557784" cy="557784"/>
          </a:xfrm>
          <a:prstGeom prst="ellipse">
            <a:avLst/>
          </a:prstGeom>
          <a:solidFill>
            <a:srgbClr val="D4AF37"/>
          </a:solidFill>
          <a:ln/>
        </p:spPr>
      </p:sp>
      <p:pic>
        <p:nvPicPr>
          <p:cNvPr id="4" name="Image 0" descr="/home/claude/work/qaim_logo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411480"/>
            <a:ext cx="502920" cy="502920"/>
          </a:xfrm>
          <a:prstGeom prst="ellipse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8872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150" kern="0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SUMMARY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521208" y="86868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Actions &amp; Control — Ready to Execute</a:t>
            </a:r>
            <a:endParaRPr lang="en-US" sz="2800" dirty="0"/>
          </a:p>
        </p:txBody>
      </p:sp>
      <p:sp>
        <p:nvSpPr>
          <p:cNvPr id="7" name="Shape 4"/>
          <p:cNvSpPr/>
          <p:nvPr/>
        </p:nvSpPr>
        <p:spPr>
          <a:xfrm>
            <a:off x="667512" y="1600200"/>
            <a:ext cx="402336" cy="402336"/>
          </a:xfrm>
          <a:prstGeom prst="ellipse">
            <a:avLst/>
          </a:prstGeom>
          <a:solidFill>
            <a:srgbClr val="D4AF37"/>
          </a:solidFill>
          <a:ln/>
        </p:spPr>
      </p:sp>
      <p:sp>
        <p:nvSpPr>
          <p:cNvPr id="8" name="Text 5"/>
          <p:cNvSpPr/>
          <p:nvPr/>
        </p:nvSpPr>
        <p:spPr>
          <a:xfrm>
            <a:off x="667512" y="16002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1280160" y="1600200"/>
            <a:ext cx="102412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E8E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Roles assigned across 4 owners: Content, Community, Growth, Operations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667512" y="2057400"/>
            <a:ext cx="402336" cy="402336"/>
          </a:xfrm>
          <a:prstGeom prst="ellipse">
            <a:avLst/>
          </a:prstGeom>
          <a:solidFill>
            <a:srgbClr val="D4AF37"/>
          </a:solidFill>
          <a:ln/>
        </p:spPr>
      </p:sp>
      <p:sp>
        <p:nvSpPr>
          <p:cNvPr id="11" name="Text 8"/>
          <p:cNvSpPr/>
          <p:nvPr/>
        </p:nvSpPr>
        <p:spPr>
          <a:xfrm>
            <a:off x="667512" y="20574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1280160" y="2057400"/>
            <a:ext cx="102412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E8E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tool stack defined for creation, publishing and measurement</a:t>
            </a:r>
            <a:endParaRPr lang="en-US" sz="1350" dirty="0"/>
          </a:p>
        </p:txBody>
      </p:sp>
      <p:sp>
        <p:nvSpPr>
          <p:cNvPr id="13" name="Shape 10"/>
          <p:cNvSpPr/>
          <p:nvPr/>
        </p:nvSpPr>
        <p:spPr>
          <a:xfrm>
            <a:off x="667512" y="2514600"/>
            <a:ext cx="402336" cy="402336"/>
          </a:xfrm>
          <a:prstGeom prst="ellipse">
            <a:avLst/>
          </a:prstGeom>
          <a:solidFill>
            <a:srgbClr val="D4AF37"/>
          </a:solidFill>
          <a:ln/>
        </p:spPr>
      </p:sp>
      <p:sp>
        <p:nvSpPr>
          <p:cNvPr id="14" name="Text 11"/>
          <p:cNvSpPr/>
          <p:nvPr/>
        </p:nvSpPr>
        <p:spPr>
          <a:xfrm>
            <a:off x="667512" y="25146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50" dirty="0"/>
          </a:p>
        </p:txBody>
      </p:sp>
      <p:sp>
        <p:nvSpPr>
          <p:cNvPr id="15" name="Text 12"/>
          <p:cNvSpPr/>
          <p:nvPr/>
        </p:nvSpPr>
        <p:spPr>
          <a:xfrm>
            <a:off x="1280160" y="2514600"/>
            <a:ext cx="102412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E8E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3-month rollout plan: Testing → Optimization → Growth</a:t>
            </a:r>
            <a:endParaRPr lang="en-US" sz="1350" dirty="0"/>
          </a:p>
        </p:txBody>
      </p:sp>
      <p:sp>
        <p:nvSpPr>
          <p:cNvPr id="16" name="Shape 13"/>
          <p:cNvSpPr/>
          <p:nvPr/>
        </p:nvSpPr>
        <p:spPr>
          <a:xfrm>
            <a:off x="667512" y="2971800"/>
            <a:ext cx="402336" cy="402336"/>
          </a:xfrm>
          <a:prstGeom prst="ellipse">
            <a:avLst/>
          </a:prstGeom>
          <a:solidFill>
            <a:srgbClr val="D4AF37"/>
          </a:solidFill>
          <a:ln/>
        </p:spPr>
      </p:sp>
      <p:sp>
        <p:nvSpPr>
          <p:cNvPr id="17" name="Text 14"/>
          <p:cNvSpPr/>
          <p:nvPr/>
        </p:nvSpPr>
        <p:spPr>
          <a:xfrm>
            <a:off x="667512" y="29718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50" dirty="0"/>
          </a:p>
        </p:txBody>
      </p:sp>
      <p:sp>
        <p:nvSpPr>
          <p:cNvPr id="18" name="Text 15"/>
          <p:cNvSpPr/>
          <p:nvPr/>
        </p:nvSpPr>
        <p:spPr>
          <a:xfrm>
            <a:off x="1280160" y="2971800"/>
            <a:ext cx="102412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E8E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SMART objectives each mapped to a KPI, a target and an owner</a:t>
            </a:r>
            <a:endParaRPr lang="en-US" sz="1350" dirty="0"/>
          </a:p>
        </p:txBody>
      </p:sp>
      <p:sp>
        <p:nvSpPr>
          <p:cNvPr id="19" name="Shape 16"/>
          <p:cNvSpPr/>
          <p:nvPr/>
        </p:nvSpPr>
        <p:spPr>
          <a:xfrm>
            <a:off x="667512" y="3429000"/>
            <a:ext cx="402336" cy="402336"/>
          </a:xfrm>
          <a:prstGeom prst="ellipse">
            <a:avLst/>
          </a:prstGeom>
          <a:solidFill>
            <a:srgbClr val="D4AF37"/>
          </a:solidFill>
          <a:ln/>
        </p:spPr>
      </p:sp>
      <p:sp>
        <p:nvSpPr>
          <p:cNvPr id="20" name="Text 17"/>
          <p:cNvSpPr/>
          <p:nvPr/>
        </p:nvSpPr>
        <p:spPr>
          <a:xfrm>
            <a:off x="667512" y="34290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50" dirty="0"/>
          </a:p>
        </p:txBody>
      </p:sp>
      <p:sp>
        <p:nvSpPr>
          <p:cNvPr id="21" name="Text 18"/>
          <p:cNvSpPr/>
          <p:nvPr/>
        </p:nvSpPr>
        <p:spPr>
          <a:xfrm>
            <a:off x="1280160" y="3429000"/>
            <a:ext cx="102412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E8E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KPI dashboard with 6-week trend tracking</a:t>
            </a:r>
            <a:endParaRPr lang="en-US" sz="1350" dirty="0"/>
          </a:p>
        </p:txBody>
      </p:sp>
      <p:sp>
        <p:nvSpPr>
          <p:cNvPr id="22" name="Shape 19"/>
          <p:cNvSpPr/>
          <p:nvPr/>
        </p:nvSpPr>
        <p:spPr>
          <a:xfrm>
            <a:off x="667512" y="3886200"/>
            <a:ext cx="402336" cy="402336"/>
          </a:xfrm>
          <a:prstGeom prst="ellipse">
            <a:avLst/>
          </a:prstGeom>
          <a:solidFill>
            <a:srgbClr val="D4AF37"/>
          </a:solidFill>
          <a:ln/>
        </p:spPr>
      </p:sp>
      <p:sp>
        <p:nvSpPr>
          <p:cNvPr id="23" name="Text 20"/>
          <p:cNvSpPr/>
          <p:nvPr/>
        </p:nvSpPr>
        <p:spPr>
          <a:xfrm>
            <a:off x="667512" y="38862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50" dirty="0"/>
          </a:p>
        </p:txBody>
      </p:sp>
      <p:sp>
        <p:nvSpPr>
          <p:cNvPr id="24" name="Text 21"/>
          <p:cNvSpPr/>
          <p:nvPr/>
        </p:nvSpPr>
        <p:spPr>
          <a:xfrm>
            <a:off x="1280160" y="3886200"/>
            <a:ext cx="102412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E8E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decision rules turning KPI signals into next actions</a:t>
            </a:r>
            <a:endParaRPr lang="en-US" sz="1350" dirty="0"/>
          </a:p>
        </p:txBody>
      </p:sp>
      <p:sp>
        <p:nvSpPr>
          <p:cNvPr id="25" name="Shape 22"/>
          <p:cNvSpPr/>
          <p:nvPr/>
        </p:nvSpPr>
        <p:spPr>
          <a:xfrm>
            <a:off x="667512" y="4343400"/>
            <a:ext cx="402336" cy="402336"/>
          </a:xfrm>
          <a:prstGeom prst="ellipse">
            <a:avLst/>
          </a:prstGeom>
          <a:solidFill>
            <a:srgbClr val="D4AF37"/>
          </a:solidFill>
          <a:ln/>
        </p:spPr>
      </p:sp>
      <p:sp>
        <p:nvSpPr>
          <p:cNvPr id="26" name="Text 23"/>
          <p:cNvSpPr/>
          <p:nvPr/>
        </p:nvSpPr>
        <p:spPr>
          <a:xfrm>
            <a:off x="667512" y="43434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350" dirty="0"/>
          </a:p>
        </p:txBody>
      </p:sp>
      <p:sp>
        <p:nvSpPr>
          <p:cNvPr id="27" name="Text 24"/>
          <p:cNvSpPr/>
          <p:nvPr/>
        </p:nvSpPr>
        <p:spPr>
          <a:xfrm>
            <a:off x="1280160" y="4343400"/>
            <a:ext cx="102412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E8E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cadence set: Daily, Weekly, Monthly, Quarterly</a:t>
            </a:r>
            <a:endParaRPr lang="en-US" sz="1350" dirty="0"/>
          </a:p>
        </p:txBody>
      </p:sp>
      <p:sp>
        <p:nvSpPr>
          <p:cNvPr id="28" name="Shape 25"/>
          <p:cNvSpPr/>
          <p:nvPr/>
        </p:nvSpPr>
        <p:spPr>
          <a:xfrm>
            <a:off x="667512" y="4800600"/>
            <a:ext cx="402336" cy="402336"/>
          </a:xfrm>
          <a:prstGeom prst="ellipse">
            <a:avLst/>
          </a:prstGeom>
          <a:solidFill>
            <a:srgbClr val="D4AF37"/>
          </a:solidFill>
          <a:ln/>
        </p:spPr>
      </p:sp>
      <p:sp>
        <p:nvSpPr>
          <p:cNvPr id="29" name="Text 26"/>
          <p:cNvSpPr/>
          <p:nvPr/>
        </p:nvSpPr>
        <p:spPr>
          <a:xfrm>
            <a:off x="667512" y="48006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350" dirty="0"/>
          </a:p>
        </p:txBody>
      </p:sp>
      <p:sp>
        <p:nvSpPr>
          <p:cNvPr id="30" name="Text 27"/>
          <p:cNvSpPr/>
          <p:nvPr/>
        </p:nvSpPr>
        <p:spPr>
          <a:xfrm>
            <a:off x="1280160" y="4800600"/>
            <a:ext cx="102412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E8E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&amp; contingency actions ready for stockouts, negative comments and dips</a:t>
            </a:r>
            <a:endParaRPr lang="en-US" sz="1350" dirty="0"/>
          </a:p>
        </p:txBody>
      </p:sp>
      <p:sp>
        <p:nvSpPr>
          <p:cNvPr id="31" name="Shape 28"/>
          <p:cNvSpPr/>
          <p:nvPr/>
        </p:nvSpPr>
        <p:spPr>
          <a:xfrm>
            <a:off x="548640" y="5349240"/>
            <a:ext cx="11091672" cy="658368"/>
          </a:xfrm>
          <a:prstGeom prst="roundRect">
            <a:avLst>
              <a:gd name="adj" fmla="val 11111"/>
            </a:avLst>
          </a:prstGeom>
          <a:solidFill>
            <a:srgbClr val="241018"/>
          </a:solidFill>
          <a:ln w="12700">
            <a:solidFill>
              <a:srgbClr val="3A1420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822960" y="5349240"/>
            <a:ext cx="10515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Submission Note:  </a:t>
            </a:r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5E5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Submitted as PowerPoint per Assignment 10 requirements, uploaded to Google Drive with access set to “Anyone with the link → Viewer”.</a:t>
            </a:r>
            <a:endParaRPr lang="en-US" sz="1200" dirty="0"/>
          </a:p>
        </p:txBody>
      </p:sp>
      <p:sp>
        <p:nvSpPr>
          <p:cNvPr id="33" name="Shape 30"/>
          <p:cNvSpPr/>
          <p:nvPr/>
        </p:nvSpPr>
        <p:spPr>
          <a:xfrm>
            <a:off x="548640" y="6099048"/>
            <a:ext cx="11091672" cy="502920"/>
          </a:xfrm>
          <a:prstGeom prst="roundRect">
            <a:avLst>
              <a:gd name="adj" fmla="val 18182"/>
            </a:avLst>
          </a:prstGeom>
          <a:solidFill>
            <a:srgbClr val="D4AF37"/>
          </a:solidFill>
          <a:ln/>
        </p:spPr>
      </p:sp>
      <p:sp>
        <p:nvSpPr>
          <p:cNvPr id="34" name="Text 31"/>
          <p:cNvSpPr/>
          <p:nvPr/>
        </p:nvSpPr>
        <p:spPr>
          <a:xfrm>
            <a:off x="548640" y="6099048"/>
            <a:ext cx="1109167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 ·  ACT  ·  MEASURE  ·  CONTROL  ·  GROW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2026-08-28T20:57:01Z</dcterms:created>
  <dcterms:modified xsi:type="dcterms:W3CDTF">2026-08-28T20:57:01Z</dcterms:modified>
</cp:coreProperties>
</file>