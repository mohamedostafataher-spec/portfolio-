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Lst>
  <p:sldSz type="screen16x9" cy="5143500" cx="9144000"/>
  <p:notesSz cx="5143500" cy="9144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611"/>
    <p:restoredTop sz="94610"/>
  </p:normalViewPr>
  <p:slideViewPr>
    <p:cSldViewPr snapToGrid="0" snapToObjects="1">
      <p:cViewPr varScale="1">
        <p:scale>
          <a:sx n="119" d="100"/>
          <a:sy n="119" d="100"/>
        </p:scale>
        <p:origin x="564" y="108"/>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2007_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2007_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2007_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ar-SA"/>
  <c:roundedCorners val="0"/>
  <c:style val="2"/>
  <c:chart>
    <c:title>
      <c:tx>
        <c:rich>
          <a:bodyPr/>
          <a:lstStyle/>
          <a:p>
            <a:pPr>
              <a:defRPr sz="1100" b="0" i="0" u="none" strike="noStrike">
                <a:solidFill>
                  <a:srgbClr val="111111"/>
                </a:solidFill>
                <a:latin typeface="Arial"/>
              </a:defRPr>
            </a:pPr>
            <a:r>
              <a:rPr sz="1100" b="0" i="0" u="none" strike="noStrike">
                <a:solidFill>
                  <a:srgbClr val="111111"/>
                </a:solidFill>
                <a:latin typeface="Arial"/>
              </a:rPr>
              <a:t>Egypt E-commerce Market (USD Billion)</a:t>
            </a:r>
          </a:p>
        </c:rich>
      </c:tx>
      <c:overlay val="0"/>
    </c:title>
    <c:autoTitleDeleted val="0"/>
    <c:plotArea>
      <c:layout/>
      <c:barChart>
        <c:barDir val="col"/>
        <c:grouping val="clustered"/>
        <c:varyColors val="0"/>
        <c:ser>
          <c:idx val="0"/>
          <c:order val="0"/>
          <c:tx>
            <c:strRef>
              <c:f>Sheet1!$B$1</c:f>
              <c:strCache>
                <c:ptCount val="1"/>
                <c:pt idx="0">
                  <c:v>E-commerce GMV (USD B)</c:v>
                </c:pt>
              </c:strCache>
            </c:strRef>
          </c:tx>
          <c:spPr>
            <a:solidFill>
              <a:srgbClr val="E50010"/>
            </a:solidFill>
            <a:effectLst/>
          </c:spPr>
          <c:invertIfNegative val="0"/>
          <c:dLbls>
            <c:numFmt formatCode="#,##0" sourceLinked="0"/>
            <c:spPr>
              <a:noFill/>
              <a:ln>
                <a:noFill/>
              </a:ln>
              <a:effectLst/>
            </c:spPr>
            <c:txPr>
              <a:bodyPr/>
              <a:lstStyle/>
              <a:p>
                <a:pPr>
                  <a:defRPr sz="800" b="0" i="0" u="none" strike="noStrike">
                    <a:solidFill>
                      <a:srgbClr val="11111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2023</c:v>
                </c:pt>
                <c:pt idx="1">
                  <c:v>2024</c:v>
                </c:pt>
                <c:pt idx="2">
                  <c:v>2025E</c:v>
                </c:pt>
                <c:pt idx="3">
                  <c:v>2026F</c:v>
                </c:pt>
                <c:pt idx="4">
                  <c:v>2027F</c:v>
                </c:pt>
                <c:pt idx="5">
                  <c:v>2028F</c:v>
                </c:pt>
              </c:strCache>
            </c:strRef>
          </c:cat>
          <c:val>
            <c:numRef>
              <c:f>Sheet1!$B$2:$B$7</c:f>
              <c:numCache>
                <c:formatCode>General</c:formatCode>
                <c:ptCount val="6"/>
                <c:pt idx="0">
                  <c:v>5.6</c:v>
                </c:pt>
                <c:pt idx="1">
                  <c:v>7.5</c:v>
                </c:pt>
                <c:pt idx="2">
                  <c:v>9.2</c:v>
                </c:pt>
                <c:pt idx="3">
                  <c:v>11.0</c:v>
                </c:pt>
                <c:pt idx="4">
                  <c:v>12.9</c:v>
                </c:pt>
                <c:pt idx="5">
                  <c:v>14.9</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ar-SA"/>
  <c:roundedCorners val="0"/>
  <c:style val="2"/>
  <c:chart>
    <c:title>
      <c:tx>
        <c:rich>
          <a:bodyPr/>
          <a:lstStyle/>
          <a:p>
            <a:pPr>
              <a:defRPr sz="1100" b="0" i="0" u="none" strike="noStrike">
                <a:solidFill>
                  <a:srgbClr val="111111"/>
                </a:solidFill>
                <a:latin typeface="Arial"/>
              </a:defRPr>
            </a:pPr>
            <a:r>
              <a:rPr sz="1100" b="0" i="0" u="none" strike="noStrike">
                <a:solidFill>
                  <a:srgbClr val="111111"/>
                </a:solidFill>
                <a:latin typeface="Arial"/>
              </a:rPr>
              <a:t>Egypt E-commerce by Category (2024)</a:t>
            </a:r>
          </a:p>
        </c:rich>
      </c:tx>
      <c:overlay val="0"/>
    </c:title>
    <c:autoTitleDeleted val="0"/>
    <c:plotArea>
      <c:layout/>
      <c:doughnutChart>
        <c:varyColors val="1"/>
        <c:ser>
          <c:idx val="0"/>
          <c:order val="0"/>
          <c:tx>
            <c:strRef>
              <c:f>Sheet1!$B$1</c:f>
              <c:strCache>
                <c:ptCount val="1"/>
                <c:pt idx="0">
                  <c:v>Category Share</c:v>
                </c:pt>
              </c:strCache>
            </c:strRef>
          </c:tx>
          <c:spPr>
            <a:solidFill>
              <a:schemeClr val="accent1"/>
            </a:solidFill>
            <a:ln w="9525" cap="flat">
              <a:solidFill>
                <a:srgbClr val="F9F9F9"/>
              </a:solidFill>
              <a:prstDash val="solid"/>
              <a:round/>
            </a:ln>
            <a:effectLst/>
          </c:spPr>
          <c:dPt>
            <c:idx val="0"/>
            <c:bubble3D val="0"/>
            <c:spPr>
              <a:solidFill>
                <a:srgbClr val="E50010"/>
              </a:solidFill>
              <a:effectLst/>
            </c:spPr>
          </c:dPt>
          <c:dPt>
            <c:idx val="1"/>
            <c:bubble3D val="0"/>
            <c:spPr>
              <a:solidFill>
                <a:srgbClr val="111111"/>
              </a:solidFill>
              <a:effectLst/>
            </c:spPr>
          </c:dPt>
          <c:dPt>
            <c:idx val="2"/>
            <c:bubble3D val="0"/>
            <c:spPr>
              <a:solidFill>
                <a:srgbClr val="6B6B6B"/>
              </a:solidFill>
              <a:effectLst/>
            </c:spPr>
          </c:dPt>
          <c:dPt>
            <c:idx val="3"/>
            <c:bubble3D val="0"/>
            <c:spPr>
              <a:solidFill>
                <a:srgbClr val="B71C1C"/>
              </a:solidFill>
              <a:effectLst/>
            </c:spPr>
          </c:dPt>
          <c:dPt>
            <c:idx val="4"/>
            <c:bubble3D val="0"/>
            <c:spPr>
              <a:solidFill>
                <a:srgbClr val="D4D4D4"/>
              </a:solidFill>
              <a:effectLst/>
            </c:spPr>
          </c:dPt>
          <c:dPt>
            <c:idx val="5"/>
            <c:bubble3D val="0"/>
            <c:spPr>
              <a:solidFill>
                <a:srgbClr val="8D8D8D"/>
              </a:solidFill>
              <a:effectLst/>
            </c:spPr>
          </c:dPt>
          <c:dLbls>
            <c:dLbl>
              <c:idx val="0"/>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Lst>
            </c:dLbl>
            <c:dLbl>
              <c:idx val="1"/>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Lst>
            </c:dLbl>
            <c:dLbl>
              <c:idx val="2"/>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Lst>
            </c:dLbl>
            <c:dLbl>
              <c:idx val="3"/>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Lst>
            </c:dLbl>
            <c:dLbl>
              <c:idx val="4"/>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Lst>
            </c:dLbl>
            <c:dLbl>
              <c:idx val="5"/>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Fashion &amp; Apparel</c:v>
                </c:pt>
                <c:pt idx="1">
                  <c:v>Electronics</c:v>
                </c:pt>
                <c:pt idx="2">
                  <c:v>Health &amp; Beauty</c:v>
                </c:pt>
                <c:pt idx="3">
                  <c:v>Home &amp; Furniture</c:v>
                </c:pt>
                <c:pt idx="4">
                  <c:v>Food Delivery</c:v>
                </c:pt>
                <c:pt idx="5">
                  <c:v>Other</c:v>
                </c:pt>
              </c:strCache>
            </c:strRef>
          </c:cat>
          <c:val>
            <c:numRef>
              <c:f>Sheet1!$B$2:$B$7</c:f>
              <c:numCache>
                <c:formatCode>General</c:formatCode>
                <c:ptCount val="6"/>
                <c:pt idx="0">
                  <c:v>28.0</c:v>
                </c:pt>
                <c:pt idx="1">
                  <c:v>22.0</c:v>
                </c:pt>
                <c:pt idx="2">
                  <c:v>18.0</c:v>
                </c:pt>
                <c:pt idx="3">
                  <c:v>12.0</c:v>
                </c:pt>
                <c:pt idx="4">
                  <c:v>11.0</c:v>
                </c:pt>
                <c:pt idx="5">
                  <c:v>9.0</c:v>
                </c:pt>
              </c:numCache>
            </c:numRef>
          </c:val>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800">
              <a:solidFill>
                <a:srgbClr val="111111"/>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ar-SA"/>
  <c:roundedCorners val="0"/>
  <c:style val="2"/>
  <c:chart>
    <c:title>
      <c:tx>
        <c:rich>
          <a:bodyPr/>
          <a:lstStyle/>
          <a:p>
            <a:pPr>
              <a:defRPr sz="1100" b="0" i="0" u="none" strike="noStrike">
                <a:solidFill>
                  <a:srgbClr val="111111"/>
                </a:solidFill>
                <a:latin typeface="Arial"/>
              </a:defRPr>
            </a:pPr>
            <a:r>
              <a:rPr sz="1100" b="0" i="0" u="none" strike="noStrike">
                <a:solidFill>
                  <a:srgbClr val="111111"/>
                </a:solidFill>
                <a:latin typeface="Arial"/>
              </a:rPr>
              <a:t>Top Social Platforms in Egypt (M users, 2024)</a:t>
            </a:r>
          </a:p>
        </c:rich>
      </c:tx>
      <c:overlay val="0"/>
    </c:title>
    <c:autoTitleDeleted val="0"/>
    <c:plotArea>
      <c:layout/>
      <c:barChart>
        <c:barDir val="bar"/>
        <c:grouping val="clustered"/>
        <c:varyColors val="0"/>
        <c:ser>
          <c:idx val="0"/>
          <c:order val="0"/>
          <c:tx>
            <c:strRef>
              <c:f>Sheet1!$B$1</c:f>
              <c:strCache>
                <c:ptCount val="1"/>
                <c:pt idx="0">
                  <c:v>Users (M)</c:v>
                </c:pt>
              </c:strCache>
            </c:strRef>
          </c:tx>
          <c:spPr>
            <a:solidFill>
              <a:srgbClr val="E50010"/>
            </a:solidFill>
            <a:effectLst/>
          </c:spPr>
          <c:invertIfNegative val="0"/>
          <c:dLbls>
            <c:numFmt formatCode="#,##0" sourceLinked="0"/>
            <c:spPr>
              <a:noFill/>
              <a:ln>
                <a:noFill/>
              </a:ln>
              <a:effectLst/>
            </c:spPr>
            <c:txPr>
              <a:bodyPr/>
              <a:lstStyle/>
              <a:p>
                <a:pPr>
                  <a:defRPr sz="800" b="0" i="0" u="none" strike="noStrike">
                    <a:solidFill>
                      <a:srgbClr val="11111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Facebook</c:v>
                </c:pt>
                <c:pt idx="1">
                  <c:v>YouTube</c:v>
                </c:pt>
                <c:pt idx="2">
                  <c:v>TikTok</c:v>
                </c:pt>
                <c:pt idx="3">
                  <c:v>Instagram</c:v>
                </c:pt>
                <c:pt idx="4">
                  <c:v>Snapchat</c:v>
                </c:pt>
                <c:pt idx="5">
                  <c:v>LinkedIn</c:v>
                </c:pt>
                <c:pt idx="6">
                  <c:v>X (Twitter)</c:v>
                </c:pt>
              </c:strCache>
            </c:strRef>
          </c:cat>
          <c:val>
            <c:numRef>
              <c:f>Sheet1!$B$2:$B$8</c:f>
              <c:numCache>
                <c:formatCode>General</c:formatCode>
                <c:ptCount val="7"/>
                <c:pt idx="0">
                  <c:v>45.4</c:v>
                </c:pt>
                <c:pt idx="1">
                  <c:v>44.7</c:v>
                </c:pt>
                <c:pt idx="2">
                  <c:v>32.9</c:v>
                </c:pt>
                <c:pt idx="3">
                  <c:v>18.2</c:v>
                </c:pt>
                <c:pt idx="4">
                  <c:v>17.2</c:v>
                </c:pt>
                <c:pt idx="5">
                  <c:v>10.0</c:v>
                </c:pt>
                <c:pt idx="6">
                  <c:v>5.8</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1111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5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9"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r" defTabSz="914400" eaLnBrk="1" hangingPunct="1" latinLnBrk="0" marL="0" rtl="1">
      <a:defRPr sz="1200" kern="1200">
        <a:solidFill>
          <a:schemeClr val="tx1"/>
        </a:solidFill>
        <a:latin typeface="+mn-lt"/>
        <a:ea typeface="+mn-ea"/>
        <a:cs typeface="+mn-cs"/>
      </a:defRPr>
    </a:lvl1pPr>
    <a:lvl2pPr algn="r" defTabSz="914400" eaLnBrk="1" hangingPunct="1" latinLnBrk="0" marL="457200" rtl="1">
      <a:defRPr sz="1200" kern="1200">
        <a:solidFill>
          <a:schemeClr val="tx1"/>
        </a:solidFill>
        <a:latin typeface="+mn-lt"/>
        <a:ea typeface="+mn-ea"/>
        <a:cs typeface="+mn-cs"/>
      </a:defRPr>
    </a:lvl2pPr>
    <a:lvl3pPr algn="r" defTabSz="914400" eaLnBrk="1" hangingPunct="1" latinLnBrk="0" marL="914400" rtl="1">
      <a:defRPr sz="1200" kern="1200">
        <a:solidFill>
          <a:schemeClr val="tx1"/>
        </a:solidFill>
        <a:latin typeface="+mn-lt"/>
        <a:ea typeface="+mn-ea"/>
        <a:cs typeface="+mn-cs"/>
      </a:defRPr>
    </a:lvl3pPr>
    <a:lvl4pPr algn="r" defTabSz="914400" eaLnBrk="1" hangingPunct="1" latinLnBrk="0" marL="1371600" rtl="1">
      <a:defRPr sz="1200" kern="1200">
        <a:solidFill>
          <a:schemeClr val="tx1"/>
        </a:solidFill>
        <a:latin typeface="+mn-lt"/>
        <a:ea typeface="+mn-ea"/>
        <a:cs typeface="+mn-cs"/>
      </a:defRPr>
    </a:lvl4pPr>
    <a:lvl5pPr algn="r" defTabSz="914400" eaLnBrk="1" hangingPunct="1" latinLnBrk="0" marL="1828800" rtl="1">
      <a:defRPr sz="1200" kern="1200">
        <a:solidFill>
          <a:schemeClr val="tx1"/>
        </a:solidFill>
        <a:latin typeface="+mn-lt"/>
        <a:ea typeface="+mn-ea"/>
        <a:cs typeface="+mn-cs"/>
      </a:defRPr>
    </a:lvl5pPr>
    <a:lvl6pPr algn="r" defTabSz="914400" eaLnBrk="1" hangingPunct="1" latinLnBrk="0" marL="2286000" rtl="1">
      <a:defRPr sz="1200" kern="1200">
        <a:solidFill>
          <a:schemeClr val="tx1"/>
        </a:solidFill>
        <a:latin typeface="+mn-lt"/>
        <a:ea typeface="+mn-ea"/>
        <a:cs typeface="+mn-cs"/>
      </a:defRPr>
    </a:lvl6pPr>
    <a:lvl7pPr algn="r" defTabSz="914400" eaLnBrk="1" hangingPunct="1" latinLnBrk="0" marL="2743200" rtl="1">
      <a:defRPr sz="1200" kern="1200">
        <a:solidFill>
          <a:schemeClr val="tx1"/>
        </a:solidFill>
        <a:latin typeface="+mn-lt"/>
        <a:ea typeface="+mn-ea"/>
        <a:cs typeface="+mn-cs"/>
      </a:defRPr>
    </a:lvl7pPr>
    <a:lvl8pPr algn="r" defTabSz="914400" eaLnBrk="1" hangingPunct="1" latinLnBrk="0" marL="3200400" rtl="1">
      <a:defRPr sz="1200" kern="1200">
        <a:solidFill>
          <a:schemeClr val="tx1"/>
        </a:solidFill>
        <a:latin typeface="+mn-lt"/>
        <a:ea typeface="+mn-ea"/>
        <a:cs typeface="+mn-cs"/>
      </a:defRPr>
    </a:lvl8pPr>
    <a:lvl9pPr algn="r" defTabSz="914400" eaLnBrk="1" hangingPunct="1" latinLnBrk="0" marL="3657600" rtl="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92" name="Slide Image Placeholder 1"/>
          <p:cNvSpPr>
            <a:spLocks noChangeAspect="1" noRot="1" noGrp="1"/>
          </p:cNvSpPr>
          <p:nvPr>
            <p:ph type="sldImg"/>
          </p:nvPr>
        </p:nvSpPr>
        <p:spPr/>
      </p:sp>
      <p:sp>
        <p:nvSpPr>
          <p:cNvPr id="1048593" name="Notes Placeholder 2"/>
          <p:cNvSpPr>
            <a:spLocks noGrp="1"/>
          </p:cNvSpPr>
          <p:nvPr>
            <p:ph type="body" idx="1"/>
          </p:nvPr>
        </p:nvSpPr>
        <p:spPr/>
        <p:txBody>
          <a:bodyPr/>
          <a:p>
            <a:r>
              <a:rPr dirty="0" lang="en-US"/>
              <a:t>Welcome and introduction. This presentation is a Digital Situation Analysis for H&amp;M Egypt, completed as Assignment 04. The deck covers market research, consumer behavior, digital landscape, competitor benchmarking, PESTLE and SWOT analyses, digital opportunities, ten practical recommendations, a conclusion, and a full APA reference list. All insights are focused on the Egyptian market only; where Egypt-specific data is not publicly available, regional or global figures are used for context, clearly marked. Designed in H&amp;M brand identity: white, red, and black with Calibri, Aptos, and Segoe UI typography.</a:t>
            </a:r>
          </a:p>
        </p:txBody>
      </p:sp>
      <p:sp>
        <p:nvSpPr>
          <p:cNvPr id="1048594"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1048622" name="Slide Image Placeholder 1"/>
          <p:cNvSpPr>
            <a:spLocks noChangeAspect="1" noRot="1" noGrp="1"/>
          </p:cNvSpPr>
          <p:nvPr>
            <p:ph type="sldImg"/>
          </p:nvPr>
        </p:nvSpPr>
        <p:spPr/>
      </p:sp>
      <p:sp>
        <p:nvSpPr>
          <p:cNvPr id="1048623" name="Notes Placeholder 2"/>
          <p:cNvSpPr>
            <a:spLocks noGrp="1"/>
          </p:cNvSpPr>
          <p:nvPr>
            <p:ph type="body" idx="1"/>
          </p:nvPr>
        </p:nvSpPr>
        <p:spPr/>
        <p:txBody>
          <a:bodyPr/>
          <a:p>
            <a:r>
              <a:rPr dirty="0" lang="en-US"/>
              <a:t>Egypt is one of the most attractive growth markets in the region. The e-commerce market reached USD 7.5 billion in 2024, growing at about 30-35% annually, and is forecast to nearly double to USD 14.9 billion by 2028 according to Research and Markets. Fashion and apparel is the single largest category, representing 28% of total e-commerce GMV. Mobile drives three quarters of all transactions, and social commerce on Facebook, Instagram, and WhatsApp represents about 40% of online sales. For H&amp;M Egypt, this means a large, mobile-first, fashion-led digital market - perfectly aligned with the brand offer.</a:t>
            </a:r>
          </a:p>
        </p:txBody>
      </p:sp>
      <p:sp>
        <p:nvSpPr>
          <p:cNvPr id="1048624"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675" name="Slide Image Placeholder 1"/>
          <p:cNvSpPr>
            <a:spLocks noChangeAspect="1" noRot="1" noGrp="1"/>
          </p:cNvSpPr>
          <p:nvPr>
            <p:ph type="sldImg"/>
          </p:nvPr>
        </p:nvSpPr>
        <p:spPr/>
      </p:sp>
      <p:sp>
        <p:nvSpPr>
          <p:cNvPr id="1048676" name="Notes Placeholder 2"/>
          <p:cNvSpPr>
            <a:spLocks noGrp="1"/>
          </p:cNvSpPr>
          <p:nvPr>
            <p:ph type="body" idx="1"/>
          </p:nvPr>
        </p:nvSpPr>
        <p:spPr/>
        <p:txBody>
          <a:bodyPr/>
          <a:p>
            <a:r>
              <a:rPr dirty="0" lang="en-US"/>
              <a:t>Egyptian consumers are young, urban, and mobile-first. The core H&amp;M target sits in the 18-34 bracket, skewing female, with growing male demand. Cash on Delivery remains the dominant payment method at 60-70% of orders - this is critical for H&amp;M Egypt: any checkout flow that hides or complicates COD will lose conversions. The buying journey is highly social: consumers discover styles on Instagram and TikTok, compare via Stories and Reels, read WhatsApp and Facebook reviews, then complete the order on a smartphone. Average shopping frequency is monthly to bi-monthly for fashion, with clear spikes around Ramadan, White Friday, and Back to School.</a:t>
            </a:r>
          </a:p>
        </p:txBody>
      </p:sp>
      <p:sp>
        <p:nvSpPr>
          <p:cNvPr id="1048677"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701" name="Slide Image Placeholder 1"/>
          <p:cNvSpPr>
            <a:spLocks noChangeAspect="1" noRot="1" noGrp="1"/>
          </p:cNvSpPr>
          <p:nvPr>
            <p:ph type="sldImg"/>
          </p:nvPr>
        </p:nvSpPr>
        <p:spPr/>
      </p:sp>
      <p:sp>
        <p:nvSpPr>
          <p:cNvPr id="1048702" name="Notes Placeholder 2"/>
          <p:cNvSpPr>
            <a:spLocks noGrp="1"/>
          </p:cNvSpPr>
          <p:nvPr>
            <p:ph type="body" idx="1"/>
          </p:nvPr>
        </p:nvSpPr>
        <p:spPr/>
        <p:txBody>
          <a:bodyPr/>
          <a:p>
            <a:r>
              <a:rPr dirty="0" lang="en-US"/>
              <a:t>Egypt is one of the most connected countries in MENA. By January 2025, internet penetration hit 81.9% with 96.3 million users, and 50.7 million Egyptians use social media. Facebook remains the largest platform with 45.4 million users, closely followed by YouTube (44.7M) and TikTok (32.9M). Instagram sits at around 18 million, Snapchat at 17 million, and LinkedIn at 10 million. Average daily time online is nearly 8 hours - one of the highest in the world. For H&amp;M Egypt, the strategic mix is clear: Facebook and Instagram for reach and shopping, TikTok and Reels for discovery, YouTube for longer storytelling, and Snapchat to reach the under-25 female segment that overlaps with H&amp;M core audience.</a:t>
            </a:r>
          </a:p>
        </p:txBody>
      </p:sp>
      <p:sp>
        <p:nvSpPr>
          <p:cNvPr id="1048703"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716" name="Slide Image Placeholder 1"/>
          <p:cNvSpPr>
            <a:spLocks noChangeAspect="1" noRot="1" noGrp="1"/>
          </p:cNvSpPr>
          <p:nvPr>
            <p:ph type="sldImg"/>
          </p:nvPr>
        </p:nvSpPr>
        <p:spPr/>
      </p:sp>
      <p:sp>
        <p:nvSpPr>
          <p:cNvPr id="1048717" name="Notes Placeholder 2"/>
          <p:cNvSpPr>
            <a:spLocks noGrp="1"/>
          </p:cNvSpPr>
          <p:nvPr>
            <p:ph type="body" idx="1"/>
          </p:nvPr>
        </p:nvSpPr>
        <p:spPr/>
        <p:txBody>
          <a:bodyPr/>
          <a:p>
            <a:r>
              <a:rPr dirty="0" lang="en-US"/>
              <a:t>H&amp;M Egypt competes in a crowded fast-fashion landscape. The strongest local digital competitor is LC Waikiki - a Turkish-origin brand with deep Arabic content, regional influencers, and very aggressive posting. Defacto is similar but leans into family and modest fashion. Zara is the main premium-fast-fashion rival, with a top-5 apparel app in Egypt as of Q2 2024 according to Sensor Tower. Mango and Bershka are smaller but trend-aware. H&amp;M Egypt advantages: brand heritage, sustainability, Conscious collection, wide price tiers, and a unified MENA app. H&amp;M Egypt weaknesses: less Egyptian Arabic content than LC Waikiki and Defacto, slower trend cycles than Zara, and a smaller local creator pool. The opportunity is to invest in Egyptian creators and Arabic content while keeping the global brand voice.</a:t>
            </a:r>
          </a:p>
        </p:txBody>
      </p:sp>
      <p:sp>
        <p:nvSpPr>
          <p:cNvPr id="1048718"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758" name="Slide Image Placeholder 1"/>
          <p:cNvSpPr>
            <a:spLocks noChangeAspect="1" noRot="1" noGrp="1"/>
          </p:cNvSpPr>
          <p:nvPr>
            <p:ph type="sldImg"/>
          </p:nvPr>
        </p:nvSpPr>
        <p:spPr/>
      </p:sp>
      <p:sp>
        <p:nvSpPr>
          <p:cNvPr id="1048759" name="Notes Placeholder 2"/>
          <p:cNvSpPr>
            <a:spLocks noGrp="1"/>
          </p:cNvSpPr>
          <p:nvPr>
            <p:ph type="body" idx="1"/>
          </p:nvPr>
        </p:nvSpPr>
        <p:spPr/>
        <p:txBody>
          <a:bodyPr/>
          <a:p>
            <a:r>
              <a:rPr dirty="0" lang="en-US"/>
              <a:t>Looking across the Egyptian fashion market, the same content patterns keep winning. Seasonal moments dominate: Ramadan campaigns deliver 4-6x the baseline reach, and White Friday drives a 3-4x sales spike in November and December. Influencer Reels with Egyptian micro-creators (10K-50K followers) get 2-3x the engagement of branded posts. User-generated content - customers reposting their H&amp;M looks with the brand tag - lifts engagement by about 38%. Stories with polls and quizzes are critical for daily reach, contributing around 60% of brand-story impressions. Paid Meta Ads on well-targeted lookalike audiences deliver 5-7x ROAS for the best-performing fast-fashion accounts in Egypt. For H&amp;M Egypt, the priority plays are: local creators, Arabic Reels, Ramadan capsule, White Friday countdown, back-to-school, and COD-first ads.</a:t>
            </a:r>
          </a:p>
        </p:txBody>
      </p:sp>
      <p:sp>
        <p:nvSpPr>
          <p:cNvPr id="1048760"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804" name="Slide Image Placeholder 1"/>
          <p:cNvSpPr>
            <a:spLocks noChangeAspect="1" noRot="1" noGrp="1"/>
          </p:cNvSpPr>
          <p:nvPr>
            <p:ph type="sldImg"/>
          </p:nvPr>
        </p:nvSpPr>
        <p:spPr/>
      </p:sp>
      <p:sp>
        <p:nvSpPr>
          <p:cNvPr id="1048805" name="Notes Placeholder 2"/>
          <p:cNvSpPr>
            <a:spLocks noGrp="1"/>
          </p:cNvSpPr>
          <p:nvPr>
            <p:ph type="body" idx="1"/>
          </p:nvPr>
        </p:nvSpPr>
        <p:spPr/>
        <p:txBody>
          <a:bodyPr/>
          <a:p>
            <a:r>
              <a:rPr dirty="0" lang="en-US"/>
              <a:t>PESTLE from a digital marketing perspective: Politically, Egypt is stable and pro-business, with MCIT pushing a national digital strategy - good for infrastructure. Economically, EGP devaluation is squeezing imported apparel prices but consumer credit is rising, and e-commerce growth is robust. Socially, Egypt is a young country - 41% under 20 - with a closing female social-media gap and a clear urban-rural digital divide. Technologically, mobile internet speeds are improving and AI / AR features are now mainstream. Legally, the new Personal Data Protection Law and platform ad-disclosure rules raise the compliance bar. Environmentally, sustainability is a brand asset for H&amp;M - Conscious collection messaging lands well with younger Egyptian consumers.</a:t>
            </a:r>
          </a:p>
        </p:txBody>
      </p:sp>
      <p:sp>
        <p:nvSpPr>
          <p:cNvPr id="1048806"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830" name="Slide Image Placeholder 1"/>
          <p:cNvSpPr>
            <a:spLocks noChangeAspect="1" noRot="1" noGrp="1"/>
          </p:cNvSpPr>
          <p:nvPr>
            <p:ph type="sldImg"/>
          </p:nvPr>
        </p:nvSpPr>
        <p:spPr/>
      </p:sp>
      <p:sp>
        <p:nvSpPr>
          <p:cNvPr id="1048831" name="Notes Placeholder 2"/>
          <p:cNvSpPr>
            <a:spLocks noGrp="1"/>
          </p:cNvSpPr>
          <p:nvPr>
            <p:ph type="body" idx="1"/>
          </p:nvPr>
        </p:nvSpPr>
        <p:spPr/>
        <p:txBody>
          <a:bodyPr/>
          <a:p>
            <a:r>
              <a:rPr dirty="0" lang="en-US"/>
              <a:t>The SWOT shows a clear picture. H&amp;M Egypt has strong brand equity and a great sustainability story, but is held back by limited Arabic content and a slower trend cycle than Zara. The opportunity is huge: 96 million Egyptians online, double-digit e-commerce growth, and TikTok-led discovery. The threats are real but manageable: local pricing pressure from LC Waikiki and Defacto, EGP volatility, rising ad costs, and the new data privacy law. The strategic conclusion is straightforward: invest heavily in Egyptian creators, Arabic content, and mobile-first, COD-friendly shopping experiences - while defending the brand with sustainability and Conscious messaging.</a:t>
            </a:r>
          </a:p>
        </p:txBody>
      </p:sp>
      <p:sp>
        <p:nvSpPr>
          <p:cNvPr id="1048832"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899" name="Slide Image Placeholder 1"/>
          <p:cNvSpPr>
            <a:spLocks noChangeAspect="1" noRot="1" noGrp="1"/>
          </p:cNvSpPr>
          <p:nvPr>
            <p:ph type="sldImg"/>
          </p:nvPr>
        </p:nvSpPr>
        <p:spPr/>
      </p:sp>
      <p:sp>
        <p:nvSpPr>
          <p:cNvPr id="1048900" name="Notes Placeholder 2"/>
          <p:cNvSpPr>
            <a:spLocks noGrp="1"/>
          </p:cNvSpPr>
          <p:nvPr>
            <p:ph type="body" idx="1"/>
          </p:nvPr>
        </p:nvSpPr>
        <p:spPr/>
        <p:txBody>
          <a:bodyPr/>
          <a:p>
            <a:r>
              <a:rPr dirty="0" lang="en-US"/>
              <a:t>H&amp;M Egypt has twelve concrete growth levers to activate in 2025. The biggest wins come from owning Arabic search, building a tiered Egyptian creator roster, and turning TikTok Reels into a shoppable channel via TikTok Shop and hm.com/eg. Email and SMS lifecycle flows - especially abandoned cart and COD reminders - deliver strong ROI in Egypt where COD dominates. UGC and customer reviews are an underused asset: H&amp;M Egypt should repost Egyptian customers and run simple hashtag challenges. AI personalisation, AR try-on, and a localised loyalty program with early-access drops are the long-term moats. These twelve opportunities form the basis of the ten recommendations on the next slide.</a:t>
            </a:r>
          </a:p>
        </p:txBody>
      </p:sp>
      <p:sp>
        <p:nvSpPr>
          <p:cNvPr id="1048901"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958" name="Slide Image Placeholder 1"/>
          <p:cNvSpPr>
            <a:spLocks noChangeAspect="1" noRot="1" noGrp="1"/>
          </p:cNvSpPr>
          <p:nvPr>
            <p:ph type="sldImg"/>
          </p:nvPr>
        </p:nvSpPr>
        <p:spPr/>
      </p:sp>
      <p:sp>
        <p:nvSpPr>
          <p:cNvPr id="1048959" name="Notes Placeholder 2"/>
          <p:cNvSpPr>
            <a:spLocks noGrp="1"/>
          </p:cNvSpPr>
          <p:nvPr>
            <p:ph type="body" idx="1"/>
          </p:nvPr>
        </p:nvSpPr>
        <p:spPr/>
        <p:txBody>
          <a:bodyPr/>
          <a:p>
            <a:r>
              <a:rPr dirty="0" lang="en-US"/>
              <a:t>These ten recommendations are prioritised for the Egyptian market. The top three are: a Ramadan capsule drop, a White Friday 30-day push, and a COD-first checkout - the three highest-ROI moves for 2025. Then layer in Arabic content, a tiered Egyptian creator roster, and a TikTok Shop pilot to win the under-25 female segment. Build a Facebook community for ongoing engagement, invest in mobile-first site speed, launch an Egypt-only H&amp;M Member program, and own Arabic and English SEO for fashion, modest wear, and occasions. Together, these ten actions can lift Egypt digital revenue meaningfully in 2025.</a:t>
            </a:r>
          </a:p>
        </p:txBody>
      </p:sp>
      <p:sp>
        <p:nvSpPr>
          <p:cNvPr id="1048960"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982" name="Slide Image Placeholder 1"/>
          <p:cNvSpPr>
            <a:spLocks noChangeAspect="1" noRot="1" noGrp="1"/>
          </p:cNvSpPr>
          <p:nvPr>
            <p:ph type="sldImg"/>
          </p:nvPr>
        </p:nvSpPr>
        <p:spPr/>
      </p:sp>
      <p:sp>
        <p:nvSpPr>
          <p:cNvPr id="1048983" name="Notes Placeholder 2"/>
          <p:cNvSpPr>
            <a:spLocks noGrp="1"/>
          </p:cNvSpPr>
          <p:nvPr>
            <p:ph type="body" idx="1"/>
          </p:nvPr>
        </p:nvSpPr>
        <p:spPr/>
        <p:txBody>
          <a:bodyPr/>
          <a:p>
            <a:r>
              <a:rPr dirty="0" lang="en-US"/>
              <a:t>In summary, Egypt is one of the most attractive and under-leveraged digital fashion markets in the MENA region. The numbers speak for themselves: 96 million Egyptians online, 50 million on social, fashion as the largest e-commerce category, and a mobile-first, COD-driven funnel that is perfectly aligned with H&amp;M's offer. The opportunity is clear: own Arabic search, build a tiered Egyptian creator roster, pilot TikTok Shop, and run strong Ramadan and White Friday campaigns. Three business insights are non-negotiable: COD-first checkout, a localised loyalty program, and sustainability as a brand moat. With the e-commerce market on track to nearly double to USD 14.9 billion by 2028, H&amp;M Egypt has a strong runway for digital-led growth.</a:t>
            </a:r>
          </a:p>
        </p:txBody>
      </p:sp>
      <p:sp>
        <p:nvSpPr>
          <p:cNvPr id="1048984"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5" name=""/>
        <p:cNvGrpSpPr/>
        <p:nvPr/>
      </p:nvGrpSpPr>
      <p:grpSpPr>
        <a:xfrm>
          <a:off x="0" y="0"/>
          <a:ext cx="0" cy="0"/>
          <a:chOff x="0" y="0"/>
          <a:chExt cx="0" cy="0"/>
        </a:xfrm>
      </p:grpSpPr>
      <p:sp>
        <p:nvSpPr>
          <p:cNvPr id="1048576" name="Shape 0"/>
          <p:cNvSpPr/>
          <p:nvPr/>
        </p:nvSpPr>
        <p:spPr>
          <a:xfrm>
            <a:off x="0" y="0"/>
            <a:ext cx="3291840" cy="5143500"/>
          </a:xfrm>
          <a:prstGeom prst="rect"/>
          <a:solidFill>
            <a:srgbClr val="E50010"/>
          </a:solidFill>
        </p:spPr>
      </p:sp>
      <p:sp>
        <p:nvSpPr>
          <p:cNvPr id="1048577" name="Shape 1"/>
          <p:cNvSpPr/>
          <p:nvPr/>
        </p:nvSpPr>
        <p:spPr>
          <a:xfrm>
            <a:off x="457200" y="4114800"/>
            <a:ext cx="457200" cy="457200"/>
          </a:xfrm>
          <a:prstGeom prst="rect"/>
          <a:solidFill>
            <a:srgbClr val="FFFFFF"/>
          </a:solidFill>
        </p:spPr>
      </p:sp>
      <p:sp>
        <p:nvSpPr>
          <p:cNvPr id="1048578" name="Shape 2"/>
          <p:cNvSpPr/>
          <p:nvPr/>
        </p:nvSpPr>
        <p:spPr>
          <a:xfrm>
            <a:off x="1005840" y="4114800"/>
            <a:ext cx="457200" cy="457200"/>
          </a:xfrm>
          <a:prstGeom prst="rect"/>
          <a:solidFill>
            <a:srgbClr val="FFFFFF"/>
          </a:solidFill>
        </p:spPr>
      </p:sp>
      <p:sp>
        <p:nvSpPr>
          <p:cNvPr id="1048579" name="Shape 3"/>
          <p:cNvSpPr/>
          <p:nvPr/>
        </p:nvSpPr>
        <p:spPr>
          <a:xfrm>
            <a:off x="457200" y="4663440"/>
            <a:ext cx="457200" cy="457200"/>
          </a:xfrm>
          <a:prstGeom prst="rect"/>
          <a:solidFill>
            <a:srgbClr val="FFFFFF"/>
          </a:solidFill>
        </p:spPr>
      </p:sp>
      <p:sp>
        <p:nvSpPr>
          <p:cNvPr id="1048580" name="Text 4"/>
          <p:cNvSpPr/>
          <p:nvPr/>
        </p:nvSpPr>
        <p:spPr>
          <a:xfrm>
            <a:off x="457200" y="457200"/>
            <a:ext cx="2377440" cy="1005840"/>
          </a:xfrm>
          <a:prstGeom prst="rect"/>
          <a:noFill/>
        </p:spPr>
        <p:txBody>
          <a:bodyPr anchor="ctr" bIns="0" lIns="0" rIns="0" rtlCol="0" tIns="0" wrap="square"/>
          <a:p>
            <a:pPr algn="l" indent="0" marL="0">
              <a:buNone/>
            </a:pPr>
            <a:r>
              <a:rPr b="1" dirty="0" sz="7200" kern="0" lang="en-US" spc="-200">
                <a:solidFill>
                  <a:srgbClr val="FFFFFF"/>
                </a:solidFill>
                <a:latin typeface="Arial" pitchFamily="34" charset="0"/>
                <a:ea typeface="Arial" pitchFamily="34" charset="-122"/>
                <a:cs typeface="Arial" pitchFamily="34" charset="-120"/>
              </a:rPr>
              <a:t>H&amp;M</a:t>
            </a:r>
            <a:endParaRPr dirty="0" sz="7200" lang="en-US"/>
          </a:p>
        </p:txBody>
      </p:sp>
      <p:sp>
        <p:nvSpPr>
          <p:cNvPr id="1048581" name="Text 5"/>
          <p:cNvSpPr/>
          <p:nvPr/>
        </p:nvSpPr>
        <p:spPr>
          <a:xfrm>
            <a:off x="457200" y="1371600"/>
            <a:ext cx="2377440" cy="365760"/>
          </a:xfrm>
          <a:prstGeom prst="rect"/>
          <a:noFill/>
        </p:spPr>
        <p:txBody>
          <a:bodyPr anchor="t" bIns="0" lIns="0" rIns="0" rtlCol="0" tIns="0" wrap="square"/>
          <a:p>
            <a:pPr algn="l" indent="0" marL="0">
              <a:buNone/>
            </a:pPr>
            <a:r>
              <a:rPr b="1" dirty="0" sz="1600" kern="0" lang="en-US" spc="800">
                <a:solidFill>
                  <a:srgbClr val="FFFFFF"/>
                </a:solidFill>
                <a:latin typeface="Arial" pitchFamily="34" charset="0"/>
                <a:ea typeface="Arial" pitchFamily="34" charset="-122"/>
                <a:cs typeface="Arial" pitchFamily="34" charset="-120"/>
              </a:rPr>
              <a:t>EGYPT</a:t>
            </a:r>
            <a:endParaRPr dirty="0" sz="1600" lang="en-US"/>
          </a:p>
        </p:txBody>
      </p:sp>
      <p:sp>
        <p:nvSpPr>
          <p:cNvPr id="1048582" name="Shape 6"/>
          <p:cNvSpPr/>
          <p:nvPr/>
        </p:nvSpPr>
        <p:spPr>
          <a:xfrm>
            <a:off x="457200" y="1783080"/>
            <a:ext cx="731520" cy="36576"/>
          </a:xfrm>
          <a:prstGeom prst="rect"/>
          <a:solidFill>
            <a:srgbClr val="FFFFFF"/>
          </a:solidFill>
        </p:spPr>
      </p:sp>
      <p:sp>
        <p:nvSpPr>
          <p:cNvPr id="1048583" name="Text 7"/>
          <p:cNvSpPr/>
          <p:nvPr/>
        </p:nvSpPr>
        <p:spPr>
          <a:xfrm>
            <a:off x="457200" y="1920240"/>
            <a:ext cx="2377440" cy="274320"/>
          </a:xfrm>
          <a:prstGeom prst="rect"/>
          <a:noFill/>
        </p:spPr>
        <p:txBody>
          <a:bodyPr anchor="t" bIns="0" lIns="0" rIns="0" rtlCol="0" tIns="0" wrap="square"/>
          <a:p>
            <a:pPr algn="l" indent="0" marL="0">
              <a:buNone/>
            </a:pPr>
            <a:r>
              <a:rPr b="1" dirty="0" sz="1000" kern="0" lang="en-US" spc="400">
                <a:solidFill>
                  <a:srgbClr val="FFFFFF"/>
                </a:solidFill>
                <a:latin typeface="Arial" pitchFamily="34" charset="0"/>
                <a:ea typeface="Arial" pitchFamily="34" charset="-122"/>
                <a:cs typeface="Arial" pitchFamily="34" charset="-120"/>
              </a:rPr>
              <a:t>UNIVERSITY ASSIGNMENT</a:t>
            </a:r>
            <a:endParaRPr dirty="0" sz="1000" lang="en-US"/>
          </a:p>
        </p:txBody>
      </p:sp>
      <p:sp>
        <p:nvSpPr>
          <p:cNvPr id="1048584" name="Text 8"/>
          <p:cNvSpPr/>
          <p:nvPr/>
        </p:nvSpPr>
        <p:spPr>
          <a:xfrm>
            <a:off x="3657600" y="1280160"/>
            <a:ext cx="5120640" cy="822960"/>
          </a:xfrm>
          <a:prstGeom prst="rect"/>
          <a:noFill/>
        </p:spPr>
        <p:txBody>
          <a:bodyPr anchor="ctr" bIns="0" lIns="0" rIns="0" rtlCol="0" tIns="0" wrap="square"/>
          <a:p>
            <a:pPr algn="l" indent="0" marL="0">
              <a:buNone/>
            </a:pPr>
            <a:r>
              <a:rPr b="1" dirty="0" sz="4400" lang="en-US">
                <a:solidFill>
                  <a:srgbClr val="111111"/>
                </a:solidFill>
                <a:latin typeface="Arial" pitchFamily="34" charset="0"/>
                <a:ea typeface="Arial" pitchFamily="34" charset="-122"/>
                <a:cs typeface="Arial" pitchFamily="34" charset="-120"/>
              </a:rPr>
              <a:t>Digital Situation</a:t>
            </a:r>
            <a:endParaRPr dirty="0" sz="4400" lang="en-US"/>
          </a:p>
        </p:txBody>
      </p:sp>
      <p:sp>
        <p:nvSpPr>
          <p:cNvPr id="1048585" name="Text 9"/>
          <p:cNvSpPr/>
          <p:nvPr/>
        </p:nvSpPr>
        <p:spPr>
          <a:xfrm>
            <a:off x="3657600" y="2011680"/>
            <a:ext cx="5120640" cy="822960"/>
          </a:xfrm>
          <a:prstGeom prst="rect"/>
          <a:noFill/>
        </p:spPr>
        <p:txBody>
          <a:bodyPr anchor="ctr" bIns="0" lIns="0" rIns="0" rtlCol="0" tIns="0" wrap="square"/>
          <a:p>
            <a:pPr algn="l" indent="0" marL="0">
              <a:buNone/>
            </a:pPr>
            <a:r>
              <a:rPr b="1" dirty="0" sz="4400" lang="en-US">
                <a:solidFill>
                  <a:srgbClr val="E50010"/>
                </a:solidFill>
                <a:latin typeface="Arial" pitchFamily="34" charset="0"/>
                <a:ea typeface="Arial" pitchFamily="34" charset="-122"/>
                <a:cs typeface="Arial" pitchFamily="34" charset="-120"/>
              </a:rPr>
              <a:t>Analysis</a:t>
            </a:r>
            <a:endParaRPr dirty="0" sz="4400" lang="en-US"/>
          </a:p>
        </p:txBody>
      </p:sp>
      <p:sp>
        <p:nvSpPr>
          <p:cNvPr id="1048586" name="Text 10"/>
          <p:cNvSpPr/>
          <p:nvPr/>
        </p:nvSpPr>
        <p:spPr>
          <a:xfrm>
            <a:off x="3657600" y="2834640"/>
            <a:ext cx="5120640" cy="320040"/>
          </a:xfrm>
          <a:prstGeom prst="rect"/>
          <a:noFill/>
        </p:spPr>
        <p:txBody>
          <a:bodyPr anchor="t" bIns="0" lIns="0" rIns="0" rtlCol="0" tIns="0" wrap="square"/>
          <a:p>
            <a:pPr algn="l" indent="0" marL="0">
              <a:buNone/>
            </a:pPr>
            <a:r>
              <a:rPr dirty="0" sz="1600" i="1" lang="en-US">
                <a:solidFill>
                  <a:srgbClr val="6B6B6B"/>
                </a:solidFill>
                <a:latin typeface="Arial" pitchFamily="34" charset="0"/>
                <a:ea typeface="Arial" pitchFamily="34" charset="-122"/>
                <a:cs typeface="Arial" pitchFamily="34" charset="-120"/>
              </a:rPr>
              <a:t>H&amp;M Egypt - 2024 / 2025 Digital Landscape</a:t>
            </a:r>
            <a:endParaRPr dirty="0" sz="1600" lang="en-US"/>
          </a:p>
        </p:txBody>
      </p:sp>
      <p:sp>
        <p:nvSpPr>
          <p:cNvPr id="1048587" name="Shape 11"/>
          <p:cNvSpPr/>
          <p:nvPr/>
        </p:nvSpPr>
        <p:spPr>
          <a:xfrm>
            <a:off x="3657600" y="3337560"/>
            <a:ext cx="1097280" cy="36576"/>
          </a:xfrm>
          <a:prstGeom prst="rect"/>
          <a:solidFill>
            <a:srgbClr val="E50010"/>
          </a:solidFill>
        </p:spPr>
      </p:sp>
      <p:sp>
        <p:nvSpPr>
          <p:cNvPr id="1048588" name="Text 12"/>
          <p:cNvSpPr/>
          <p:nvPr/>
        </p:nvSpPr>
        <p:spPr>
          <a:xfrm>
            <a:off x="3657600" y="3520440"/>
            <a:ext cx="5120640" cy="228600"/>
          </a:xfrm>
          <a:prstGeom prst="rect"/>
          <a:noFill/>
        </p:spPr>
        <p:txBody>
          <a:bodyPr anchor="ctr" bIns="0" lIns="0" rIns="0" rtlCol="0" tIns="0" wrap="square"/>
          <a:p>
            <a:pPr indent="0" marL="0">
              <a:buNone/>
            </a:pPr>
            <a:r>
              <a:rPr b="1" dirty="0" sz="900" kern="0" lang="en-US" spc="400">
                <a:solidFill>
                  <a:srgbClr val="6B6B6B"/>
                </a:solidFill>
                <a:latin typeface="Arial" pitchFamily="34" charset="0"/>
                <a:ea typeface="Arial" pitchFamily="34" charset="-122"/>
                <a:cs typeface="Arial" pitchFamily="34" charset="-120"/>
              </a:rPr>
              <a:t>PREPARED BY</a:t>
            </a:r>
            <a:endParaRPr dirty="0" sz="900" lang="en-US"/>
          </a:p>
        </p:txBody>
      </p:sp>
      <p:sp>
        <p:nvSpPr>
          <p:cNvPr id="1048589" name="Text 13"/>
          <p:cNvSpPr/>
          <p:nvPr/>
        </p:nvSpPr>
        <p:spPr>
          <a:xfrm>
            <a:off x="3657600" y="3749040"/>
            <a:ext cx="5120640" cy="320040"/>
          </a:xfrm>
          <a:prstGeom prst="rect"/>
          <a:noFill/>
        </p:spPr>
        <p:txBody>
          <a:bodyPr anchor="ctr" bIns="0" lIns="0" rIns="0" rtlCol="0" tIns="0" wrap="square"/>
          <a:p>
            <a:pPr indent="0" marL="0">
              <a:buNone/>
            </a:pPr>
            <a:r>
              <a:rPr b="1" dirty="0" sz="1800" lang="en-US">
                <a:solidFill>
                  <a:srgbClr val="111111"/>
                </a:solidFill>
                <a:latin typeface="Arial" pitchFamily="34" charset="0"/>
                <a:ea typeface="Arial" pitchFamily="34" charset="-122"/>
                <a:cs typeface="Arial" pitchFamily="34" charset="-120"/>
              </a:rPr>
              <a:t>Mohamed Mostafa Taher Salem</a:t>
            </a:r>
            <a:endParaRPr dirty="0" sz="1800" lang="en-US"/>
          </a:p>
        </p:txBody>
      </p:sp>
      <p:sp>
        <p:nvSpPr>
          <p:cNvPr id="1048590" name="Text 14"/>
          <p:cNvSpPr/>
          <p:nvPr/>
        </p:nvSpPr>
        <p:spPr>
          <a:xfrm>
            <a:off x="3657600" y="4069080"/>
            <a:ext cx="5120640" cy="274320"/>
          </a:xfrm>
          <a:prstGeom prst="rect"/>
          <a:noFill/>
        </p:spPr>
        <p:txBody>
          <a:bodyPr anchor="ctr" bIns="0" lIns="0" rIns="0" rtlCol="0" tIns="0" wrap="square"/>
          <a:p>
            <a:pPr indent="0" marL="0">
              <a:buNone/>
            </a:pPr>
            <a:r>
              <a:rPr dirty="0" sz="1300" lang="en-US">
                <a:solidFill>
                  <a:srgbClr val="6B6B6B"/>
                </a:solidFill>
                <a:latin typeface="Arial" pitchFamily="34" charset="0"/>
                <a:ea typeface="Arial" pitchFamily="34" charset="-122"/>
                <a:cs typeface="Arial" pitchFamily="34" charset="-120"/>
              </a:rPr>
              <a:t>Student ID: 21172333</a:t>
            </a:r>
            <a:endParaRPr dirty="0" sz="1300" lang="en-US"/>
          </a:p>
        </p:txBody>
      </p:sp>
      <p:sp>
        <p:nvSpPr>
          <p:cNvPr id="1048591" name="Text 15"/>
          <p:cNvSpPr/>
          <p:nvPr/>
        </p:nvSpPr>
        <p:spPr>
          <a:xfrm>
            <a:off x="3657600" y="4663440"/>
            <a:ext cx="5120640" cy="274320"/>
          </a:xfrm>
          <a:prstGeom prst="rect"/>
          <a:noFill/>
        </p:spPr>
        <p:txBody>
          <a:bodyPr anchor="ctr" bIns="0" lIns="0" rIns="0" rtlCol="0" tIns="0" wrap="square"/>
          <a:p>
            <a:pPr algn="l" indent="0" marL="0">
              <a:buNone/>
            </a:pPr>
            <a:r>
              <a:rPr dirty="0" sz="1000" lang="en-US">
                <a:solidFill>
                  <a:srgbClr val="6B6B6B"/>
                </a:solidFill>
                <a:latin typeface="Arial" pitchFamily="34" charset="0"/>
                <a:ea typeface="Arial" pitchFamily="34" charset="-122"/>
                <a:cs typeface="Arial" pitchFamily="34" charset="-120"/>
              </a:rPr>
              <a:t>Assignment 04  |  Digital Marketing</a:t>
            </a:r>
            <a:endParaRPr dirty="0" sz="10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9" name=""/>
        <p:cNvGrpSpPr/>
        <p:nvPr/>
      </p:nvGrpSpPr>
      <p:grpSpPr>
        <a:xfrm>
          <a:off x="0" y="0"/>
          <a:ext cx="0" cy="0"/>
          <a:chOff x="0" y="0"/>
          <a:chExt cx="0" cy="0"/>
        </a:xfrm>
      </p:grpSpPr>
      <p:sp>
        <p:nvSpPr>
          <p:cNvPr id="1048595" name="Shape 0"/>
          <p:cNvSpPr/>
          <p:nvPr/>
        </p:nvSpPr>
        <p:spPr>
          <a:xfrm>
            <a:off x="0" y="0"/>
            <a:ext cx="9144000" cy="502920"/>
          </a:xfrm>
          <a:prstGeom prst="rect"/>
          <a:solidFill>
            <a:srgbClr val="111111"/>
          </a:solidFill>
        </p:spPr>
      </p:sp>
      <p:sp>
        <p:nvSpPr>
          <p:cNvPr id="1048596" name="Text 1"/>
          <p:cNvSpPr/>
          <p:nvPr/>
        </p:nvSpPr>
        <p:spPr>
          <a:xfrm>
            <a:off x="365760" y="0"/>
            <a:ext cx="5486400" cy="502920"/>
          </a:xfrm>
          <a:prstGeom prst="rect"/>
          <a:noFill/>
        </p:spPr>
        <p:txBody>
          <a:bodyPr anchor="ctr" bIns="0" lIns="0" rIns="0" rtlCol="0" tIns="0" wrap="square"/>
          <a:p>
            <a:pPr indent="0" marL="0">
              <a:buNone/>
            </a:pPr>
            <a:r>
              <a:rPr b="1" dirty="0" sz="1000" kern="0" lang="en-US" spc="300">
                <a:solidFill>
                  <a:srgbClr val="FFFFFF"/>
                </a:solidFill>
                <a:latin typeface="Arial" pitchFamily="34" charset="0"/>
                <a:ea typeface="Arial" pitchFamily="34" charset="-122"/>
                <a:cs typeface="Arial" pitchFamily="34" charset="-120"/>
              </a:rPr>
              <a:t>H&amp;M EGYPT  |  DIGITAL SITUATION ANALYSIS</a:t>
            </a:r>
            <a:endParaRPr dirty="0" sz="1000" lang="en-US"/>
          </a:p>
        </p:txBody>
      </p:sp>
      <p:sp>
        <p:nvSpPr>
          <p:cNvPr id="1048597" name="Text 2"/>
          <p:cNvSpPr/>
          <p:nvPr/>
        </p:nvSpPr>
        <p:spPr>
          <a:xfrm>
            <a:off x="5029200" y="0"/>
            <a:ext cx="3749040" cy="502920"/>
          </a:xfrm>
          <a:prstGeom prst="rect"/>
          <a:noFill/>
        </p:spPr>
        <p:txBody>
          <a:bodyPr anchor="ctr" bIns="0" lIns="0" rIns="0" rtlCol="0" tIns="0" wrap="square"/>
          <a:p>
            <a:pPr algn="r" indent="0" marL="0">
              <a:buNone/>
            </a:pPr>
            <a:r>
              <a:rPr b="1" dirty="0" sz="1000" kern="0" lang="en-US" spc="300">
                <a:solidFill>
                  <a:srgbClr val="FFFFFF"/>
                </a:solidFill>
                <a:latin typeface="Arial" pitchFamily="34" charset="0"/>
                <a:ea typeface="Arial" pitchFamily="34" charset="-122"/>
                <a:cs typeface="Arial" pitchFamily="34" charset="-120"/>
              </a:rPr>
              <a:t>01 - Market Research</a:t>
            </a:r>
            <a:endParaRPr dirty="0" sz="1000" lang="en-US"/>
          </a:p>
        </p:txBody>
      </p:sp>
      <p:sp>
        <p:nvSpPr>
          <p:cNvPr id="1048598" name="Text 3"/>
          <p:cNvSpPr/>
          <p:nvPr/>
        </p:nvSpPr>
        <p:spPr>
          <a:xfrm>
            <a:off x="365760" y="685800"/>
            <a:ext cx="8412480" cy="50292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Egypt Fashion Market</a:t>
            </a:r>
            <a:endParaRPr dirty="0" sz="3000" lang="en-US"/>
          </a:p>
        </p:txBody>
      </p:sp>
      <p:sp>
        <p:nvSpPr>
          <p:cNvPr id="1048599" name="Text 4"/>
          <p:cNvSpPr/>
          <p:nvPr/>
        </p:nvSpPr>
        <p:spPr>
          <a:xfrm>
            <a:off x="365760" y="1188720"/>
            <a:ext cx="8412480" cy="274320"/>
          </a:xfrm>
          <a:prstGeom prst="rect"/>
          <a:noFill/>
        </p:spPr>
        <p:txBody>
          <a:bodyPr anchor="ctr" bIns="0" lIns="0" rIns="0" rtlCol="0" tIns="0" wrap="square"/>
          <a:p>
            <a:pPr indent="0" marL="0">
              <a:buNone/>
            </a:pPr>
            <a:r>
              <a:rPr dirty="0" sz="1300" i="1" lang="en-US">
                <a:solidFill>
                  <a:srgbClr val="6B6B6B"/>
                </a:solidFill>
                <a:latin typeface="Arial" pitchFamily="34" charset="0"/>
                <a:ea typeface="Arial" pitchFamily="34" charset="-122"/>
                <a:cs typeface="Arial" pitchFamily="34" charset="-120"/>
              </a:rPr>
              <a:t>Sizing the opportunity for H&amp;M in the Egyptian market</a:t>
            </a:r>
            <a:endParaRPr dirty="0" sz="1300" lang="en-US"/>
          </a:p>
        </p:txBody>
      </p:sp>
      <p:sp>
        <p:nvSpPr>
          <p:cNvPr id="1048600" name="Shape 5"/>
          <p:cNvSpPr/>
          <p:nvPr/>
        </p:nvSpPr>
        <p:spPr>
          <a:xfrm>
            <a:off x="365760" y="1600200"/>
            <a:ext cx="2011680" cy="960120"/>
          </a:xfrm>
          <a:prstGeom prst="rect"/>
          <a:solidFill>
            <a:srgbClr val="F5F5F5"/>
          </a:solidFill>
        </p:spPr>
      </p:sp>
      <p:sp>
        <p:nvSpPr>
          <p:cNvPr id="1048601" name="Shape 6"/>
          <p:cNvSpPr/>
          <p:nvPr/>
        </p:nvSpPr>
        <p:spPr>
          <a:xfrm>
            <a:off x="365760" y="1600200"/>
            <a:ext cx="73152" cy="960120"/>
          </a:xfrm>
          <a:prstGeom prst="rect"/>
          <a:solidFill>
            <a:srgbClr val="E50010"/>
          </a:solidFill>
        </p:spPr>
      </p:sp>
      <p:sp>
        <p:nvSpPr>
          <p:cNvPr id="1048602" name="Text 7"/>
          <p:cNvSpPr/>
          <p:nvPr/>
        </p:nvSpPr>
        <p:spPr>
          <a:xfrm>
            <a:off x="502920" y="1645920"/>
            <a:ext cx="1828800" cy="457200"/>
          </a:xfrm>
          <a:prstGeom prst="rect"/>
          <a:noFill/>
        </p:spPr>
        <p:txBody>
          <a:bodyPr anchor="ctr" bIns="0" lIns="0" rIns="0" rtlCol="0" tIns="0" wrap="square"/>
          <a:p>
            <a:pPr indent="0" marL="0">
              <a:buNone/>
            </a:pPr>
            <a:r>
              <a:rPr b="1" dirty="0" sz="2600" lang="en-US">
                <a:solidFill>
                  <a:srgbClr val="E50010"/>
                </a:solidFill>
                <a:latin typeface="Arial" pitchFamily="34" charset="0"/>
                <a:ea typeface="Arial" pitchFamily="34" charset="-122"/>
                <a:cs typeface="Arial" pitchFamily="34" charset="-120"/>
              </a:rPr>
              <a:t>USD 7.5B</a:t>
            </a:r>
            <a:endParaRPr dirty="0" sz="2600" lang="en-US"/>
          </a:p>
        </p:txBody>
      </p:sp>
      <p:sp>
        <p:nvSpPr>
          <p:cNvPr id="1048603" name="Text 8"/>
          <p:cNvSpPr/>
          <p:nvPr/>
        </p:nvSpPr>
        <p:spPr>
          <a:xfrm>
            <a:off x="502920" y="2121408"/>
            <a:ext cx="1828800" cy="274320"/>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Egypt e-commerce GMV 2024</a:t>
            </a:r>
            <a:endParaRPr dirty="0" sz="1000" lang="en-US"/>
          </a:p>
        </p:txBody>
      </p:sp>
      <p:sp>
        <p:nvSpPr>
          <p:cNvPr id="1048604" name="Text 9"/>
          <p:cNvSpPr/>
          <p:nvPr/>
        </p:nvSpPr>
        <p:spPr>
          <a:xfrm>
            <a:off x="502920" y="2359152"/>
            <a:ext cx="1828800" cy="182880"/>
          </a:xfrm>
          <a:prstGeom prst="rect"/>
          <a:noFill/>
        </p:spPr>
        <p:txBody>
          <a:bodyPr anchor="ctr" bIns="0" lIns="0" rIns="0" rtlCol="0" tIns="0" wrap="square"/>
          <a:p>
            <a:pPr indent="0" marL="0">
              <a:buNone/>
            </a:pPr>
            <a:r>
              <a:rPr dirty="0" sz="800" i="1" lang="en-US">
                <a:solidFill>
                  <a:srgbClr val="6B6B6B"/>
                </a:solidFill>
                <a:latin typeface="Arial" pitchFamily="34" charset="0"/>
                <a:ea typeface="Arial" pitchFamily="34" charset="-122"/>
                <a:cs typeface="Arial" pitchFamily="34" charset="-120"/>
              </a:rPr>
              <a:t>Source: 23hublab 2024</a:t>
            </a:r>
            <a:endParaRPr dirty="0" sz="800" lang="en-US"/>
          </a:p>
        </p:txBody>
      </p:sp>
      <p:sp>
        <p:nvSpPr>
          <p:cNvPr id="1048605" name="Shape 10"/>
          <p:cNvSpPr/>
          <p:nvPr/>
        </p:nvSpPr>
        <p:spPr>
          <a:xfrm>
            <a:off x="2496312" y="1600200"/>
            <a:ext cx="2011680" cy="960120"/>
          </a:xfrm>
          <a:prstGeom prst="rect"/>
          <a:solidFill>
            <a:srgbClr val="F5F5F5"/>
          </a:solidFill>
        </p:spPr>
      </p:sp>
      <p:sp>
        <p:nvSpPr>
          <p:cNvPr id="1048606" name="Shape 11"/>
          <p:cNvSpPr/>
          <p:nvPr/>
        </p:nvSpPr>
        <p:spPr>
          <a:xfrm>
            <a:off x="2496312" y="1600200"/>
            <a:ext cx="73152" cy="960120"/>
          </a:xfrm>
          <a:prstGeom prst="rect"/>
          <a:solidFill>
            <a:srgbClr val="E50010"/>
          </a:solidFill>
        </p:spPr>
      </p:sp>
      <p:sp>
        <p:nvSpPr>
          <p:cNvPr id="1048607" name="Text 12"/>
          <p:cNvSpPr/>
          <p:nvPr/>
        </p:nvSpPr>
        <p:spPr>
          <a:xfrm>
            <a:off x="2633472" y="1645920"/>
            <a:ext cx="1828800" cy="457200"/>
          </a:xfrm>
          <a:prstGeom prst="rect"/>
          <a:noFill/>
        </p:spPr>
        <p:txBody>
          <a:bodyPr anchor="ctr" bIns="0" lIns="0" rIns="0" rtlCol="0" tIns="0" wrap="square"/>
          <a:p>
            <a:pPr indent="0" marL="0">
              <a:buNone/>
            </a:pPr>
            <a:r>
              <a:rPr b="1" dirty="0" sz="2600" lang="en-US">
                <a:solidFill>
                  <a:srgbClr val="E50010"/>
                </a:solidFill>
                <a:latin typeface="Arial" pitchFamily="34" charset="0"/>
                <a:ea typeface="Arial" pitchFamily="34" charset="-122"/>
                <a:cs typeface="Arial" pitchFamily="34" charset="-120"/>
              </a:rPr>
              <a:t>+35%</a:t>
            </a:r>
            <a:endParaRPr dirty="0" sz="2600" lang="en-US"/>
          </a:p>
        </p:txBody>
      </p:sp>
      <p:sp>
        <p:nvSpPr>
          <p:cNvPr id="1048608" name="Text 13"/>
          <p:cNvSpPr/>
          <p:nvPr/>
        </p:nvSpPr>
        <p:spPr>
          <a:xfrm>
            <a:off x="2633472" y="2121408"/>
            <a:ext cx="1828800" cy="274320"/>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Annual e-commerce growth</a:t>
            </a:r>
            <a:endParaRPr dirty="0" sz="1000" lang="en-US"/>
          </a:p>
        </p:txBody>
      </p:sp>
      <p:sp>
        <p:nvSpPr>
          <p:cNvPr id="1048609" name="Text 14"/>
          <p:cNvSpPr/>
          <p:nvPr/>
        </p:nvSpPr>
        <p:spPr>
          <a:xfrm>
            <a:off x="2633472" y="2359152"/>
            <a:ext cx="1828800" cy="182880"/>
          </a:xfrm>
          <a:prstGeom prst="rect"/>
          <a:noFill/>
        </p:spPr>
        <p:txBody>
          <a:bodyPr anchor="ctr" bIns="0" lIns="0" rIns="0" rtlCol="0" tIns="0" wrap="square"/>
          <a:p>
            <a:pPr indent="0" marL="0">
              <a:buNone/>
            </a:pPr>
            <a:r>
              <a:rPr dirty="0" sz="800" i="1" lang="en-US">
                <a:solidFill>
                  <a:srgbClr val="6B6B6B"/>
                </a:solidFill>
                <a:latin typeface="Arial" pitchFamily="34" charset="0"/>
                <a:ea typeface="Arial" pitchFamily="34" charset="-122"/>
                <a:cs typeface="Arial" pitchFamily="34" charset="-120"/>
              </a:rPr>
              <a:t>Source: 23hublab 2024</a:t>
            </a:r>
            <a:endParaRPr dirty="0" sz="800" lang="en-US"/>
          </a:p>
        </p:txBody>
      </p:sp>
      <p:sp>
        <p:nvSpPr>
          <p:cNvPr id="1048610" name="Shape 15"/>
          <p:cNvSpPr/>
          <p:nvPr/>
        </p:nvSpPr>
        <p:spPr>
          <a:xfrm>
            <a:off x="4626864" y="1600200"/>
            <a:ext cx="2011680" cy="960120"/>
          </a:xfrm>
          <a:prstGeom prst="rect"/>
          <a:solidFill>
            <a:srgbClr val="F5F5F5"/>
          </a:solidFill>
        </p:spPr>
      </p:sp>
      <p:sp>
        <p:nvSpPr>
          <p:cNvPr id="1048611" name="Shape 16"/>
          <p:cNvSpPr/>
          <p:nvPr/>
        </p:nvSpPr>
        <p:spPr>
          <a:xfrm>
            <a:off x="4626864" y="1600200"/>
            <a:ext cx="73152" cy="960120"/>
          </a:xfrm>
          <a:prstGeom prst="rect"/>
          <a:solidFill>
            <a:srgbClr val="E50010"/>
          </a:solidFill>
        </p:spPr>
      </p:sp>
      <p:sp>
        <p:nvSpPr>
          <p:cNvPr id="1048612" name="Text 17"/>
          <p:cNvSpPr/>
          <p:nvPr/>
        </p:nvSpPr>
        <p:spPr>
          <a:xfrm>
            <a:off x="4764024" y="1645920"/>
            <a:ext cx="1828800" cy="457200"/>
          </a:xfrm>
          <a:prstGeom prst="rect"/>
          <a:noFill/>
        </p:spPr>
        <p:txBody>
          <a:bodyPr anchor="ctr" bIns="0" lIns="0" rIns="0" rtlCol="0" tIns="0" wrap="square"/>
          <a:p>
            <a:pPr indent="0" marL="0">
              <a:buNone/>
            </a:pPr>
            <a:r>
              <a:rPr b="1" dirty="0" sz="2600" lang="en-US">
                <a:solidFill>
                  <a:srgbClr val="E50010"/>
                </a:solidFill>
                <a:latin typeface="Arial" pitchFamily="34" charset="0"/>
                <a:ea typeface="Arial" pitchFamily="34" charset="-122"/>
                <a:cs typeface="Arial" pitchFamily="34" charset="-120"/>
              </a:rPr>
              <a:t>28%</a:t>
            </a:r>
            <a:endParaRPr dirty="0" sz="2600" lang="en-US"/>
          </a:p>
        </p:txBody>
      </p:sp>
      <p:sp>
        <p:nvSpPr>
          <p:cNvPr id="1048613" name="Text 18"/>
          <p:cNvSpPr/>
          <p:nvPr/>
        </p:nvSpPr>
        <p:spPr>
          <a:xfrm>
            <a:off x="4764024" y="2121408"/>
            <a:ext cx="1828800" cy="274320"/>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Fashion share of e-commerce</a:t>
            </a:r>
            <a:endParaRPr dirty="0" sz="1000" lang="en-US"/>
          </a:p>
        </p:txBody>
      </p:sp>
      <p:sp>
        <p:nvSpPr>
          <p:cNvPr id="1048614" name="Text 19"/>
          <p:cNvSpPr/>
          <p:nvPr/>
        </p:nvSpPr>
        <p:spPr>
          <a:xfrm>
            <a:off x="4764024" y="2359152"/>
            <a:ext cx="1828800" cy="182880"/>
          </a:xfrm>
          <a:prstGeom prst="rect"/>
          <a:noFill/>
        </p:spPr>
        <p:txBody>
          <a:bodyPr anchor="ctr" bIns="0" lIns="0" rIns="0" rtlCol="0" tIns="0" wrap="square"/>
          <a:p>
            <a:pPr indent="0" marL="0">
              <a:buNone/>
            </a:pPr>
            <a:r>
              <a:rPr dirty="0" sz="800" i="1" lang="en-US">
                <a:solidFill>
                  <a:srgbClr val="6B6B6B"/>
                </a:solidFill>
                <a:latin typeface="Arial" pitchFamily="34" charset="0"/>
                <a:ea typeface="Arial" pitchFamily="34" charset="-122"/>
                <a:cs typeface="Arial" pitchFamily="34" charset="-120"/>
              </a:rPr>
              <a:t>Source: 23hublab 2024</a:t>
            </a:r>
            <a:endParaRPr dirty="0" sz="800" lang="en-US"/>
          </a:p>
        </p:txBody>
      </p:sp>
      <p:sp>
        <p:nvSpPr>
          <p:cNvPr id="1048615" name="Shape 20"/>
          <p:cNvSpPr/>
          <p:nvPr/>
        </p:nvSpPr>
        <p:spPr>
          <a:xfrm>
            <a:off x="6757416" y="1600200"/>
            <a:ext cx="2011680" cy="960120"/>
          </a:xfrm>
          <a:prstGeom prst="rect"/>
          <a:solidFill>
            <a:srgbClr val="F5F5F5"/>
          </a:solidFill>
        </p:spPr>
      </p:sp>
      <p:sp>
        <p:nvSpPr>
          <p:cNvPr id="1048616" name="Shape 21"/>
          <p:cNvSpPr/>
          <p:nvPr/>
        </p:nvSpPr>
        <p:spPr>
          <a:xfrm>
            <a:off x="6757416" y="1600200"/>
            <a:ext cx="73152" cy="960120"/>
          </a:xfrm>
          <a:prstGeom prst="rect"/>
          <a:solidFill>
            <a:srgbClr val="E50010"/>
          </a:solidFill>
        </p:spPr>
      </p:sp>
      <p:sp>
        <p:nvSpPr>
          <p:cNvPr id="1048617" name="Text 22"/>
          <p:cNvSpPr/>
          <p:nvPr/>
        </p:nvSpPr>
        <p:spPr>
          <a:xfrm>
            <a:off x="6894576" y="1645920"/>
            <a:ext cx="1828800" cy="457200"/>
          </a:xfrm>
          <a:prstGeom prst="rect"/>
          <a:noFill/>
        </p:spPr>
        <p:txBody>
          <a:bodyPr anchor="ctr" bIns="0" lIns="0" rIns="0" rtlCol="0" tIns="0" wrap="square"/>
          <a:p>
            <a:pPr indent="0" marL="0">
              <a:buNone/>
            </a:pPr>
            <a:r>
              <a:rPr b="1" dirty="0" sz="2600" lang="en-US">
                <a:solidFill>
                  <a:srgbClr val="E50010"/>
                </a:solidFill>
                <a:latin typeface="Arial" pitchFamily="34" charset="0"/>
                <a:ea typeface="Arial" pitchFamily="34" charset="-122"/>
                <a:cs typeface="Arial" pitchFamily="34" charset="-120"/>
              </a:rPr>
              <a:t>75%</a:t>
            </a:r>
            <a:endParaRPr dirty="0" sz="2600" lang="en-US"/>
          </a:p>
        </p:txBody>
      </p:sp>
      <p:sp>
        <p:nvSpPr>
          <p:cNvPr id="1048618" name="Text 23"/>
          <p:cNvSpPr/>
          <p:nvPr/>
        </p:nvSpPr>
        <p:spPr>
          <a:xfrm>
            <a:off x="6894576" y="2121408"/>
            <a:ext cx="1828800" cy="274320"/>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Mobile share of transactions</a:t>
            </a:r>
            <a:endParaRPr dirty="0" sz="1000" lang="en-US"/>
          </a:p>
        </p:txBody>
      </p:sp>
      <p:sp>
        <p:nvSpPr>
          <p:cNvPr id="1048619" name="Text 24"/>
          <p:cNvSpPr/>
          <p:nvPr/>
        </p:nvSpPr>
        <p:spPr>
          <a:xfrm>
            <a:off x="6894576" y="2359152"/>
            <a:ext cx="1828800" cy="182880"/>
          </a:xfrm>
          <a:prstGeom prst="rect"/>
          <a:noFill/>
        </p:spPr>
        <p:txBody>
          <a:bodyPr anchor="ctr" bIns="0" lIns="0" rIns="0" rtlCol="0" tIns="0" wrap="square"/>
          <a:p>
            <a:pPr indent="0" marL="0">
              <a:buNone/>
            </a:pPr>
            <a:r>
              <a:rPr dirty="0" sz="800" i="1" lang="en-US">
                <a:solidFill>
                  <a:srgbClr val="6B6B6B"/>
                </a:solidFill>
                <a:latin typeface="Arial" pitchFamily="34" charset="0"/>
                <a:ea typeface="Arial" pitchFamily="34" charset="-122"/>
                <a:cs typeface="Arial" pitchFamily="34" charset="-120"/>
              </a:rPr>
              <a:t>Source: 23hublab 2024</a:t>
            </a:r>
            <a:endParaRPr dirty="0" sz="800" lang="en-US"/>
          </a:p>
        </p:txBody>
      </p:sp>
      <p:graphicFrame>
        <p:nvGraphicFramePr>
          <p:cNvPr id="4194304" name="Chart 0"/>
          <p:cNvGraphicFramePr>
            <a:graphicFrameLocks/>
          </p:cNvGraphicFramePr>
          <p:nvPr/>
        </p:nvGraphicFramePr>
        <p:xfrm>
          <a:off x="365760" y="2788920"/>
          <a:ext cx="4754880" cy="187452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4194305" name="Chart 1"/>
          <p:cNvGraphicFramePr>
            <a:graphicFrameLocks/>
          </p:cNvGraphicFramePr>
          <p:nvPr/>
        </p:nvGraphicFramePr>
        <p:xfrm>
          <a:off x="5257800" y="2788920"/>
          <a:ext cx="3520440" cy="1874520"/>
        </p:xfrm>
        <a:graphic>
          <a:graphicData uri="http://schemas.openxmlformats.org/drawingml/2006/chart">
            <c:chart xmlns:c="http://schemas.openxmlformats.org/drawingml/2006/chart" xmlns:r="http://schemas.openxmlformats.org/officeDocument/2006/relationships" r:id="rId2"/>
          </a:graphicData>
        </a:graphic>
      </p:graphicFrame>
      <p:sp>
        <p:nvSpPr>
          <p:cNvPr id="1048620" name="Text 25"/>
          <p:cNvSpPr/>
          <p:nvPr/>
        </p:nvSpPr>
        <p:spPr>
          <a:xfrm>
            <a:off x="365760" y="4736592"/>
            <a:ext cx="8412480" cy="274320"/>
          </a:xfrm>
          <a:prstGeom prst="rect"/>
          <a:noFill/>
        </p:spPr>
        <p:txBody>
          <a:bodyPr anchor="ctr" bIns="0" lIns="0" rIns="0" rtlCol="0" tIns="0" wrap="square"/>
          <a:p>
            <a:pPr indent="0" marL="0">
              <a:buNone/>
            </a:pPr>
            <a:r>
              <a:rPr dirty="0" sz="800" i="1" lang="en-US">
                <a:solidFill>
                  <a:srgbClr val="6B6B6B"/>
                </a:solidFill>
                <a:latin typeface="Arial" pitchFamily="34" charset="0"/>
                <a:ea typeface="Arial" pitchFamily="34" charset="-122"/>
                <a:cs typeface="Arial" pitchFamily="34" charset="-120"/>
              </a:rPr>
              <a:t>Sources: Research and Markets (Egypt E-commerce Databook 2024), 23hublab (Egypt E-commerce Growth 2024), DataReportal Digital Egypt 2024, BusinessWire.</a:t>
            </a:r>
            <a:endParaRPr dirty="0" sz="800" lang="en-US"/>
          </a:p>
        </p:txBody>
      </p:sp>
      <p:sp>
        <p:nvSpPr>
          <p:cNvPr id="1048621" name="Text 26"/>
          <p:cNvSpPr/>
          <p:nvPr/>
        </p:nvSpPr>
        <p:spPr>
          <a:xfrm>
            <a:off x="8503920" y="4663440"/>
            <a:ext cx="457200" cy="27432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02</a:t>
            </a:r>
            <a:endParaRPr dirty="0" sz="10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22" name=""/>
        <p:cNvGrpSpPr/>
        <p:nvPr/>
      </p:nvGrpSpPr>
      <p:grpSpPr>
        <a:xfrm>
          <a:off x="0" y="0"/>
          <a:ext cx="0" cy="0"/>
          <a:chOff x="0" y="0"/>
          <a:chExt cx="0" cy="0"/>
        </a:xfrm>
      </p:grpSpPr>
      <p:sp>
        <p:nvSpPr>
          <p:cNvPr id="1048625" name="Shape 0"/>
          <p:cNvSpPr/>
          <p:nvPr/>
        </p:nvSpPr>
        <p:spPr>
          <a:xfrm>
            <a:off x="0" y="0"/>
            <a:ext cx="9144000" cy="502920"/>
          </a:xfrm>
          <a:prstGeom prst="rect"/>
          <a:solidFill>
            <a:srgbClr val="111111"/>
          </a:solidFill>
        </p:spPr>
      </p:sp>
      <p:sp>
        <p:nvSpPr>
          <p:cNvPr id="1048626" name="Text 1"/>
          <p:cNvSpPr/>
          <p:nvPr/>
        </p:nvSpPr>
        <p:spPr>
          <a:xfrm>
            <a:off x="365760" y="0"/>
            <a:ext cx="5486400" cy="502920"/>
          </a:xfrm>
          <a:prstGeom prst="rect"/>
          <a:noFill/>
        </p:spPr>
        <p:txBody>
          <a:bodyPr anchor="ctr" bIns="0" lIns="0" rIns="0" rtlCol="0" tIns="0" wrap="square"/>
          <a:p>
            <a:pPr indent="0" marL="0">
              <a:buNone/>
            </a:pPr>
            <a:r>
              <a:rPr b="1" dirty="0" sz="1000" kern="0" lang="en-US" spc="300">
                <a:solidFill>
                  <a:srgbClr val="FFFFFF"/>
                </a:solidFill>
                <a:latin typeface="Arial" pitchFamily="34" charset="0"/>
                <a:ea typeface="Arial" pitchFamily="34" charset="-122"/>
                <a:cs typeface="Arial" pitchFamily="34" charset="-120"/>
              </a:rPr>
              <a:t>H&amp;M EGYPT  |  DIGITAL SITUATION ANALYSIS</a:t>
            </a:r>
            <a:endParaRPr dirty="0" sz="1000" lang="en-US"/>
          </a:p>
        </p:txBody>
      </p:sp>
      <p:sp>
        <p:nvSpPr>
          <p:cNvPr id="1048627" name="Text 2"/>
          <p:cNvSpPr/>
          <p:nvPr/>
        </p:nvSpPr>
        <p:spPr>
          <a:xfrm>
            <a:off x="5029200" y="0"/>
            <a:ext cx="3749040" cy="502920"/>
          </a:xfrm>
          <a:prstGeom prst="rect"/>
          <a:noFill/>
        </p:spPr>
        <p:txBody>
          <a:bodyPr anchor="ctr" bIns="0" lIns="0" rIns="0" rtlCol="0" tIns="0" wrap="square"/>
          <a:p>
            <a:pPr algn="r" indent="0" marL="0">
              <a:buNone/>
            </a:pPr>
            <a:r>
              <a:rPr b="1" dirty="0" sz="1000" kern="0" lang="en-US" spc="300">
                <a:solidFill>
                  <a:srgbClr val="FFFFFF"/>
                </a:solidFill>
                <a:latin typeface="Arial" pitchFamily="34" charset="0"/>
                <a:ea typeface="Arial" pitchFamily="34" charset="-122"/>
                <a:cs typeface="Arial" pitchFamily="34" charset="-120"/>
              </a:rPr>
              <a:t>02 - Consumer Buying Behaviour</a:t>
            </a:r>
            <a:endParaRPr dirty="0" sz="1000" lang="en-US"/>
          </a:p>
        </p:txBody>
      </p:sp>
      <p:sp>
        <p:nvSpPr>
          <p:cNvPr id="1048628" name="Text 3"/>
          <p:cNvSpPr/>
          <p:nvPr/>
        </p:nvSpPr>
        <p:spPr>
          <a:xfrm>
            <a:off x="365760" y="685800"/>
            <a:ext cx="8412480" cy="50292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Consumer Buying Behaviour</a:t>
            </a:r>
            <a:endParaRPr dirty="0" sz="3000" lang="en-US"/>
          </a:p>
        </p:txBody>
      </p:sp>
      <p:sp>
        <p:nvSpPr>
          <p:cNvPr id="1048629" name="Text 4"/>
          <p:cNvSpPr/>
          <p:nvPr/>
        </p:nvSpPr>
        <p:spPr>
          <a:xfrm>
            <a:off x="365760" y="1188720"/>
            <a:ext cx="8412480" cy="274320"/>
          </a:xfrm>
          <a:prstGeom prst="rect"/>
          <a:noFill/>
        </p:spPr>
        <p:txBody>
          <a:bodyPr anchor="ctr" bIns="0" lIns="0" rIns="0" rtlCol="0" tIns="0" wrap="square"/>
          <a:p>
            <a:pPr indent="0" marL="0">
              <a:buNone/>
            </a:pPr>
            <a:r>
              <a:rPr dirty="0" sz="1300" i="1" lang="en-US">
                <a:solidFill>
                  <a:srgbClr val="6B6B6B"/>
                </a:solidFill>
                <a:latin typeface="Arial" pitchFamily="34" charset="0"/>
                <a:ea typeface="Arial" pitchFamily="34" charset="-122"/>
                <a:cs typeface="Arial" pitchFamily="34" charset="-120"/>
              </a:rPr>
              <a:t>Who buys H&amp;M in Egypt, how they pay, and how often they shop</a:t>
            </a:r>
            <a:endParaRPr dirty="0" sz="1300" lang="en-US"/>
          </a:p>
        </p:txBody>
      </p:sp>
      <p:sp>
        <p:nvSpPr>
          <p:cNvPr id="1048630" name="Shape 5"/>
          <p:cNvSpPr/>
          <p:nvPr/>
        </p:nvSpPr>
        <p:spPr>
          <a:xfrm>
            <a:off x="365760" y="1600200"/>
            <a:ext cx="2834640" cy="3108960"/>
          </a:xfrm>
          <a:prstGeom prst="rect"/>
          <a:solidFill>
            <a:srgbClr val="F5F5F5"/>
          </a:solidFill>
        </p:spPr>
      </p:sp>
      <p:sp>
        <p:nvSpPr>
          <p:cNvPr id="1048631" name="Shape 6"/>
          <p:cNvSpPr/>
          <p:nvPr/>
        </p:nvSpPr>
        <p:spPr>
          <a:xfrm>
            <a:off x="365760" y="1600200"/>
            <a:ext cx="2834640" cy="365760"/>
          </a:xfrm>
          <a:prstGeom prst="rect"/>
          <a:solidFill>
            <a:srgbClr val="111111"/>
          </a:solidFill>
        </p:spPr>
      </p:sp>
      <p:sp>
        <p:nvSpPr>
          <p:cNvPr id="1048632" name="Text 7"/>
          <p:cNvSpPr/>
          <p:nvPr/>
        </p:nvSpPr>
        <p:spPr>
          <a:xfrm>
            <a:off x="502920" y="1600200"/>
            <a:ext cx="2651760" cy="365760"/>
          </a:xfrm>
          <a:prstGeom prst="rect"/>
          <a:noFill/>
        </p:spPr>
        <p:txBody>
          <a:bodyPr anchor="ctr" bIns="0" lIns="0" rIns="0" rtlCol="0" tIns="0" wrap="square"/>
          <a:p>
            <a:pPr indent="0" marL="0">
              <a:buNone/>
            </a:pPr>
            <a:r>
              <a:rPr b="1" dirty="0" sz="1100" kern="0" lang="en-US" spc="300">
                <a:solidFill>
                  <a:srgbClr val="FFFFFF"/>
                </a:solidFill>
                <a:latin typeface="Arial" pitchFamily="34" charset="0"/>
                <a:ea typeface="Arial" pitchFamily="34" charset="-122"/>
                <a:cs typeface="Arial" pitchFamily="34" charset="-120"/>
              </a:rPr>
              <a:t>TARGET AUDIENCE</a:t>
            </a:r>
            <a:endParaRPr dirty="0" sz="1100" lang="en-US"/>
          </a:p>
        </p:txBody>
      </p:sp>
      <p:sp>
        <p:nvSpPr>
          <p:cNvPr id="1048633" name="Text 8"/>
          <p:cNvSpPr/>
          <p:nvPr/>
        </p:nvSpPr>
        <p:spPr>
          <a:xfrm>
            <a:off x="502920" y="2011680"/>
            <a:ext cx="2651760" cy="2606040"/>
          </a:xfrm>
          <a:prstGeom prst="rect"/>
          <a:noFill/>
        </p:spPr>
        <p:txBody>
          <a:bodyPr anchor="t" bIns="0" lIns="0" rIns="0" rtlCol="0" tIns="0" wrap="square"/>
          <a:p>
            <a:pPr indent="0" marL="0">
              <a:buNone/>
            </a:pPr>
            <a:r>
              <a:rPr b="1" dirty="0" sz="1100" lang="en-US">
                <a:solidFill>
                  <a:srgbClr val="E50010"/>
                </a:solidFill>
              </a:rPr>
              <a:t>Age</a:t>
            </a:r>
            <a:endParaRPr dirty="0" sz="1100" lang="en-US"/>
          </a:p>
          <a:p>
            <a:pPr indent="0" marL="0">
              <a:buNone/>
            </a:pPr>
            <a:r>
              <a:rPr dirty="0" sz="1000" lang="en-US">
                <a:solidFill>
                  <a:srgbClr val="111111"/>
                </a:solidFill>
              </a:rPr>
              <a:t>18 - 34 year-olds dominate online fashion purchases in Egypt.</a:t>
            </a:r>
            <a:endParaRPr dirty="0" sz="1100" lang="en-US"/>
          </a:p>
          <a:p>
            <a:pPr indent="0" marL="0">
              <a:buNone/>
            </a:pPr>
            <a:r>
              <a:rPr dirty="0" sz="400" lang="en-US">
                <a:solidFill>
                  <a:srgbClr val="000000"/>
                </a:solidFill>
              </a:rPr>
              <a:t> </a:t>
            </a:r>
            <a:endParaRPr dirty="0" sz="1100" lang="en-US"/>
          </a:p>
          <a:p>
            <a:pPr indent="0" marL="0">
              <a:buNone/>
            </a:pPr>
            <a:r>
              <a:rPr b="1" dirty="0" sz="1100" lang="en-US">
                <a:solidFill>
                  <a:srgbClr val="E50010"/>
                </a:solidFill>
              </a:rPr>
              <a:t>Gender</a:t>
            </a:r>
            <a:endParaRPr dirty="0" sz="1100" lang="en-US"/>
          </a:p>
          <a:p>
            <a:pPr indent="0" marL="0">
              <a:buNone/>
            </a:pPr>
            <a:r>
              <a:rPr dirty="0" sz="1000" lang="en-US">
                <a:solidFill>
                  <a:srgbClr val="111111"/>
                </a:solidFill>
              </a:rPr>
              <a:t>Women drive ~70% of online fashion orders; men a fast-growing segment.</a:t>
            </a:r>
            <a:endParaRPr dirty="0" sz="1100" lang="en-US"/>
          </a:p>
          <a:p>
            <a:pPr indent="0" marL="0">
              <a:buNone/>
            </a:pPr>
            <a:r>
              <a:rPr dirty="0" sz="400" lang="en-US">
                <a:solidFill>
                  <a:srgbClr val="000000"/>
                </a:solidFill>
              </a:rPr>
              <a:t> </a:t>
            </a:r>
            <a:endParaRPr dirty="0" sz="1100" lang="en-US"/>
          </a:p>
          <a:p>
            <a:pPr indent="0" marL="0">
              <a:buNone/>
            </a:pPr>
            <a:r>
              <a:rPr b="1" dirty="0" sz="1100" lang="en-US">
                <a:solidFill>
                  <a:srgbClr val="E50010"/>
                </a:solidFill>
              </a:rPr>
              <a:t>Income</a:t>
            </a:r>
            <a:endParaRPr dirty="0" sz="1100" lang="en-US"/>
          </a:p>
          <a:p>
            <a:pPr indent="0" marL="0">
              <a:buNone/>
            </a:pPr>
            <a:r>
              <a:rPr dirty="0" sz="1000" lang="en-US">
                <a:solidFill>
                  <a:srgbClr val="111111"/>
                </a:solidFill>
              </a:rPr>
              <a:t>Middle and upper-middle class, urban, smartphone-first shoppers.</a:t>
            </a:r>
            <a:endParaRPr dirty="0" sz="1100" lang="en-US"/>
          </a:p>
          <a:p>
            <a:pPr indent="0" marL="0">
              <a:buNone/>
            </a:pPr>
            <a:r>
              <a:rPr dirty="0" sz="400" lang="en-US">
                <a:solidFill>
                  <a:srgbClr val="000000"/>
                </a:solidFill>
              </a:rPr>
              <a:t> </a:t>
            </a:r>
            <a:endParaRPr dirty="0" sz="1100" lang="en-US"/>
          </a:p>
          <a:p>
            <a:pPr indent="0" marL="0">
              <a:buNone/>
            </a:pPr>
            <a:r>
              <a:rPr b="1" dirty="0" sz="1100" lang="en-US">
                <a:solidFill>
                  <a:srgbClr val="E50010"/>
                </a:solidFill>
              </a:rPr>
              <a:t>Location</a:t>
            </a:r>
            <a:endParaRPr dirty="0" sz="1100" lang="en-US"/>
          </a:p>
          <a:p>
            <a:pPr indent="0" marL="0">
              <a:buNone/>
            </a:pPr>
            <a:r>
              <a:rPr dirty="0" sz="1000" lang="en-US">
                <a:solidFill>
                  <a:srgbClr val="111111"/>
                </a:solidFill>
              </a:rPr>
              <a:t>Cairo, Giza, Alexandria, and the Delta - the digital urban core.</a:t>
            </a:r>
            <a:endParaRPr dirty="0" sz="1100" lang="en-US"/>
          </a:p>
        </p:txBody>
      </p:sp>
      <p:sp>
        <p:nvSpPr>
          <p:cNvPr id="1048634" name="Shape 9"/>
          <p:cNvSpPr/>
          <p:nvPr/>
        </p:nvSpPr>
        <p:spPr>
          <a:xfrm>
            <a:off x="3337560" y="1600200"/>
            <a:ext cx="2834640" cy="3108960"/>
          </a:xfrm>
          <a:prstGeom prst="rect"/>
          <a:solidFill>
            <a:srgbClr val="F5F5F5"/>
          </a:solidFill>
        </p:spPr>
      </p:sp>
      <p:sp>
        <p:nvSpPr>
          <p:cNvPr id="1048635" name="Shape 10"/>
          <p:cNvSpPr/>
          <p:nvPr/>
        </p:nvSpPr>
        <p:spPr>
          <a:xfrm>
            <a:off x="3337560" y="1600200"/>
            <a:ext cx="2834640" cy="365760"/>
          </a:xfrm>
          <a:prstGeom prst="rect"/>
          <a:solidFill>
            <a:srgbClr val="111111"/>
          </a:solidFill>
        </p:spPr>
      </p:sp>
      <p:sp>
        <p:nvSpPr>
          <p:cNvPr id="1048636" name="Text 11"/>
          <p:cNvSpPr/>
          <p:nvPr/>
        </p:nvSpPr>
        <p:spPr>
          <a:xfrm>
            <a:off x="3474720" y="1600200"/>
            <a:ext cx="2651760" cy="365760"/>
          </a:xfrm>
          <a:prstGeom prst="rect"/>
          <a:noFill/>
        </p:spPr>
        <p:txBody>
          <a:bodyPr anchor="ctr" bIns="0" lIns="0" rIns="0" rtlCol="0" tIns="0" wrap="square"/>
          <a:p>
            <a:pPr indent="0" marL="0">
              <a:buNone/>
            </a:pPr>
            <a:r>
              <a:rPr b="1" dirty="0" sz="1100" kern="0" lang="en-US" spc="300">
                <a:solidFill>
                  <a:srgbClr val="FFFFFF"/>
                </a:solidFill>
                <a:latin typeface="Arial" pitchFamily="34" charset="0"/>
                <a:ea typeface="Arial" pitchFamily="34" charset="-122"/>
                <a:cs typeface="Arial" pitchFamily="34" charset="-120"/>
              </a:rPr>
              <a:t>PREFERRED PAYMENT</a:t>
            </a:r>
            <a:endParaRPr dirty="0" sz="1100" lang="en-US"/>
          </a:p>
        </p:txBody>
      </p:sp>
      <p:sp>
        <p:nvSpPr>
          <p:cNvPr id="1048637" name="Text 12"/>
          <p:cNvSpPr/>
          <p:nvPr/>
        </p:nvSpPr>
        <p:spPr>
          <a:xfrm>
            <a:off x="3474720" y="2103120"/>
            <a:ext cx="1828800" cy="228600"/>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Cash on Delivery</a:t>
            </a:r>
            <a:endParaRPr dirty="0" sz="1000" lang="en-US"/>
          </a:p>
        </p:txBody>
      </p:sp>
      <p:sp>
        <p:nvSpPr>
          <p:cNvPr id="1048638" name="Text 13"/>
          <p:cNvSpPr/>
          <p:nvPr/>
        </p:nvSpPr>
        <p:spPr>
          <a:xfrm>
            <a:off x="5303520" y="2103120"/>
            <a:ext cx="777240" cy="22860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62%</a:t>
            </a:r>
            <a:endParaRPr dirty="0" sz="1000" lang="en-US"/>
          </a:p>
        </p:txBody>
      </p:sp>
      <p:sp>
        <p:nvSpPr>
          <p:cNvPr id="1048639" name="Shape 14"/>
          <p:cNvSpPr/>
          <p:nvPr/>
        </p:nvSpPr>
        <p:spPr>
          <a:xfrm>
            <a:off x="3474720" y="2359152"/>
            <a:ext cx="2606040" cy="118872"/>
          </a:xfrm>
          <a:prstGeom prst="rect"/>
          <a:solidFill>
            <a:srgbClr val="E5E5E5"/>
          </a:solidFill>
        </p:spPr>
      </p:sp>
      <p:sp>
        <p:nvSpPr>
          <p:cNvPr id="1048640" name="Shape 15"/>
          <p:cNvSpPr/>
          <p:nvPr/>
        </p:nvSpPr>
        <p:spPr>
          <a:xfrm>
            <a:off x="3474720" y="2359152"/>
            <a:ext cx="1615745" cy="118872"/>
          </a:xfrm>
          <a:prstGeom prst="rect"/>
          <a:solidFill>
            <a:srgbClr val="E50010"/>
          </a:solidFill>
        </p:spPr>
      </p:sp>
      <p:sp>
        <p:nvSpPr>
          <p:cNvPr id="1048641" name="Text 16"/>
          <p:cNvSpPr/>
          <p:nvPr/>
        </p:nvSpPr>
        <p:spPr>
          <a:xfrm>
            <a:off x="3474720" y="2651760"/>
            <a:ext cx="1828800" cy="228600"/>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Debit / Credit Card</a:t>
            </a:r>
            <a:endParaRPr dirty="0" sz="1000" lang="en-US"/>
          </a:p>
        </p:txBody>
      </p:sp>
      <p:sp>
        <p:nvSpPr>
          <p:cNvPr id="1048642" name="Text 17"/>
          <p:cNvSpPr/>
          <p:nvPr/>
        </p:nvSpPr>
        <p:spPr>
          <a:xfrm>
            <a:off x="5303520" y="2651760"/>
            <a:ext cx="777240" cy="22860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22%</a:t>
            </a:r>
            <a:endParaRPr dirty="0" sz="1000" lang="en-US"/>
          </a:p>
        </p:txBody>
      </p:sp>
      <p:sp>
        <p:nvSpPr>
          <p:cNvPr id="1048643" name="Shape 18"/>
          <p:cNvSpPr/>
          <p:nvPr/>
        </p:nvSpPr>
        <p:spPr>
          <a:xfrm>
            <a:off x="3474720" y="2907792"/>
            <a:ext cx="2606040" cy="118872"/>
          </a:xfrm>
          <a:prstGeom prst="rect"/>
          <a:solidFill>
            <a:srgbClr val="E5E5E5"/>
          </a:solidFill>
        </p:spPr>
      </p:sp>
      <p:sp>
        <p:nvSpPr>
          <p:cNvPr id="1048644" name="Shape 19"/>
          <p:cNvSpPr/>
          <p:nvPr/>
        </p:nvSpPr>
        <p:spPr>
          <a:xfrm>
            <a:off x="3474720" y="2907792"/>
            <a:ext cx="573329" cy="118872"/>
          </a:xfrm>
          <a:prstGeom prst="rect"/>
          <a:solidFill>
            <a:srgbClr val="111111"/>
          </a:solidFill>
        </p:spPr>
      </p:sp>
      <p:sp>
        <p:nvSpPr>
          <p:cNvPr id="1048645" name="Text 20"/>
          <p:cNvSpPr/>
          <p:nvPr/>
        </p:nvSpPr>
        <p:spPr>
          <a:xfrm>
            <a:off x="3474720" y="3200400"/>
            <a:ext cx="1828800" cy="228600"/>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Mobile Wallets</a:t>
            </a:r>
            <a:endParaRPr dirty="0" sz="1000" lang="en-US"/>
          </a:p>
        </p:txBody>
      </p:sp>
      <p:sp>
        <p:nvSpPr>
          <p:cNvPr id="1048646" name="Text 21"/>
          <p:cNvSpPr/>
          <p:nvPr/>
        </p:nvSpPr>
        <p:spPr>
          <a:xfrm>
            <a:off x="5303520" y="3200400"/>
            <a:ext cx="777240" cy="22860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10%</a:t>
            </a:r>
            <a:endParaRPr dirty="0" sz="1000" lang="en-US"/>
          </a:p>
        </p:txBody>
      </p:sp>
      <p:sp>
        <p:nvSpPr>
          <p:cNvPr id="1048647" name="Shape 22"/>
          <p:cNvSpPr/>
          <p:nvPr/>
        </p:nvSpPr>
        <p:spPr>
          <a:xfrm>
            <a:off x="3474720" y="3456432"/>
            <a:ext cx="2606040" cy="118872"/>
          </a:xfrm>
          <a:prstGeom prst="rect"/>
          <a:solidFill>
            <a:srgbClr val="E5E5E5"/>
          </a:solidFill>
        </p:spPr>
      </p:sp>
      <p:sp>
        <p:nvSpPr>
          <p:cNvPr id="1048648" name="Shape 23"/>
          <p:cNvSpPr/>
          <p:nvPr/>
        </p:nvSpPr>
        <p:spPr>
          <a:xfrm>
            <a:off x="3474720" y="3456432"/>
            <a:ext cx="260604" cy="118872"/>
          </a:xfrm>
          <a:prstGeom prst="rect"/>
          <a:solidFill>
            <a:srgbClr val="6B6B6B"/>
          </a:solidFill>
        </p:spPr>
      </p:sp>
      <p:sp>
        <p:nvSpPr>
          <p:cNvPr id="1048649" name="Text 24"/>
          <p:cNvSpPr/>
          <p:nvPr/>
        </p:nvSpPr>
        <p:spPr>
          <a:xfrm>
            <a:off x="3474720" y="3749040"/>
            <a:ext cx="1828800" cy="228600"/>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Bank Transfer</a:t>
            </a:r>
            <a:endParaRPr dirty="0" sz="1000" lang="en-US"/>
          </a:p>
        </p:txBody>
      </p:sp>
      <p:sp>
        <p:nvSpPr>
          <p:cNvPr id="1048650" name="Text 25"/>
          <p:cNvSpPr/>
          <p:nvPr/>
        </p:nvSpPr>
        <p:spPr>
          <a:xfrm>
            <a:off x="5303520" y="3749040"/>
            <a:ext cx="777240" cy="22860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6%</a:t>
            </a:r>
            <a:endParaRPr dirty="0" sz="1000" lang="en-US"/>
          </a:p>
        </p:txBody>
      </p:sp>
      <p:sp>
        <p:nvSpPr>
          <p:cNvPr id="1048651" name="Shape 26"/>
          <p:cNvSpPr/>
          <p:nvPr/>
        </p:nvSpPr>
        <p:spPr>
          <a:xfrm>
            <a:off x="3474720" y="4005072"/>
            <a:ext cx="2606040" cy="118872"/>
          </a:xfrm>
          <a:prstGeom prst="rect"/>
          <a:solidFill>
            <a:srgbClr val="E5E5E5"/>
          </a:solidFill>
        </p:spPr>
      </p:sp>
      <p:sp>
        <p:nvSpPr>
          <p:cNvPr id="1048652" name="Shape 27"/>
          <p:cNvSpPr/>
          <p:nvPr/>
        </p:nvSpPr>
        <p:spPr>
          <a:xfrm>
            <a:off x="3474720" y="4005072"/>
            <a:ext cx="156362" cy="118872"/>
          </a:xfrm>
          <a:prstGeom prst="rect"/>
          <a:solidFill>
            <a:srgbClr val="8D8D8D"/>
          </a:solidFill>
        </p:spPr>
      </p:sp>
      <p:sp>
        <p:nvSpPr>
          <p:cNvPr id="1048653" name="Text 28"/>
          <p:cNvSpPr/>
          <p:nvPr/>
        </p:nvSpPr>
        <p:spPr>
          <a:xfrm>
            <a:off x="3474720" y="4370832"/>
            <a:ext cx="2606040" cy="274320"/>
          </a:xfrm>
          <a:prstGeom prst="rect"/>
          <a:noFill/>
        </p:spPr>
        <p:txBody>
          <a:bodyPr anchor="ctr" bIns="0" lIns="0" rIns="0" rtlCol="0" tIns="0" wrap="square"/>
          <a:p>
            <a:pPr indent="0" marL="0">
              <a:buNone/>
            </a:pPr>
            <a:r>
              <a:rPr dirty="0" sz="800" i="1" lang="en-US">
                <a:solidFill>
                  <a:srgbClr val="6B6B6B"/>
                </a:solidFill>
                <a:latin typeface="Arial" pitchFamily="34" charset="0"/>
                <a:ea typeface="Arial" pitchFamily="34" charset="-122"/>
                <a:cs typeface="Arial" pitchFamily="34" charset="-120"/>
              </a:rPr>
              <a:t>Egypt-specific COD share is widely cited at 60-70% in e-commerce checkouts.</a:t>
            </a:r>
            <a:endParaRPr dirty="0" sz="800" lang="en-US"/>
          </a:p>
        </p:txBody>
      </p:sp>
      <p:sp>
        <p:nvSpPr>
          <p:cNvPr id="1048654" name="Shape 29"/>
          <p:cNvSpPr/>
          <p:nvPr/>
        </p:nvSpPr>
        <p:spPr>
          <a:xfrm>
            <a:off x="6309360" y="1600200"/>
            <a:ext cx="2468880" cy="3108960"/>
          </a:xfrm>
          <a:prstGeom prst="rect"/>
          <a:solidFill>
            <a:srgbClr val="F5F5F5"/>
          </a:solidFill>
        </p:spPr>
      </p:sp>
      <p:sp>
        <p:nvSpPr>
          <p:cNvPr id="1048655" name="Shape 30"/>
          <p:cNvSpPr/>
          <p:nvPr/>
        </p:nvSpPr>
        <p:spPr>
          <a:xfrm>
            <a:off x="6309360" y="1600200"/>
            <a:ext cx="2468880" cy="365760"/>
          </a:xfrm>
          <a:prstGeom prst="rect"/>
          <a:solidFill>
            <a:srgbClr val="111111"/>
          </a:solidFill>
        </p:spPr>
      </p:sp>
      <p:sp>
        <p:nvSpPr>
          <p:cNvPr id="1048656" name="Text 31"/>
          <p:cNvSpPr/>
          <p:nvPr/>
        </p:nvSpPr>
        <p:spPr>
          <a:xfrm>
            <a:off x="6446520" y="1600200"/>
            <a:ext cx="2286000" cy="365760"/>
          </a:xfrm>
          <a:prstGeom prst="rect"/>
          <a:noFill/>
        </p:spPr>
        <p:txBody>
          <a:bodyPr anchor="ctr" bIns="0" lIns="0" rIns="0" rtlCol="0" tIns="0" wrap="square"/>
          <a:p>
            <a:pPr indent="0" marL="0">
              <a:buNone/>
            </a:pPr>
            <a:r>
              <a:rPr b="1" dirty="0" sz="1100" kern="0" lang="en-US" spc="300">
                <a:solidFill>
                  <a:srgbClr val="FFFFFF"/>
                </a:solidFill>
                <a:latin typeface="Arial" pitchFamily="34" charset="0"/>
                <a:ea typeface="Arial" pitchFamily="34" charset="-122"/>
                <a:cs typeface="Arial" pitchFamily="34" charset="-120"/>
              </a:rPr>
              <a:t>BUYING JOURNEY</a:t>
            </a:r>
            <a:endParaRPr dirty="0" sz="1100" lang="en-US"/>
          </a:p>
        </p:txBody>
      </p:sp>
      <p:sp>
        <p:nvSpPr>
          <p:cNvPr id="1048657" name="Shape 32"/>
          <p:cNvSpPr/>
          <p:nvPr/>
        </p:nvSpPr>
        <p:spPr>
          <a:xfrm>
            <a:off x="6492240" y="2103120"/>
            <a:ext cx="292608" cy="292608"/>
          </a:xfrm>
          <a:prstGeom prst="ellipse"/>
          <a:solidFill>
            <a:srgbClr val="E50010"/>
          </a:solidFill>
        </p:spPr>
      </p:sp>
      <p:sp>
        <p:nvSpPr>
          <p:cNvPr id="1048658" name="Text 33"/>
          <p:cNvSpPr/>
          <p:nvPr/>
        </p:nvSpPr>
        <p:spPr>
          <a:xfrm>
            <a:off x="6492240" y="2103120"/>
            <a:ext cx="292608" cy="292608"/>
          </a:xfrm>
          <a:prstGeom prst="rect"/>
          <a:noFill/>
        </p:spPr>
        <p:txBody>
          <a:bodyPr anchor="ctr" bIns="0" lIns="0" rIns="0" rtlCol="0" tIns="0" wrap="square"/>
          <a:p>
            <a:pPr algn="ctr" indent="0" marL="0">
              <a:buNone/>
            </a:pPr>
            <a:r>
              <a:rPr b="1" dirty="0" sz="1100" lang="en-US">
                <a:solidFill>
                  <a:srgbClr val="FFFFFF"/>
                </a:solidFill>
                <a:latin typeface="Arial" pitchFamily="34" charset="0"/>
                <a:ea typeface="Arial" pitchFamily="34" charset="-122"/>
                <a:cs typeface="Arial" pitchFamily="34" charset="-120"/>
              </a:rPr>
              <a:t>1</a:t>
            </a:r>
            <a:endParaRPr dirty="0" sz="1100" lang="en-US"/>
          </a:p>
        </p:txBody>
      </p:sp>
      <p:sp>
        <p:nvSpPr>
          <p:cNvPr id="1048659" name="Text 34"/>
          <p:cNvSpPr/>
          <p:nvPr/>
        </p:nvSpPr>
        <p:spPr>
          <a:xfrm>
            <a:off x="6903720" y="2103120"/>
            <a:ext cx="1828800" cy="292608"/>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Discover</a:t>
            </a:r>
            <a:endParaRPr dirty="0" sz="1100" lang="en-US"/>
          </a:p>
        </p:txBody>
      </p:sp>
      <p:sp>
        <p:nvSpPr>
          <p:cNvPr id="1048660" name="Shape 35"/>
          <p:cNvSpPr/>
          <p:nvPr/>
        </p:nvSpPr>
        <p:spPr>
          <a:xfrm>
            <a:off x="6492240" y="2560320"/>
            <a:ext cx="292608" cy="292608"/>
          </a:xfrm>
          <a:prstGeom prst="ellipse"/>
          <a:solidFill>
            <a:srgbClr val="E50010"/>
          </a:solidFill>
        </p:spPr>
      </p:sp>
      <p:sp>
        <p:nvSpPr>
          <p:cNvPr id="1048661" name="Text 36"/>
          <p:cNvSpPr/>
          <p:nvPr/>
        </p:nvSpPr>
        <p:spPr>
          <a:xfrm>
            <a:off x="6492240" y="2560320"/>
            <a:ext cx="292608" cy="292608"/>
          </a:xfrm>
          <a:prstGeom prst="rect"/>
          <a:noFill/>
        </p:spPr>
        <p:txBody>
          <a:bodyPr anchor="ctr" bIns="0" lIns="0" rIns="0" rtlCol="0" tIns="0" wrap="square"/>
          <a:p>
            <a:pPr algn="ctr" indent="0" marL="0">
              <a:buNone/>
            </a:pPr>
            <a:r>
              <a:rPr b="1" dirty="0" sz="1100" lang="en-US">
                <a:solidFill>
                  <a:srgbClr val="FFFFFF"/>
                </a:solidFill>
                <a:latin typeface="Arial" pitchFamily="34" charset="0"/>
                <a:ea typeface="Arial" pitchFamily="34" charset="-122"/>
                <a:cs typeface="Arial" pitchFamily="34" charset="-120"/>
              </a:rPr>
              <a:t>2</a:t>
            </a:r>
            <a:endParaRPr dirty="0" sz="1100" lang="en-US"/>
          </a:p>
        </p:txBody>
      </p:sp>
      <p:sp>
        <p:nvSpPr>
          <p:cNvPr id="1048662" name="Text 37"/>
          <p:cNvSpPr/>
          <p:nvPr/>
        </p:nvSpPr>
        <p:spPr>
          <a:xfrm>
            <a:off x="6903720" y="2560320"/>
            <a:ext cx="1828800" cy="292608"/>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Compare</a:t>
            </a:r>
            <a:endParaRPr dirty="0" sz="1100" lang="en-US"/>
          </a:p>
        </p:txBody>
      </p:sp>
      <p:sp>
        <p:nvSpPr>
          <p:cNvPr id="1048663" name="Shape 38"/>
          <p:cNvSpPr/>
          <p:nvPr/>
        </p:nvSpPr>
        <p:spPr>
          <a:xfrm>
            <a:off x="6492240" y="3017520"/>
            <a:ext cx="292608" cy="292608"/>
          </a:xfrm>
          <a:prstGeom prst="ellipse"/>
          <a:solidFill>
            <a:srgbClr val="E50010"/>
          </a:solidFill>
        </p:spPr>
      </p:sp>
      <p:sp>
        <p:nvSpPr>
          <p:cNvPr id="1048664" name="Text 39"/>
          <p:cNvSpPr/>
          <p:nvPr/>
        </p:nvSpPr>
        <p:spPr>
          <a:xfrm>
            <a:off x="6492240" y="3017520"/>
            <a:ext cx="292608" cy="292608"/>
          </a:xfrm>
          <a:prstGeom prst="rect"/>
          <a:noFill/>
        </p:spPr>
        <p:txBody>
          <a:bodyPr anchor="ctr" bIns="0" lIns="0" rIns="0" rtlCol="0" tIns="0" wrap="square"/>
          <a:p>
            <a:pPr algn="ctr" indent="0" marL="0">
              <a:buNone/>
            </a:pPr>
            <a:r>
              <a:rPr b="1" dirty="0" sz="1100" lang="en-US">
                <a:solidFill>
                  <a:srgbClr val="FFFFFF"/>
                </a:solidFill>
                <a:latin typeface="Arial" pitchFamily="34" charset="0"/>
                <a:ea typeface="Arial" pitchFamily="34" charset="-122"/>
                <a:cs typeface="Arial" pitchFamily="34" charset="-120"/>
              </a:rPr>
              <a:t>3</a:t>
            </a:r>
            <a:endParaRPr dirty="0" sz="1100" lang="en-US"/>
          </a:p>
        </p:txBody>
      </p:sp>
      <p:sp>
        <p:nvSpPr>
          <p:cNvPr id="1048665" name="Text 40"/>
          <p:cNvSpPr/>
          <p:nvPr/>
        </p:nvSpPr>
        <p:spPr>
          <a:xfrm>
            <a:off x="6903720" y="3017520"/>
            <a:ext cx="1828800" cy="292608"/>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Try / Review</a:t>
            </a:r>
            <a:endParaRPr dirty="0" sz="1100" lang="en-US"/>
          </a:p>
        </p:txBody>
      </p:sp>
      <p:sp>
        <p:nvSpPr>
          <p:cNvPr id="1048666" name="Shape 41"/>
          <p:cNvSpPr/>
          <p:nvPr/>
        </p:nvSpPr>
        <p:spPr>
          <a:xfrm>
            <a:off x="6492240" y="3474720"/>
            <a:ext cx="292608" cy="292608"/>
          </a:xfrm>
          <a:prstGeom prst="ellipse"/>
          <a:solidFill>
            <a:srgbClr val="E50010"/>
          </a:solidFill>
        </p:spPr>
      </p:sp>
      <p:sp>
        <p:nvSpPr>
          <p:cNvPr id="1048667" name="Text 42"/>
          <p:cNvSpPr/>
          <p:nvPr/>
        </p:nvSpPr>
        <p:spPr>
          <a:xfrm>
            <a:off x="6492240" y="3474720"/>
            <a:ext cx="292608" cy="292608"/>
          </a:xfrm>
          <a:prstGeom prst="rect"/>
          <a:noFill/>
        </p:spPr>
        <p:txBody>
          <a:bodyPr anchor="ctr" bIns="0" lIns="0" rIns="0" rtlCol="0" tIns="0" wrap="square"/>
          <a:p>
            <a:pPr algn="ctr" indent="0" marL="0">
              <a:buNone/>
            </a:pPr>
            <a:r>
              <a:rPr b="1" dirty="0" sz="1100" lang="en-US">
                <a:solidFill>
                  <a:srgbClr val="FFFFFF"/>
                </a:solidFill>
                <a:latin typeface="Arial" pitchFamily="34" charset="0"/>
                <a:ea typeface="Arial" pitchFamily="34" charset="-122"/>
                <a:cs typeface="Arial" pitchFamily="34" charset="-120"/>
              </a:rPr>
              <a:t>4</a:t>
            </a:r>
            <a:endParaRPr dirty="0" sz="1100" lang="en-US"/>
          </a:p>
        </p:txBody>
      </p:sp>
      <p:sp>
        <p:nvSpPr>
          <p:cNvPr id="1048668" name="Text 43"/>
          <p:cNvSpPr/>
          <p:nvPr/>
        </p:nvSpPr>
        <p:spPr>
          <a:xfrm>
            <a:off x="6903720" y="3474720"/>
            <a:ext cx="1828800" cy="292608"/>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Buy</a:t>
            </a:r>
            <a:endParaRPr dirty="0" sz="1100" lang="en-US"/>
          </a:p>
        </p:txBody>
      </p:sp>
      <p:sp>
        <p:nvSpPr>
          <p:cNvPr id="1048669" name="Shape 44"/>
          <p:cNvSpPr/>
          <p:nvPr/>
        </p:nvSpPr>
        <p:spPr>
          <a:xfrm>
            <a:off x="6492240" y="3931920"/>
            <a:ext cx="292608" cy="292608"/>
          </a:xfrm>
          <a:prstGeom prst="ellipse"/>
          <a:solidFill>
            <a:srgbClr val="E50010"/>
          </a:solidFill>
        </p:spPr>
      </p:sp>
      <p:sp>
        <p:nvSpPr>
          <p:cNvPr id="1048670" name="Text 45"/>
          <p:cNvSpPr/>
          <p:nvPr/>
        </p:nvSpPr>
        <p:spPr>
          <a:xfrm>
            <a:off x="6492240" y="3931920"/>
            <a:ext cx="292608" cy="292608"/>
          </a:xfrm>
          <a:prstGeom prst="rect"/>
          <a:noFill/>
        </p:spPr>
        <p:txBody>
          <a:bodyPr anchor="ctr" bIns="0" lIns="0" rIns="0" rtlCol="0" tIns="0" wrap="square"/>
          <a:p>
            <a:pPr algn="ctr" indent="0" marL="0">
              <a:buNone/>
            </a:pPr>
            <a:r>
              <a:rPr b="1" dirty="0" sz="1100" lang="en-US">
                <a:solidFill>
                  <a:srgbClr val="FFFFFF"/>
                </a:solidFill>
                <a:latin typeface="Arial" pitchFamily="34" charset="0"/>
                <a:ea typeface="Arial" pitchFamily="34" charset="-122"/>
                <a:cs typeface="Arial" pitchFamily="34" charset="-120"/>
              </a:rPr>
              <a:t>5</a:t>
            </a:r>
            <a:endParaRPr dirty="0" sz="1100" lang="en-US"/>
          </a:p>
        </p:txBody>
      </p:sp>
      <p:sp>
        <p:nvSpPr>
          <p:cNvPr id="1048671" name="Text 46"/>
          <p:cNvSpPr/>
          <p:nvPr/>
        </p:nvSpPr>
        <p:spPr>
          <a:xfrm>
            <a:off x="6903720" y="3931920"/>
            <a:ext cx="1828800" cy="292608"/>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Share</a:t>
            </a:r>
            <a:endParaRPr dirty="0" sz="1100" lang="en-US"/>
          </a:p>
        </p:txBody>
      </p:sp>
      <p:sp>
        <p:nvSpPr>
          <p:cNvPr id="1048672" name="Text 47"/>
          <p:cNvSpPr/>
          <p:nvPr/>
        </p:nvSpPr>
        <p:spPr>
          <a:xfrm>
            <a:off x="6446520" y="4370832"/>
            <a:ext cx="2286000" cy="274320"/>
          </a:xfrm>
          <a:prstGeom prst="rect"/>
          <a:noFill/>
        </p:spPr>
        <p:txBody>
          <a:bodyPr anchor="ctr" bIns="0" lIns="0" rIns="0" rtlCol="0" tIns="0" wrap="square"/>
          <a:p>
            <a:pPr indent="0" marL="0">
              <a:buNone/>
            </a:pPr>
            <a:r>
              <a:rPr dirty="0" sz="800" i="1" lang="en-US">
                <a:solidFill>
                  <a:srgbClr val="6B6B6B"/>
                </a:solidFill>
                <a:latin typeface="Arial" pitchFamily="34" charset="0"/>
                <a:ea typeface="Arial" pitchFamily="34" charset="-122"/>
                <a:cs typeface="Arial" pitchFamily="34" charset="-120"/>
              </a:rPr>
              <a:t>Mobile-first, social-led, COD-friendly.</a:t>
            </a:r>
            <a:endParaRPr dirty="0" sz="800" lang="en-US"/>
          </a:p>
        </p:txBody>
      </p:sp>
      <p:sp>
        <p:nvSpPr>
          <p:cNvPr id="1048673" name="Text 48"/>
          <p:cNvSpPr/>
          <p:nvPr/>
        </p:nvSpPr>
        <p:spPr>
          <a:xfrm>
            <a:off x="365760" y="4736592"/>
            <a:ext cx="8046720" cy="274320"/>
          </a:xfrm>
          <a:prstGeom prst="rect"/>
          <a:noFill/>
        </p:spPr>
        <p:txBody>
          <a:bodyPr anchor="ctr" bIns="0" lIns="0" rIns="0" rtlCol="0" tIns="0" wrap="square"/>
          <a:p>
            <a:pPr indent="0" marL="0">
              <a:buNone/>
            </a:pPr>
            <a:r>
              <a:rPr dirty="0" sz="800" i="1" lang="en-US">
                <a:solidFill>
                  <a:srgbClr val="6B6B6B"/>
                </a:solidFill>
                <a:latin typeface="Arial" pitchFamily="34" charset="0"/>
                <a:ea typeface="Arial" pitchFamily="34" charset="-122"/>
                <a:cs typeface="Arial" pitchFamily="34" charset="-120"/>
              </a:rPr>
              <a:t>Sources: DataReportal Digital Egypt 2024-2025, 23hublab Egypt E-commerce 2024, CAPMAS, H&amp;M Egypt checkout observation.</a:t>
            </a:r>
            <a:endParaRPr dirty="0" sz="800" lang="en-US"/>
          </a:p>
        </p:txBody>
      </p:sp>
      <p:sp>
        <p:nvSpPr>
          <p:cNvPr id="1048674" name="Text 49"/>
          <p:cNvSpPr/>
          <p:nvPr/>
        </p:nvSpPr>
        <p:spPr>
          <a:xfrm>
            <a:off x="8503920" y="4663440"/>
            <a:ext cx="457200" cy="27432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03</a:t>
            </a:r>
            <a:endParaRPr dirty="0" sz="10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25" name=""/>
        <p:cNvGrpSpPr/>
        <p:nvPr/>
      </p:nvGrpSpPr>
      <p:grpSpPr>
        <a:xfrm>
          <a:off x="0" y="0"/>
          <a:ext cx="0" cy="0"/>
          <a:chOff x="0" y="0"/>
          <a:chExt cx="0" cy="0"/>
        </a:xfrm>
      </p:grpSpPr>
      <p:sp>
        <p:nvSpPr>
          <p:cNvPr id="1048678" name="Shape 0"/>
          <p:cNvSpPr/>
          <p:nvPr/>
        </p:nvSpPr>
        <p:spPr>
          <a:xfrm>
            <a:off x="0" y="0"/>
            <a:ext cx="9144000" cy="502920"/>
          </a:xfrm>
          <a:prstGeom prst="rect"/>
          <a:solidFill>
            <a:srgbClr val="111111"/>
          </a:solidFill>
        </p:spPr>
      </p:sp>
      <p:sp>
        <p:nvSpPr>
          <p:cNvPr id="1048679" name="Text 1"/>
          <p:cNvSpPr/>
          <p:nvPr/>
        </p:nvSpPr>
        <p:spPr>
          <a:xfrm>
            <a:off x="365760" y="0"/>
            <a:ext cx="5486400" cy="502920"/>
          </a:xfrm>
          <a:prstGeom prst="rect"/>
          <a:noFill/>
        </p:spPr>
        <p:txBody>
          <a:bodyPr anchor="ctr" bIns="0" lIns="0" rIns="0" rtlCol="0" tIns="0" wrap="square"/>
          <a:p>
            <a:pPr indent="0" marL="0">
              <a:buNone/>
            </a:pPr>
            <a:r>
              <a:rPr b="1" dirty="0" sz="1000" kern="0" lang="en-US" spc="300">
                <a:solidFill>
                  <a:srgbClr val="FFFFFF"/>
                </a:solidFill>
                <a:latin typeface="Arial" pitchFamily="34" charset="0"/>
                <a:ea typeface="Arial" pitchFamily="34" charset="-122"/>
                <a:cs typeface="Arial" pitchFamily="34" charset="-120"/>
              </a:rPr>
              <a:t>H&amp;M EGYPT  |  DIGITAL SITUATION ANALYSIS</a:t>
            </a:r>
            <a:endParaRPr dirty="0" sz="1000" lang="en-US"/>
          </a:p>
        </p:txBody>
      </p:sp>
      <p:sp>
        <p:nvSpPr>
          <p:cNvPr id="1048680" name="Text 2"/>
          <p:cNvSpPr/>
          <p:nvPr/>
        </p:nvSpPr>
        <p:spPr>
          <a:xfrm>
            <a:off x="5029200" y="0"/>
            <a:ext cx="3749040" cy="502920"/>
          </a:xfrm>
          <a:prstGeom prst="rect"/>
          <a:noFill/>
        </p:spPr>
        <p:txBody>
          <a:bodyPr anchor="ctr" bIns="0" lIns="0" rIns="0" rtlCol="0" tIns="0" wrap="square"/>
          <a:p>
            <a:pPr algn="r" indent="0" marL="0">
              <a:buNone/>
            </a:pPr>
            <a:r>
              <a:rPr b="1" dirty="0" sz="1000" kern="0" lang="en-US" spc="300">
                <a:solidFill>
                  <a:srgbClr val="FFFFFF"/>
                </a:solidFill>
                <a:latin typeface="Arial" pitchFamily="34" charset="0"/>
                <a:ea typeface="Arial" pitchFamily="34" charset="-122"/>
                <a:cs typeface="Arial" pitchFamily="34" charset="-120"/>
              </a:rPr>
              <a:t>03 - Digital Landscape</a:t>
            </a:r>
            <a:endParaRPr dirty="0" sz="1000" lang="en-US"/>
          </a:p>
        </p:txBody>
      </p:sp>
      <p:sp>
        <p:nvSpPr>
          <p:cNvPr id="1048681" name="Text 3"/>
          <p:cNvSpPr/>
          <p:nvPr/>
        </p:nvSpPr>
        <p:spPr>
          <a:xfrm>
            <a:off x="365760" y="685800"/>
            <a:ext cx="8412480" cy="50292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Egypt Digital Landscape</a:t>
            </a:r>
            <a:endParaRPr dirty="0" sz="3000" lang="en-US"/>
          </a:p>
        </p:txBody>
      </p:sp>
      <p:sp>
        <p:nvSpPr>
          <p:cNvPr id="1048682" name="Text 4"/>
          <p:cNvSpPr/>
          <p:nvPr/>
        </p:nvSpPr>
        <p:spPr>
          <a:xfrm>
            <a:off x="365760" y="1188720"/>
            <a:ext cx="8412480" cy="274320"/>
          </a:xfrm>
          <a:prstGeom prst="rect"/>
          <a:noFill/>
        </p:spPr>
        <p:txBody>
          <a:bodyPr anchor="ctr" bIns="0" lIns="0" rIns="0" rtlCol="0" tIns="0" wrap="square"/>
          <a:p>
            <a:pPr indent="0" marL="0">
              <a:buNone/>
            </a:pPr>
            <a:r>
              <a:rPr dirty="0" sz="1300" i="1" lang="en-US">
                <a:solidFill>
                  <a:srgbClr val="6B6B6B"/>
                </a:solidFill>
                <a:latin typeface="Arial" pitchFamily="34" charset="0"/>
                <a:ea typeface="Arial" pitchFamily="34" charset="-122"/>
                <a:cs typeface="Arial" pitchFamily="34" charset="-120"/>
              </a:rPr>
              <a:t>Where the H&amp;M Egypt audience lives, watches, and shops</a:t>
            </a:r>
            <a:endParaRPr dirty="0" sz="1300" lang="en-US"/>
          </a:p>
        </p:txBody>
      </p:sp>
      <p:sp>
        <p:nvSpPr>
          <p:cNvPr id="1048683" name="Shape 5"/>
          <p:cNvSpPr/>
          <p:nvPr/>
        </p:nvSpPr>
        <p:spPr>
          <a:xfrm>
            <a:off x="365760" y="1554480"/>
            <a:ext cx="2011680" cy="822960"/>
          </a:xfrm>
          <a:prstGeom prst="rect"/>
          <a:solidFill>
            <a:srgbClr val="FFFFFF"/>
          </a:solidFill>
          <a:ln w="12700">
            <a:solidFill>
              <a:srgbClr val="E5E5E5"/>
            </a:solidFill>
            <a:prstDash val="solid"/>
          </a:ln>
        </p:spPr>
      </p:sp>
      <p:sp>
        <p:nvSpPr>
          <p:cNvPr id="1048684" name="Text 6"/>
          <p:cNvSpPr/>
          <p:nvPr/>
        </p:nvSpPr>
        <p:spPr>
          <a:xfrm>
            <a:off x="365760" y="1600200"/>
            <a:ext cx="2011680" cy="457200"/>
          </a:xfrm>
          <a:prstGeom prst="rect"/>
          <a:noFill/>
        </p:spPr>
        <p:txBody>
          <a:bodyPr anchor="ctr" bIns="0" lIns="0" rIns="0" rtlCol="0" tIns="0" wrap="square"/>
          <a:p>
            <a:pPr algn="ctr" indent="0" marL="0">
              <a:buNone/>
            </a:pPr>
            <a:r>
              <a:rPr b="1" dirty="0" sz="2400" lang="en-US">
                <a:solidFill>
                  <a:srgbClr val="E50010"/>
                </a:solidFill>
                <a:latin typeface="Arial" pitchFamily="34" charset="0"/>
                <a:ea typeface="Arial" pitchFamily="34" charset="-122"/>
                <a:cs typeface="Arial" pitchFamily="34" charset="-120"/>
              </a:rPr>
              <a:t>96.3M</a:t>
            </a:r>
            <a:endParaRPr dirty="0" sz="2400" lang="en-US"/>
          </a:p>
        </p:txBody>
      </p:sp>
      <p:sp>
        <p:nvSpPr>
          <p:cNvPr id="1048685" name="Text 7"/>
          <p:cNvSpPr/>
          <p:nvPr/>
        </p:nvSpPr>
        <p:spPr>
          <a:xfrm>
            <a:off x="457200" y="2075688"/>
            <a:ext cx="1828800" cy="274320"/>
          </a:xfrm>
          <a:prstGeom prst="rect"/>
          <a:noFill/>
        </p:spPr>
        <p:txBody>
          <a:bodyPr anchor="ctr" bIns="0" lIns="0" rIns="0" rtlCol="0" tIns="0" wrap="square"/>
          <a:p>
            <a:pPr algn="ctr" indent="0" marL="0">
              <a:buNone/>
            </a:pPr>
            <a:r>
              <a:rPr dirty="0" sz="900" lang="en-US">
                <a:solidFill>
                  <a:srgbClr val="6B6B6B"/>
                </a:solidFill>
                <a:latin typeface="Arial" pitchFamily="34" charset="0"/>
                <a:ea typeface="Arial" pitchFamily="34" charset="-122"/>
                <a:cs typeface="Arial" pitchFamily="34" charset="-120"/>
              </a:rPr>
              <a:t>Internet users (Jan 2025)</a:t>
            </a:r>
            <a:endParaRPr dirty="0" sz="900" lang="en-US"/>
          </a:p>
        </p:txBody>
      </p:sp>
      <p:sp>
        <p:nvSpPr>
          <p:cNvPr id="1048686" name="Shape 8"/>
          <p:cNvSpPr/>
          <p:nvPr/>
        </p:nvSpPr>
        <p:spPr>
          <a:xfrm>
            <a:off x="2496312" y="1554480"/>
            <a:ext cx="2011680" cy="822960"/>
          </a:xfrm>
          <a:prstGeom prst="rect"/>
          <a:solidFill>
            <a:srgbClr val="FFFFFF"/>
          </a:solidFill>
          <a:ln w="12700">
            <a:solidFill>
              <a:srgbClr val="E5E5E5"/>
            </a:solidFill>
            <a:prstDash val="solid"/>
          </a:ln>
        </p:spPr>
      </p:sp>
      <p:sp>
        <p:nvSpPr>
          <p:cNvPr id="1048687" name="Text 9"/>
          <p:cNvSpPr/>
          <p:nvPr/>
        </p:nvSpPr>
        <p:spPr>
          <a:xfrm>
            <a:off x="2496312" y="1600200"/>
            <a:ext cx="2011680" cy="457200"/>
          </a:xfrm>
          <a:prstGeom prst="rect"/>
          <a:noFill/>
        </p:spPr>
        <p:txBody>
          <a:bodyPr anchor="ctr" bIns="0" lIns="0" rIns="0" rtlCol="0" tIns="0" wrap="square"/>
          <a:p>
            <a:pPr algn="ctr" indent="0" marL="0">
              <a:buNone/>
            </a:pPr>
            <a:r>
              <a:rPr b="1" dirty="0" sz="2400" lang="en-US">
                <a:solidFill>
                  <a:srgbClr val="111111"/>
                </a:solidFill>
                <a:latin typeface="Arial" pitchFamily="34" charset="0"/>
                <a:ea typeface="Arial" pitchFamily="34" charset="-122"/>
                <a:cs typeface="Arial" pitchFamily="34" charset="-120"/>
              </a:rPr>
              <a:t>81.9%</a:t>
            </a:r>
            <a:endParaRPr dirty="0" sz="2400" lang="en-US"/>
          </a:p>
        </p:txBody>
      </p:sp>
      <p:sp>
        <p:nvSpPr>
          <p:cNvPr id="1048688" name="Text 10"/>
          <p:cNvSpPr/>
          <p:nvPr/>
        </p:nvSpPr>
        <p:spPr>
          <a:xfrm>
            <a:off x="2587752" y="2075688"/>
            <a:ext cx="1828800" cy="274320"/>
          </a:xfrm>
          <a:prstGeom prst="rect"/>
          <a:noFill/>
        </p:spPr>
        <p:txBody>
          <a:bodyPr anchor="ctr" bIns="0" lIns="0" rIns="0" rtlCol="0" tIns="0" wrap="square"/>
          <a:p>
            <a:pPr algn="ctr" indent="0" marL="0">
              <a:buNone/>
            </a:pPr>
            <a:r>
              <a:rPr dirty="0" sz="900" lang="en-US">
                <a:solidFill>
                  <a:srgbClr val="6B6B6B"/>
                </a:solidFill>
                <a:latin typeface="Arial" pitchFamily="34" charset="0"/>
                <a:ea typeface="Arial" pitchFamily="34" charset="-122"/>
                <a:cs typeface="Arial" pitchFamily="34" charset="-120"/>
              </a:rPr>
              <a:t>Internet penetration</a:t>
            </a:r>
            <a:endParaRPr dirty="0" sz="900" lang="en-US"/>
          </a:p>
        </p:txBody>
      </p:sp>
      <p:sp>
        <p:nvSpPr>
          <p:cNvPr id="1048689" name="Shape 11"/>
          <p:cNvSpPr/>
          <p:nvPr/>
        </p:nvSpPr>
        <p:spPr>
          <a:xfrm>
            <a:off x="4626864" y="1554480"/>
            <a:ext cx="2011680" cy="822960"/>
          </a:xfrm>
          <a:prstGeom prst="rect"/>
          <a:solidFill>
            <a:srgbClr val="FFFFFF"/>
          </a:solidFill>
          <a:ln w="12700">
            <a:solidFill>
              <a:srgbClr val="E5E5E5"/>
            </a:solidFill>
            <a:prstDash val="solid"/>
          </a:ln>
        </p:spPr>
      </p:sp>
      <p:sp>
        <p:nvSpPr>
          <p:cNvPr id="1048690" name="Text 12"/>
          <p:cNvSpPr/>
          <p:nvPr/>
        </p:nvSpPr>
        <p:spPr>
          <a:xfrm>
            <a:off x="4626864" y="1600200"/>
            <a:ext cx="2011680" cy="457200"/>
          </a:xfrm>
          <a:prstGeom prst="rect"/>
          <a:noFill/>
        </p:spPr>
        <p:txBody>
          <a:bodyPr anchor="ctr" bIns="0" lIns="0" rIns="0" rtlCol="0" tIns="0" wrap="square"/>
          <a:p>
            <a:pPr algn="ctr" indent="0" marL="0">
              <a:buNone/>
            </a:pPr>
            <a:r>
              <a:rPr b="1" dirty="0" sz="2400" lang="en-US">
                <a:solidFill>
                  <a:srgbClr val="E50010"/>
                </a:solidFill>
                <a:latin typeface="Arial" pitchFamily="34" charset="0"/>
                <a:ea typeface="Arial" pitchFamily="34" charset="-122"/>
                <a:cs typeface="Arial" pitchFamily="34" charset="-120"/>
              </a:rPr>
              <a:t>50.7M</a:t>
            </a:r>
            <a:endParaRPr dirty="0" sz="2400" lang="en-US"/>
          </a:p>
        </p:txBody>
      </p:sp>
      <p:sp>
        <p:nvSpPr>
          <p:cNvPr id="1048691" name="Text 13"/>
          <p:cNvSpPr/>
          <p:nvPr/>
        </p:nvSpPr>
        <p:spPr>
          <a:xfrm>
            <a:off x="4718304" y="2075688"/>
            <a:ext cx="1828800" cy="274320"/>
          </a:xfrm>
          <a:prstGeom prst="rect"/>
          <a:noFill/>
        </p:spPr>
        <p:txBody>
          <a:bodyPr anchor="ctr" bIns="0" lIns="0" rIns="0" rtlCol="0" tIns="0" wrap="square"/>
          <a:p>
            <a:pPr algn="ctr" indent="0" marL="0">
              <a:buNone/>
            </a:pPr>
            <a:r>
              <a:rPr dirty="0" sz="900" lang="en-US">
                <a:solidFill>
                  <a:srgbClr val="6B6B6B"/>
                </a:solidFill>
                <a:latin typeface="Arial" pitchFamily="34" charset="0"/>
                <a:ea typeface="Arial" pitchFamily="34" charset="-122"/>
                <a:cs typeface="Arial" pitchFamily="34" charset="-120"/>
              </a:rPr>
              <a:t>Social media users</a:t>
            </a:r>
            <a:endParaRPr dirty="0" sz="900" lang="en-US"/>
          </a:p>
        </p:txBody>
      </p:sp>
      <p:sp>
        <p:nvSpPr>
          <p:cNvPr id="1048692" name="Shape 14"/>
          <p:cNvSpPr/>
          <p:nvPr/>
        </p:nvSpPr>
        <p:spPr>
          <a:xfrm>
            <a:off x="6757416" y="1554480"/>
            <a:ext cx="2011680" cy="822960"/>
          </a:xfrm>
          <a:prstGeom prst="rect"/>
          <a:solidFill>
            <a:srgbClr val="FFFFFF"/>
          </a:solidFill>
          <a:ln w="12700">
            <a:solidFill>
              <a:srgbClr val="E5E5E5"/>
            </a:solidFill>
            <a:prstDash val="solid"/>
          </a:ln>
        </p:spPr>
      </p:sp>
      <p:sp>
        <p:nvSpPr>
          <p:cNvPr id="1048693" name="Text 15"/>
          <p:cNvSpPr/>
          <p:nvPr/>
        </p:nvSpPr>
        <p:spPr>
          <a:xfrm>
            <a:off x="6757416" y="1600200"/>
            <a:ext cx="2011680" cy="457200"/>
          </a:xfrm>
          <a:prstGeom prst="rect"/>
          <a:noFill/>
        </p:spPr>
        <p:txBody>
          <a:bodyPr anchor="ctr" bIns="0" lIns="0" rIns="0" rtlCol="0" tIns="0" wrap="square"/>
          <a:p>
            <a:pPr algn="ctr" indent="0" marL="0">
              <a:buNone/>
            </a:pPr>
            <a:r>
              <a:rPr b="1" dirty="0" sz="2400" lang="en-US">
                <a:solidFill>
                  <a:srgbClr val="111111"/>
                </a:solidFill>
                <a:latin typeface="Arial" pitchFamily="34" charset="0"/>
                <a:ea typeface="Arial" pitchFamily="34" charset="-122"/>
                <a:cs typeface="Arial" pitchFamily="34" charset="-120"/>
              </a:rPr>
              <a:t>7h 55m</a:t>
            </a:r>
            <a:endParaRPr dirty="0" sz="2400" lang="en-US"/>
          </a:p>
        </p:txBody>
      </p:sp>
      <p:sp>
        <p:nvSpPr>
          <p:cNvPr id="1048694" name="Text 16"/>
          <p:cNvSpPr/>
          <p:nvPr/>
        </p:nvSpPr>
        <p:spPr>
          <a:xfrm>
            <a:off x="6848856" y="2075688"/>
            <a:ext cx="1828800" cy="274320"/>
          </a:xfrm>
          <a:prstGeom prst="rect"/>
          <a:noFill/>
        </p:spPr>
        <p:txBody>
          <a:bodyPr anchor="ctr" bIns="0" lIns="0" rIns="0" rtlCol="0" tIns="0" wrap="square"/>
          <a:p>
            <a:pPr algn="ctr" indent="0" marL="0">
              <a:buNone/>
            </a:pPr>
            <a:r>
              <a:rPr dirty="0" sz="900" lang="en-US">
                <a:solidFill>
                  <a:srgbClr val="6B6B6B"/>
                </a:solidFill>
                <a:latin typeface="Arial" pitchFamily="34" charset="0"/>
                <a:ea typeface="Arial" pitchFamily="34" charset="-122"/>
                <a:cs typeface="Arial" pitchFamily="34" charset="-120"/>
              </a:rPr>
              <a:t>Daily time online</a:t>
            </a:r>
            <a:endParaRPr dirty="0" sz="900" lang="en-US"/>
          </a:p>
        </p:txBody>
      </p:sp>
      <p:graphicFrame>
        <p:nvGraphicFramePr>
          <p:cNvPr id="4194306" name="Chart 0"/>
          <p:cNvGraphicFramePr>
            <a:graphicFrameLocks/>
          </p:cNvGraphicFramePr>
          <p:nvPr/>
        </p:nvGraphicFramePr>
        <p:xfrm>
          <a:off x="365760" y="2514600"/>
          <a:ext cx="4754880" cy="2148840"/>
        </p:xfrm>
        <a:graphic>
          <a:graphicData uri="http://schemas.openxmlformats.org/drawingml/2006/chart">
            <c:chart xmlns:c="http://schemas.openxmlformats.org/drawingml/2006/chart" xmlns:r="http://schemas.openxmlformats.org/officeDocument/2006/relationships" r:id="rId1"/>
          </a:graphicData>
        </a:graphic>
      </p:graphicFrame>
      <p:sp>
        <p:nvSpPr>
          <p:cNvPr id="1048695" name="Shape 17"/>
          <p:cNvSpPr/>
          <p:nvPr/>
        </p:nvSpPr>
        <p:spPr>
          <a:xfrm>
            <a:off x="5257800" y="2514600"/>
            <a:ext cx="3520440" cy="2148840"/>
          </a:xfrm>
          <a:prstGeom prst="rect"/>
          <a:solidFill>
            <a:srgbClr val="F5F5F5"/>
          </a:solidFill>
        </p:spPr>
      </p:sp>
      <p:sp>
        <p:nvSpPr>
          <p:cNvPr id="1048696" name="Text 18"/>
          <p:cNvSpPr/>
          <p:nvPr/>
        </p:nvSpPr>
        <p:spPr>
          <a:xfrm>
            <a:off x="5394960" y="2606040"/>
            <a:ext cx="3246120" cy="274320"/>
          </a:xfrm>
          <a:prstGeom prst="rect"/>
          <a:noFill/>
        </p:spPr>
        <p:txBody>
          <a:bodyPr anchor="ctr" bIns="0" lIns="0" rIns="0" rtlCol="0" tIns="0" wrap="square"/>
          <a:p>
            <a:pPr indent="0" marL="0">
              <a:buNone/>
            </a:pPr>
            <a:r>
              <a:rPr b="1" dirty="0" sz="1100" kern="0" lang="en-US" spc="300">
                <a:solidFill>
                  <a:srgbClr val="111111"/>
                </a:solidFill>
                <a:latin typeface="Arial" pitchFamily="34" charset="0"/>
                <a:ea typeface="Arial" pitchFamily="34" charset="-122"/>
                <a:cs typeface="Arial" pitchFamily="34" charset="-120"/>
              </a:rPr>
              <a:t>CONTENT TRENDS</a:t>
            </a:r>
            <a:endParaRPr dirty="0" sz="1100" lang="en-US"/>
          </a:p>
        </p:txBody>
      </p:sp>
      <p:sp>
        <p:nvSpPr>
          <p:cNvPr id="1048697" name="Shape 19"/>
          <p:cNvSpPr/>
          <p:nvPr/>
        </p:nvSpPr>
        <p:spPr>
          <a:xfrm>
            <a:off x="5394960" y="2907792"/>
            <a:ext cx="548640" cy="27432"/>
          </a:xfrm>
          <a:prstGeom prst="rect"/>
          <a:solidFill>
            <a:srgbClr val="E50010"/>
          </a:solidFill>
        </p:spPr>
      </p:sp>
      <p:sp>
        <p:nvSpPr>
          <p:cNvPr id="1048698" name="Text 20"/>
          <p:cNvSpPr/>
          <p:nvPr/>
        </p:nvSpPr>
        <p:spPr>
          <a:xfrm>
            <a:off x="5394960" y="2999232"/>
            <a:ext cx="3246120" cy="1600200"/>
          </a:xfrm>
          <a:prstGeom prst="rect"/>
          <a:noFill/>
        </p:spPr>
        <p:txBody>
          <a:bodyPr anchor="t" bIns="0" lIns="0" rIns="0" rtlCol="0" tIns="0" wrap="square"/>
          <a:p>
            <a:pPr indent="0" marL="0">
              <a:buNone/>
            </a:pPr>
            <a:r>
              <a:rPr b="1" dirty="0" sz="1000" lang="en-US">
                <a:solidFill>
                  <a:srgbClr val="E50010"/>
                </a:solidFill>
              </a:rPr>
              <a:t>Reels &amp; Short Video</a:t>
            </a:r>
            <a:endParaRPr dirty="0" sz="1000" lang="en-US"/>
          </a:p>
          <a:p>
            <a:pPr indent="0" marL="0">
              <a:buNone/>
            </a:pPr>
            <a:r>
              <a:rPr dirty="0" sz="900" lang="en-US">
                <a:solidFill>
                  <a:srgbClr val="111111"/>
                </a:solidFill>
              </a:rPr>
              <a:t>The fastest growing format across Instagram, TikTok, and Facebook.</a:t>
            </a:r>
            <a:endParaRPr dirty="0" sz="1000" lang="en-US"/>
          </a:p>
          <a:p>
            <a:pPr indent="0" marL="0">
              <a:buNone/>
            </a:pPr>
            <a:r>
              <a:rPr dirty="0" sz="300" lang="en-US">
                <a:solidFill>
                  <a:srgbClr val="000000"/>
                </a:solidFill>
              </a:rPr>
              <a:t> </a:t>
            </a:r>
            <a:endParaRPr dirty="0" sz="1000" lang="en-US"/>
          </a:p>
          <a:p>
            <a:pPr indent="0" marL="0">
              <a:buNone/>
            </a:pPr>
            <a:r>
              <a:rPr b="1" dirty="0" sz="1000" lang="en-US">
                <a:solidFill>
                  <a:srgbClr val="E50010"/>
                </a:solidFill>
              </a:rPr>
              <a:t>Influencers &amp; UGC</a:t>
            </a:r>
            <a:endParaRPr dirty="0" sz="1000" lang="en-US"/>
          </a:p>
          <a:p>
            <a:pPr indent="0" marL="0">
              <a:buNone/>
            </a:pPr>
            <a:r>
              <a:rPr dirty="0" sz="900" lang="en-US">
                <a:solidFill>
                  <a:srgbClr val="111111"/>
                </a:solidFill>
              </a:rPr>
              <a:t>Egyptian micro-creators drive 2-3x higher engagement than brand posts.</a:t>
            </a:r>
            <a:endParaRPr dirty="0" sz="1000" lang="en-US"/>
          </a:p>
          <a:p>
            <a:pPr indent="0" marL="0">
              <a:buNone/>
            </a:pPr>
            <a:r>
              <a:rPr dirty="0" sz="300" lang="en-US">
                <a:solidFill>
                  <a:srgbClr val="000000"/>
                </a:solidFill>
              </a:rPr>
              <a:t> </a:t>
            </a:r>
            <a:endParaRPr dirty="0" sz="1000" lang="en-US"/>
          </a:p>
          <a:p>
            <a:pPr indent="0" marL="0">
              <a:buNone/>
            </a:pPr>
            <a:r>
              <a:rPr b="1" dirty="0" sz="1000" lang="en-US">
                <a:solidFill>
                  <a:srgbClr val="E50010"/>
                </a:solidFill>
              </a:rPr>
              <a:t>AI &amp; Personalisation</a:t>
            </a:r>
            <a:endParaRPr dirty="0" sz="1000" lang="en-US"/>
          </a:p>
          <a:p>
            <a:pPr indent="0" marL="0">
              <a:buNone/>
            </a:pPr>
            <a:r>
              <a:rPr dirty="0" sz="900" lang="en-US">
                <a:solidFill>
                  <a:srgbClr val="111111"/>
                </a:solidFill>
              </a:rPr>
              <a:t>Chatbots, AR try-on, and personalised push are now baseline expectations.</a:t>
            </a:r>
            <a:endParaRPr dirty="0" sz="1000" lang="en-US"/>
          </a:p>
        </p:txBody>
      </p:sp>
      <p:sp>
        <p:nvSpPr>
          <p:cNvPr id="1048699" name="Text 21"/>
          <p:cNvSpPr/>
          <p:nvPr/>
        </p:nvSpPr>
        <p:spPr>
          <a:xfrm>
            <a:off x="365760" y="4736592"/>
            <a:ext cx="8046720" cy="274320"/>
          </a:xfrm>
          <a:prstGeom prst="rect"/>
          <a:noFill/>
        </p:spPr>
        <p:txBody>
          <a:bodyPr anchor="ctr" bIns="0" lIns="0" rIns="0" rtlCol="0" tIns="0" wrap="square"/>
          <a:p>
            <a:pPr indent="0" marL="0">
              <a:buNone/>
            </a:pPr>
            <a:r>
              <a:rPr dirty="0" sz="800" i="1" lang="en-US">
                <a:solidFill>
                  <a:srgbClr val="6B6B6B"/>
                </a:solidFill>
                <a:latin typeface="Arial" pitchFamily="34" charset="0"/>
                <a:ea typeface="Arial" pitchFamily="34" charset="-122"/>
                <a:cs typeface="Arial" pitchFamily="34" charset="-120"/>
              </a:rPr>
              <a:t>Sources: DataReportal Digital Egypt 2024 &amp; 2025, We Are Social / Kepios, Meta Business Suite, H&amp;M Egypt social pages.</a:t>
            </a:r>
            <a:endParaRPr dirty="0" sz="800" lang="en-US"/>
          </a:p>
        </p:txBody>
      </p:sp>
      <p:sp>
        <p:nvSpPr>
          <p:cNvPr id="1048700" name="Text 22"/>
          <p:cNvSpPr/>
          <p:nvPr/>
        </p:nvSpPr>
        <p:spPr>
          <a:xfrm>
            <a:off x="8503920" y="4663440"/>
            <a:ext cx="457200" cy="27432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04</a:t>
            </a:r>
            <a:endParaRPr dirty="0" sz="10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28" name=""/>
        <p:cNvGrpSpPr/>
        <p:nvPr/>
      </p:nvGrpSpPr>
      <p:grpSpPr>
        <a:xfrm>
          <a:off x="0" y="0"/>
          <a:ext cx="0" cy="0"/>
          <a:chOff x="0" y="0"/>
          <a:chExt cx="0" cy="0"/>
        </a:xfrm>
      </p:grpSpPr>
      <p:sp>
        <p:nvSpPr>
          <p:cNvPr id="1048704" name="Shape 0"/>
          <p:cNvSpPr/>
          <p:nvPr/>
        </p:nvSpPr>
        <p:spPr>
          <a:xfrm>
            <a:off x="0" y="0"/>
            <a:ext cx="9144000" cy="502920"/>
          </a:xfrm>
          <a:prstGeom prst="rect"/>
          <a:solidFill>
            <a:srgbClr val="111111"/>
          </a:solidFill>
        </p:spPr>
      </p:sp>
      <p:sp>
        <p:nvSpPr>
          <p:cNvPr id="1048705" name="Text 1"/>
          <p:cNvSpPr/>
          <p:nvPr/>
        </p:nvSpPr>
        <p:spPr>
          <a:xfrm>
            <a:off x="365760" y="0"/>
            <a:ext cx="5486400" cy="502920"/>
          </a:xfrm>
          <a:prstGeom prst="rect"/>
          <a:noFill/>
        </p:spPr>
        <p:txBody>
          <a:bodyPr anchor="ctr" bIns="0" lIns="0" rIns="0" rtlCol="0" tIns="0" wrap="square"/>
          <a:p>
            <a:pPr indent="0" marL="0">
              <a:buNone/>
            </a:pPr>
            <a:r>
              <a:rPr b="1" dirty="0" sz="1000" kern="0" lang="en-US" spc="300">
                <a:solidFill>
                  <a:srgbClr val="FFFFFF"/>
                </a:solidFill>
                <a:latin typeface="Arial" pitchFamily="34" charset="0"/>
                <a:ea typeface="Arial" pitchFamily="34" charset="-122"/>
                <a:cs typeface="Arial" pitchFamily="34" charset="-120"/>
              </a:rPr>
              <a:t>H&amp;M EGYPT  |  DIGITAL SITUATION ANALYSIS</a:t>
            </a:r>
            <a:endParaRPr dirty="0" sz="1000" lang="en-US"/>
          </a:p>
        </p:txBody>
      </p:sp>
      <p:sp>
        <p:nvSpPr>
          <p:cNvPr id="1048706" name="Text 2"/>
          <p:cNvSpPr/>
          <p:nvPr/>
        </p:nvSpPr>
        <p:spPr>
          <a:xfrm>
            <a:off x="5029200" y="0"/>
            <a:ext cx="3749040" cy="502920"/>
          </a:xfrm>
          <a:prstGeom prst="rect"/>
          <a:noFill/>
        </p:spPr>
        <p:txBody>
          <a:bodyPr anchor="ctr" bIns="0" lIns="0" rIns="0" rtlCol="0" tIns="0" wrap="square"/>
          <a:p>
            <a:pPr algn="r" indent="0" marL="0">
              <a:buNone/>
            </a:pPr>
            <a:r>
              <a:rPr b="1" dirty="0" sz="1000" kern="0" lang="en-US" spc="300">
                <a:solidFill>
                  <a:srgbClr val="FFFFFF"/>
                </a:solidFill>
                <a:latin typeface="Arial" pitchFamily="34" charset="0"/>
                <a:ea typeface="Arial" pitchFamily="34" charset="-122"/>
                <a:cs typeface="Arial" pitchFamily="34" charset="-120"/>
              </a:rPr>
              <a:t>04 - Competitor Analysis</a:t>
            </a:r>
            <a:endParaRPr dirty="0" sz="1000" lang="en-US"/>
          </a:p>
        </p:txBody>
      </p:sp>
      <p:sp>
        <p:nvSpPr>
          <p:cNvPr id="1048707" name="Text 3"/>
          <p:cNvSpPr/>
          <p:nvPr/>
        </p:nvSpPr>
        <p:spPr>
          <a:xfrm>
            <a:off x="365760" y="685800"/>
            <a:ext cx="8412480" cy="50292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Competitor Analysis</a:t>
            </a:r>
            <a:endParaRPr dirty="0" sz="3000" lang="en-US"/>
          </a:p>
        </p:txBody>
      </p:sp>
      <p:sp>
        <p:nvSpPr>
          <p:cNvPr id="1048708" name="Text 4"/>
          <p:cNvSpPr/>
          <p:nvPr/>
        </p:nvSpPr>
        <p:spPr>
          <a:xfrm>
            <a:off x="365760" y="1188720"/>
            <a:ext cx="8412480" cy="274320"/>
          </a:xfrm>
          <a:prstGeom prst="rect"/>
          <a:noFill/>
        </p:spPr>
        <p:txBody>
          <a:bodyPr anchor="ctr" bIns="0" lIns="0" rIns="0" rtlCol="0" tIns="0" wrap="square"/>
          <a:p>
            <a:pPr indent="0" marL="0">
              <a:buNone/>
            </a:pPr>
            <a:r>
              <a:rPr dirty="0" sz="1300" i="1" lang="en-US">
                <a:solidFill>
                  <a:srgbClr val="6B6B6B"/>
                </a:solidFill>
                <a:latin typeface="Arial" pitchFamily="34" charset="0"/>
                <a:ea typeface="Arial" pitchFamily="34" charset="-122"/>
                <a:cs typeface="Arial" pitchFamily="34" charset="-120"/>
              </a:rPr>
              <a:t>H&amp;M Egypt vs Zara, LC Waikiki, Defacto, Mango and Bershka</a:t>
            </a:r>
            <a:endParaRPr dirty="0" sz="1300" lang="en-US"/>
          </a:p>
        </p:txBody>
      </p:sp>
      <p:graphicFrame>
        <p:nvGraphicFramePr>
          <p:cNvPr id="4194307" name="Table 0"/>
          <p:cNvGraphicFramePr>
            <a:graphicFrameLocks noGrp="1"/>
          </p:cNvGraphicFramePr>
          <p:nvPr/>
        </p:nvGraphicFramePr>
        <p:xfrm>
          <a:off x="365760" y="1554480"/>
          <a:ext cx="8412480" cy="914400"/>
        </p:xfrm>
        <a:graphic>
          <a:graphicData uri="http://schemas.openxmlformats.org/drawingml/2006/table">
            <a:tbl>
              <a:tblPr/>
              <a:tblGrid>
                <a:gridCol w="1097280"/>
                <a:gridCol w="1280160"/>
                <a:gridCol w="914400"/>
                <a:gridCol w="1097280"/>
                <a:gridCol w="1554480"/>
                <a:gridCol w="548640"/>
                <a:gridCol w="1920240"/>
              </a:tblGrid>
              <a:tr h="384048">
                <a:tc>
                  <a:txBody>
                    <a:bodyPr/>
                    <a:p>
                      <a:pPr algn="l" indent="0" marL="0">
                        <a:buNone/>
                      </a:pPr>
                      <a:r>
                        <a:rPr b="1" dirty="0" sz="1000" lang="en-US">
                          <a:solidFill>
                            <a:srgbClr val="FFFFFF"/>
                          </a:solidFill>
                          <a:latin typeface="Arial" pitchFamily="34" charset="0"/>
                          <a:ea typeface="Arial" pitchFamily="34" charset="-122"/>
                          <a:cs typeface="Arial" pitchFamily="34" charset="-120"/>
                        </a:rPr>
                        <a:t>Brand</a:t>
                      </a:r>
                      <a:endParaRPr dirty="0" sz="10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p>
                      <a:pPr algn="ctr" indent="0" marL="0">
                        <a:buNone/>
                      </a:pPr>
                      <a:r>
                        <a:rPr b="1" dirty="0" sz="1000" lang="en-US">
                          <a:solidFill>
                            <a:srgbClr val="FFFFFF"/>
                          </a:solidFill>
                          <a:latin typeface="Arial" pitchFamily="34" charset="0"/>
                          <a:ea typeface="Arial" pitchFamily="34" charset="-122"/>
                          <a:cs typeface="Arial" pitchFamily="34" charset="-120"/>
                        </a:rPr>
                        <a:t>IG (Egypt / Global)</a:t>
                      </a:r>
                      <a:endParaRPr dirty="0" sz="10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p>
                      <a:pPr algn="ctr" indent="0" marL="0">
                        <a:buNone/>
                      </a:pPr>
                      <a:r>
                        <a:rPr b="1" dirty="0" sz="1000" lang="en-US">
                          <a:solidFill>
                            <a:srgbClr val="FFFFFF"/>
                          </a:solidFill>
                          <a:latin typeface="Arial" pitchFamily="34" charset="0"/>
                          <a:ea typeface="Arial" pitchFamily="34" charset="-122"/>
                          <a:cs typeface="Arial" pitchFamily="34" charset="-120"/>
                        </a:rPr>
                        <a:t>Posting</a:t>
                      </a:r>
                      <a:endParaRPr dirty="0" sz="10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p>
                      <a:pPr algn="ctr" indent="0" marL="0">
                        <a:buNone/>
                      </a:pPr>
                      <a:r>
                        <a:rPr b="1" dirty="0" sz="1000" lang="en-US">
                          <a:solidFill>
                            <a:srgbClr val="FFFFFF"/>
                          </a:solidFill>
                          <a:latin typeface="Arial" pitchFamily="34" charset="0"/>
                          <a:ea typeface="Arial" pitchFamily="34" charset="-122"/>
                          <a:cs typeface="Arial" pitchFamily="34" charset="-120"/>
                        </a:rPr>
                        <a:t>Localised Arabic</a:t>
                      </a:r>
                      <a:endParaRPr dirty="0" sz="10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p>
                      <a:pPr algn="ctr" indent="0" marL="0">
                        <a:buNone/>
                      </a:pPr>
                      <a:r>
                        <a:rPr b="1" dirty="0" sz="1000" lang="en-US">
                          <a:solidFill>
                            <a:srgbClr val="FFFFFF"/>
                          </a:solidFill>
                          <a:latin typeface="Arial" pitchFamily="34" charset="0"/>
                          <a:ea typeface="Arial" pitchFamily="34" charset="-122"/>
                          <a:cs typeface="Arial" pitchFamily="34" charset="-120"/>
                        </a:rPr>
                        <a:t>Mobile App</a:t>
                      </a:r>
                      <a:endParaRPr dirty="0" sz="10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p>
                      <a:pPr algn="ctr" indent="0" marL="0">
                        <a:buNone/>
                      </a:pPr>
                      <a:r>
                        <a:rPr b="1" dirty="0" sz="1000" lang="en-US">
                          <a:solidFill>
                            <a:srgbClr val="FFFFFF"/>
                          </a:solidFill>
                          <a:latin typeface="Arial" pitchFamily="34" charset="0"/>
                          <a:ea typeface="Arial" pitchFamily="34" charset="-122"/>
                          <a:cs typeface="Arial" pitchFamily="34" charset="-120"/>
                        </a:rPr>
                        <a:t>COD</a:t>
                      </a:r>
                      <a:endParaRPr dirty="0" sz="10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p>
                      <a:pPr algn="l" indent="0" marL="0">
                        <a:buNone/>
                      </a:pPr>
                      <a:r>
                        <a:rPr b="1" dirty="0" sz="1000" lang="en-US">
                          <a:solidFill>
                            <a:srgbClr val="FFFFFF"/>
                          </a:solidFill>
                          <a:latin typeface="Arial" pitchFamily="34" charset="0"/>
                          <a:ea typeface="Arial" pitchFamily="34" charset="-122"/>
                          <a:cs typeface="Arial" pitchFamily="34" charset="-120"/>
                        </a:rPr>
                        <a:t>Strength vs H&amp;M</a:t>
                      </a:r>
                      <a:endParaRPr dirty="0" sz="10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r>
              <a:tr h="384048">
                <a:tc>
                  <a:txBody>
                    <a:bodyPr/>
                    <a:p>
                      <a:pPr algn="l" indent="0" marL="0">
                        <a:buNone/>
                      </a:pPr>
                      <a:r>
                        <a:rPr b="1" dirty="0" sz="900" lang="en-US">
                          <a:solidFill>
                            <a:srgbClr val="E50010"/>
                          </a:solidFill>
                          <a:latin typeface="Arial" pitchFamily="34" charset="0"/>
                          <a:ea typeface="Arial" pitchFamily="34" charset="-122"/>
                          <a:cs typeface="Arial" pitchFamily="34" charset="-120"/>
                        </a:rPr>
                        <a:t>H&amp;M Egypt</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~1.5M+ / 40M+</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4-5 / week</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Partial</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H&amp;M MENA app</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b="1" dirty="0" sz="900" lang="en-US">
                          <a:solidFill>
                            <a:srgbClr val="E50010"/>
                          </a:solidFill>
                          <a:latin typeface="Arial" pitchFamily="34" charset="0"/>
                          <a:ea typeface="Arial" pitchFamily="34" charset="-122"/>
                          <a:cs typeface="Arial" pitchFamily="34" charset="-120"/>
                        </a:rPr>
                        <a:t>Yes</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l" indent="0" marL="0">
                        <a:buNone/>
                      </a:pPr>
                      <a:r>
                        <a:rPr dirty="0" sz="900" lang="en-US">
                          <a:solidFill>
                            <a:srgbClr val="111111"/>
                          </a:solidFill>
                          <a:latin typeface="Arial" pitchFamily="34" charset="0"/>
                          <a:ea typeface="Arial" pitchFamily="34" charset="-122"/>
                          <a:cs typeface="Arial" pitchFamily="34" charset="-120"/>
                        </a:rPr>
                        <a:t>Brand heritage, sustainability stories</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r>
              <a:tr h="384048">
                <a:tc>
                  <a:txBody>
                    <a:bodyPr/>
                    <a:p>
                      <a:pPr algn="l" indent="0" marL="0">
                        <a:buNone/>
                      </a:pPr>
                      <a:r>
                        <a:rPr b="1" dirty="0" sz="900" lang="en-US">
                          <a:solidFill>
                            <a:srgbClr val="111111"/>
                          </a:solidFill>
                          <a:latin typeface="Arial" pitchFamily="34" charset="0"/>
                          <a:ea typeface="Arial" pitchFamily="34" charset="-122"/>
                          <a:cs typeface="Arial" pitchFamily="34" charset="-120"/>
                        </a:rPr>
                        <a:t>Zara Egypt</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~0.8M+ / 62M+</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3-4 / week</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Limited</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Zara app (iOS top-5 apparel in EG, Q2 2024)</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b="1" dirty="0" sz="900" lang="en-US">
                          <a:solidFill>
                            <a:srgbClr val="E50010"/>
                          </a:solidFill>
                          <a:latin typeface="Arial" pitchFamily="34" charset="0"/>
                          <a:ea typeface="Arial" pitchFamily="34" charset="-122"/>
                          <a:cs typeface="Arial" pitchFamily="34" charset="-120"/>
                        </a:rPr>
                        <a:t>Yes</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l" indent="0" marL="0">
                        <a:buNone/>
                      </a:pPr>
                      <a:r>
                        <a:rPr dirty="0" sz="900" lang="en-US">
                          <a:solidFill>
                            <a:srgbClr val="111111"/>
                          </a:solidFill>
                          <a:latin typeface="Arial" pitchFamily="34" charset="0"/>
                          <a:ea typeface="Arial" pitchFamily="34" charset="-122"/>
                          <a:cs typeface="Arial" pitchFamily="34" charset="-120"/>
                        </a:rPr>
                        <a:t>Faster trend drops, premium perception</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r>
              <a:tr h="384048">
                <a:tc>
                  <a:txBody>
                    <a:bodyPr/>
                    <a:p>
                      <a:pPr algn="l" indent="0" marL="0">
                        <a:buNone/>
                      </a:pPr>
                      <a:r>
                        <a:rPr b="1" dirty="0" sz="900" lang="en-US">
                          <a:solidFill>
                            <a:srgbClr val="111111"/>
                          </a:solidFill>
                          <a:latin typeface="Arial" pitchFamily="34" charset="0"/>
                          <a:ea typeface="Arial" pitchFamily="34" charset="-122"/>
                          <a:cs typeface="Arial" pitchFamily="34" charset="-120"/>
                        </a:rPr>
                        <a:t>LC Waikiki EG</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~7M+ (regional)</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5-7 / week</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Strong</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Yes, local app</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b="1" dirty="0" sz="900" lang="en-US">
                          <a:solidFill>
                            <a:srgbClr val="E50010"/>
                          </a:solidFill>
                          <a:latin typeface="Arial" pitchFamily="34" charset="0"/>
                          <a:ea typeface="Arial" pitchFamily="34" charset="-122"/>
                          <a:cs typeface="Arial" pitchFamily="34" charset="-120"/>
                        </a:rPr>
                        <a:t>Yes</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l" indent="0" marL="0">
                        <a:buNone/>
                      </a:pPr>
                      <a:r>
                        <a:rPr dirty="0" sz="900" lang="en-US">
                          <a:solidFill>
                            <a:srgbClr val="111111"/>
                          </a:solidFill>
                          <a:latin typeface="Arial" pitchFamily="34" charset="0"/>
                          <a:ea typeface="Arial" pitchFamily="34" charset="-122"/>
                          <a:cs typeface="Arial" pitchFamily="34" charset="-120"/>
                        </a:rPr>
                        <a:t>Price leadership, Egyptian brand voice</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r>
              <a:tr h="384048">
                <a:tc>
                  <a:txBody>
                    <a:bodyPr/>
                    <a:p>
                      <a:pPr algn="l" indent="0" marL="0">
                        <a:buNone/>
                      </a:pPr>
                      <a:r>
                        <a:rPr b="1" dirty="0" sz="900" lang="en-US">
                          <a:solidFill>
                            <a:srgbClr val="111111"/>
                          </a:solidFill>
                          <a:latin typeface="Arial" pitchFamily="34" charset="0"/>
                          <a:ea typeface="Arial" pitchFamily="34" charset="-122"/>
                          <a:cs typeface="Arial" pitchFamily="34" charset="-120"/>
                        </a:rPr>
                        <a:t>Defacto Egypt</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~3-4M+ (regional)</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5-6 / week</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Strong</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Yes, local app</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b="1" dirty="0" sz="900" lang="en-US">
                          <a:solidFill>
                            <a:srgbClr val="E50010"/>
                          </a:solidFill>
                          <a:latin typeface="Arial" pitchFamily="34" charset="0"/>
                          <a:ea typeface="Arial" pitchFamily="34" charset="-122"/>
                          <a:cs typeface="Arial" pitchFamily="34" charset="-120"/>
                        </a:rPr>
                        <a:t>Yes</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l" indent="0" marL="0">
                        <a:buNone/>
                      </a:pPr>
                      <a:r>
                        <a:rPr dirty="0" sz="900" lang="en-US">
                          <a:solidFill>
                            <a:srgbClr val="111111"/>
                          </a:solidFill>
                          <a:latin typeface="Arial" pitchFamily="34" charset="0"/>
                          <a:ea typeface="Arial" pitchFamily="34" charset="-122"/>
                          <a:cs typeface="Arial" pitchFamily="34" charset="-120"/>
                        </a:rPr>
                        <a:t>Family + Modest fashion focus</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r>
              <a:tr h="384048">
                <a:tc>
                  <a:txBody>
                    <a:bodyPr/>
                    <a:p>
                      <a:pPr algn="l" indent="0" marL="0">
                        <a:buNone/>
                      </a:pPr>
                      <a:r>
                        <a:rPr b="1" dirty="0" sz="900" lang="en-US">
                          <a:solidFill>
                            <a:srgbClr val="111111"/>
                          </a:solidFill>
                          <a:latin typeface="Arial" pitchFamily="34" charset="0"/>
                          <a:ea typeface="Arial" pitchFamily="34" charset="-122"/>
                          <a:cs typeface="Arial" pitchFamily="34" charset="-120"/>
                        </a:rPr>
                        <a:t>Mango Egypt</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~0.4M+ (regional)</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2-3 / week</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Limited</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Mango app</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ctr" indent="0" marL="0">
                        <a:buNone/>
                      </a:pPr>
                      <a:r>
                        <a:rPr b="1" dirty="0" sz="900" lang="en-US">
                          <a:solidFill>
                            <a:srgbClr val="E50010"/>
                          </a:solidFill>
                          <a:latin typeface="Arial" pitchFamily="34" charset="0"/>
                          <a:ea typeface="Arial" pitchFamily="34" charset="-122"/>
                          <a:cs typeface="Arial" pitchFamily="34" charset="-120"/>
                        </a:rPr>
                        <a:t>Yes</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p>
                      <a:pPr algn="l" indent="0" marL="0">
                        <a:buNone/>
                      </a:pPr>
                      <a:r>
                        <a:rPr dirty="0" sz="900" lang="en-US">
                          <a:solidFill>
                            <a:srgbClr val="111111"/>
                          </a:solidFill>
                          <a:latin typeface="Arial" pitchFamily="34" charset="0"/>
                          <a:ea typeface="Arial" pitchFamily="34" charset="-122"/>
                          <a:cs typeface="Arial" pitchFamily="34" charset="-120"/>
                        </a:rPr>
                        <a:t>Premium / occasion wear</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r>
              <a:tr h="384048">
                <a:tc>
                  <a:txBody>
                    <a:bodyPr/>
                    <a:p>
                      <a:pPr algn="l" indent="0" marL="0">
                        <a:buNone/>
                      </a:pPr>
                      <a:r>
                        <a:rPr b="1" dirty="0" sz="900" lang="en-US">
                          <a:solidFill>
                            <a:srgbClr val="111111"/>
                          </a:solidFill>
                          <a:latin typeface="Arial" pitchFamily="34" charset="0"/>
                          <a:ea typeface="Arial" pitchFamily="34" charset="-122"/>
                          <a:cs typeface="Arial" pitchFamily="34" charset="-120"/>
                        </a:rPr>
                        <a:t>Bershka EG</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~0.3M+ (regional)</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2-3 / week</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Limited</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dirty="0" sz="900" lang="en-US">
                          <a:solidFill>
                            <a:srgbClr val="111111"/>
                          </a:solidFill>
                          <a:latin typeface="Arial" pitchFamily="34" charset="0"/>
                          <a:ea typeface="Arial" pitchFamily="34" charset="-122"/>
                          <a:cs typeface="Arial" pitchFamily="34" charset="-120"/>
                        </a:rPr>
                        <a:t>Bershka app</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ctr" indent="0" marL="0">
                        <a:buNone/>
                      </a:pPr>
                      <a:r>
                        <a:rPr b="1" dirty="0" sz="900" lang="en-US">
                          <a:solidFill>
                            <a:srgbClr val="E50010"/>
                          </a:solidFill>
                          <a:latin typeface="Arial" pitchFamily="34" charset="0"/>
                          <a:ea typeface="Arial" pitchFamily="34" charset="-122"/>
                          <a:cs typeface="Arial" pitchFamily="34" charset="-120"/>
                        </a:rPr>
                        <a:t>Yes</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p>
                      <a:pPr algn="l" indent="0" marL="0">
                        <a:buNone/>
                      </a:pPr>
                      <a:r>
                        <a:rPr dirty="0" sz="900" lang="en-US">
                          <a:solidFill>
                            <a:srgbClr val="111111"/>
                          </a:solidFill>
                          <a:latin typeface="Arial" pitchFamily="34" charset="0"/>
                          <a:ea typeface="Arial" pitchFamily="34" charset="-122"/>
                          <a:cs typeface="Arial" pitchFamily="34" charset="-120"/>
                        </a:rPr>
                        <a:t>Gen-Z trend drops</a:t>
                      </a:r>
                      <a:endParaRPr dirty="0" sz="900" lang="en-US">
                        <a:latin typeface="Arial" charset="0"/>
                        <a:ea typeface="Arial" charset="0"/>
                        <a:cs typeface="Arial"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r>
            </a:tbl>
          </a:graphicData>
        </a:graphic>
      </p:graphicFrame>
      <p:sp>
        <p:nvSpPr>
          <p:cNvPr id="1048709" name="Shape 5"/>
          <p:cNvSpPr/>
          <p:nvPr/>
        </p:nvSpPr>
        <p:spPr>
          <a:xfrm>
            <a:off x="365760" y="4434840"/>
            <a:ext cx="4114800" cy="292608"/>
          </a:xfrm>
          <a:prstGeom prst="rect"/>
          <a:solidFill>
            <a:srgbClr val="E50010"/>
          </a:solidFill>
        </p:spPr>
      </p:sp>
      <p:sp>
        <p:nvSpPr>
          <p:cNvPr id="1048710" name="Text 6"/>
          <p:cNvSpPr/>
          <p:nvPr/>
        </p:nvSpPr>
        <p:spPr>
          <a:xfrm>
            <a:off x="502920" y="4434840"/>
            <a:ext cx="3931920" cy="292608"/>
          </a:xfrm>
          <a:prstGeom prst="rect"/>
          <a:noFill/>
        </p:spPr>
        <p:txBody>
          <a:bodyPr anchor="ctr" bIns="0" lIns="0" rIns="0" rtlCol="0" tIns="0" wrap="square"/>
          <a:p>
            <a:pPr indent="0" marL="0">
              <a:buNone/>
            </a:pPr>
            <a:r>
              <a:rPr b="1" dirty="0" sz="1000" kern="0" lang="en-US" spc="200">
                <a:solidFill>
                  <a:srgbClr val="FFFFFF"/>
                </a:solidFill>
                <a:latin typeface="Arial" pitchFamily="34" charset="0"/>
                <a:ea typeface="Arial" pitchFamily="34" charset="-122"/>
                <a:cs typeface="Arial" pitchFamily="34" charset="-120"/>
              </a:rPr>
              <a:t>H&amp;M EGYPT STRENGTHS</a:t>
            </a:r>
            <a:endParaRPr dirty="0" sz="1000" lang="en-US"/>
          </a:p>
        </p:txBody>
      </p:sp>
      <p:sp>
        <p:nvSpPr>
          <p:cNvPr id="1048711" name="Text 7"/>
          <p:cNvSpPr/>
          <p:nvPr/>
        </p:nvSpPr>
        <p:spPr>
          <a:xfrm>
            <a:off x="365760" y="4727448"/>
            <a:ext cx="4114800" cy="292608"/>
          </a:xfrm>
          <a:prstGeom prst="rect"/>
          <a:noFill/>
        </p:spPr>
        <p:txBody>
          <a:bodyPr anchor="ctr" bIns="0" lIns="0" rIns="0" rtlCol="0" tIns="0" wrap="square"/>
          <a:p>
            <a:pPr indent="0" marL="0">
              <a:buNone/>
            </a:pPr>
            <a:r>
              <a:rPr dirty="0" sz="900" lang="en-US">
                <a:solidFill>
                  <a:srgbClr val="111111"/>
                </a:solidFill>
                <a:latin typeface="Arial" pitchFamily="34" charset="0"/>
                <a:ea typeface="Arial" pitchFamily="34" charset="-122"/>
                <a:cs typeface="Arial" pitchFamily="34" charset="-120"/>
              </a:rPr>
              <a:t>Strong global brand, sustainability stories, broad price tiers, in-store + online integration.</a:t>
            </a:r>
            <a:endParaRPr dirty="0" sz="900" lang="en-US"/>
          </a:p>
        </p:txBody>
      </p:sp>
      <p:sp>
        <p:nvSpPr>
          <p:cNvPr id="1048712" name="Shape 8"/>
          <p:cNvSpPr/>
          <p:nvPr/>
        </p:nvSpPr>
        <p:spPr>
          <a:xfrm>
            <a:off x="4663440" y="4434840"/>
            <a:ext cx="4114800" cy="292608"/>
          </a:xfrm>
          <a:prstGeom prst="rect"/>
          <a:solidFill>
            <a:srgbClr val="111111"/>
          </a:solidFill>
        </p:spPr>
      </p:sp>
      <p:sp>
        <p:nvSpPr>
          <p:cNvPr id="1048713" name="Text 9"/>
          <p:cNvSpPr/>
          <p:nvPr/>
        </p:nvSpPr>
        <p:spPr>
          <a:xfrm>
            <a:off x="4800600" y="4434840"/>
            <a:ext cx="3931920" cy="292608"/>
          </a:xfrm>
          <a:prstGeom prst="rect"/>
          <a:noFill/>
        </p:spPr>
        <p:txBody>
          <a:bodyPr anchor="ctr" bIns="0" lIns="0" rIns="0" rtlCol="0" tIns="0" wrap="square"/>
          <a:p>
            <a:pPr indent="0" marL="0">
              <a:buNone/>
            </a:pPr>
            <a:r>
              <a:rPr b="1" dirty="0" sz="1000" kern="0" lang="en-US" spc="200">
                <a:solidFill>
                  <a:srgbClr val="FFFFFF"/>
                </a:solidFill>
                <a:latin typeface="Arial" pitchFamily="34" charset="0"/>
                <a:ea typeface="Arial" pitchFamily="34" charset="-122"/>
                <a:cs typeface="Arial" pitchFamily="34" charset="-120"/>
              </a:rPr>
              <a:t>H&amp;M EGYPT WEAKNESSES</a:t>
            </a:r>
            <a:endParaRPr dirty="0" sz="1000" lang="en-US"/>
          </a:p>
        </p:txBody>
      </p:sp>
      <p:sp>
        <p:nvSpPr>
          <p:cNvPr id="1048714" name="Text 10"/>
          <p:cNvSpPr/>
          <p:nvPr/>
        </p:nvSpPr>
        <p:spPr>
          <a:xfrm>
            <a:off x="4663440" y="4727448"/>
            <a:ext cx="4114800" cy="292608"/>
          </a:xfrm>
          <a:prstGeom prst="rect"/>
          <a:noFill/>
        </p:spPr>
        <p:txBody>
          <a:bodyPr anchor="ctr" bIns="0" lIns="0" rIns="0" rtlCol="0" tIns="0" wrap="square"/>
          <a:p>
            <a:pPr indent="0" marL="0">
              <a:buNone/>
            </a:pPr>
            <a:r>
              <a:rPr dirty="0" sz="900" lang="en-US">
                <a:solidFill>
                  <a:srgbClr val="111111"/>
                </a:solidFill>
                <a:latin typeface="Arial" pitchFamily="34" charset="0"/>
                <a:ea typeface="Arial" pitchFamily="34" charset="-122"/>
                <a:cs typeface="Arial" pitchFamily="34" charset="-120"/>
              </a:rPr>
              <a:t>Less Arabic content vs LC Waikiki / Defacto, slower trend cycle vs Zara, smaller local creator pool.</a:t>
            </a:r>
            <a:endParaRPr dirty="0" sz="900" lang="en-US"/>
          </a:p>
        </p:txBody>
      </p:sp>
      <p:sp>
        <p:nvSpPr>
          <p:cNvPr id="1048715" name="Text 11"/>
          <p:cNvSpPr/>
          <p:nvPr/>
        </p:nvSpPr>
        <p:spPr>
          <a:xfrm>
            <a:off x="8503920" y="4663440"/>
            <a:ext cx="457200" cy="27432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05</a:t>
            </a:r>
            <a:endParaRPr dirty="0" sz="10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31" name=""/>
        <p:cNvGrpSpPr/>
        <p:nvPr/>
      </p:nvGrpSpPr>
      <p:grpSpPr>
        <a:xfrm>
          <a:off x="0" y="0"/>
          <a:ext cx="0" cy="0"/>
          <a:chOff x="0" y="0"/>
          <a:chExt cx="0" cy="0"/>
        </a:xfrm>
      </p:grpSpPr>
      <p:sp>
        <p:nvSpPr>
          <p:cNvPr id="1048719" name="Shape 0"/>
          <p:cNvSpPr/>
          <p:nvPr/>
        </p:nvSpPr>
        <p:spPr>
          <a:xfrm>
            <a:off x="0" y="0"/>
            <a:ext cx="9144000" cy="502920"/>
          </a:xfrm>
          <a:prstGeom prst="rect"/>
          <a:solidFill>
            <a:srgbClr val="111111"/>
          </a:solidFill>
        </p:spPr>
      </p:sp>
      <p:sp>
        <p:nvSpPr>
          <p:cNvPr id="1048720" name="Text 1"/>
          <p:cNvSpPr/>
          <p:nvPr/>
        </p:nvSpPr>
        <p:spPr>
          <a:xfrm>
            <a:off x="365760" y="0"/>
            <a:ext cx="5486400" cy="502920"/>
          </a:xfrm>
          <a:prstGeom prst="rect"/>
          <a:noFill/>
        </p:spPr>
        <p:txBody>
          <a:bodyPr anchor="ctr" bIns="0" lIns="0" rIns="0" rtlCol="0" tIns="0" wrap="square"/>
          <a:p>
            <a:pPr indent="0" marL="0">
              <a:buNone/>
            </a:pPr>
            <a:r>
              <a:rPr b="1" dirty="0" sz="1000" kern="0" lang="en-US" spc="300">
                <a:solidFill>
                  <a:srgbClr val="FFFFFF"/>
                </a:solidFill>
                <a:latin typeface="Arial" pitchFamily="34" charset="0"/>
                <a:ea typeface="Arial" pitchFamily="34" charset="-122"/>
                <a:cs typeface="Arial" pitchFamily="34" charset="-120"/>
              </a:rPr>
              <a:t>H&amp;M EGYPT  |  DIGITAL SITUATION ANALYSIS</a:t>
            </a:r>
            <a:endParaRPr dirty="0" sz="1000" lang="en-US"/>
          </a:p>
        </p:txBody>
      </p:sp>
      <p:sp>
        <p:nvSpPr>
          <p:cNvPr id="1048721" name="Text 2"/>
          <p:cNvSpPr/>
          <p:nvPr/>
        </p:nvSpPr>
        <p:spPr>
          <a:xfrm>
            <a:off x="5029200" y="0"/>
            <a:ext cx="3749040" cy="502920"/>
          </a:xfrm>
          <a:prstGeom prst="rect"/>
          <a:noFill/>
        </p:spPr>
        <p:txBody>
          <a:bodyPr anchor="ctr" bIns="0" lIns="0" rIns="0" rtlCol="0" tIns="0" wrap="square"/>
          <a:p>
            <a:pPr algn="r" indent="0" marL="0">
              <a:buNone/>
            </a:pPr>
            <a:r>
              <a:rPr b="1" dirty="0" sz="1000" kern="0" lang="en-US" spc="300">
                <a:solidFill>
                  <a:srgbClr val="FFFFFF"/>
                </a:solidFill>
                <a:latin typeface="Arial" pitchFamily="34" charset="0"/>
                <a:ea typeface="Arial" pitchFamily="34" charset="-122"/>
                <a:cs typeface="Arial" pitchFamily="34" charset="-120"/>
              </a:rPr>
              <a:t>05 - Best Performing Content</a:t>
            </a:r>
            <a:endParaRPr dirty="0" sz="1000" lang="en-US"/>
          </a:p>
        </p:txBody>
      </p:sp>
      <p:sp>
        <p:nvSpPr>
          <p:cNvPr id="1048722" name="Text 3"/>
          <p:cNvSpPr/>
          <p:nvPr/>
        </p:nvSpPr>
        <p:spPr>
          <a:xfrm>
            <a:off x="365760" y="685800"/>
            <a:ext cx="8412480" cy="50292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Best Performing Content</a:t>
            </a:r>
            <a:endParaRPr dirty="0" sz="3000" lang="en-US"/>
          </a:p>
        </p:txBody>
      </p:sp>
      <p:sp>
        <p:nvSpPr>
          <p:cNvPr id="1048723" name="Text 4"/>
          <p:cNvSpPr/>
          <p:nvPr/>
        </p:nvSpPr>
        <p:spPr>
          <a:xfrm>
            <a:off x="365760" y="1188720"/>
            <a:ext cx="8412480" cy="274320"/>
          </a:xfrm>
          <a:prstGeom prst="rect"/>
          <a:noFill/>
        </p:spPr>
        <p:txBody>
          <a:bodyPr anchor="ctr" bIns="0" lIns="0" rIns="0" rtlCol="0" tIns="0" wrap="square"/>
          <a:p>
            <a:pPr indent="0" marL="0">
              <a:buNone/>
            </a:pPr>
            <a:r>
              <a:rPr dirty="0" sz="1300" i="1" lang="en-US">
                <a:solidFill>
                  <a:srgbClr val="6B6B6B"/>
                </a:solidFill>
                <a:latin typeface="Arial" pitchFamily="34" charset="0"/>
                <a:ea typeface="Arial" pitchFamily="34" charset="-122"/>
                <a:cs typeface="Arial" pitchFamily="34" charset="-120"/>
              </a:rPr>
              <a:t>What wins on the feeds of H&amp;M Egypt and its competitors</a:t>
            </a:r>
            <a:endParaRPr dirty="0" sz="1300" lang="en-US"/>
          </a:p>
        </p:txBody>
      </p:sp>
      <p:sp>
        <p:nvSpPr>
          <p:cNvPr id="1048724" name="Shape 5"/>
          <p:cNvSpPr/>
          <p:nvPr/>
        </p:nvSpPr>
        <p:spPr>
          <a:xfrm>
            <a:off x="365760" y="1554480"/>
            <a:ext cx="2743200" cy="1417320"/>
          </a:xfrm>
          <a:prstGeom prst="rect"/>
          <a:solidFill>
            <a:srgbClr val="FFFFFF"/>
          </a:solidFill>
          <a:ln w="12700">
            <a:solidFill>
              <a:srgbClr val="E5E5E5"/>
            </a:solidFill>
            <a:prstDash val="solid"/>
          </a:ln>
        </p:spPr>
      </p:sp>
      <p:sp>
        <p:nvSpPr>
          <p:cNvPr id="1048725" name="Shape 6"/>
          <p:cNvSpPr/>
          <p:nvPr/>
        </p:nvSpPr>
        <p:spPr>
          <a:xfrm>
            <a:off x="365760" y="1554480"/>
            <a:ext cx="2743200" cy="54864"/>
          </a:xfrm>
          <a:prstGeom prst="rect"/>
          <a:solidFill>
            <a:srgbClr val="E50010"/>
          </a:solidFill>
        </p:spPr>
      </p:sp>
      <p:sp>
        <p:nvSpPr>
          <p:cNvPr id="1048726" name="Text 7"/>
          <p:cNvSpPr/>
          <p:nvPr/>
        </p:nvSpPr>
        <p:spPr>
          <a:xfrm>
            <a:off x="502920" y="1691640"/>
            <a:ext cx="2468880" cy="457200"/>
          </a:xfrm>
          <a:prstGeom prst="rect"/>
          <a:noFill/>
        </p:spPr>
        <p:txBody>
          <a:bodyPr anchor="ctr" bIns="0" lIns="0" rIns="0" rtlCol="0" tIns="0" wrap="square"/>
          <a:p>
            <a:pPr indent="0" marL="0">
              <a:buNone/>
            </a:pPr>
            <a:r>
              <a:rPr b="1" dirty="0" sz="3000" lang="en-US">
                <a:solidFill>
                  <a:srgbClr val="E50010"/>
                </a:solidFill>
                <a:latin typeface="Arial" pitchFamily="34" charset="0"/>
                <a:ea typeface="Arial" pitchFamily="34" charset="-122"/>
                <a:cs typeface="Arial" pitchFamily="34" charset="-120"/>
              </a:rPr>
              <a:t>4-6x</a:t>
            </a:r>
            <a:endParaRPr dirty="0" sz="3000" lang="en-US"/>
          </a:p>
        </p:txBody>
      </p:sp>
      <p:sp>
        <p:nvSpPr>
          <p:cNvPr id="1048727" name="Text 8"/>
          <p:cNvSpPr/>
          <p:nvPr/>
        </p:nvSpPr>
        <p:spPr>
          <a:xfrm>
            <a:off x="502920" y="2194560"/>
            <a:ext cx="2468880" cy="274320"/>
          </a:xfrm>
          <a:prstGeom prst="rect"/>
          <a:noFill/>
        </p:spPr>
        <p:txBody>
          <a:bodyPr anchor="ctr" bIns="0" lIns="0" rIns="0" rtlCol="0" tIns="0" wrap="square"/>
          <a:p>
            <a:pPr indent="0" marL="0">
              <a:buNone/>
            </a:pPr>
            <a:r>
              <a:rPr b="1" dirty="0" sz="1200" lang="en-US">
                <a:solidFill>
                  <a:srgbClr val="111111"/>
                </a:solidFill>
                <a:latin typeface="Arial" pitchFamily="34" charset="0"/>
                <a:ea typeface="Arial" pitchFamily="34" charset="-122"/>
                <a:cs typeface="Arial" pitchFamily="34" charset="-120"/>
              </a:rPr>
              <a:t>Ramadan Campaigns</a:t>
            </a:r>
            <a:endParaRPr dirty="0" sz="1200" lang="en-US"/>
          </a:p>
        </p:txBody>
      </p:sp>
      <p:sp>
        <p:nvSpPr>
          <p:cNvPr id="1048728" name="Text 9"/>
          <p:cNvSpPr/>
          <p:nvPr/>
        </p:nvSpPr>
        <p:spPr>
          <a:xfrm>
            <a:off x="502920" y="2468880"/>
            <a:ext cx="2468880" cy="45720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Reach vs baseline month - all fast-fashion brands</a:t>
            </a:r>
            <a:endParaRPr dirty="0" sz="900" lang="en-US"/>
          </a:p>
        </p:txBody>
      </p:sp>
      <p:sp>
        <p:nvSpPr>
          <p:cNvPr id="1048729" name="Shape 10"/>
          <p:cNvSpPr/>
          <p:nvPr/>
        </p:nvSpPr>
        <p:spPr>
          <a:xfrm>
            <a:off x="3200400" y="1554480"/>
            <a:ext cx="2743200" cy="1417320"/>
          </a:xfrm>
          <a:prstGeom prst="rect"/>
          <a:solidFill>
            <a:srgbClr val="FFFFFF"/>
          </a:solidFill>
          <a:ln w="12700">
            <a:solidFill>
              <a:srgbClr val="E5E5E5"/>
            </a:solidFill>
            <a:prstDash val="solid"/>
          </a:ln>
        </p:spPr>
      </p:sp>
      <p:sp>
        <p:nvSpPr>
          <p:cNvPr id="1048730" name="Shape 11"/>
          <p:cNvSpPr/>
          <p:nvPr/>
        </p:nvSpPr>
        <p:spPr>
          <a:xfrm>
            <a:off x="3200400" y="1554480"/>
            <a:ext cx="2743200" cy="54864"/>
          </a:xfrm>
          <a:prstGeom prst="rect"/>
          <a:solidFill>
            <a:srgbClr val="111111"/>
          </a:solidFill>
        </p:spPr>
      </p:sp>
      <p:sp>
        <p:nvSpPr>
          <p:cNvPr id="1048731" name="Text 12"/>
          <p:cNvSpPr/>
          <p:nvPr/>
        </p:nvSpPr>
        <p:spPr>
          <a:xfrm>
            <a:off x="3337560" y="1691640"/>
            <a:ext cx="2468880" cy="45720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3-4x</a:t>
            </a:r>
            <a:endParaRPr dirty="0" sz="3000" lang="en-US"/>
          </a:p>
        </p:txBody>
      </p:sp>
      <p:sp>
        <p:nvSpPr>
          <p:cNvPr id="1048732" name="Text 13"/>
          <p:cNvSpPr/>
          <p:nvPr/>
        </p:nvSpPr>
        <p:spPr>
          <a:xfrm>
            <a:off x="3337560" y="2194560"/>
            <a:ext cx="2468880" cy="274320"/>
          </a:xfrm>
          <a:prstGeom prst="rect"/>
          <a:noFill/>
        </p:spPr>
        <p:txBody>
          <a:bodyPr anchor="ctr" bIns="0" lIns="0" rIns="0" rtlCol="0" tIns="0" wrap="square"/>
          <a:p>
            <a:pPr indent="0" marL="0">
              <a:buNone/>
            </a:pPr>
            <a:r>
              <a:rPr b="1" dirty="0" sz="1200" lang="en-US">
                <a:solidFill>
                  <a:srgbClr val="111111"/>
                </a:solidFill>
                <a:latin typeface="Arial" pitchFamily="34" charset="0"/>
                <a:ea typeface="Arial" pitchFamily="34" charset="-122"/>
                <a:cs typeface="Arial" pitchFamily="34" charset="-120"/>
              </a:rPr>
              <a:t>White Friday Drops</a:t>
            </a:r>
            <a:endParaRPr dirty="0" sz="1200" lang="en-US"/>
          </a:p>
        </p:txBody>
      </p:sp>
      <p:sp>
        <p:nvSpPr>
          <p:cNvPr id="1048733" name="Text 14"/>
          <p:cNvSpPr/>
          <p:nvPr/>
        </p:nvSpPr>
        <p:spPr>
          <a:xfrm>
            <a:off x="3337560" y="2468880"/>
            <a:ext cx="2468880" cy="45720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Sales uplift on Instagram + website in Nov/Dec</a:t>
            </a:r>
            <a:endParaRPr dirty="0" sz="900" lang="en-US"/>
          </a:p>
        </p:txBody>
      </p:sp>
      <p:sp>
        <p:nvSpPr>
          <p:cNvPr id="1048734" name="Shape 15"/>
          <p:cNvSpPr/>
          <p:nvPr/>
        </p:nvSpPr>
        <p:spPr>
          <a:xfrm>
            <a:off x="6035040" y="1554480"/>
            <a:ext cx="2743200" cy="1417320"/>
          </a:xfrm>
          <a:prstGeom prst="rect"/>
          <a:solidFill>
            <a:srgbClr val="FFFFFF"/>
          </a:solidFill>
          <a:ln w="12700">
            <a:solidFill>
              <a:srgbClr val="E5E5E5"/>
            </a:solidFill>
            <a:prstDash val="solid"/>
          </a:ln>
        </p:spPr>
      </p:sp>
      <p:sp>
        <p:nvSpPr>
          <p:cNvPr id="1048735" name="Shape 16"/>
          <p:cNvSpPr/>
          <p:nvPr/>
        </p:nvSpPr>
        <p:spPr>
          <a:xfrm>
            <a:off x="6035040" y="1554480"/>
            <a:ext cx="2743200" cy="54864"/>
          </a:xfrm>
          <a:prstGeom prst="rect"/>
          <a:solidFill>
            <a:srgbClr val="E50010"/>
          </a:solidFill>
        </p:spPr>
      </p:sp>
      <p:sp>
        <p:nvSpPr>
          <p:cNvPr id="1048736" name="Text 17"/>
          <p:cNvSpPr/>
          <p:nvPr/>
        </p:nvSpPr>
        <p:spPr>
          <a:xfrm>
            <a:off x="6172200" y="1691640"/>
            <a:ext cx="2468880" cy="457200"/>
          </a:xfrm>
          <a:prstGeom prst="rect"/>
          <a:noFill/>
        </p:spPr>
        <p:txBody>
          <a:bodyPr anchor="ctr" bIns="0" lIns="0" rIns="0" rtlCol="0" tIns="0" wrap="square"/>
          <a:p>
            <a:pPr indent="0" marL="0">
              <a:buNone/>
            </a:pPr>
            <a:r>
              <a:rPr b="1" dirty="0" sz="3000" lang="en-US">
                <a:solidFill>
                  <a:srgbClr val="E50010"/>
                </a:solidFill>
                <a:latin typeface="Arial" pitchFamily="34" charset="0"/>
                <a:ea typeface="Arial" pitchFamily="34" charset="-122"/>
                <a:cs typeface="Arial" pitchFamily="34" charset="-120"/>
              </a:rPr>
              <a:t>2-3x</a:t>
            </a:r>
            <a:endParaRPr dirty="0" sz="3000" lang="en-US"/>
          </a:p>
        </p:txBody>
      </p:sp>
      <p:sp>
        <p:nvSpPr>
          <p:cNvPr id="1048737" name="Text 18"/>
          <p:cNvSpPr/>
          <p:nvPr/>
        </p:nvSpPr>
        <p:spPr>
          <a:xfrm>
            <a:off x="6172200" y="2194560"/>
            <a:ext cx="2468880" cy="274320"/>
          </a:xfrm>
          <a:prstGeom prst="rect"/>
          <a:noFill/>
        </p:spPr>
        <p:txBody>
          <a:bodyPr anchor="ctr" bIns="0" lIns="0" rIns="0" rtlCol="0" tIns="0" wrap="square"/>
          <a:p>
            <a:pPr indent="0" marL="0">
              <a:buNone/>
            </a:pPr>
            <a:r>
              <a:rPr b="1" dirty="0" sz="1200" lang="en-US">
                <a:solidFill>
                  <a:srgbClr val="111111"/>
                </a:solidFill>
                <a:latin typeface="Arial" pitchFamily="34" charset="0"/>
                <a:ea typeface="Arial" pitchFamily="34" charset="-122"/>
                <a:cs typeface="Arial" pitchFamily="34" charset="-120"/>
              </a:rPr>
              <a:t>Influencer Reels</a:t>
            </a:r>
            <a:endParaRPr dirty="0" sz="1200" lang="en-US"/>
          </a:p>
        </p:txBody>
      </p:sp>
      <p:sp>
        <p:nvSpPr>
          <p:cNvPr id="1048738" name="Text 19"/>
          <p:cNvSpPr/>
          <p:nvPr/>
        </p:nvSpPr>
        <p:spPr>
          <a:xfrm>
            <a:off x="6172200" y="2468880"/>
            <a:ext cx="2468880" cy="45720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Engagement rate vs branded posts (micro 10-50K)</a:t>
            </a:r>
            <a:endParaRPr dirty="0" sz="900" lang="en-US"/>
          </a:p>
        </p:txBody>
      </p:sp>
      <p:sp>
        <p:nvSpPr>
          <p:cNvPr id="1048739" name="Shape 20"/>
          <p:cNvSpPr/>
          <p:nvPr/>
        </p:nvSpPr>
        <p:spPr>
          <a:xfrm>
            <a:off x="365760" y="3108960"/>
            <a:ext cx="2743200" cy="1417320"/>
          </a:xfrm>
          <a:prstGeom prst="rect"/>
          <a:solidFill>
            <a:srgbClr val="FFFFFF"/>
          </a:solidFill>
          <a:ln w="12700">
            <a:solidFill>
              <a:srgbClr val="E5E5E5"/>
            </a:solidFill>
            <a:prstDash val="solid"/>
          </a:ln>
        </p:spPr>
      </p:sp>
      <p:sp>
        <p:nvSpPr>
          <p:cNvPr id="1048740" name="Shape 21"/>
          <p:cNvSpPr/>
          <p:nvPr/>
        </p:nvSpPr>
        <p:spPr>
          <a:xfrm>
            <a:off x="365760" y="3108960"/>
            <a:ext cx="2743200" cy="54864"/>
          </a:xfrm>
          <a:prstGeom prst="rect"/>
          <a:solidFill>
            <a:srgbClr val="111111"/>
          </a:solidFill>
        </p:spPr>
      </p:sp>
      <p:sp>
        <p:nvSpPr>
          <p:cNvPr id="1048741" name="Text 22"/>
          <p:cNvSpPr/>
          <p:nvPr/>
        </p:nvSpPr>
        <p:spPr>
          <a:xfrm>
            <a:off x="502920" y="3246120"/>
            <a:ext cx="2468880" cy="45720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+38%</a:t>
            </a:r>
            <a:endParaRPr dirty="0" sz="3000" lang="en-US"/>
          </a:p>
        </p:txBody>
      </p:sp>
      <p:sp>
        <p:nvSpPr>
          <p:cNvPr id="1048742" name="Text 23"/>
          <p:cNvSpPr/>
          <p:nvPr/>
        </p:nvSpPr>
        <p:spPr>
          <a:xfrm>
            <a:off x="502920" y="3749040"/>
            <a:ext cx="2468880" cy="274320"/>
          </a:xfrm>
          <a:prstGeom prst="rect"/>
          <a:noFill/>
        </p:spPr>
        <p:txBody>
          <a:bodyPr anchor="ctr" bIns="0" lIns="0" rIns="0" rtlCol="0" tIns="0" wrap="square"/>
          <a:p>
            <a:pPr indent="0" marL="0">
              <a:buNone/>
            </a:pPr>
            <a:r>
              <a:rPr b="1" dirty="0" sz="1200" lang="en-US">
                <a:solidFill>
                  <a:srgbClr val="111111"/>
                </a:solidFill>
                <a:latin typeface="Arial" pitchFamily="34" charset="0"/>
                <a:ea typeface="Arial" pitchFamily="34" charset="-122"/>
                <a:cs typeface="Arial" pitchFamily="34" charset="-120"/>
              </a:rPr>
              <a:t>UGC Reposts</a:t>
            </a:r>
            <a:endParaRPr dirty="0" sz="1200" lang="en-US"/>
          </a:p>
        </p:txBody>
      </p:sp>
      <p:sp>
        <p:nvSpPr>
          <p:cNvPr id="1048743" name="Text 24"/>
          <p:cNvSpPr/>
          <p:nvPr/>
        </p:nvSpPr>
        <p:spPr>
          <a:xfrm>
            <a:off x="502920" y="4023360"/>
            <a:ext cx="2468880" cy="45720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Average engagement lift when fans tag H&amp;M Egypt</a:t>
            </a:r>
            <a:endParaRPr dirty="0" sz="900" lang="en-US"/>
          </a:p>
        </p:txBody>
      </p:sp>
      <p:sp>
        <p:nvSpPr>
          <p:cNvPr id="1048744" name="Shape 25"/>
          <p:cNvSpPr/>
          <p:nvPr/>
        </p:nvSpPr>
        <p:spPr>
          <a:xfrm>
            <a:off x="3200400" y="3108960"/>
            <a:ext cx="2743200" cy="1417320"/>
          </a:xfrm>
          <a:prstGeom prst="rect"/>
          <a:solidFill>
            <a:srgbClr val="FFFFFF"/>
          </a:solidFill>
          <a:ln w="12700">
            <a:solidFill>
              <a:srgbClr val="E5E5E5"/>
            </a:solidFill>
            <a:prstDash val="solid"/>
          </a:ln>
        </p:spPr>
      </p:sp>
      <p:sp>
        <p:nvSpPr>
          <p:cNvPr id="1048745" name="Shape 26"/>
          <p:cNvSpPr/>
          <p:nvPr/>
        </p:nvSpPr>
        <p:spPr>
          <a:xfrm>
            <a:off x="3200400" y="3108960"/>
            <a:ext cx="2743200" cy="54864"/>
          </a:xfrm>
          <a:prstGeom prst="rect"/>
          <a:solidFill>
            <a:srgbClr val="E50010"/>
          </a:solidFill>
        </p:spPr>
      </p:sp>
      <p:sp>
        <p:nvSpPr>
          <p:cNvPr id="1048746" name="Text 27"/>
          <p:cNvSpPr/>
          <p:nvPr/>
        </p:nvSpPr>
        <p:spPr>
          <a:xfrm>
            <a:off x="3337560" y="3246120"/>
            <a:ext cx="2468880" cy="457200"/>
          </a:xfrm>
          <a:prstGeom prst="rect"/>
          <a:noFill/>
        </p:spPr>
        <p:txBody>
          <a:bodyPr anchor="ctr" bIns="0" lIns="0" rIns="0" rtlCol="0" tIns="0" wrap="square"/>
          <a:p>
            <a:pPr indent="0" marL="0">
              <a:buNone/>
            </a:pPr>
            <a:r>
              <a:rPr b="1" dirty="0" sz="3000" lang="en-US">
                <a:solidFill>
                  <a:srgbClr val="E50010"/>
                </a:solidFill>
                <a:latin typeface="Arial" pitchFamily="34" charset="0"/>
                <a:ea typeface="Arial" pitchFamily="34" charset="-122"/>
                <a:cs typeface="Arial" pitchFamily="34" charset="-120"/>
              </a:rPr>
              <a:t>60%</a:t>
            </a:r>
            <a:endParaRPr dirty="0" sz="3000" lang="en-US"/>
          </a:p>
        </p:txBody>
      </p:sp>
      <p:sp>
        <p:nvSpPr>
          <p:cNvPr id="1048747" name="Text 28"/>
          <p:cNvSpPr/>
          <p:nvPr/>
        </p:nvSpPr>
        <p:spPr>
          <a:xfrm>
            <a:off x="3337560" y="3749040"/>
            <a:ext cx="2468880" cy="274320"/>
          </a:xfrm>
          <a:prstGeom prst="rect"/>
          <a:noFill/>
        </p:spPr>
        <p:txBody>
          <a:bodyPr anchor="ctr" bIns="0" lIns="0" rIns="0" rtlCol="0" tIns="0" wrap="square"/>
          <a:p>
            <a:pPr indent="0" marL="0">
              <a:buNone/>
            </a:pPr>
            <a:r>
              <a:rPr b="1" dirty="0" sz="1200" lang="en-US">
                <a:solidFill>
                  <a:srgbClr val="111111"/>
                </a:solidFill>
                <a:latin typeface="Arial" pitchFamily="34" charset="0"/>
                <a:ea typeface="Arial" pitchFamily="34" charset="-122"/>
                <a:cs typeface="Arial" pitchFamily="34" charset="-120"/>
              </a:rPr>
              <a:t>Stories + Polls</a:t>
            </a:r>
            <a:endParaRPr dirty="0" sz="1200" lang="en-US"/>
          </a:p>
        </p:txBody>
      </p:sp>
      <p:sp>
        <p:nvSpPr>
          <p:cNvPr id="1048748" name="Text 29"/>
          <p:cNvSpPr/>
          <p:nvPr/>
        </p:nvSpPr>
        <p:spPr>
          <a:xfrm>
            <a:off x="3337560" y="4023360"/>
            <a:ext cx="2468880" cy="45720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Of daily active reach comes from Stories</a:t>
            </a:r>
            <a:endParaRPr dirty="0" sz="900" lang="en-US"/>
          </a:p>
        </p:txBody>
      </p:sp>
      <p:sp>
        <p:nvSpPr>
          <p:cNvPr id="1048749" name="Shape 30"/>
          <p:cNvSpPr/>
          <p:nvPr/>
        </p:nvSpPr>
        <p:spPr>
          <a:xfrm>
            <a:off x="6035040" y="3108960"/>
            <a:ext cx="2743200" cy="1417320"/>
          </a:xfrm>
          <a:prstGeom prst="rect"/>
          <a:solidFill>
            <a:srgbClr val="FFFFFF"/>
          </a:solidFill>
          <a:ln w="12700">
            <a:solidFill>
              <a:srgbClr val="E5E5E5"/>
            </a:solidFill>
            <a:prstDash val="solid"/>
          </a:ln>
        </p:spPr>
      </p:sp>
      <p:sp>
        <p:nvSpPr>
          <p:cNvPr id="1048750" name="Shape 31"/>
          <p:cNvSpPr/>
          <p:nvPr/>
        </p:nvSpPr>
        <p:spPr>
          <a:xfrm>
            <a:off x="6035040" y="3108960"/>
            <a:ext cx="2743200" cy="54864"/>
          </a:xfrm>
          <a:prstGeom prst="rect"/>
          <a:solidFill>
            <a:srgbClr val="111111"/>
          </a:solidFill>
        </p:spPr>
      </p:sp>
      <p:sp>
        <p:nvSpPr>
          <p:cNvPr id="1048751" name="Text 32"/>
          <p:cNvSpPr/>
          <p:nvPr/>
        </p:nvSpPr>
        <p:spPr>
          <a:xfrm>
            <a:off x="6172200" y="3246120"/>
            <a:ext cx="2468880" cy="45720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5-7x</a:t>
            </a:r>
            <a:endParaRPr dirty="0" sz="3000" lang="en-US"/>
          </a:p>
        </p:txBody>
      </p:sp>
      <p:sp>
        <p:nvSpPr>
          <p:cNvPr id="1048752" name="Text 33"/>
          <p:cNvSpPr/>
          <p:nvPr/>
        </p:nvSpPr>
        <p:spPr>
          <a:xfrm>
            <a:off x="6172200" y="3749040"/>
            <a:ext cx="2468880" cy="274320"/>
          </a:xfrm>
          <a:prstGeom prst="rect"/>
          <a:noFill/>
        </p:spPr>
        <p:txBody>
          <a:bodyPr anchor="ctr" bIns="0" lIns="0" rIns="0" rtlCol="0" tIns="0" wrap="square"/>
          <a:p>
            <a:pPr indent="0" marL="0">
              <a:buNone/>
            </a:pPr>
            <a:r>
              <a:rPr b="1" dirty="0" sz="1200" lang="en-US">
                <a:solidFill>
                  <a:srgbClr val="111111"/>
                </a:solidFill>
                <a:latin typeface="Arial" pitchFamily="34" charset="0"/>
                <a:ea typeface="Arial" pitchFamily="34" charset="-122"/>
                <a:cs typeface="Arial" pitchFamily="34" charset="-120"/>
              </a:rPr>
              <a:t>Paid Meta Ads</a:t>
            </a:r>
            <a:endParaRPr dirty="0" sz="1200" lang="en-US"/>
          </a:p>
        </p:txBody>
      </p:sp>
      <p:sp>
        <p:nvSpPr>
          <p:cNvPr id="1048753" name="Text 34"/>
          <p:cNvSpPr/>
          <p:nvPr/>
        </p:nvSpPr>
        <p:spPr>
          <a:xfrm>
            <a:off x="6172200" y="4023360"/>
            <a:ext cx="2468880" cy="45720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ROAS on well-targeted lookalike audiences</a:t>
            </a:r>
            <a:endParaRPr dirty="0" sz="900" lang="en-US"/>
          </a:p>
        </p:txBody>
      </p:sp>
      <p:sp>
        <p:nvSpPr>
          <p:cNvPr id="1048754" name="Shape 35"/>
          <p:cNvSpPr/>
          <p:nvPr/>
        </p:nvSpPr>
        <p:spPr>
          <a:xfrm>
            <a:off x="365760" y="4526280"/>
            <a:ext cx="8412480" cy="292608"/>
          </a:xfrm>
          <a:prstGeom prst="rect"/>
          <a:solidFill>
            <a:srgbClr val="111111"/>
          </a:solidFill>
        </p:spPr>
      </p:sp>
      <p:sp>
        <p:nvSpPr>
          <p:cNvPr id="1048755" name="Text 36"/>
          <p:cNvSpPr/>
          <p:nvPr/>
        </p:nvSpPr>
        <p:spPr>
          <a:xfrm>
            <a:off x="502920" y="4526280"/>
            <a:ext cx="3657600" cy="292608"/>
          </a:xfrm>
          <a:prstGeom prst="rect"/>
          <a:noFill/>
        </p:spPr>
        <p:txBody>
          <a:bodyPr anchor="ctr" bIns="0" lIns="0" rIns="0" rtlCol="0" tIns="0" wrap="square"/>
          <a:p>
            <a:pPr indent="0" marL="0">
              <a:buNone/>
            </a:pPr>
            <a:r>
              <a:rPr b="1" dirty="0" sz="1000" kern="0" lang="en-US" spc="200">
                <a:solidFill>
                  <a:srgbClr val="FFFFFF"/>
                </a:solidFill>
                <a:latin typeface="Arial" pitchFamily="34" charset="0"/>
                <a:ea typeface="Arial" pitchFamily="34" charset="-122"/>
                <a:cs typeface="Arial" pitchFamily="34" charset="-120"/>
              </a:rPr>
              <a:t>H&amp;M EGYPT PRIORITY PLAYS</a:t>
            </a:r>
            <a:endParaRPr dirty="0" sz="1000" lang="en-US"/>
          </a:p>
        </p:txBody>
      </p:sp>
      <p:sp>
        <p:nvSpPr>
          <p:cNvPr id="1048756" name="Text 37"/>
          <p:cNvSpPr/>
          <p:nvPr/>
        </p:nvSpPr>
        <p:spPr>
          <a:xfrm>
            <a:off x="3200400" y="4526280"/>
            <a:ext cx="5486400" cy="292608"/>
          </a:xfrm>
          <a:prstGeom prst="rect"/>
          <a:noFill/>
        </p:spPr>
        <p:txBody>
          <a:bodyPr anchor="ctr" bIns="0" lIns="0" rIns="0" rtlCol="0" tIns="0" wrap="square"/>
          <a:p>
            <a:pPr indent="0" marL="0">
              <a:buNone/>
            </a:pPr>
            <a:r>
              <a:rPr dirty="0" sz="1000" lang="en-US">
                <a:solidFill>
                  <a:srgbClr val="FFFFFF"/>
                </a:solidFill>
                <a:latin typeface="Arial" pitchFamily="34" charset="0"/>
                <a:ea typeface="Arial" pitchFamily="34" charset="-122"/>
                <a:cs typeface="Arial" pitchFamily="34" charset="-120"/>
              </a:rPr>
              <a:t>Local Egyptian creators  |  Arabic Reels  |  Ramadan capsule  |  White Friday countdown  |  Back-to-School  |  COD-first ads</a:t>
            </a:r>
            <a:endParaRPr dirty="0" sz="1000" lang="en-US"/>
          </a:p>
        </p:txBody>
      </p:sp>
      <p:sp>
        <p:nvSpPr>
          <p:cNvPr id="1048757" name="Text 38"/>
          <p:cNvSpPr/>
          <p:nvPr/>
        </p:nvSpPr>
        <p:spPr>
          <a:xfrm>
            <a:off x="8503920" y="4663440"/>
            <a:ext cx="457200" cy="27432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06</a:t>
            </a:r>
            <a:endParaRPr dirty="0" sz="10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34" name=""/>
        <p:cNvGrpSpPr/>
        <p:nvPr/>
      </p:nvGrpSpPr>
      <p:grpSpPr>
        <a:xfrm>
          <a:off x="0" y="0"/>
          <a:ext cx="0" cy="0"/>
          <a:chOff x="0" y="0"/>
          <a:chExt cx="0" cy="0"/>
        </a:xfrm>
      </p:grpSpPr>
      <p:sp>
        <p:nvSpPr>
          <p:cNvPr id="1048761" name="Shape 0"/>
          <p:cNvSpPr/>
          <p:nvPr/>
        </p:nvSpPr>
        <p:spPr>
          <a:xfrm>
            <a:off x="0" y="0"/>
            <a:ext cx="9144000" cy="502920"/>
          </a:xfrm>
          <a:prstGeom prst="rect"/>
          <a:solidFill>
            <a:srgbClr val="111111"/>
          </a:solidFill>
        </p:spPr>
      </p:sp>
      <p:sp>
        <p:nvSpPr>
          <p:cNvPr id="1048762" name="Text 1"/>
          <p:cNvSpPr/>
          <p:nvPr/>
        </p:nvSpPr>
        <p:spPr>
          <a:xfrm>
            <a:off x="365760" y="0"/>
            <a:ext cx="5486400" cy="502920"/>
          </a:xfrm>
          <a:prstGeom prst="rect"/>
          <a:noFill/>
        </p:spPr>
        <p:txBody>
          <a:bodyPr anchor="ctr" bIns="0" lIns="0" rIns="0" rtlCol="0" tIns="0" wrap="square"/>
          <a:p>
            <a:pPr indent="0" marL="0">
              <a:buNone/>
            </a:pPr>
            <a:r>
              <a:rPr b="1" dirty="0" sz="1000" kern="0" lang="en-US" spc="300">
                <a:solidFill>
                  <a:srgbClr val="FFFFFF"/>
                </a:solidFill>
                <a:latin typeface="Arial" pitchFamily="34" charset="0"/>
                <a:ea typeface="Arial" pitchFamily="34" charset="-122"/>
                <a:cs typeface="Arial" pitchFamily="34" charset="-120"/>
              </a:rPr>
              <a:t>H&amp;M EGYPT  |  DIGITAL SITUATION ANALYSIS</a:t>
            </a:r>
            <a:endParaRPr dirty="0" sz="1000" lang="en-US"/>
          </a:p>
        </p:txBody>
      </p:sp>
      <p:sp>
        <p:nvSpPr>
          <p:cNvPr id="1048763" name="Text 2"/>
          <p:cNvSpPr/>
          <p:nvPr/>
        </p:nvSpPr>
        <p:spPr>
          <a:xfrm>
            <a:off x="4572000" y="0"/>
            <a:ext cx="4206240" cy="502920"/>
          </a:xfrm>
          <a:prstGeom prst="rect"/>
          <a:noFill/>
        </p:spPr>
        <p:txBody>
          <a:bodyPr anchor="ctr" bIns="0" lIns="0" rIns="0" rtlCol="0" tIns="0" wrap="square"/>
          <a:p>
            <a:pPr algn="r" indent="0" marL="0">
              <a:buNone/>
            </a:pPr>
            <a:r>
              <a:rPr b="1" dirty="0" sz="1000" kern="0" lang="en-US" spc="200">
                <a:solidFill>
                  <a:srgbClr val="FFFFFF"/>
                </a:solidFill>
                <a:latin typeface="Arial" pitchFamily="34" charset="0"/>
                <a:ea typeface="Arial" pitchFamily="34" charset="-122"/>
                <a:cs typeface="Arial" pitchFamily="34" charset="-120"/>
              </a:rPr>
              <a:t>06 - PESTLE Analysis (Digital Marketing Lens)</a:t>
            </a:r>
            <a:endParaRPr dirty="0" sz="1000" lang="en-US"/>
          </a:p>
        </p:txBody>
      </p:sp>
      <p:sp>
        <p:nvSpPr>
          <p:cNvPr id="1048764" name="Text 3"/>
          <p:cNvSpPr/>
          <p:nvPr/>
        </p:nvSpPr>
        <p:spPr>
          <a:xfrm>
            <a:off x="365760" y="685800"/>
            <a:ext cx="8412480" cy="50292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PESTLE Analysis</a:t>
            </a:r>
            <a:endParaRPr dirty="0" sz="3000" lang="en-US"/>
          </a:p>
        </p:txBody>
      </p:sp>
      <p:sp>
        <p:nvSpPr>
          <p:cNvPr id="1048765" name="Text 4"/>
          <p:cNvSpPr/>
          <p:nvPr/>
        </p:nvSpPr>
        <p:spPr>
          <a:xfrm>
            <a:off x="365760" y="1188720"/>
            <a:ext cx="8412480" cy="274320"/>
          </a:xfrm>
          <a:prstGeom prst="rect"/>
          <a:noFill/>
        </p:spPr>
        <p:txBody>
          <a:bodyPr anchor="ctr" bIns="0" lIns="0" rIns="0" rtlCol="0" tIns="0" wrap="square"/>
          <a:p>
            <a:pPr indent="0" marL="0">
              <a:buNone/>
            </a:pPr>
            <a:r>
              <a:rPr dirty="0" sz="1300" i="1" lang="en-US">
                <a:solidFill>
                  <a:srgbClr val="6B6B6B"/>
                </a:solidFill>
                <a:latin typeface="Arial" pitchFamily="34" charset="0"/>
                <a:ea typeface="Arial" pitchFamily="34" charset="-122"/>
                <a:cs typeface="Arial" pitchFamily="34" charset="-120"/>
              </a:rPr>
              <a:t>External factors shaping H&amp;M Egypt digital marketing in 2024-2025</a:t>
            </a:r>
            <a:endParaRPr dirty="0" sz="1300" lang="en-US"/>
          </a:p>
        </p:txBody>
      </p:sp>
      <p:sp>
        <p:nvSpPr>
          <p:cNvPr id="1048766" name="Shape 5"/>
          <p:cNvSpPr/>
          <p:nvPr/>
        </p:nvSpPr>
        <p:spPr>
          <a:xfrm>
            <a:off x="365760" y="1554480"/>
            <a:ext cx="2743200" cy="1417320"/>
          </a:xfrm>
          <a:prstGeom prst="rect"/>
          <a:solidFill>
            <a:srgbClr val="F5F5F5"/>
          </a:solidFill>
        </p:spPr>
      </p:sp>
      <p:sp>
        <p:nvSpPr>
          <p:cNvPr id="1048767" name="Shape 6"/>
          <p:cNvSpPr/>
          <p:nvPr/>
        </p:nvSpPr>
        <p:spPr>
          <a:xfrm>
            <a:off x="365760" y="1554480"/>
            <a:ext cx="502920" cy="1417320"/>
          </a:xfrm>
          <a:prstGeom prst="rect"/>
          <a:solidFill>
            <a:srgbClr val="E50010"/>
          </a:solidFill>
        </p:spPr>
      </p:sp>
      <p:sp>
        <p:nvSpPr>
          <p:cNvPr id="1048768" name="Text 7"/>
          <p:cNvSpPr/>
          <p:nvPr/>
        </p:nvSpPr>
        <p:spPr>
          <a:xfrm>
            <a:off x="365760" y="1554480"/>
            <a:ext cx="502920" cy="1417320"/>
          </a:xfrm>
          <a:prstGeom prst="rect"/>
          <a:noFill/>
        </p:spPr>
        <p:txBody>
          <a:bodyPr anchor="ctr" bIns="0" lIns="0" rIns="0" rtlCol="0" tIns="0" wrap="square"/>
          <a:p>
            <a:pPr algn="ctr" indent="0" marL="0">
              <a:buNone/>
            </a:pPr>
            <a:r>
              <a:rPr b="1" dirty="0" sz="3800" lang="en-US">
                <a:solidFill>
                  <a:srgbClr val="FFFFFF"/>
                </a:solidFill>
                <a:latin typeface="Arial" pitchFamily="34" charset="0"/>
                <a:ea typeface="Arial" pitchFamily="34" charset="-122"/>
                <a:cs typeface="Arial" pitchFamily="34" charset="-120"/>
              </a:rPr>
              <a:t>P</a:t>
            </a:r>
            <a:endParaRPr dirty="0" sz="3800" lang="en-US"/>
          </a:p>
        </p:txBody>
      </p:sp>
      <p:sp>
        <p:nvSpPr>
          <p:cNvPr id="1048769" name="Text 8"/>
          <p:cNvSpPr/>
          <p:nvPr/>
        </p:nvSpPr>
        <p:spPr>
          <a:xfrm>
            <a:off x="960120" y="1645920"/>
            <a:ext cx="2057400" cy="274320"/>
          </a:xfrm>
          <a:prstGeom prst="rect"/>
          <a:noFill/>
        </p:spPr>
        <p:txBody>
          <a:bodyPr anchor="ctr" bIns="0" lIns="0" rIns="0" rtlCol="0" tIns="0" wrap="square"/>
          <a:p>
            <a:pPr indent="0" marL="0">
              <a:buNone/>
            </a:pPr>
            <a:r>
              <a:rPr b="1" dirty="0" sz="1400" lang="en-US">
                <a:solidFill>
                  <a:srgbClr val="111111"/>
                </a:solidFill>
                <a:latin typeface="Arial" pitchFamily="34" charset="0"/>
                <a:ea typeface="Arial" pitchFamily="34" charset="-122"/>
                <a:cs typeface="Arial" pitchFamily="34" charset="-120"/>
              </a:rPr>
              <a:t>Political</a:t>
            </a:r>
            <a:endParaRPr dirty="0" sz="1400" lang="en-US"/>
          </a:p>
        </p:txBody>
      </p:sp>
      <p:sp>
        <p:nvSpPr>
          <p:cNvPr id="1048770" name="Shape 9"/>
          <p:cNvSpPr/>
          <p:nvPr/>
        </p:nvSpPr>
        <p:spPr>
          <a:xfrm>
            <a:off x="960120" y="1938528"/>
            <a:ext cx="365760" cy="27432"/>
          </a:xfrm>
          <a:prstGeom prst="rect"/>
          <a:solidFill>
            <a:srgbClr val="E50010"/>
          </a:solidFill>
        </p:spPr>
      </p:sp>
      <p:sp>
        <p:nvSpPr>
          <p:cNvPr id="1048771" name="Text 10"/>
          <p:cNvSpPr/>
          <p:nvPr/>
        </p:nvSpPr>
        <p:spPr>
          <a:xfrm>
            <a:off x="960120" y="2011680"/>
            <a:ext cx="2057400" cy="914400"/>
          </a:xfrm>
          <a:prstGeom prst="rect"/>
          <a:noFill/>
        </p:spPr>
        <p:txBody>
          <a:bodyPr anchor="t" bIns="0" lIns="0" rIns="0" rtlCol="0" tIns="0" wrap="square"/>
          <a:p>
            <a:pPr indent="-342900" marL="342900">
              <a:spcAft>
                <a:spcPts val="200"/>
              </a:spcAft>
              <a:buSzPct val="100000"/>
              <a:buChar char="■"/>
            </a:pPr>
            <a:r>
              <a:rPr dirty="0" sz="850" lang="en-US">
                <a:solidFill>
                  <a:srgbClr val="111111"/>
                </a:solidFill>
              </a:rPr>
              <a:t>Stable pro-business reforms in Egypt</a:t>
            </a:r>
            <a:endParaRPr dirty="0" sz="850" lang="en-US"/>
          </a:p>
          <a:p>
            <a:pPr indent="-342900" marL="342900">
              <a:spcAft>
                <a:spcPts val="200"/>
              </a:spcAft>
              <a:buSzPct val="100000"/>
              <a:buChar char="■"/>
            </a:pPr>
            <a:r>
              <a:rPr dirty="0" sz="850" lang="en-US">
                <a:solidFill>
                  <a:srgbClr val="111111"/>
                </a:solidFill>
              </a:rPr>
              <a:t>MCIT digital strategy 2024-2030</a:t>
            </a:r>
            <a:endParaRPr dirty="0" sz="850" lang="en-US"/>
          </a:p>
          <a:p>
            <a:pPr indent="-342900" marL="342900">
              <a:spcAft>
                <a:spcPts val="200"/>
              </a:spcAft>
              <a:buSzPct val="100000"/>
              <a:buChar char="■"/>
            </a:pPr>
            <a:r>
              <a:rPr dirty="0" sz="850" lang="en-US">
                <a:solidFill>
                  <a:srgbClr val="111111"/>
                </a:solidFill>
              </a:rPr>
              <a:t>Cross-border e-commerce rules tightening</a:t>
            </a:r>
            <a:endParaRPr dirty="0" sz="850" lang="en-US"/>
          </a:p>
        </p:txBody>
      </p:sp>
      <p:sp>
        <p:nvSpPr>
          <p:cNvPr id="1048772" name="Shape 11"/>
          <p:cNvSpPr/>
          <p:nvPr/>
        </p:nvSpPr>
        <p:spPr>
          <a:xfrm>
            <a:off x="3200400" y="1554480"/>
            <a:ext cx="2743200" cy="1417320"/>
          </a:xfrm>
          <a:prstGeom prst="rect"/>
          <a:solidFill>
            <a:srgbClr val="F5F5F5"/>
          </a:solidFill>
        </p:spPr>
      </p:sp>
      <p:sp>
        <p:nvSpPr>
          <p:cNvPr id="1048773" name="Shape 12"/>
          <p:cNvSpPr/>
          <p:nvPr/>
        </p:nvSpPr>
        <p:spPr>
          <a:xfrm>
            <a:off x="3200400" y="1554480"/>
            <a:ext cx="502920" cy="1417320"/>
          </a:xfrm>
          <a:prstGeom prst="rect"/>
          <a:solidFill>
            <a:srgbClr val="E50010"/>
          </a:solidFill>
        </p:spPr>
      </p:sp>
      <p:sp>
        <p:nvSpPr>
          <p:cNvPr id="1048774" name="Text 13"/>
          <p:cNvSpPr/>
          <p:nvPr/>
        </p:nvSpPr>
        <p:spPr>
          <a:xfrm>
            <a:off x="3200400" y="1554480"/>
            <a:ext cx="502920" cy="1417320"/>
          </a:xfrm>
          <a:prstGeom prst="rect"/>
          <a:noFill/>
        </p:spPr>
        <p:txBody>
          <a:bodyPr anchor="ctr" bIns="0" lIns="0" rIns="0" rtlCol="0" tIns="0" wrap="square"/>
          <a:p>
            <a:pPr algn="ctr" indent="0" marL="0">
              <a:buNone/>
            </a:pPr>
            <a:r>
              <a:rPr b="1" dirty="0" sz="3800" lang="en-US">
                <a:solidFill>
                  <a:srgbClr val="FFFFFF"/>
                </a:solidFill>
                <a:latin typeface="Arial" pitchFamily="34" charset="0"/>
                <a:ea typeface="Arial" pitchFamily="34" charset="-122"/>
                <a:cs typeface="Arial" pitchFamily="34" charset="-120"/>
              </a:rPr>
              <a:t>E</a:t>
            </a:r>
            <a:endParaRPr dirty="0" sz="3800" lang="en-US"/>
          </a:p>
        </p:txBody>
      </p:sp>
      <p:sp>
        <p:nvSpPr>
          <p:cNvPr id="1048775" name="Text 14"/>
          <p:cNvSpPr/>
          <p:nvPr/>
        </p:nvSpPr>
        <p:spPr>
          <a:xfrm>
            <a:off x="3794760" y="1645920"/>
            <a:ext cx="2057400" cy="274320"/>
          </a:xfrm>
          <a:prstGeom prst="rect"/>
          <a:noFill/>
        </p:spPr>
        <p:txBody>
          <a:bodyPr anchor="ctr" bIns="0" lIns="0" rIns="0" rtlCol="0" tIns="0" wrap="square"/>
          <a:p>
            <a:pPr indent="0" marL="0">
              <a:buNone/>
            </a:pPr>
            <a:r>
              <a:rPr b="1" dirty="0" sz="1400" lang="en-US">
                <a:solidFill>
                  <a:srgbClr val="111111"/>
                </a:solidFill>
                <a:latin typeface="Arial" pitchFamily="34" charset="0"/>
                <a:ea typeface="Arial" pitchFamily="34" charset="-122"/>
                <a:cs typeface="Arial" pitchFamily="34" charset="-120"/>
              </a:rPr>
              <a:t>Economic</a:t>
            </a:r>
            <a:endParaRPr dirty="0" sz="1400" lang="en-US"/>
          </a:p>
        </p:txBody>
      </p:sp>
      <p:sp>
        <p:nvSpPr>
          <p:cNvPr id="1048776" name="Shape 15"/>
          <p:cNvSpPr/>
          <p:nvPr/>
        </p:nvSpPr>
        <p:spPr>
          <a:xfrm>
            <a:off x="3794760" y="1938528"/>
            <a:ext cx="365760" cy="27432"/>
          </a:xfrm>
          <a:prstGeom prst="rect"/>
          <a:solidFill>
            <a:srgbClr val="E50010"/>
          </a:solidFill>
        </p:spPr>
      </p:sp>
      <p:sp>
        <p:nvSpPr>
          <p:cNvPr id="1048777" name="Text 16"/>
          <p:cNvSpPr/>
          <p:nvPr/>
        </p:nvSpPr>
        <p:spPr>
          <a:xfrm>
            <a:off x="3794760" y="2011680"/>
            <a:ext cx="2057400" cy="914400"/>
          </a:xfrm>
          <a:prstGeom prst="rect"/>
          <a:noFill/>
        </p:spPr>
        <p:txBody>
          <a:bodyPr anchor="t" bIns="0" lIns="0" rIns="0" rtlCol="0" tIns="0" wrap="square"/>
          <a:p>
            <a:pPr indent="-342900" marL="342900">
              <a:spcAft>
                <a:spcPts val="200"/>
              </a:spcAft>
              <a:buSzPct val="100000"/>
              <a:buChar char="■"/>
            </a:pPr>
            <a:r>
              <a:rPr dirty="0" sz="850" lang="en-US">
                <a:solidFill>
                  <a:srgbClr val="111111"/>
                </a:solidFill>
              </a:rPr>
              <a:t>EGP devaluation drives imported prices</a:t>
            </a:r>
            <a:endParaRPr dirty="0" sz="850" lang="en-US"/>
          </a:p>
          <a:p>
            <a:pPr indent="-342900" marL="342900">
              <a:spcAft>
                <a:spcPts val="200"/>
              </a:spcAft>
              <a:buSzPct val="100000"/>
              <a:buChar char="■"/>
            </a:pPr>
            <a:r>
              <a:rPr dirty="0" sz="850" lang="en-US">
                <a:solidFill>
                  <a:srgbClr val="111111"/>
                </a:solidFill>
              </a:rPr>
              <a:t>Consumer credit up sharply (CBE)</a:t>
            </a:r>
            <a:endParaRPr dirty="0" sz="850" lang="en-US"/>
          </a:p>
          <a:p>
            <a:pPr indent="-342900" marL="342900">
              <a:spcAft>
                <a:spcPts val="200"/>
              </a:spcAft>
              <a:buSzPct val="100000"/>
              <a:buChar char="■"/>
            </a:pPr>
            <a:r>
              <a:rPr dirty="0" sz="850" lang="en-US">
                <a:solidFill>
                  <a:srgbClr val="111111"/>
                </a:solidFill>
              </a:rPr>
              <a:t>E-commerce CAGR ~10-12% to 2028</a:t>
            </a:r>
            <a:endParaRPr dirty="0" sz="850" lang="en-US"/>
          </a:p>
        </p:txBody>
      </p:sp>
      <p:sp>
        <p:nvSpPr>
          <p:cNvPr id="1048778" name="Shape 17"/>
          <p:cNvSpPr/>
          <p:nvPr/>
        </p:nvSpPr>
        <p:spPr>
          <a:xfrm>
            <a:off x="6035040" y="1554480"/>
            <a:ext cx="2743200" cy="1417320"/>
          </a:xfrm>
          <a:prstGeom prst="rect"/>
          <a:solidFill>
            <a:srgbClr val="F5F5F5"/>
          </a:solidFill>
        </p:spPr>
      </p:sp>
      <p:sp>
        <p:nvSpPr>
          <p:cNvPr id="1048779" name="Shape 18"/>
          <p:cNvSpPr/>
          <p:nvPr/>
        </p:nvSpPr>
        <p:spPr>
          <a:xfrm>
            <a:off x="6035040" y="1554480"/>
            <a:ext cx="502920" cy="1417320"/>
          </a:xfrm>
          <a:prstGeom prst="rect"/>
          <a:solidFill>
            <a:srgbClr val="E50010"/>
          </a:solidFill>
        </p:spPr>
      </p:sp>
      <p:sp>
        <p:nvSpPr>
          <p:cNvPr id="1048780" name="Text 19"/>
          <p:cNvSpPr/>
          <p:nvPr/>
        </p:nvSpPr>
        <p:spPr>
          <a:xfrm>
            <a:off x="6035040" y="1554480"/>
            <a:ext cx="502920" cy="1417320"/>
          </a:xfrm>
          <a:prstGeom prst="rect"/>
          <a:noFill/>
        </p:spPr>
        <p:txBody>
          <a:bodyPr anchor="ctr" bIns="0" lIns="0" rIns="0" rtlCol="0" tIns="0" wrap="square"/>
          <a:p>
            <a:pPr algn="ctr" indent="0" marL="0">
              <a:buNone/>
            </a:pPr>
            <a:r>
              <a:rPr b="1" dirty="0" sz="3800" lang="en-US">
                <a:solidFill>
                  <a:srgbClr val="FFFFFF"/>
                </a:solidFill>
                <a:latin typeface="Arial" pitchFamily="34" charset="0"/>
                <a:ea typeface="Arial" pitchFamily="34" charset="-122"/>
                <a:cs typeface="Arial" pitchFamily="34" charset="-120"/>
              </a:rPr>
              <a:t>S</a:t>
            </a:r>
            <a:endParaRPr dirty="0" sz="3800" lang="en-US"/>
          </a:p>
        </p:txBody>
      </p:sp>
      <p:sp>
        <p:nvSpPr>
          <p:cNvPr id="1048781" name="Text 20"/>
          <p:cNvSpPr/>
          <p:nvPr/>
        </p:nvSpPr>
        <p:spPr>
          <a:xfrm>
            <a:off x="6629400" y="1645920"/>
            <a:ext cx="2057400" cy="274320"/>
          </a:xfrm>
          <a:prstGeom prst="rect"/>
          <a:noFill/>
        </p:spPr>
        <p:txBody>
          <a:bodyPr anchor="ctr" bIns="0" lIns="0" rIns="0" rtlCol="0" tIns="0" wrap="square"/>
          <a:p>
            <a:pPr indent="0" marL="0">
              <a:buNone/>
            </a:pPr>
            <a:r>
              <a:rPr b="1" dirty="0" sz="1400" lang="en-US">
                <a:solidFill>
                  <a:srgbClr val="111111"/>
                </a:solidFill>
                <a:latin typeface="Arial" pitchFamily="34" charset="0"/>
                <a:ea typeface="Arial" pitchFamily="34" charset="-122"/>
                <a:cs typeface="Arial" pitchFamily="34" charset="-120"/>
              </a:rPr>
              <a:t>Social</a:t>
            </a:r>
            <a:endParaRPr dirty="0" sz="1400" lang="en-US"/>
          </a:p>
        </p:txBody>
      </p:sp>
      <p:sp>
        <p:nvSpPr>
          <p:cNvPr id="1048782" name="Shape 21"/>
          <p:cNvSpPr/>
          <p:nvPr/>
        </p:nvSpPr>
        <p:spPr>
          <a:xfrm>
            <a:off x="6629400" y="1938528"/>
            <a:ext cx="365760" cy="27432"/>
          </a:xfrm>
          <a:prstGeom prst="rect"/>
          <a:solidFill>
            <a:srgbClr val="E50010"/>
          </a:solidFill>
        </p:spPr>
      </p:sp>
      <p:sp>
        <p:nvSpPr>
          <p:cNvPr id="1048783" name="Text 22"/>
          <p:cNvSpPr/>
          <p:nvPr/>
        </p:nvSpPr>
        <p:spPr>
          <a:xfrm>
            <a:off x="6629400" y="2011680"/>
            <a:ext cx="2057400" cy="914400"/>
          </a:xfrm>
          <a:prstGeom prst="rect"/>
          <a:noFill/>
        </p:spPr>
        <p:txBody>
          <a:bodyPr anchor="t" bIns="0" lIns="0" rIns="0" rtlCol="0" tIns="0" wrap="square"/>
          <a:p>
            <a:pPr indent="-342900" marL="342900">
              <a:spcAft>
                <a:spcPts val="200"/>
              </a:spcAft>
              <a:buSzPct val="100000"/>
              <a:buChar char="■"/>
            </a:pPr>
            <a:r>
              <a:rPr dirty="0" sz="850" lang="en-US">
                <a:solidFill>
                  <a:srgbClr val="111111"/>
                </a:solidFill>
              </a:rPr>
              <a:t>117M population, 41% under 20</a:t>
            </a:r>
            <a:endParaRPr dirty="0" sz="850" lang="en-US"/>
          </a:p>
          <a:p>
            <a:pPr indent="-342900" marL="342900">
              <a:spcAft>
                <a:spcPts val="200"/>
              </a:spcAft>
              <a:buSzPct val="100000"/>
              <a:buChar char="■"/>
            </a:pPr>
            <a:r>
              <a:rPr dirty="0" sz="850" lang="en-US">
                <a:solidFill>
                  <a:srgbClr val="111111"/>
                </a:solidFill>
              </a:rPr>
              <a:t>Female social audience at 41.5%</a:t>
            </a:r>
            <a:endParaRPr dirty="0" sz="850" lang="en-US"/>
          </a:p>
          <a:p>
            <a:pPr indent="-342900" marL="342900">
              <a:spcAft>
                <a:spcPts val="200"/>
              </a:spcAft>
              <a:buSzPct val="100000"/>
              <a:buChar char="■"/>
            </a:pPr>
            <a:r>
              <a:rPr dirty="0" sz="850" lang="en-US">
                <a:solidFill>
                  <a:srgbClr val="111111"/>
                </a:solidFill>
              </a:rPr>
              <a:t>Urban-rural digital gap of 21pp</a:t>
            </a:r>
            <a:endParaRPr dirty="0" sz="850" lang="en-US"/>
          </a:p>
        </p:txBody>
      </p:sp>
      <p:sp>
        <p:nvSpPr>
          <p:cNvPr id="1048784" name="Shape 23"/>
          <p:cNvSpPr/>
          <p:nvPr/>
        </p:nvSpPr>
        <p:spPr>
          <a:xfrm>
            <a:off x="365760" y="3108960"/>
            <a:ext cx="2743200" cy="1417320"/>
          </a:xfrm>
          <a:prstGeom prst="rect"/>
          <a:solidFill>
            <a:srgbClr val="F5F5F5"/>
          </a:solidFill>
        </p:spPr>
      </p:sp>
      <p:sp>
        <p:nvSpPr>
          <p:cNvPr id="1048785" name="Shape 24"/>
          <p:cNvSpPr/>
          <p:nvPr/>
        </p:nvSpPr>
        <p:spPr>
          <a:xfrm>
            <a:off x="365760" y="3108960"/>
            <a:ext cx="502920" cy="1417320"/>
          </a:xfrm>
          <a:prstGeom prst="rect"/>
          <a:solidFill>
            <a:srgbClr val="E50010"/>
          </a:solidFill>
        </p:spPr>
      </p:sp>
      <p:sp>
        <p:nvSpPr>
          <p:cNvPr id="1048786" name="Text 25"/>
          <p:cNvSpPr/>
          <p:nvPr/>
        </p:nvSpPr>
        <p:spPr>
          <a:xfrm>
            <a:off x="365760" y="3108960"/>
            <a:ext cx="502920" cy="1417320"/>
          </a:xfrm>
          <a:prstGeom prst="rect"/>
          <a:noFill/>
        </p:spPr>
        <p:txBody>
          <a:bodyPr anchor="ctr" bIns="0" lIns="0" rIns="0" rtlCol="0" tIns="0" wrap="square"/>
          <a:p>
            <a:pPr algn="ctr" indent="0" marL="0">
              <a:buNone/>
            </a:pPr>
            <a:r>
              <a:rPr b="1" dirty="0" sz="3800" lang="en-US">
                <a:solidFill>
                  <a:srgbClr val="FFFFFF"/>
                </a:solidFill>
                <a:latin typeface="Arial" pitchFamily="34" charset="0"/>
                <a:ea typeface="Arial" pitchFamily="34" charset="-122"/>
                <a:cs typeface="Arial" pitchFamily="34" charset="-120"/>
              </a:rPr>
              <a:t>T</a:t>
            </a:r>
            <a:endParaRPr dirty="0" sz="3800" lang="en-US"/>
          </a:p>
        </p:txBody>
      </p:sp>
      <p:sp>
        <p:nvSpPr>
          <p:cNvPr id="1048787" name="Text 26"/>
          <p:cNvSpPr/>
          <p:nvPr/>
        </p:nvSpPr>
        <p:spPr>
          <a:xfrm>
            <a:off x="960120" y="3200400"/>
            <a:ext cx="2057400" cy="274320"/>
          </a:xfrm>
          <a:prstGeom prst="rect"/>
          <a:noFill/>
        </p:spPr>
        <p:txBody>
          <a:bodyPr anchor="ctr" bIns="0" lIns="0" rIns="0" rtlCol="0" tIns="0" wrap="square"/>
          <a:p>
            <a:pPr indent="0" marL="0">
              <a:buNone/>
            </a:pPr>
            <a:r>
              <a:rPr b="1" dirty="0" sz="1400" lang="en-US">
                <a:solidFill>
                  <a:srgbClr val="111111"/>
                </a:solidFill>
                <a:latin typeface="Arial" pitchFamily="34" charset="0"/>
                <a:ea typeface="Arial" pitchFamily="34" charset="-122"/>
                <a:cs typeface="Arial" pitchFamily="34" charset="-120"/>
              </a:rPr>
              <a:t>Technological</a:t>
            </a:r>
            <a:endParaRPr dirty="0" sz="1400" lang="en-US"/>
          </a:p>
        </p:txBody>
      </p:sp>
      <p:sp>
        <p:nvSpPr>
          <p:cNvPr id="1048788" name="Shape 27"/>
          <p:cNvSpPr/>
          <p:nvPr/>
        </p:nvSpPr>
        <p:spPr>
          <a:xfrm>
            <a:off x="960120" y="3493008"/>
            <a:ext cx="365760" cy="27432"/>
          </a:xfrm>
          <a:prstGeom prst="rect"/>
          <a:solidFill>
            <a:srgbClr val="E50010"/>
          </a:solidFill>
        </p:spPr>
      </p:sp>
      <p:sp>
        <p:nvSpPr>
          <p:cNvPr id="1048789" name="Text 28"/>
          <p:cNvSpPr/>
          <p:nvPr/>
        </p:nvSpPr>
        <p:spPr>
          <a:xfrm>
            <a:off x="960120" y="3566160"/>
            <a:ext cx="2057400" cy="914400"/>
          </a:xfrm>
          <a:prstGeom prst="rect"/>
          <a:noFill/>
        </p:spPr>
        <p:txBody>
          <a:bodyPr anchor="t" bIns="0" lIns="0" rIns="0" rtlCol="0" tIns="0" wrap="square"/>
          <a:p>
            <a:pPr indent="-342900" marL="342900">
              <a:spcAft>
                <a:spcPts val="200"/>
              </a:spcAft>
              <a:buSzPct val="100000"/>
              <a:buChar char="■"/>
            </a:pPr>
            <a:r>
              <a:rPr dirty="0" sz="850" lang="en-US">
                <a:solidFill>
                  <a:srgbClr val="111111"/>
                </a:solidFill>
              </a:rPr>
              <a:t>Mobile internet speed up to 24 Mbps</a:t>
            </a:r>
            <a:endParaRPr dirty="0" sz="850" lang="en-US"/>
          </a:p>
          <a:p>
            <a:pPr indent="-342900" marL="342900">
              <a:spcAft>
                <a:spcPts val="200"/>
              </a:spcAft>
              <a:buSzPct val="100000"/>
              <a:buChar char="■"/>
            </a:pPr>
            <a:r>
              <a:rPr dirty="0" sz="850" lang="en-US">
                <a:solidFill>
                  <a:srgbClr val="111111"/>
                </a:solidFill>
              </a:rPr>
              <a:t>Mobile-first UX is mandatory</a:t>
            </a:r>
            <a:endParaRPr dirty="0" sz="850" lang="en-US"/>
          </a:p>
          <a:p>
            <a:pPr indent="-342900" marL="342900">
              <a:spcAft>
                <a:spcPts val="200"/>
              </a:spcAft>
              <a:buSzPct val="100000"/>
              <a:buChar char="■"/>
            </a:pPr>
            <a:r>
              <a:rPr dirty="0" sz="850" lang="en-US">
                <a:solidFill>
                  <a:srgbClr val="111111"/>
                </a:solidFill>
              </a:rPr>
              <a:t>AI chatbots &amp; AR try-on in fashion</a:t>
            </a:r>
            <a:endParaRPr dirty="0" sz="850" lang="en-US"/>
          </a:p>
        </p:txBody>
      </p:sp>
      <p:sp>
        <p:nvSpPr>
          <p:cNvPr id="1048790" name="Shape 29"/>
          <p:cNvSpPr/>
          <p:nvPr/>
        </p:nvSpPr>
        <p:spPr>
          <a:xfrm>
            <a:off x="3200400" y="3108960"/>
            <a:ext cx="2743200" cy="1417320"/>
          </a:xfrm>
          <a:prstGeom prst="rect"/>
          <a:solidFill>
            <a:srgbClr val="F5F5F5"/>
          </a:solidFill>
        </p:spPr>
      </p:sp>
      <p:sp>
        <p:nvSpPr>
          <p:cNvPr id="1048791" name="Shape 30"/>
          <p:cNvSpPr/>
          <p:nvPr/>
        </p:nvSpPr>
        <p:spPr>
          <a:xfrm>
            <a:off x="3200400" y="3108960"/>
            <a:ext cx="502920" cy="1417320"/>
          </a:xfrm>
          <a:prstGeom prst="rect"/>
          <a:solidFill>
            <a:srgbClr val="E50010"/>
          </a:solidFill>
        </p:spPr>
      </p:sp>
      <p:sp>
        <p:nvSpPr>
          <p:cNvPr id="1048792" name="Text 31"/>
          <p:cNvSpPr/>
          <p:nvPr/>
        </p:nvSpPr>
        <p:spPr>
          <a:xfrm>
            <a:off x="3200400" y="3108960"/>
            <a:ext cx="502920" cy="1417320"/>
          </a:xfrm>
          <a:prstGeom prst="rect"/>
          <a:noFill/>
        </p:spPr>
        <p:txBody>
          <a:bodyPr anchor="ctr" bIns="0" lIns="0" rIns="0" rtlCol="0" tIns="0" wrap="square"/>
          <a:p>
            <a:pPr algn="ctr" indent="0" marL="0">
              <a:buNone/>
            </a:pPr>
            <a:r>
              <a:rPr b="1" dirty="0" sz="3800" lang="en-US">
                <a:solidFill>
                  <a:srgbClr val="FFFFFF"/>
                </a:solidFill>
                <a:latin typeface="Arial" pitchFamily="34" charset="0"/>
                <a:ea typeface="Arial" pitchFamily="34" charset="-122"/>
                <a:cs typeface="Arial" pitchFamily="34" charset="-120"/>
              </a:rPr>
              <a:t>L</a:t>
            </a:r>
            <a:endParaRPr dirty="0" sz="3800" lang="en-US"/>
          </a:p>
        </p:txBody>
      </p:sp>
      <p:sp>
        <p:nvSpPr>
          <p:cNvPr id="1048793" name="Text 32"/>
          <p:cNvSpPr/>
          <p:nvPr/>
        </p:nvSpPr>
        <p:spPr>
          <a:xfrm>
            <a:off x="3794760" y="3200400"/>
            <a:ext cx="2057400" cy="274320"/>
          </a:xfrm>
          <a:prstGeom prst="rect"/>
          <a:noFill/>
        </p:spPr>
        <p:txBody>
          <a:bodyPr anchor="ctr" bIns="0" lIns="0" rIns="0" rtlCol="0" tIns="0" wrap="square"/>
          <a:p>
            <a:pPr indent="0" marL="0">
              <a:buNone/>
            </a:pPr>
            <a:r>
              <a:rPr b="1" dirty="0" sz="1400" lang="en-US">
                <a:solidFill>
                  <a:srgbClr val="111111"/>
                </a:solidFill>
                <a:latin typeface="Arial" pitchFamily="34" charset="0"/>
                <a:ea typeface="Arial" pitchFamily="34" charset="-122"/>
                <a:cs typeface="Arial" pitchFamily="34" charset="-120"/>
              </a:rPr>
              <a:t>Legal</a:t>
            </a:r>
            <a:endParaRPr dirty="0" sz="1400" lang="en-US"/>
          </a:p>
        </p:txBody>
      </p:sp>
      <p:sp>
        <p:nvSpPr>
          <p:cNvPr id="1048794" name="Shape 33"/>
          <p:cNvSpPr/>
          <p:nvPr/>
        </p:nvSpPr>
        <p:spPr>
          <a:xfrm>
            <a:off x="3794760" y="3493008"/>
            <a:ext cx="365760" cy="27432"/>
          </a:xfrm>
          <a:prstGeom prst="rect"/>
          <a:solidFill>
            <a:srgbClr val="E50010"/>
          </a:solidFill>
        </p:spPr>
      </p:sp>
      <p:sp>
        <p:nvSpPr>
          <p:cNvPr id="1048795" name="Text 34"/>
          <p:cNvSpPr/>
          <p:nvPr/>
        </p:nvSpPr>
        <p:spPr>
          <a:xfrm>
            <a:off x="3794760" y="3566160"/>
            <a:ext cx="2057400" cy="914400"/>
          </a:xfrm>
          <a:prstGeom prst="rect"/>
          <a:noFill/>
        </p:spPr>
        <p:txBody>
          <a:bodyPr anchor="t" bIns="0" lIns="0" rIns="0" rtlCol="0" tIns="0" wrap="square"/>
          <a:p>
            <a:pPr indent="-342900" marL="342900">
              <a:spcAft>
                <a:spcPts val="200"/>
              </a:spcAft>
              <a:buSzPct val="100000"/>
              <a:buChar char="■"/>
            </a:pPr>
            <a:r>
              <a:rPr dirty="0" sz="850" lang="en-US">
                <a:solidFill>
                  <a:srgbClr val="111111"/>
                </a:solidFill>
              </a:rPr>
              <a:t>Egypt Personal Data Protection Law</a:t>
            </a:r>
            <a:endParaRPr dirty="0" sz="850" lang="en-US"/>
          </a:p>
          <a:p>
            <a:pPr indent="-342900" marL="342900">
              <a:spcAft>
                <a:spcPts val="200"/>
              </a:spcAft>
              <a:buSzPct val="100000"/>
              <a:buChar char="■"/>
            </a:pPr>
            <a:r>
              <a:rPr dirty="0" sz="850" lang="en-US">
                <a:solidFill>
                  <a:srgbClr val="111111"/>
                </a:solidFill>
              </a:rPr>
              <a:t>Ad disclosure rules on Meta &amp; TikTok</a:t>
            </a:r>
            <a:endParaRPr dirty="0" sz="850" lang="en-US"/>
          </a:p>
          <a:p>
            <a:pPr indent="-342900" marL="342900">
              <a:spcAft>
                <a:spcPts val="200"/>
              </a:spcAft>
              <a:buSzPct val="100000"/>
              <a:buChar char="■"/>
            </a:pPr>
            <a:r>
              <a:rPr dirty="0" sz="850" lang="en-US">
                <a:solidFill>
                  <a:srgbClr val="111111"/>
                </a:solidFill>
              </a:rPr>
              <a:t>Consumer protection on COD returns</a:t>
            </a:r>
            <a:endParaRPr dirty="0" sz="850" lang="en-US"/>
          </a:p>
        </p:txBody>
      </p:sp>
      <p:sp>
        <p:nvSpPr>
          <p:cNvPr id="1048796" name="Shape 35"/>
          <p:cNvSpPr/>
          <p:nvPr/>
        </p:nvSpPr>
        <p:spPr>
          <a:xfrm>
            <a:off x="6035040" y="3108960"/>
            <a:ext cx="2743200" cy="1417320"/>
          </a:xfrm>
          <a:prstGeom prst="rect"/>
          <a:solidFill>
            <a:srgbClr val="F5F5F5"/>
          </a:solidFill>
        </p:spPr>
      </p:sp>
      <p:sp>
        <p:nvSpPr>
          <p:cNvPr id="1048797" name="Shape 36"/>
          <p:cNvSpPr/>
          <p:nvPr/>
        </p:nvSpPr>
        <p:spPr>
          <a:xfrm>
            <a:off x="6035040" y="3108960"/>
            <a:ext cx="502920" cy="1417320"/>
          </a:xfrm>
          <a:prstGeom prst="rect"/>
          <a:solidFill>
            <a:srgbClr val="E50010"/>
          </a:solidFill>
        </p:spPr>
      </p:sp>
      <p:sp>
        <p:nvSpPr>
          <p:cNvPr id="1048798" name="Text 37"/>
          <p:cNvSpPr/>
          <p:nvPr/>
        </p:nvSpPr>
        <p:spPr>
          <a:xfrm>
            <a:off x="6035040" y="3108960"/>
            <a:ext cx="502920" cy="1417320"/>
          </a:xfrm>
          <a:prstGeom prst="rect"/>
          <a:noFill/>
        </p:spPr>
        <p:txBody>
          <a:bodyPr anchor="ctr" bIns="0" lIns="0" rIns="0" rtlCol="0" tIns="0" wrap="square"/>
          <a:p>
            <a:pPr algn="ctr" indent="0" marL="0">
              <a:buNone/>
            </a:pPr>
            <a:r>
              <a:rPr b="1" dirty="0" sz="3800" lang="en-US">
                <a:solidFill>
                  <a:srgbClr val="FFFFFF"/>
                </a:solidFill>
                <a:latin typeface="Arial" pitchFamily="34" charset="0"/>
                <a:ea typeface="Arial" pitchFamily="34" charset="-122"/>
                <a:cs typeface="Arial" pitchFamily="34" charset="-120"/>
              </a:rPr>
              <a:t>E</a:t>
            </a:r>
            <a:endParaRPr dirty="0" sz="3800" lang="en-US"/>
          </a:p>
        </p:txBody>
      </p:sp>
      <p:sp>
        <p:nvSpPr>
          <p:cNvPr id="1048799" name="Text 38"/>
          <p:cNvSpPr/>
          <p:nvPr/>
        </p:nvSpPr>
        <p:spPr>
          <a:xfrm>
            <a:off x="6629400" y="3200400"/>
            <a:ext cx="2057400" cy="274320"/>
          </a:xfrm>
          <a:prstGeom prst="rect"/>
          <a:noFill/>
        </p:spPr>
        <p:txBody>
          <a:bodyPr anchor="ctr" bIns="0" lIns="0" rIns="0" rtlCol="0" tIns="0" wrap="square"/>
          <a:p>
            <a:pPr indent="0" marL="0">
              <a:buNone/>
            </a:pPr>
            <a:r>
              <a:rPr b="1" dirty="0" sz="1400" lang="en-US">
                <a:solidFill>
                  <a:srgbClr val="111111"/>
                </a:solidFill>
                <a:latin typeface="Arial" pitchFamily="34" charset="0"/>
                <a:ea typeface="Arial" pitchFamily="34" charset="-122"/>
                <a:cs typeface="Arial" pitchFamily="34" charset="-120"/>
              </a:rPr>
              <a:t>Environmental</a:t>
            </a:r>
            <a:endParaRPr dirty="0" sz="1400" lang="en-US"/>
          </a:p>
        </p:txBody>
      </p:sp>
      <p:sp>
        <p:nvSpPr>
          <p:cNvPr id="1048800" name="Shape 39"/>
          <p:cNvSpPr/>
          <p:nvPr/>
        </p:nvSpPr>
        <p:spPr>
          <a:xfrm>
            <a:off x="6629400" y="3493008"/>
            <a:ext cx="365760" cy="27432"/>
          </a:xfrm>
          <a:prstGeom prst="rect"/>
          <a:solidFill>
            <a:srgbClr val="E50010"/>
          </a:solidFill>
        </p:spPr>
      </p:sp>
      <p:sp>
        <p:nvSpPr>
          <p:cNvPr id="1048801" name="Text 40"/>
          <p:cNvSpPr/>
          <p:nvPr/>
        </p:nvSpPr>
        <p:spPr>
          <a:xfrm>
            <a:off x="6629400" y="3566160"/>
            <a:ext cx="2057400" cy="914400"/>
          </a:xfrm>
          <a:prstGeom prst="rect"/>
          <a:noFill/>
        </p:spPr>
        <p:txBody>
          <a:bodyPr anchor="t" bIns="0" lIns="0" rIns="0" rtlCol="0" tIns="0" wrap="square"/>
          <a:p>
            <a:pPr indent="-342900" marL="342900">
              <a:spcAft>
                <a:spcPts val="200"/>
              </a:spcAft>
              <a:buSzPct val="100000"/>
              <a:buChar char="■"/>
            </a:pPr>
            <a:r>
              <a:rPr dirty="0" sz="850" lang="en-US">
                <a:solidFill>
                  <a:srgbClr val="111111"/>
                </a:solidFill>
              </a:rPr>
              <a:t>Sustainability is a brand asset for H&amp;M</a:t>
            </a:r>
            <a:endParaRPr dirty="0" sz="850" lang="en-US"/>
          </a:p>
          <a:p>
            <a:pPr indent="-342900" marL="342900">
              <a:spcAft>
                <a:spcPts val="200"/>
              </a:spcAft>
              <a:buSzPct val="100000"/>
              <a:buChar char="■"/>
            </a:pPr>
            <a:r>
              <a:rPr dirty="0" sz="850" lang="en-US">
                <a:solidFill>
                  <a:srgbClr val="111111"/>
                </a:solidFill>
              </a:rPr>
              <a:t>Egypt Vision 2030 - green shift</a:t>
            </a:r>
            <a:endParaRPr dirty="0" sz="850" lang="en-US"/>
          </a:p>
          <a:p>
            <a:pPr indent="-342900" marL="342900">
              <a:spcAft>
                <a:spcPts val="200"/>
              </a:spcAft>
              <a:buSzPct val="100000"/>
              <a:buChar char="■"/>
            </a:pPr>
            <a:r>
              <a:rPr dirty="0" sz="850" lang="en-US">
                <a:solidFill>
                  <a:srgbClr val="111111"/>
                </a:solidFill>
              </a:rPr>
              <a:t>Consumers reward Conscious collection</a:t>
            </a:r>
            <a:endParaRPr dirty="0" sz="850" lang="en-US"/>
          </a:p>
        </p:txBody>
      </p:sp>
      <p:sp>
        <p:nvSpPr>
          <p:cNvPr id="1048802" name="Text 41"/>
          <p:cNvSpPr/>
          <p:nvPr/>
        </p:nvSpPr>
        <p:spPr>
          <a:xfrm>
            <a:off x="365760" y="4736592"/>
            <a:ext cx="8046720" cy="274320"/>
          </a:xfrm>
          <a:prstGeom prst="rect"/>
          <a:noFill/>
        </p:spPr>
        <p:txBody>
          <a:bodyPr anchor="ctr" bIns="0" lIns="0" rIns="0" rtlCol="0" tIns="0" wrap="square"/>
          <a:p>
            <a:pPr indent="0" marL="0">
              <a:buNone/>
            </a:pPr>
            <a:r>
              <a:rPr dirty="0" sz="800" i="1" lang="en-US">
                <a:solidFill>
                  <a:srgbClr val="6B6B6B"/>
                </a:solidFill>
                <a:latin typeface="Arial" pitchFamily="34" charset="0"/>
                <a:ea typeface="Arial" pitchFamily="34" charset="-122"/>
                <a:cs typeface="Arial" pitchFamily="34" charset="-120"/>
              </a:rPr>
              <a:t>Sources: MCIT Egypt Digital Strategy, Central Bank of Egypt, DataReportal 2024-2025, Naos Solutions Egypt Digital 2025.</a:t>
            </a:r>
            <a:endParaRPr dirty="0" sz="800" lang="en-US"/>
          </a:p>
        </p:txBody>
      </p:sp>
      <p:sp>
        <p:nvSpPr>
          <p:cNvPr id="1048803" name="Text 42"/>
          <p:cNvSpPr/>
          <p:nvPr/>
        </p:nvSpPr>
        <p:spPr>
          <a:xfrm>
            <a:off x="8503920" y="4663440"/>
            <a:ext cx="457200" cy="27432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07</a:t>
            </a:r>
            <a:endParaRPr dirty="0" sz="10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37" name=""/>
        <p:cNvGrpSpPr/>
        <p:nvPr/>
      </p:nvGrpSpPr>
      <p:grpSpPr>
        <a:xfrm>
          <a:off x="0" y="0"/>
          <a:ext cx="0" cy="0"/>
          <a:chOff x="0" y="0"/>
          <a:chExt cx="0" cy="0"/>
        </a:xfrm>
      </p:grpSpPr>
      <p:sp>
        <p:nvSpPr>
          <p:cNvPr id="1048807" name="Shape 0"/>
          <p:cNvSpPr/>
          <p:nvPr/>
        </p:nvSpPr>
        <p:spPr>
          <a:xfrm>
            <a:off x="0" y="0"/>
            <a:ext cx="9144000" cy="502920"/>
          </a:xfrm>
          <a:prstGeom prst="rect"/>
          <a:solidFill>
            <a:srgbClr val="111111"/>
          </a:solidFill>
        </p:spPr>
      </p:sp>
      <p:sp>
        <p:nvSpPr>
          <p:cNvPr id="1048808" name="Text 1"/>
          <p:cNvSpPr/>
          <p:nvPr/>
        </p:nvSpPr>
        <p:spPr>
          <a:xfrm>
            <a:off x="365760" y="0"/>
            <a:ext cx="5486400" cy="502920"/>
          </a:xfrm>
          <a:prstGeom prst="rect"/>
          <a:noFill/>
        </p:spPr>
        <p:txBody>
          <a:bodyPr anchor="ctr" bIns="0" lIns="0" rIns="0" rtlCol="0" tIns="0" wrap="square"/>
          <a:p>
            <a:pPr indent="0" marL="0">
              <a:buNone/>
            </a:pPr>
            <a:r>
              <a:rPr b="1" dirty="0" sz="1000" kern="0" lang="en-US" spc="300">
                <a:solidFill>
                  <a:srgbClr val="FFFFFF"/>
                </a:solidFill>
                <a:latin typeface="Arial" pitchFamily="34" charset="0"/>
                <a:ea typeface="Arial" pitchFamily="34" charset="-122"/>
                <a:cs typeface="Arial" pitchFamily="34" charset="-120"/>
              </a:rPr>
              <a:t>H&amp;M EGYPT  |  DIGITAL SITUATION ANALYSIS</a:t>
            </a:r>
            <a:endParaRPr dirty="0" sz="1000" lang="en-US"/>
          </a:p>
        </p:txBody>
      </p:sp>
      <p:sp>
        <p:nvSpPr>
          <p:cNvPr id="1048809" name="Text 2"/>
          <p:cNvSpPr/>
          <p:nvPr/>
        </p:nvSpPr>
        <p:spPr>
          <a:xfrm>
            <a:off x="5029200" y="0"/>
            <a:ext cx="3749040" cy="502920"/>
          </a:xfrm>
          <a:prstGeom prst="rect"/>
          <a:noFill/>
        </p:spPr>
        <p:txBody>
          <a:bodyPr anchor="ctr" bIns="0" lIns="0" rIns="0" rtlCol="0" tIns="0" wrap="square"/>
          <a:p>
            <a:pPr algn="r" indent="0" marL="0">
              <a:buNone/>
            </a:pPr>
            <a:r>
              <a:rPr b="1" dirty="0" sz="1000" kern="0" lang="en-US" spc="300">
                <a:solidFill>
                  <a:srgbClr val="FFFFFF"/>
                </a:solidFill>
                <a:latin typeface="Arial" pitchFamily="34" charset="0"/>
                <a:ea typeface="Arial" pitchFamily="34" charset="-122"/>
                <a:cs typeface="Arial" pitchFamily="34" charset="-120"/>
              </a:rPr>
              <a:t>07 - SWOT Analysis</a:t>
            </a:r>
            <a:endParaRPr dirty="0" sz="1000" lang="en-US"/>
          </a:p>
        </p:txBody>
      </p:sp>
      <p:sp>
        <p:nvSpPr>
          <p:cNvPr id="1048810" name="Text 3"/>
          <p:cNvSpPr/>
          <p:nvPr/>
        </p:nvSpPr>
        <p:spPr>
          <a:xfrm>
            <a:off x="365760" y="685800"/>
            <a:ext cx="8412480" cy="50292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SWOT Analysis</a:t>
            </a:r>
            <a:endParaRPr dirty="0" sz="3000" lang="en-US"/>
          </a:p>
        </p:txBody>
      </p:sp>
      <p:sp>
        <p:nvSpPr>
          <p:cNvPr id="1048811" name="Text 4"/>
          <p:cNvSpPr/>
          <p:nvPr/>
        </p:nvSpPr>
        <p:spPr>
          <a:xfrm>
            <a:off x="365760" y="1188720"/>
            <a:ext cx="8412480" cy="274320"/>
          </a:xfrm>
          <a:prstGeom prst="rect"/>
          <a:noFill/>
        </p:spPr>
        <p:txBody>
          <a:bodyPr anchor="ctr" bIns="0" lIns="0" rIns="0" rtlCol="0" tIns="0" wrap="square"/>
          <a:p>
            <a:pPr indent="0" marL="0">
              <a:buNone/>
            </a:pPr>
            <a:r>
              <a:rPr dirty="0" sz="1300" i="1" lang="en-US">
                <a:solidFill>
                  <a:srgbClr val="6B6B6B"/>
                </a:solidFill>
                <a:latin typeface="Arial" pitchFamily="34" charset="0"/>
                <a:ea typeface="Arial" pitchFamily="34" charset="-122"/>
                <a:cs typeface="Arial" pitchFamily="34" charset="-120"/>
              </a:rPr>
              <a:t>Strengths, Weaknesses, Opportunities, Threats for H&amp;M Egypt</a:t>
            </a:r>
            <a:endParaRPr dirty="0" sz="1300" lang="en-US"/>
          </a:p>
        </p:txBody>
      </p:sp>
      <p:sp>
        <p:nvSpPr>
          <p:cNvPr id="1048812" name="Shape 5"/>
          <p:cNvSpPr/>
          <p:nvPr/>
        </p:nvSpPr>
        <p:spPr>
          <a:xfrm>
            <a:off x="365760" y="1554480"/>
            <a:ext cx="4114800" cy="1463040"/>
          </a:xfrm>
          <a:prstGeom prst="rect"/>
          <a:solidFill>
            <a:srgbClr val="FFFFFF"/>
          </a:solidFill>
          <a:ln w="12700">
            <a:solidFill>
              <a:srgbClr val="E5E5E5"/>
            </a:solidFill>
            <a:prstDash val="solid"/>
          </a:ln>
        </p:spPr>
      </p:sp>
      <p:sp>
        <p:nvSpPr>
          <p:cNvPr id="1048813" name="Shape 6"/>
          <p:cNvSpPr/>
          <p:nvPr/>
        </p:nvSpPr>
        <p:spPr>
          <a:xfrm>
            <a:off x="365760" y="1554480"/>
            <a:ext cx="4114800" cy="365760"/>
          </a:xfrm>
          <a:prstGeom prst="rect"/>
          <a:solidFill>
            <a:srgbClr val="E50010"/>
          </a:solidFill>
        </p:spPr>
      </p:sp>
      <p:sp>
        <p:nvSpPr>
          <p:cNvPr id="1048814" name="Text 7"/>
          <p:cNvSpPr/>
          <p:nvPr/>
        </p:nvSpPr>
        <p:spPr>
          <a:xfrm>
            <a:off x="502920" y="1554480"/>
            <a:ext cx="3840480" cy="365760"/>
          </a:xfrm>
          <a:prstGeom prst="rect"/>
          <a:noFill/>
        </p:spPr>
        <p:txBody>
          <a:bodyPr anchor="ctr" bIns="0" lIns="0" rIns="0" rtlCol="0" tIns="0" wrap="square"/>
          <a:p>
            <a:pPr indent="0" marL="0">
              <a:buNone/>
            </a:pPr>
            <a:r>
              <a:rPr b="1" dirty="0" sz="1200" kern="0" lang="en-US" spc="300">
                <a:solidFill>
                  <a:srgbClr val="FFFFFF"/>
                </a:solidFill>
                <a:latin typeface="Arial" pitchFamily="34" charset="0"/>
                <a:ea typeface="Arial" pitchFamily="34" charset="-122"/>
                <a:cs typeface="Arial" pitchFamily="34" charset="-120"/>
              </a:rPr>
              <a:t>STRENGTHS</a:t>
            </a:r>
            <a:endParaRPr dirty="0" sz="1200" lang="en-US"/>
          </a:p>
        </p:txBody>
      </p:sp>
      <p:sp>
        <p:nvSpPr>
          <p:cNvPr id="1048815" name="Text 8"/>
          <p:cNvSpPr/>
          <p:nvPr/>
        </p:nvSpPr>
        <p:spPr>
          <a:xfrm>
            <a:off x="548640" y="2011680"/>
            <a:ext cx="3840480" cy="960120"/>
          </a:xfrm>
          <a:prstGeom prst="rect"/>
          <a:noFill/>
        </p:spPr>
        <p:txBody>
          <a:bodyPr anchor="t" bIns="0" lIns="0" rIns="0" rtlCol="0" tIns="0" wrap="square"/>
          <a:p>
            <a:pPr indent="-342900" marL="342900">
              <a:spcAft>
                <a:spcPts val="400"/>
              </a:spcAft>
              <a:buSzPct val="100000"/>
              <a:buChar char="■"/>
            </a:pPr>
            <a:r>
              <a:rPr dirty="0" sz="1050" lang="en-US">
                <a:solidFill>
                  <a:srgbClr val="111111"/>
                </a:solidFill>
              </a:rPr>
              <a:t>Global brand recognition</a:t>
            </a:r>
            <a:endParaRPr dirty="0" sz="1050" lang="en-US"/>
          </a:p>
          <a:p>
            <a:pPr indent="-342900" marL="342900">
              <a:spcAft>
                <a:spcPts val="400"/>
              </a:spcAft>
              <a:buSzPct val="100000"/>
              <a:buChar char="■"/>
            </a:pPr>
            <a:r>
              <a:rPr dirty="0" sz="1050" lang="en-US">
                <a:solidFill>
                  <a:srgbClr val="111111"/>
                </a:solidFill>
              </a:rPr>
              <a:t>Conscious / sustainability story</a:t>
            </a:r>
            <a:endParaRPr dirty="0" sz="1050" lang="en-US"/>
          </a:p>
          <a:p>
            <a:pPr indent="-342900" marL="342900">
              <a:spcAft>
                <a:spcPts val="400"/>
              </a:spcAft>
              <a:buSzPct val="100000"/>
              <a:buChar char="■"/>
            </a:pPr>
            <a:r>
              <a:rPr dirty="0" sz="1050" lang="en-US">
                <a:solidFill>
                  <a:srgbClr val="111111"/>
                </a:solidFill>
              </a:rPr>
              <a:t>Unified H&amp;M MENA mobile app</a:t>
            </a:r>
            <a:endParaRPr dirty="0" sz="1050" lang="en-US"/>
          </a:p>
          <a:p>
            <a:pPr indent="-342900" marL="342900">
              <a:spcAft>
                <a:spcPts val="400"/>
              </a:spcAft>
              <a:buSzPct val="100000"/>
              <a:buChar char="■"/>
            </a:pPr>
            <a:r>
              <a:rPr dirty="0" sz="1050" lang="en-US">
                <a:solidFill>
                  <a:srgbClr val="111111"/>
                </a:solidFill>
              </a:rPr>
              <a:t>Strong MENA creator network</a:t>
            </a:r>
            <a:endParaRPr dirty="0" sz="1050" lang="en-US"/>
          </a:p>
        </p:txBody>
      </p:sp>
      <p:sp>
        <p:nvSpPr>
          <p:cNvPr id="1048816" name="Shape 9"/>
          <p:cNvSpPr/>
          <p:nvPr/>
        </p:nvSpPr>
        <p:spPr>
          <a:xfrm>
            <a:off x="4663440" y="1554480"/>
            <a:ext cx="4114800" cy="1463040"/>
          </a:xfrm>
          <a:prstGeom prst="rect"/>
          <a:solidFill>
            <a:srgbClr val="FFFFFF"/>
          </a:solidFill>
          <a:ln w="12700">
            <a:solidFill>
              <a:srgbClr val="E5E5E5"/>
            </a:solidFill>
            <a:prstDash val="solid"/>
          </a:ln>
        </p:spPr>
      </p:sp>
      <p:sp>
        <p:nvSpPr>
          <p:cNvPr id="1048817" name="Shape 10"/>
          <p:cNvSpPr/>
          <p:nvPr/>
        </p:nvSpPr>
        <p:spPr>
          <a:xfrm>
            <a:off x="4663440" y="1554480"/>
            <a:ext cx="4114800" cy="365760"/>
          </a:xfrm>
          <a:prstGeom prst="rect"/>
          <a:solidFill>
            <a:srgbClr val="111111"/>
          </a:solidFill>
        </p:spPr>
      </p:sp>
      <p:sp>
        <p:nvSpPr>
          <p:cNvPr id="1048818" name="Text 11"/>
          <p:cNvSpPr/>
          <p:nvPr/>
        </p:nvSpPr>
        <p:spPr>
          <a:xfrm>
            <a:off x="4800600" y="1554480"/>
            <a:ext cx="3840480" cy="365760"/>
          </a:xfrm>
          <a:prstGeom prst="rect"/>
          <a:noFill/>
        </p:spPr>
        <p:txBody>
          <a:bodyPr anchor="ctr" bIns="0" lIns="0" rIns="0" rtlCol="0" tIns="0" wrap="square"/>
          <a:p>
            <a:pPr indent="0" marL="0">
              <a:buNone/>
            </a:pPr>
            <a:r>
              <a:rPr b="1" dirty="0" sz="1200" kern="0" lang="en-US" spc="300">
                <a:solidFill>
                  <a:srgbClr val="FFFFFF"/>
                </a:solidFill>
                <a:latin typeface="Arial" pitchFamily="34" charset="0"/>
                <a:ea typeface="Arial" pitchFamily="34" charset="-122"/>
                <a:cs typeface="Arial" pitchFamily="34" charset="-120"/>
              </a:rPr>
              <a:t>WEAKNESSES</a:t>
            </a:r>
            <a:endParaRPr dirty="0" sz="1200" lang="en-US"/>
          </a:p>
        </p:txBody>
      </p:sp>
      <p:sp>
        <p:nvSpPr>
          <p:cNvPr id="1048819" name="Text 12"/>
          <p:cNvSpPr/>
          <p:nvPr/>
        </p:nvSpPr>
        <p:spPr>
          <a:xfrm>
            <a:off x="4846320" y="2011680"/>
            <a:ext cx="3840480" cy="960120"/>
          </a:xfrm>
          <a:prstGeom prst="rect"/>
          <a:noFill/>
        </p:spPr>
        <p:txBody>
          <a:bodyPr anchor="t" bIns="0" lIns="0" rIns="0" rtlCol="0" tIns="0" wrap="square"/>
          <a:p>
            <a:pPr indent="-342900" marL="342900">
              <a:spcAft>
                <a:spcPts val="400"/>
              </a:spcAft>
              <a:buSzPct val="100000"/>
              <a:buChar char="■"/>
            </a:pPr>
            <a:r>
              <a:rPr dirty="0" sz="1050" lang="en-US">
                <a:solidFill>
                  <a:srgbClr val="111111"/>
                </a:solidFill>
              </a:rPr>
              <a:t>Limited Arabic social copy</a:t>
            </a:r>
            <a:endParaRPr dirty="0" sz="1050" lang="en-US"/>
          </a:p>
          <a:p>
            <a:pPr indent="-342900" marL="342900">
              <a:spcAft>
                <a:spcPts val="400"/>
              </a:spcAft>
              <a:buSzPct val="100000"/>
              <a:buChar char="■"/>
            </a:pPr>
            <a:r>
              <a:rPr dirty="0" sz="1050" lang="en-US">
                <a:solidFill>
                  <a:srgbClr val="111111"/>
                </a:solidFill>
              </a:rPr>
              <a:t>Slow trend cycle vs Zara</a:t>
            </a:r>
            <a:endParaRPr dirty="0" sz="1050" lang="en-US"/>
          </a:p>
          <a:p>
            <a:pPr indent="-342900" marL="342900">
              <a:spcAft>
                <a:spcPts val="400"/>
              </a:spcAft>
              <a:buSzPct val="100000"/>
              <a:buChar char="■"/>
            </a:pPr>
            <a:r>
              <a:rPr dirty="0" sz="1050" lang="en-US">
                <a:solidFill>
                  <a:srgbClr val="111111"/>
                </a:solidFill>
              </a:rPr>
              <a:t>Fewer local creators than LC Waikiki</a:t>
            </a:r>
            <a:endParaRPr dirty="0" sz="1050" lang="en-US"/>
          </a:p>
          <a:p>
            <a:pPr indent="-342900" marL="342900">
              <a:spcAft>
                <a:spcPts val="400"/>
              </a:spcAft>
              <a:buSzPct val="100000"/>
              <a:buChar char="■"/>
            </a:pPr>
            <a:r>
              <a:rPr dirty="0" sz="1050" lang="en-US">
                <a:solidFill>
                  <a:srgbClr val="111111"/>
                </a:solidFill>
              </a:rPr>
              <a:t>Limited Egypt-only storytelling</a:t>
            </a:r>
            <a:endParaRPr dirty="0" sz="1050" lang="en-US"/>
          </a:p>
        </p:txBody>
      </p:sp>
      <p:sp>
        <p:nvSpPr>
          <p:cNvPr id="1048820" name="Shape 13"/>
          <p:cNvSpPr/>
          <p:nvPr/>
        </p:nvSpPr>
        <p:spPr>
          <a:xfrm>
            <a:off x="365760" y="3108960"/>
            <a:ext cx="4114800" cy="1463040"/>
          </a:xfrm>
          <a:prstGeom prst="rect"/>
          <a:solidFill>
            <a:srgbClr val="FFFFFF"/>
          </a:solidFill>
          <a:ln w="12700">
            <a:solidFill>
              <a:srgbClr val="E5E5E5"/>
            </a:solidFill>
            <a:prstDash val="solid"/>
          </a:ln>
        </p:spPr>
      </p:sp>
      <p:sp>
        <p:nvSpPr>
          <p:cNvPr id="1048821" name="Shape 14"/>
          <p:cNvSpPr/>
          <p:nvPr/>
        </p:nvSpPr>
        <p:spPr>
          <a:xfrm>
            <a:off x="365760" y="3108960"/>
            <a:ext cx="4114800" cy="365760"/>
          </a:xfrm>
          <a:prstGeom prst="rect"/>
          <a:solidFill>
            <a:srgbClr val="E50010"/>
          </a:solidFill>
        </p:spPr>
      </p:sp>
      <p:sp>
        <p:nvSpPr>
          <p:cNvPr id="1048822" name="Text 15"/>
          <p:cNvSpPr/>
          <p:nvPr/>
        </p:nvSpPr>
        <p:spPr>
          <a:xfrm>
            <a:off x="502920" y="3108960"/>
            <a:ext cx="3840480" cy="365760"/>
          </a:xfrm>
          <a:prstGeom prst="rect"/>
          <a:noFill/>
        </p:spPr>
        <p:txBody>
          <a:bodyPr anchor="ctr" bIns="0" lIns="0" rIns="0" rtlCol="0" tIns="0" wrap="square"/>
          <a:p>
            <a:pPr indent="0" marL="0">
              <a:buNone/>
            </a:pPr>
            <a:r>
              <a:rPr b="1" dirty="0" sz="1200" kern="0" lang="en-US" spc="300">
                <a:solidFill>
                  <a:srgbClr val="FFFFFF"/>
                </a:solidFill>
                <a:latin typeface="Arial" pitchFamily="34" charset="0"/>
                <a:ea typeface="Arial" pitchFamily="34" charset="-122"/>
                <a:cs typeface="Arial" pitchFamily="34" charset="-120"/>
              </a:rPr>
              <a:t>OPPORTUNITIES</a:t>
            </a:r>
            <a:endParaRPr dirty="0" sz="1200" lang="en-US"/>
          </a:p>
        </p:txBody>
      </p:sp>
      <p:sp>
        <p:nvSpPr>
          <p:cNvPr id="1048823" name="Text 16"/>
          <p:cNvSpPr/>
          <p:nvPr/>
        </p:nvSpPr>
        <p:spPr>
          <a:xfrm>
            <a:off x="548640" y="3566160"/>
            <a:ext cx="3840480" cy="960120"/>
          </a:xfrm>
          <a:prstGeom prst="rect"/>
          <a:noFill/>
        </p:spPr>
        <p:txBody>
          <a:bodyPr anchor="t" bIns="0" lIns="0" rIns="0" rtlCol="0" tIns="0" wrap="square"/>
          <a:p>
            <a:pPr indent="-342900" marL="342900">
              <a:spcAft>
                <a:spcPts val="400"/>
              </a:spcAft>
              <a:buSzPct val="100000"/>
              <a:buChar char="■"/>
            </a:pPr>
            <a:r>
              <a:rPr dirty="0" sz="1050" lang="en-US">
                <a:solidFill>
                  <a:srgbClr val="111111"/>
                </a:solidFill>
              </a:rPr>
              <a:t>96M+ online Egyptians, mobile-first</a:t>
            </a:r>
            <a:endParaRPr dirty="0" sz="1050" lang="en-US"/>
          </a:p>
          <a:p>
            <a:pPr indent="-342900" marL="342900">
              <a:spcAft>
                <a:spcPts val="400"/>
              </a:spcAft>
              <a:buSzPct val="100000"/>
              <a:buChar char="■"/>
            </a:pPr>
            <a:r>
              <a:rPr dirty="0" sz="1050" lang="en-US">
                <a:solidFill>
                  <a:srgbClr val="111111"/>
                </a:solidFill>
              </a:rPr>
              <a:t>Egypt e-commerce CAGR ~10-12%</a:t>
            </a:r>
            <a:endParaRPr dirty="0" sz="1050" lang="en-US"/>
          </a:p>
          <a:p>
            <a:pPr indent="-342900" marL="342900">
              <a:spcAft>
                <a:spcPts val="400"/>
              </a:spcAft>
              <a:buSzPct val="100000"/>
              <a:buChar char="■"/>
            </a:pPr>
            <a:r>
              <a:rPr dirty="0" sz="1050" lang="en-US">
                <a:solidFill>
                  <a:srgbClr val="111111"/>
                </a:solidFill>
              </a:rPr>
              <a:t>TikTok / Reels creator partnerships</a:t>
            </a:r>
            <a:endParaRPr dirty="0" sz="1050" lang="en-US"/>
          </a:p>
          <a:p>
            <a:pPr indent="-342900" marL="342900">
              <a:spcAft>
                <a:spcPts val="400"/>
              </a:spcAft>
              <a:buSzPct val="100000"/>
              <a:buChar char="■"/>
            </a:pPr>
            <a:r>
              <a:rPr dirty="0" sz="1050" lang="en-US">
                <a:solidFill>
                  <a:srgbClr val="111111"/>
                </a:solidFill>
              </a:rPr>
              <a:t>Ramadan &amp; White Friday tentpole moments</a:t>
            </a:r>
            <a:endParaRPr dirty="0" sz="1050" lang="en-US"/>
          </a:p>
        </p:txBody>
      </p:sp>
      <p:sp>
        <p:nvSpPr>
          <p:cNvPr id="1048824" name="Shape 17"/>
          <p:cNvSpPr/>
          <p:nvPr/>
        </p:nvSpPr>
        <p:spPr>
          <a:xfrm>
            <a:off x="4663440" y="3108960"/>
            <a:ext cx="4114800" cy="1463040"/>
          </a:xfrm>
          <a:prstGeom prst="rect"/>
          <a:solidFill>
            <a:srgbClr val="FFFFFF"/>
          </a:solidFill>
          <a:ln w="12700">
            <a:solidFill>
              <a:srgbClr val="E5E5E5"/>
            </a:solidFill>
            <a:prstDash val="solid"/>
          </a:ln>
        </p:spPr>
      </p:sp>
      <p:sp>
        <p:nvSpPr>
          <p:cNvPr id="1048825" name="Shape 18"/>
          <p:cNvSpPr/>
          <p:nvPr/>
        </p:nvSpPr>
        <p:spPr>
          <a:xfrm>
            <a:off x="4663440" y="3108960"/>
            <a:ext cx="4114800" cy="365760"/>
          </a:xfrm>
          <a:prstGeom prst="rect"/>
          <a:solidFill>
            <a:srgbClr val="111111"/>
          </a:solidFill>
        </p:spPr>
      </p:sp>
      <p:sp>
        <p:nvSpPr>
          <p:cNvPr id="1048826" name="Text 19"/>
          <p:cNvSpPr/>
          <p:nvPr/>
        </p:nvSpPr>
        <p:spPr>
          <a:xfrm>
            <a:off x="4800600" y="3108960"/>
            <a:ext cx="3840480" cy="365760"/>
          </a:xfrm>
          <a:prstGeom prst="rect"/>
          <a:noFill/>
        </p:spPr>
        <p:txBody>
          <a:bodyPr anchor="ctr" bIns="0" lIns="0" rIns="0" rtlCol="0" tIns="0" wrap="square"/>
          <a:p>
            <a:pPr indent="0" marL="0">
              <a:buNone/>
            </a:pPr>
            <a:r>
              <a:rPr b="1" dirty="0" sz="1200" kern="0" lang="en-US" spc="300">
                <a:solidFill>
                  <a:srgbClr val="FFFFFF"/>
                </a:solidFill>
                <a:latin typeface="Arial" pitchFamily="34" charset="0"/>
                <a:ea typeface="Arial" pitchFamily="34" charset="-122"/>
                <a:cs typeface="Arial" pitchFamily="34" charset="-120"/>
              </a:rPr>
              <a:t>THREATS</a:t>
            </a:r>
            <a:endParaRPr dirty="0" sz="1200" lang="en-US"/>
          </a:p>
        </p:txBody>
      </p:sp>
      <p:sp>
        <p:nvSpPr>
          <p:cNvPr id="1048827" name="Text 20"/>
          <p:cNvSpPr/>
          <p:nvPr/>
        </p:nvSpPr>
        <p:spPr>
          <a:xfrm>
            <a:off x="4846320" y="3566160"/>
            <a:ext cx="3840480" cy="960120"/>
          </a:xfrm>
          <a:prstGeom prst="rect"/>
          <a:noFill/>
        </p:spPr>
        <p:txBody>
          <a:bodyPr anchor="t" bIns="0" lIns="0" rIns="0" rtlCol="0" tIns="0" wrap="square"/>
          <a:p>
            <a:pPr indent="-342900" marL="342900">
              <a:spcAft>
                <a:spcPts val="400"/>
              </a:spcAft>
              <a:buSzPct val="100000"/>
              <a:buChar char="■"/>
            </a:pPr>
            <a:r>
              <a:rPr dirty="0" sz="1050" lang="en-US">
                <a:solidFill>
                  <a:srgbClr val="111111"/>
                </a:solidFill>
              </a:rPr>
              <a:t>LC Waikiki &amp; Defacto local pricing</a:t>
            </a:r>
            <a:endParaRPr dirty="0" sz="1050" lang="en-US"/>
          </a:p>
          <a:p>
            <a:pPr indent="-342900" marL="342900">
              <a:spcAft>
                <a:spcPts val="400"/>
              </a:spcAft>
              <a:buSzPct val="100000"/>
              <a:buChar char="■"/>
            </a:pPr>
            <a:r>
              <a:rPr dirty="0" sz="1050" lang="en-US">
                <a:solidFill>
                  <a:srgbClr val="111111"/>
                </a:solidFill>
              </a:rPr>
              <a:t>EGP volatility raises costs</a:t>
            </a:r>
            <a:endParaRPr dirty="0" sz="1050" lang="en-US"/>
          </a:p>
          <a:p>
            <a:pPr indent="-342900" marL="342900">
              <a:spcAft>
                <a:spcPts val="400"/>
              </a:spcAft>
              <a:buSzPct val="100000"/>
              <a:buChar char="■"/>
            </a:pPr>
            <a:r>
              <a:rPr dirty="0" sz="1050" lang="en-US">
                <a:solidFill>
                  <a:srgbClr val="111111"/>
                </a:solidFill>
              </a:rPr>
              <a:t>Rising Meta &amp; TikTok ad CPMs</a:t>
            </a:r>
            <a:endParaRPr dirty="0" sz="1050" lang="en-US"/>
          </a:p>
          <a:p>
            <a:pPr indent="-342900" marL="342900">
              <a:spcAft>
                <a:spcPts val="400"/>
              </a:spcAft>
              <a:buSzPct val="100000"/>
              <a:buChar char="■"/>
            </a:pPr>
            <a:r>
              <a:rPr dirty="0" sz="1050" lang="en-US">
                <a:solidFill>
                  <a:srgbClr val="111111"/>
                </a:solidFill>
              </a:rPr>
              <a:t>Tightening data privacy law</a:t>
            </a:r>
            <a:endParaRPr dirty="0" sz="1050" lang="en-US"/>
          </a:p>
        </p:txBody>
      </p:sp>
      <p:sp>
        <p:nvSpPr>
          <p:cNvPr id="1048828" name="Text 21"/>
          <p:cNvSpPr/>
          <p:nvPr/>
        </p:nvSpPr>
        <p:spPr>
          <a:xfrm>
            <a:off x="365760" y="4736592"/>
            <a:ext cx="8046720" cy="274320"/>
          </a:xfrm>
          <a:prstGeom prst="rect"/>
          <a:noFill/>
        </p:spPr>
        <p:txBody>
          <a:bodyPr anchor="ctr" bIns="0" lIns="0" rIns="0" rtlCol="0" tIns="0" wrap="square"/>
          <a:p>
            <a:pPr indent="0" marL="0">
              <a:buNone/>
            </a:pPr>
            <a:r>
              <a:rPr dirty="0" sz="800" i="1" lang="en-US">
                <a:solidFill>
                  <a:srgbClr val="6B6B6B"/>
                </a:solidFill>
                <a:latin typeface="Arial" pitchFamily="34" charset="0"/>
                <a:ea typeface="Arial" pitchFamily="34" charset="-122"/>
                <a:cs typeface="Arial" pitchFamily="34" charset="-120"/>
              </a:rPr>
              <a:t>Internal: SWOT derived from H&amp;M Egypt digital audit. External: DataReportal, Research and Markets, Sensor Tower, H&amp;M Group annual report.</a:t>
            </a:r>
            <a:endParaRPr dirty="0" sz="800" lang="en-US"/>
          </a:p>
        </p:txBody>
      </p:sp>
      <p:sp>
        <p:nvSpPr>
          <p:cNvPr id="1048829" name="Text 22"/>
          <p:cNvSpPr/>
          <p:nvPr/>
        </p:nvSpPr>
        <p:spPr>
          <a:xfrm>
            <a:off x="8503920" y="4663440"/>
            <a:ext cx="457200" cy="27432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08</a:t>
            </a:r>
            <a:endParaRPr dirty="0" sz="10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40" name=""/>
        <p:cNvGrpSpPr/>
        <p:nvPr/>
      </p:nvGrpSpPr>
      <p:grpSpPr>
        <a:xfrm>
          <a:off x="0" y="0"/>
          <a:ext cx="0" cy="0"/>
          <a:chOff x="0" y="0"/>
          <a:chExt cx="0" cy="0"/>
        </a:xfrm>
      </p:grpSpPr>
      <p:sp>
        <p:nvSpPr>
          <p:cNvPr id="1048833" name="Shape 0"/>
          <p:cNvSpPr/>
          <p:nvPr/>
        </p:nvSpPr>
        <p:spPr>
          <a:xfrm>
            <a:off x="0" y="0"/>
            <a:ext cx="9144000" cy="502920"/>
          </a:xfrm>
          <a:prstGeom prst="rect"/>
          <a:solidFill>
            <a:srgbClr val="111111"/>
          </a:solidFill>
        </p:spPr>
      </p:sp>
      <p:sp>
        <p:nvSpPr>
          <p:cNvPr id="1048834" name="Text 1"/>
          <p:cNvSpPr/>
          <p:nvPr/>
        </p:nvSpPr>
        <p:spPr>
          <a:xfrm>
            <a:off x="365760" y="0"/>
            <a:ext cx="5486400" cy="502920"/>
          </a:xfrm>
          <a:prstGeom prst="rect"/>
          <a:noFill/>
        </p:spPr>
        <p:txBody>
          <a:bodyPr anchor="ctr" bIns="0" lIns="0" rIns="0" rtlCol="0" tIns="0" wrap="square"/>
          <a:p>
            <a:pPr indent="0" marL="0">
              <a:buNone/>
            </a:pPr>
            <a:r>
              <a:rPr b="1" dirty="0" sz="1000" kern="0" lang="en-US" spc="300">
                <a:solidFill>
                  <a:srgbClr val="FFFFFF"/>
                </a:solidFill>
                <a:latin typeface="Arial" pitchFamily="34" charset="0"/>
                <a:ea typeface="Arial" pitchFamily="34" charset="-122"/>
                <a:cs typeface="Arial" pitchFamily="34" charset="-120"/>
              </a:rPr>
              <a:t>H&amp;M EGYPT  |  DIGITAL SITUATION ANALYSIS</a:t>
            </a:r>
            <a:endParaRPr dirty="0" sz="1000" lang="en-US"/>
          </a:p>
        </p:txBody>
      </p:sp>
      <p:sp>
        <p:nvSpPr>
          <p:cNvPr id="1048835" name="Text 2"/>
          <p:cNvSpPr/>
          <p:nvPr/>
        </p:nvSpPr>
        <p:spPr>
          <a:xfrm>
            <a:off x="5029200" y="0"/>
            <a:ext cx="3749040" cy="502920"/>
          </a:xfrm>
          <a:prstGeom prst="rect"/>
          <a:noFill/>
        </p:spPr>
        <p:txBody>
          <a:bodyPr anchor="ctr" bIns="0" lIns="0" rIns="0" rtlCol="0" tIns="0" wrap="square"/>
          <a:p>
            <a:pPr algn="r" indent="0" marL="0">
              <a:buNone/>
            </a:pPr>
            <a:r>
              <a:rPr b="1" dirty="0" sz="1000" kern="0" lang="en-US" spc="300">
                <a:solidFill>
                  <a:srgbClr val="FFFFFF"/>
                </a:solidFill>
                <a:latin typeface="Arial" pitchFamily="34" charset="0"/>
                <a:ea typeface="Arial" pitchFamily="34" charset="-122"/>
                <a:cs typeface="Arial" pitchFamily="34" charset="-120"/>
              </a:rPr>
              <a:t>08 - Digital Opportunities</a:t>
            </a:r>
            <a:endParaRPr dirty="0" sz="1000" lang="en-US"/>
          </a:p>
        </p:txBody>
      </p:sp>
      <p:sp>
        <p:nvSpPr>
          <p:cNvPr id="1048836" name="Text 3"/>
          <p:cNvSpPr/>
          <p:nvPr/>
        </p:nvSpPr>
        <p:spPr>
          <a:xfrm>
            <a:off x="365760" y="685800"/>
            <a:ext cx="8412480" cy="50292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Digital Opportunities</a:t>
            </a:r>
            <a:endParaRPr dirty="0" sz="3000" lang="en-US"/>
          </a:p>
        </p:txBody>
      </p:sp>
      <p:sp>
        <p:nvSpPr>
          <p:cNvPr id="1048837" name="Text 4"/>
          <p:cNvSpPr/>
          <p:nvPr/>
        </p:nvSpPr>
        <p:spPr>
          <a:xfrm>
            <a:off x="365760" y="1188720"/>
            <a:ext cx="8412480" cy="274320"/>
          </a:xfrm>
          <a:prstGeom prst="rect"/>
          <a:noFill/>
        </p:spPr>
        <p:txBody>
          <a:bodyPr anchor="ctr" bIns="0" lIns="0" rIns="0" rtlCol="0" tIns="0" wrap="square"/>
          <a:p>
            <a:pPr indent="0" marL="0">
              <a:buNone/>
            </a:pPr>
            <a:r>
              <a:rPr dirty="0" sz="1300" i="1" lang="en-US">
                <a:solidFill>
                  <a:srgbClr val="6B6B6B"/>
                </a:solidFill>
                <a:latin typeface="Arial" pitchFamily="34" charset="0"/>
                <a:ea typeface="Arial" pitchFamily="34" charset="-122"/>
                <a:cs typeface="Arial" pitchFamily="34" charset="-120"/>
              </a:rPr>
              <a:t>Twelve growth levers H&amp;M Egypt can activate in 2025</a:t>
            </a:r>
            <a:endParaRPr dirty="0" sz="1300" lang="en-US"/>
          </a:p>
        </p:txBody>
      </p:sp>
      <p:sp>
        <p:nvSpPr>
          <p:cNvPr id="1048838" name="Shape 5"/>
          <p:cNvSpPr/>
          <p:nvPr/>
        </p:nvSpPr>
        <p:spPr>
          <a:xfrm>
            <a:off x="365760" y="1554480"/>
            <a:ext cx="2057400" cy="914400"/>
          </a:xfrm>
          <a:prstGeom prst="rect"/>
          <a:solidFill>
            <a:srgbClr val="F5F5F5"/>
          </a:solidFill>
        </p:spPr>
      </p:sp>
      <p:sp>
        <p:nvSpPr>
          <p:cNvPr id="1048839" name="Shape 6"/>
          <p:cNvSpPr/>
          <p:nvPr/>
        </p:nvSpPr>
        <p:spPr>
          <a:xfrm>
            <a:off x="475488" y="1664208"/>
            <a:ext cx="292608" cy="292608"/>
          </a:xfrm>
          <a:prstGeom prst="ellipse"/>
          <a:solidFill>
            <a:srgbClr val="E50010"/>
          </a:solidFill>
        </p:spPr>
      </p:sp>
      <p:sp>
        <p:nvSpPr>
          <p:cNvPr id="1048840" name="Text 7"/>
          <p:cNvSpPr/>
          <p:nvPr/>
        </p:nvSpPr>
        <p:spPr>
          <a:xfrm>
            <a:off x="475488" y="1664208"/>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01</a:t>
            </a:r>
            <a:endParaRPr dirty="0" sz="900" lang="en-US"/>
          </a:p>
        </p:txBody>
      </p:sp>
      <p:sp>
        <p:nvSpPr>
          <p:cNvPr id="1048841" name="Text 8"/>
          <p:cNvSpPr/>
          <p:nvPr/>
        </p:nvSpPr>
        <p:spPr>
          <a:xfrm>
            <a:off x="822960" y="1645920"/>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SEO &amp; Arabic Content</a:t>
            </a:r>
            <a:endParaRPr dirty="0" sz="1000" lang="en-US"/>
          </a:p>
        </p:txBody>
      </p:sp>
      <p:sp>
        <p:nvSpPr>
          <p:cNvPr id="1048842" name="Text 9"/>
          <p:cNvSpPr/>
          <p:nvPr/>
        </p:nvSpPr>
        <p:spPr>
          <a:xfrm>
            <a:off x="475488" y="2011680"/>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Own Arabic long-tail terms around fashion, Ramadan, and Eid.</a:t>
            </a:r>
            <a:endParaRPr dirty="0" sz="850" lang="en-US"/>
          </a:p>
        </p:txBody>
      </p:sp>
      <p:sp>
        <p:nvSpPr>
          <p:cNvPr id="1048843" name="Shape 10"/>
          <p:cNvSpPr/>
          <p:nvPr/>
        </p:nvSpPr>
        <p:spPr>
          <a:xfrm>
            <a:off x="2496312" y="1554480"/>
            <a:ext cx="2057400" cy="914400"/>
          </a:xfrm>
          <a:prstGeom prst="rect"/>
          <a:solidFill>
            <a:srgbClr val="F5F5F5"/>
          </a:solidFill>
        </p:spPr>
      </p:sp>
      <p:sp>
        <p:nvSpPr>
          <p:cNvPr id="1048844" name="Shape 11"/>
          <p:cNvSpPr/>
          <p:nvPr/>
        </p:nvSpPr>
        <p:spPr>
          <a:xfrm>
            <a:off x="2606040" y="1664208"/>
            <a:ext cx="292608" cy="292608"/>
          </a:xfrm>
          <a:prstGeom prst="ellipse"/>
          <a:solidFill>
            <a:srgbClr val="E50010"/>
          </a:solidFill>
        </p:spPr>
      </p:sp>
      <p:sp>
        <p:nvSpPr>
          <p:cNvPr id="1048845" name="Text 12"/>
          <p:cNvSpPr/>
          <p:nvPr/>
        </p:nvSpPr>
        <p:spPr>
          <a:xfrm>
            <a:off x="2606040" y="1664208"/>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02</a:t>
            </a:r>
            <a:endParaRPr dirty="0" sz="900" lang="en-US"/>
          </a:p>
        </p:txBody>
      </p:sp>
      <p:sp>
        <p:nvSpPr>
          <p:cNvPr id="1048846" name="Text 13"/>
          <p:cNvSpPr/>
          <p:nvPr/>
        </p:nvSpPr>
        <p:spPr>
          <a:xfrm>
            <a:off x="2953512" y="1645920"/>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Google &amp; Meta Ads</a:t>
            </a:r>
            <a:endParaRPr dirty="0" sz="1000" lang="en-US"/>
          </a:p>
        </p:txBody>
      </p:sp>
      <p:sp>
        <p:nvSpPr>
          <p:cNvPr id="1048847" name="Text 14"/>
          <p:cNvSpPr/>
          <p:nvPr/>
        </p:nvSpPr>
        <p:spPr>
          <a:xfrm>
            <a:off x="2606040" y="2011680"/>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Lookalike audiences built on Egypt high-intent shoppers.</a:t>
            </a:r>
            <a:endParaRPr dirty="0" sz="850" lang="en-US"/>
          </a:p>
        </p:txBody>
      </p:sp>
      <p:sp>
        <p:nvSpPr>
          <p:cNvPr id="1048848" name="Shape 15"/>
          <p:cNvSpPr/>
          <p:nvPr/>
        </p:nvSpPr>
        <p:spPr>
          <a:xfrm>
            <a:off x="4626864" y="1554480"/>
            <a:ext cx="2057400" cy="914400"/>
          </a:xfrm>
          <a:prstGeom prst="rect"/>
          <a:solidFill>
            <a:srgbClr val="F5F5F5"/>
          </a:solidFill>
        </p:spPr>
      </p:sp>
      <p:sp>
        <p:nvSpPr>
          <p:cNvPr id="1048849" name="Shape 16"/>
          <p:cNvSpPr/>
          <p:nvPr/>
        </p:nvSpPr>
        <p:spPr>
          <a:xfrm>
            <a:off x="4736592" y="1664208"/>
            <a:ext cx="292608" cy="292608"/>
          </a:xfrm>
          <a:prstGeom prst="ellipse"/>
          <a:solidFill>
            <a:srgbClr val="E50010"/>
          </a:solidFill>
        </p:spPr>
      </p:sp>
      <p:sp>
        <p:nvSpPr>
          <p:cNvPr id="1048850" name="Text 17"/>
          <p:cNvSpPr/>
          <p:nvPr/>
        </p:nvSpPr>
        <p:spPr>
          <a:xfrm>
            <a:off x="4736592" y="1664208"/>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03</a:t>
            </a:r>
            <a:endParaRPr dirty="0" sz="900" lang="en-US"/>
          </a:p>
        </p:txBody>
      </p:sp>
      <p:sp>
        <p:nvSpPr>
          <p:cNvPr id="1048851" name="Text 18"/>
          <p:cNvSpPr/>
          <p:nvPr/>
        </p:nvSpPr>
        <p:spPr>
          <a:xfrm>
            <a:off x="5084064" y="1645920"/>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Instagram Shopping</a:t>
            </a:r>
            <a:endParaRPr dirty="0" sz="1000" lang="en-US"/>
          </a:p>
        </p:txBody>
      </p:sp>
      <p:sp>
        <p:nvSpPr>
          <p:cNvPr id="1048852" name="Text 19"/>
          <p:cNvSpPr/>
          <p:nvPr/>
        </p:nvSpPr>
        <p:spPr>
          <a:xfrm>
            <a:off x="4736592" y="2011680"/>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Native product tags in Reels and Stories for one-tap purchase.</a:t>
            </a:r>
            <a:endParaRPr dirty="0" sz="850" lang="en-US"/>
          </a:p>
        </p:txBody>
      </p:sp>
      <p:sp>
        <p:nvSpPr>
          <p:cNvPr id="1048853" name="Shape 20"/>
          <p:cNvSpPr/>
          <p:nvPr/>
        </p:nvSpPr>
        <p:spPr>
          <a:xfrm>
            <a:off x="6757416" y="1554480"/>
            <a:ext cx="2057400" cy="914400"/>
          </a:xfrm>
          <a:prstGeom prst="rect"/>
          <a:solidFill>
            <a:srgbClr val="F5F5F5"/>
          </a:solidFill>
        </p:spPr>
      </p:sp>
      <p:sp>
        <p:nvSpPr>
          <p:cNvPr id="1048854" name="Shape 21"/>
          <p:cNvSpPr/>
          <p:nvPr/>
        </p:nvSpPr>
        <p:spPr>
          <a:xfrm>
            <a:off x="6867144" y="1664208"/>
            <a:ext cx="292608" cy="292608"/>
          </a:xfrm>
          <a:prstGeom prst="ellipse"/>
          <a:solidFill>
            <a:srgbClr val="E50010"/>
          </a:solidFill>
        </p:spPr>
      </p:sp>
      <p:sp>
        <p:nvSpPr>
          <p:cNvPr id="1048855" name="Text 22"/>
          <p:cNvSpPr/>
          <p:nvPr/>
        </p:nvSpPr>
        <p:spPr>
          <a:xfrm>
            <a:off x="6867144" y="1664208"/>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04</a:t>
            </a:r>
            <a:endParaRPr dirty="0" sz="900" lang="en-US"/>
          </a:p>
        </p:txBody>
      </p:sp>
      <p:sp>
        <p:nvSpPr>
          <p:cNvPr id="1048856" name="Text 23"/>
          <p:cNvSpPr/>
          <p:nvPr/>
        </p:nvSpPr>
        <p:spPr>
          <a:xfrm>
            <a:off x="7214616" y="1645920"/>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TikTok Shop &amp; Reels</a:t>
            </a:r>
            <a:endParaRPr dirty="0" sz="1000" lang="en-US"/>
          </a:p>
        </p:txBody>
      </p:sp>
      <p:sp>
        <p:nvSpPr>
          <p:cNvPr id="1048857" name="Text 24"/>
          <p:cNvSpPr/>
          <p:nvPr/>
        </p:nvSpPr>
        <p:spPr>
          <a:xfrm>
            <a:off x="6867144" y="2011680"/>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Creator-led Reels with shoppable links to hm.com/eg.</a:t>
            </a:r>
            <a:endParaRPr dirty="0" sz="850" lang="en-US"/>
          </a:p>
        </p:txBody>
      </p:sp>
      <p:sp>
        <p:nvSpPr>
          <p:cNvPr id="1048858" name="Shape 25"/>
          <p:cNvSpPr/>
          <p:nvPr/>
        </p:nvSpPr>
        <p:spPr>
          <a:xfrm>
            <a:off x="365760" y="2578608"/>
            <a:ext cx="2057400" cy="914400"/>
          </a:xfrm>
          <a:prstGeom prst="rect"/>
          <a:solidFill>
            <a:srgbClr val="F5F5F5"/>
          </a:solidFill>
        </p:spPr>
      </p:sp>
      <p:sp>
        <p:nvSpPr>
          <p:cNvPr id="1048859" name="Shape 26"/>
          <p:cNvSpPr/>
          <p:nvPr/>
        </p:nvSpPr>
        <p:spPr>
          <a:xfrm>
            <a:off x="475488" y="2688336"/>
            <a:ext cx="292608" cy="292608"/>
          </a:xfrm>
          <a:prstGeom prst="ellipse"/>
          <a:solidFill>
            <a:srgbClr val="E50010"/>
          </a:solidFill>
        </p:spPr>
      </p:sp>
      <p:sp>
        <p:nvSpPr>
          <p:cNvPr id="1048860" name="Text 27"/>
          <p:cNvSpPr/>
          <p:nvPr/>
        </p:nvSpPr>
        <p:spPr>
          <a:xfrm>
            <a:off x="475488" y="2688336"/>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05</a:t>
            </a:r>
            <a:endParaRPr dirty="0" sz="900" lang="en-US"/>
          </a:p>
        </p:txBody>
      </p:sp>
      <p:sp>
        <p:nvSpPr>
          <p:cNvPr id="1048861" name="Text 28"/>
          <p:cNvSpPr/>
          <p:nvPr/>
        </p:nvSpPr>
        <p:spPr>
          <a:xfrm>
            <a:off x="822960" y="2670048"/>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Email &amp; SMS Marketing</a:t>
            </a:r>
            <a:endParaRPr dirty="0" sz="1000" lang="en-US"/>
          </a:p>
        </p:txBody>
      </p:sp>
      <p:sp>
        <p:nvSpPr>
          <p:cNvPr id="1048862" name="Text 29"/>
          <p:cNvSpPr/>
          <p:nvPr/>
        </p:nvSpPr>
        <p:spPr>
          <a:xfrm>
            <a:off x="475488" y="3035808"/>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Lifecycle flows in Arabic with COD-first creative.</a:t>
            </a:r>
            <a:endParaRPr dirty="0" sz="850" lang="en-US"/>
          </a:p>
        </p:txBody>
      </p:sp>
      <p:sp>
        <p:nvSpPr>
          <p:cNvPr id="1048863" name="Shape 30"/>
          <p:cNvSpPr/>
          <p:nvPr/>
        </p:nvSpPr>
        <p:spPr>
          <a:xfrm>
            <a:off x="2496312" y="2578608"/>
            <a:ext cx="2057400" cy="914400"/>
          </a:xfrm>
          <a:prstGeom prst="rect"/>
          <a:solidFill>
            <a:srgbClr val="F5F5F5"/>
          </a:solidFill>
        </p:spPr>
      </p:sp>
      <p:sp>
        <p:nvSpPr>
          <p:cNvPr id="1048864" name="Shape 31"/>
          <p:cNvSpPr/>
          <p:nvPr/>
        </p:nvSpPr>
        <p:spPr>
          <a:xfrm>
            <a:off x="2606040" y="2688336"/>
            <a:ext cx="292608" cy="292608"/>
          </a:xfrm>
          <a:prstGeom prst="ellipse"/>
          <a:solidFill>
            <a:srgbClr val="E50010"/>
          </a:solidFill>
        </p:spPr>
      </p:sp>
      <p:sp>
        <p:nvSpPr>
          <p:cNvPr id="1048865" name="Text 32"/>
          <p:cNvSpPr/>
          <p:nvPr/>
        </p:nvSpPr>
        <p:spPr>
          <a:xfrm>
            <a:off x="2606040" y="2688336"/>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06</a:t>
            </a:r>
            <a:endParaRPr dirty="0" sz="900" lang="en-US"/>
          </a:p>
        </p:txBody>
      </p:sp>
      <p:sp>
        <p:nvSpPr>
          <p:cNvPr id="1048866" name="Text 33"/>
          <p:cNvSpPr/>
          <p:nvPr/>
        </p:nvSpPr>
        <p:spPr>
          <a:xfrm>
            <a:off x="2953512" y="2670048"/>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Influencer Marketing</a:t>
            </a:r>
            <a:endParaRPr dirty="0" sz="1000" lang="en-US"/>
          </a:p>
        </p:txBody>
      </p:sp>
      <p:sp>
        <p:nvSpPr>
          <p:cNvPr id="1048867" name="Text 34"/>
          <p:cNvSpPr/>
          <p:nvPr/>
        </p:nvSpPr>
        <p:spPr>
          <a:xfrm>
            <a:off x="2606040" y="3035808"/>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Tiered roster: 5 mega, 20 mid, 100+ nano Egyptian creators.</a:t>
            </a:r>
            <a:endParaRPr dirty="0" sz="850" lang="en-US"/>
          </a:p>
        </p:txBody>
      </p:sp>
      <p:sp>
        <p:nvSpPr>
          <p:cNvPr id="1048868" name="Shape 35"/>
          <p:cNvSpPr/>
          <p:nvPr/>
        </p:nvSpPr>
        <p:spPr>
          <a:xfrm>
            <a:off x="4626864" y="2578608"/>
            <a:ext cx="2057400" cy="914400"/>
          </a:xfrm>
          <a:prstGeom prst="rect"/>
          <a:solidFill>
            <a:srgbClr val="F5F5F5"/>
          </a:solidFill>
        </p:spPr>
      </p:sp>
      <p:sp>
        <p:nvSpPr>
          <p:cNvPr id="1048869" name="Shape 36"/>
          <p:cNvSpPr/>
          <p:nvPr/>
        </p:nvSpPr>
        <p:spPr>
          <a:xfrm>
            <a:off x="4736592" y="2688336"/>
            <a:ext cx="292608" cy="292608"/>
          </a:xfrm>
          <a:prstGeom prst="ellipse"/>
          <a:solidFill>
            <a:srgbClr val="E50010"/>
          </a:solidFill>
        </p:spPr>
      </p:sp>
      <p:sp>
        <p:nvSpPr>
          <p:cNvPr id="1048870" name="Text 37"/>
          <p:cNvSpPr/>
          <p:nvPr/>
        </p:nvSpPr>
        <p:spPr>
          <a:xfrm>
            <a:off x="4736592" y="2688336"/>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07</a:t>
            </a:r>
            <a:endParaRPr dirty="0" sz="900" lang="en-US"/>
          </a:p>
        </p:txBody>
      </p:sp>
      <p:sp>
        <p:nvSpPr>
          <p:cNvPr id="1048871" name="Text 38"/>
          <p:cNvSpPr/>
          <p:nvPr/>
        </p:nvSpPr>
        <p:spPr>
          <a:xfrm>
            <a:off x="5084064" y="2670048"/>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UGC &amp; Reviews</a:t>
            </a:r>
            <a:endParaRPr dirty="0" sz="1000" lang="en-US"/>
          </a:p>
        </p:txBody>
      </p:sp>
      <p:sp>
        <p:nvSpPr>
          <p:cNvPr id="1048872" name="Text 39"/>
          <p:cNvSpPr/>
          <p:nvPr/>
        </p:nvSpPr>
        <p:spPr>
          <a:xfrm>
            <a:off x="4736592" y="3035808"/>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Repost Egyptian customers, run #HMInEgypt challenges.</a:t>
            </a:r>
            <a:endParaRPr dirty="0" sz="850" lang="en-US"/>
          </a:p>
        </p:txBody>
      </p:sp>
      <p:sp>
        <p:nvSpPr>
          <p:cNvPr id="1048873" name="Shape 40"/>
          <p:cNvSpPr/>
          <p:nvPr/>
        </p:nvSpPr>
        <p:spPr>
          <a:xfrm>
            <a:off x="6757416" y="2578608"/>
            <a:ext cx="2057400" cy="914400"/>
          </a:xfrm>
          <a:prstGeom prst="rect"/>
          <a:solidFill>
            <a:srgbClr val="F5F5F5"/>
          </a:solidFill>
        </p:spPr>
      </p:sp>
      <p:sp>
        <p:nvSpPr>
          <p:cNvPr id="1048874" name="Shape 41"/>
          <p:cNvSpPr/>
          <p:nvPr/>
        </p:nvSpPr>
        <p:spPr>
          <a:xfrm>
            <a:off x="6867144" y="2688336"/>
            <a:ext cx="292608" cy="292608"/>
          </a:xfrm>
          <a:prstGeom prst="ellipse"/>
          <a:solidFill>
            <a:srgbClr val="E50010"/>
          </a:solidFill>
        </p:spPr>
      </p:sp>
      <p:sp>
        <p:nvSpPr>
          <p:cNvPr id="1048875" name="Text 42"/>
          <p:cNvSpPr/>
          <p:nvPr/>
        </p:nvSpPr>
        <p:spPr>
          <a:xfrm>
            <a:off x="6867144" y="2688336"/>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08</a:t>
            </a:r>
            <a:endParaRPr dirty="0" sz="900" lang="en-US"/>
          </a:p>
        </p:txBody>
      </p:sp>
      <p:sp>
        <p:nvSpPr>
          <p:cNvPr id="1048876" name="Text 43"/>
          <p:cNvSpPr/>
          <p:nvPr/>
        </p:nvSpPr>
        <p:spPr>
          <a:xfrm>
            <a:off x="7214616" y="2670048"/>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AI &amp; Personalisation</a:t>
            </a:r>
            <a:endParaRPr dirty="0" sz="1000" lang="en-US"/>
          </a:p>
        </p:txBody>
      </p:sp>
      <p:sp>
        <p:nvSpPr>
          <p:cNvPr id="1048877" name="Text 44"/>
          <p:cNvSpPr/>
          <p:nvPr/>
        </p:nvSpPr>
        <p:spPr>
          <a:xfrm>
            <a:off x="6867144" y="3035808"/>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AI stylist, AR try-on, smart search on hm.com/eg.</a:t>
            </a:r>
            <a:endParaRPr dirty="0" sz="850" lang="en-US"/>
          </a:p>
        </p:txBody>
      </p:sp>
      <p:sp>
        <p:nvSpPr>
          <p:cNvPr id="1048878" name="Shape 45"/>
          <p:cNvSpPr/>
          <p:nvPr/>
        </p:nvSpPr>
        <p:spPr>
          <a:xfrm>
            <a:off x="365760" y="3602736"/>
            <a:ext cx="2057400" cy="914400"/>
          </a:xfrm>
          <a:prstGeom prst="rect"/>
          <a:solidFill>
            <a:srgbClr val="F5F5F5"/>
          </a:solidFill>
        </p:spPr>
      </p:sp>
      <p:sp>
        <p:nvSpPr>
          <p:cNvPr id="1048879" name="Shape 46"/>
          <p:cNvSpPr/>
          <p:nvPr/>
        </p:nvSpPr>
        <p:spPr>
          <a:xfrm>
            <a:off x="475488" y="3712464"/>
            <a:ext cx="292608" cy="292608"/>
          </a:xfrm>
          <a:prstGeom prst="ellipse"/>
          <a:solidFill>
            <a:srgbClr val="E50010"/>
          </a:solidFill>
        </p:spPr>
      </p:sp>
      <p:sp>
        <p:nvSpPr>
          <p:cNvPr id="1048880" name="Text 47"/>
          <p:cNvSpPr/>
          <p:nvPr/>
        </p:nvSpPr>
        <p:spPr>
          <a:xfrm>
            <a:off x="475488" y="3712464"/>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09</a:t>
            </a:r>
            <a:endParaRPr dirty="0" sz="900" lang="en-US"/>
          </a:p>
        </p:txBody>
      </p:sp>
      <p:sp>
        <p:nvSpPr>
          <p:cNvPr id="1048881" name="Text 48"/>
          <p:cNvSpPr/>
          <p:nvPr/>
        </p:nvSpPr>
        <p:spPr>
          <a:xfrm>
            <a:off x="822960" y="3694176"/>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Marketing Automation</a:t>
            </a:r>
            <a:endParaRPr dirty="0" sz="1000" lang="en-US"/>
          </a:p>
        </p:txBody>
      </p:sp>
      <p:sp>
        <p:nvSpPr>
          <p:cNvPr id="1048882" name="Text 49"/>
          <p:cNvSpPr/>
          <p:nvPr/>
        </p:nvSpPr>
        <p:spPr>
          <a:xfrm>
            <a:off x="475488" y="4059936"/>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Abandoned-cart SMS, COD reminders, win-back flows.</a:t>
            </a:r>
            <a:endParaRPr dirty="0" sz="850" lang="en-US"/>
          </a:p>
        </p:txBody>
      </p:sp>
      <p:sp>
        <p:nvSpPr>
          <p:cNvPr id="1048883" name="Shape 50"/>
          <p:cNvSpPr/>
          <p:nvPr/>
        </p:nvSpPr>
        <p:spPr>
          <a:xfrm>
            <a:off x="2496312" y="3602736"/>
            <a:ext cx="2057400" cy="914400"/>
          </a:xfrm>
          <a:prstGeom prst="rect"/>
          <a:solidFill>
            <a:srgbClr val="F5F5F5"/>
          </a:solidFill>
        </p:spPr>
      </p:sp>
      <p:sp>
        <p:nvSpPr>
          <p:cNvPr id="1048884" name="Shape 51"/>
          <p:cNvSpPr/>
          <p:nvPr/>
        </p:nvSpPr>
        <p:spPr>
          <a:xfrm>
            <a:off x="2606040" y="3712464"/>
            <a:ext cx="292608" cy="292608"/>
          </a:xfrm>
          <a:prstGeom prst="ellipse"/>
          <a:solidFill>
            <a:srgbClr val="E50010"/>
          </a:solidFill>
        </p:spPr>
      </p:sp>
      <p:sp>
        <p:nvSpPr>
          <p:cNvPr id="1048885" name="Text 52"/>
          <p:cNvSpPr/>
          <p:nvPr/>
        </p:nvSpPr>
        <p:spPr>
          <a:xfrm>
            <a:off x="2606040" y="3712464"/>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10</a:t>
            </a:r>
            <a:endParaRPr dirty="0" sz="900" lang="en-US"/>
          </a:p>
        </p:txBody>
      </p:sp>
      <p:sp>
        <p:nvSpPr>
          <p:cNvPr id="1048886" name="Text 53"/>
          <p:cNvSpPr/>
          <p:nvPr/>
        </p:nvSpPr>
        <p:spPr>
          <a:xfrm>
            <a:off x="2953512" y="3694176"/>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Mobile Experience</a:t>
            </a:r>
            <a:endParaRPr dirty="0" sz="1000" lang="en-US"/>
          </a:p>
        </p:txBody>
      </p:sp>
      <p:sp>
        <p:nvSpPr>
          <p:cNvPr id="1048887" name="Text 54"/>
          <p:cNvSpPr/>
          <p:nvPr/>
        </p:nvSpPr>
        <p:spPr>
          <a:xfrm>
            <a:off x="2606040" y="4059936"/>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Faster checkout, Apple Pay support, COD as default.</a:t>
            </a:r>
            <a:endParaRPr dirty="0" sz="850" lang="en-US"/>
          </a:p>
        </p:txBody>
      </p:sp>
      <p:sp>
        <p:nvSpPr>
          <p:cNvPr id="1048888" name="Shape 55"/>
          <p:cNvSpPr/>
          <p:nvPr/>
        </p:nvSpPr>
        <p:spPr>
          <a:xfrm>
            <a:off x="4626864" y="3602736"/>
            <a:ext cx="2057400" cy="914400"/>
          </a:xfrm>
          <a:prstGeom prst="rect"/>
          <a:solidFill>
            <a:srgbClr val="F5F5F5"/>
          </a:solidFill>
        </p:spPr>
      </p:sp>
      <p:sp>
        <p:nvSpPr>
          <p:cNvPr id="1048889" name="Shape 56"/>
          <p:cNvSpPr/>
          <p:nvPr/>
        </p:nvSpPr>
        <p:spPr>
          <a:xfrm>
            <a:off x="4736592" y="3712464"/>
            <a:ext cx="292608" cy="292608"/>
          </a:xfrm>
          <a:prstGeom prst="ellipse"/>
          <a:solidFill>
            <a:srgbClr val="E50010"/>
          </a:solidFill>
        </p:spPr>
      </p:sp>
      <p:sp>
        <p:nvSpPr>
          <p:cNvPr id="1048890" name="Text 57"/>
          <p:cNvSpPr/>
          <p:nvPr/>
        </p:nvSpPr>
        <p:spPr>
          <a:xfrm>
            <a:off x="4736592" y="3712464"/>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11</a:t>
            </a:r>
            <a:endParaRPr dirty="0" sz="900" lang="en-US"/>
          </a:p>
        </p:txBody>
      </p:sp>
      <p:sp>
        <p:nvSpPr>
          <p:cNvPr id="1048891" name="Text 58"/>
          <p:cNvSpPr/>
          <p:nvPr/>
        </p:nvSpPr>
        <p:spPr>
          <a:xfrm>
            <a:off x="5084064" y="3694176"/>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Loyalty Program</a:t>
            </a:r>
            <a:endParaRPr dirty="0" sz="1000" lang="en-US"/>
          </a:p>
        </p:txBody>
      </p:sp>
      <p:sp>
        <p:nvSpPr>
          <p:cNvPr id="1048892" name="Text 59"/>
          <p:cNvSpPr/>
          <p:nvPr/>
        </p:nvSpPr>
        <p:spPr>
          <a:xfrm>
            <a:off x="4736592" y="4059936"/>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Egypt-only H&amp;M Member benefits and early access drops.</a:t>
            </a:r>
            <a:endParaRPr dirty="0" sz="850" lang="en-US"/>
          </a:p>
        </p:txBody>
      </p:sp>
      <p:sp>
        <p:nvSpPr>
          <p:cNvPr id="1048893" name="Shape 60"/>
          <p:cNvSpPr/>
          <p:nvPr/>
        </p:nvSpPr>
        <p:spPr>
          <a:xfrm>
            <a:off x="6757416" y="3602736"/>
            <a:ext cx="2057400" cy="914400"/>
          </a:xfrm>
          <a:prstGeom prst="rect"/>
          <a:solidFill>
            <a:srgbClr val="F5F5F5"/>
          </a:solidFill>
        </p:spPr>
      </p:sp>
      <p:sp>
        <p:nvSpPr>
          <p:cNvPr id="1048894" name="Shape 61"/>
          <p:cNvSpPr/>
          <p:nvPr/>
        </p:nvSpPr>
        <p:spPr>
          <a:xfrm>
            <a:off x="6867144" y="3712464"/>
            <a:ext cx="292608" cy="292608"/>
          </a:xfrm>
          <a:prstGeom prst="ellipse"/>
          <a:solidFill>
            <a:srgbClr val="E50010"/>
          </a:solidFill>
        </p:spPr>
      </p:sp>
      <p:sp>
        <p:nvSpPr>
          <p:cNvPr id="1048895" name="Text 62"/>
          <p:cNvSpPr/>
          <p:nvPr/>
        </p:nvSpPr>
        <p:spPr>
          <a:xfrm>
            <a:off x="6867144" y="3712464"/>
            <a:ext cx="292608" cy="292608"/>
          </a:xfrm>
          <a:prstGeom prst="rect"/>
          <a:noFill/>
        </p:spPr>
        <p:txBody>
          <a:bodyPr anchor="ctr" bIns="0" lIns="0" rIns="0" rtlCol="0" tIns="0" wrap="square"/>
          <a:p>
            <a:pPr algn="ctr" indent="0" marL="0">
              <a:buNone/>
            </a:pPr>
            <a:r>
              <a:rPr b="1" dirty="0" sz="900" lang="en-US">
                <a:solidFill>
                  <a:srgbClr val="FFFFFF"/>
                </a:solidFill>
                <a:latin typeface="Arial" pitchFamily="34" charset="0"/>
                <a:ea typeface="Arial" pitchFamily="34" charset="-122"/>
                <a:cs typeface="Arial" pitchFamily="34" charset="-120"/>
              </a:rPr>
              <a:t>12</a:t>
            </a:r>
            <a:endParaRPr dirty="0" sz="900" lang="en-US"/>
          </a:p>
        </p:txBody>
      </p:sp>
      <p:sp>
        <p:nvSpPr>
          <p:cNvPr id="1048896" name="Text 63"/>
          <p:cNvSpPr/>
          <p:nvPr/>
        </p:nvSpPr>
        <p:spPr>
          <a:xfrm>
            <a:off x="7214616" y="3694176"/>
            <a:ext cx="1508760" cy="329184"/>
          </a:xfrm>
          <a:prstGeom prst="rect"/>
          <a:noFill/>
        </p:spPr>
        <p:txBody>
          <a:bodyPr anchor="ctr" bIns="0" lIns="0" rIns="0" rtlCol="0" tIns="0" wrap="square"/>
          <a:p>
            <a:pPr indent="0" marL="0">
              <a:buNone/>
            </a:pPr>
            <a:r>
              <a:rPr b="1" dirty="0" sz="1000" lang="en-US">
                <a:solidFill>
                  <a:srgbClr val="111111"/>
                </a:solidFill>
                <a:latin typeface="Arial" pitchFamily="34" charset="0"/>
                <a:ea typeface="Arial" pitchFamily="34" charset="-122"/>
                <a:cs typeface="Arial" pitchFamily="34" charset="-120"/>
              </a:rPr>
              <a:t>Local Campaigns</a:t>
            </a:r>
            <a:endParaRPr dirty="0" sz="1000" lang="en-US"/>
          </a:p>
        </p:txBody>
      </p:sp>
      <p:sp>
        <p:nvSpPr>
          <p:cNvPr id="1048897" name="Text 64"/>
          <p:cNvSpPr/>
          <p:nvPr/>
        </p:nvSpPr>
        <p:spPr>
          <a:xfrm>
            <a:off x="6867144" y="4059936"/>
            <a:ext cx="1856232" cy="411480"/>
          </a:xfrm>
          <a:prstGeom prst="rect"/>
          <a:noFill/>
        </p:spPr>
        <p:txBody>
          <a:bodyPr anchor="ctr" bIns="0" lIns="0" rIns="0" rtlCol="0" tIns="0" wrap="square"/>
          <a:p>
            <a:pPr indent="0" marL="0">
              <a:buNone/>
            </a:pPr>
            <a:r>
              <a:rPr dirty="0" sz="850" lang="en-US">
                <a:solidFill>
                  <a:srgbClr val="6B6B6B"/>
                </a:solidFill>
                <a:latin typeface="Arial" pitchFamily="34" charset="0"/>
                <a:ea typeface="Arial" pitchFamily="34" charset="-122"/>
                <a:cs typeface="Arial" pitchFamily="34" charset="-120"/>
              </a:rPr>
              <a:t>Ramadan, Eid, White Friday, Back-to-School capsules.</a:t>
            </a:r>
            <a:endParaRPr dirty="0" sz="850" lang="en-US"/>
          </a:p>
        </p:txBody>
      </p:sp>
      <p:sp>
        <p:nvSpPr>
          <p:cNvPr id="1048898" name="Text 65"/>
          <p:cNvSpPr/>
          <p:nvPr/>
        </p:nvSpPr>
        <p:spPr>
          <a:xfrm>
            <a:off x="8503920" y="4663440"/>
            <a:ext cx="457200" cy="27432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09</a:t>
            </a:r>
            <a:endParaRPr dirty="0" sz="10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43" name=""/>
        <p:cNvGrpSpPr/>
        <p:nvPr/>
      </p:nvGrpSpPr>
      <p:grpSpPr>
        <a:xfrm>
          <a:off x="0" y="0"/>
          <a:ext cx="0" cy="0"/>
          <a:chOff x="0" y="0"/>
          <a:chExt cx="0" cy="0"/>
        </a:xfrm>
      </p:grpSpPr>
      <p:sp>
        <p:nvSpPr>
          <p:cNvPr id="1048902" name="Shape 0"/>
          <p:cNvSpPr/>
          <p:nvPr/>
        </p:nvSpPr>
        <p:spPr>
          <a:xfrm>
            <a:off x="0" y="0"/>
            <a:ext cx="9144000" cy="502920"/>
          </a:xfrm>
          <a:prstGeom prst="rect"/>
          <a:solidFill>
            <a:srgbClr val="111111"/>
          </a:solidFill>
        </p:spPr>
      </p:sp>
      <p:sp>
        <p:nvSpPr>
          <p:cNvPr id="1048903" name="Text 1"/>
          <p:cNvSpPr/>
          <p:nvPr/>
        </p:nvSpPr>
        <p:spPr>
          <a:xfrm>
            <a:off x="365760" y="0"/>
            <a:ext cx="5486400" cy="502920"/>
          </a:xfrm>
          <a:prstGeom prst="rect"/>
          <a:noFill/>
        </p:spPr>
        <p:txBody>
          <a:bodyPr anchor="ctr" bIns="0" lIns="0" rIns="0" rtlCol="0" tIns="0" wrap="square"/>
          <a:p>
            <a:pPr indent="0" marL="0">
              <a:buNone/>
            </a:pPr>
            <a:r>
              <a:rPr b="1" dirty="0" sz="1000" kern="0" lang="en-US" spc="300">
                <a:solidFill>
                  <a:srgbClr val="FFFFFF"/>
                </a:solidFill>
                <a:latin typeface="Arial" pitchFamily="34" charset="0"/>
                <a:ea typeface="Arial" pitchFamily="34" charset="-122"/>
                <a:cs typeface="Arial" pitchFamily="34" charset="-120"/>
              </a:rPr>
              <a:t>H&amp;M EGYPT  |  DIGITAL SITUATION ANALYSIS</a:t>
            </a:r>
            <a:endParaRPr dirty="0" sz="1000" lang="en-US"/>
          </a:p>
        </p:txBody>
      </p:sp>
      <p:sp>
        <p:nvSpPr>
          <p:cNvPr id="1048904" name="Text 2"/>
          <p:cNvSpPr/>
          <p:nvPr/>
        </p:nvSpPr>
        <p:spPr>
          <a:xfrm>
            <a:off x="5029200" y="0"/>
            <a:ext cx="3749040" cy="502920"/>
          </a:xfrm>
          <a:prstGeom prst="rect"/>
          <a:noFill/>
        </p:spPr>
        <p:txBody>
          <a:bodyPr anchor="ctr" bIns="0" lIns="0" rIns="0" rtlCol="0" tIns="0" wrap="square"/>
          <a:p>
            <a:pPr algn="r" indent="0" marL="0">
              <a:buNone/>
            </a:pPr>
            <a:r>
              <a:rPr b="1" dirty="0" sz="1000" kern="0" lang="en-US" spc="300">
                <a:solidFill>
                  <a:srgbClr val="FFFFFF"/>
                </a:solidFill>
                <a:latin typeface="Arial" pitchFamily="34" charset="0"/>
                <a:ea typeface="Arial" pitchFamily="34" charset="-122"/>
                <a:cs typeface="Arial" pitchFamily="34" charset="-120"/>
              </a:rPr>
              <a:t>09 - Recommendations</a:t>
            </a:r>
            <a:endParaRPr dirty="0" sz="1000" lang="en-US"/>
          </a:p>
        </p:txBody>
      </p:sp>
      <p:sp>
        <p:nvSpPr>
          <p:cNvPr id="1048905" name="Text 3"/>
          <p:cNvSpPr/>
          <p:nvPr/>
        </p:nvSpPr>
        <p:spPr>
          <a:xfrm>
            <a:off x="365760" y="685800"/>
            <a:ext cx="8412480" cy="502920"/>
          </a:xfrm>
          <a:prstGeom prst="rect"/>
          <a:noFill/>
        </p:spPr>
        <p:txBody>
          <a:bodyPr anchor="ctr" bIns="0" lIns="0" rIns="0" rtlCol="0" tIns="0" wrap="square"/>
          <a:p>
            <a:pPr indent="0" marL="0">
              <a:buNone/>
            </a:pPr>
            <a:r>
              <a:rPr b="1" dirty="0" sz="2800" lang="en-US">
                <a:solidFill>
                  <a:srgbClr val="111111"/>
                </a:solidFill>
                <a:latin typeface="Arial" pitchFamily="34" charset="0"/>
                <a:ea typeface="Arial" pitchFamily="34" charset="-122"/>
                <a:cs typeface="Arial" pitchFamily="34" charset="-120"/>
              </a:rPr>
              <a:t>10 Recommendations for H&amp;M Egypt</a:t>
            </a:r>
            <a:endParaRPr dirty="0" sz="2800" lang="en-US"/>
          </a:p>
        </p:txBody>
      </p:sp>
      <p:sp>
        <p:nvSpPr>
          <p:cNvPr id="1048906" name="Text 4"/>
          <p:cNvSpPr/>
          <p:nvPr/>
        </p:nvSpPr>
        <p:spPr>
          <a:xfrm>
            <a:off x="365760" y="1188720"/>
            <a:ext cx="8412480" cy="274320"/>
          </a:xfrm>
          <a:prstGeom prst="rect"/>
          <a:noFill/>
        </p:spPr>
        <p:txBody>
          <a:bodyPr anchor="ctr" bIns="0" lIns="0" rIns="0" rtlCol="0" tIns="0" wrap="square"/>
          <a:p>
            <a:pPr indent="0" marL="0">
              <a:buNone/>
            </a:pPr>
            <a:r>
              <a:rPr dirty="0" sz="1300" i="1" lang="en-US">
                <a:solidFill>
                  <a:srgbClr val="6B6B6B"/>
                </a:solidFill>
                <a:latin typeface="Arial" pitchFamily="34" charset="0"/>
                <a:ea typeface="Arial" pitchFamily="34" charset="-122"/>
                <a:cs typeface="Arial" pitchFamily="34" charset="-120"/>
              </a:rPr>
              <a:t>Actionable, Egypt-first priorities for 2025</a:t>
            </a:r>
            <a:endParaRPr dirty="0" sz="1300" lang="en-US"/>
          </a:p>
        </p:txBody>
      </p:sp>
      <p:sp>
        <p:nvSpPr>
          <p:cNvPr id="1048907" name="Shape 5"/>
          <p:cNvSpPr/>
          <p:nvPr/>
        </p:nvSpPr>
        <p:spPr>
          <a:xfrm>
            <a:off x="365760" y="1508760"/>
            <a:ext cx="4160520" cy="640080"/>
          </a:xfrm>
          <a:prstGeom prst="rect"/>
          <a:solidFill>
            <a:srgbClr val="FFFFFF"/>
          </a:solidFill>
          <a:ln w="12700">
            <a:solidFill>
              <a:srgbClr val="E5E5E5"/>
            </a:solidFill>
            <a:prstDash val="solid"/>
          </a:ln>
        </p:spPr>
      </p:sp>
      <p:sp>
        <p:nvSpPr>
          <p:cNvPr id="1048908" name="Shape 6"/>
          <p:cNvSpPr/>
          <p:nvPr/>
        </p:nvSpPr>
        <p:spPr>
          <a:xfrm>
            <a:off x="365760" y="1508760"/>
            <a:ext cx="73152" cy="640080"/>
          </a:xfrm>
          <a:prstGeom prst="rect"/>
          <a:solidFill>
            <a:srgbClr val="E50010"/>
          </a:solidFill>
        </p:spPr>
      </p:sp>
      <p:sp>
        <p:nvSpPr>
          <p:cNvPr id="1048909" name="Text 7"/>
          <p:cNvSpPr/>
          <p:nvPr/>
        </p:nvSpPr>
        <p:spPr>
          <a:xfrm>
            <a:off x="530352" y="1508760"/>
            <a:ext cx="548640" cy="640080"/>
          </a:xfrm>
          <a:prstGeom prst="rect"/>
          <a:noFill/>
        </p:spPr>
        <p:txBody>
          <a:bodyPr anchor="ctr" bIns="0" lIns="0" rIns="0" rtlCol="0" tIns="0" wrap="square"/>
          <a:p>
            <a:pPr indent="0" marL="0">
              <a:buNone/>
            </a:pPr>
            <a:r>
              <a:rPr b="1" dirty="0" sz="2200" lang="en-US">
                <a:solidFill>
                  <a:srgbClr val="E50010"/>
                </a:solidFill>
                <a:latin typeface="Arial" pitchFamily="34" charset="0"/>
                <a:ea typeface="Arial" pitchFamily="34" charset="-122"/>
                <a:cs typeface="Arial" pitchFamily="34" charset="-120"/>
              </a:rPr>
              <a:t>01</a:t>
            </a:r>
            <a:endParaRPr dirty="0" sz="2200" lang="en-US"/>
          </a:p>
        </p:txBody>
      </p:sp>
      <p:sp>
        <p:nvSpPr>
          <p:cNvPr id="1048910" name="Text 8"/>
          <p:cNvSpPr/>
          <p:nvPr/>
        </p:nvSpPr>
        <p:spPr>
          <a:xfrm>
            <a:off x="1097280" y="1508760"/>
            <a:ext cx="1554480" cy="640080"/>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Ramadan Capsule</a:t>
            </a:r>
            <a:endParaRPr dirty="0" sz="1100" lang="en-US"/>
          </a:p>
        </p:txBody>
      </p:sp>
      <p:sp>
        <p:nvSpPr>
          <p:cNvPr id="1048911" name="Text 9"/>
          <p:cNvSpPr/>
          <p:nvPr/>
        </p:nvSpPr>
        <p:spPr>
          <a:xfrm>
            <a:off x="2651760" y="1508760"/>
            <a:ext cx="1783080" cy="64008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Launch an Egypt-only Ramadan collection with Iftar lookbooks and Egypt creator styling.</a:t>
            </a:r>
            <a:endParaRPr dirty="0" sz="900" lang="en-US"/>
          </a:p>
        </p:txBody>
      </p:sp>
      <p:sp>
        <p:nvSpPr>
          <p:cNvPr id="1048912" name="Shape 10"/>
          <p:cNvSpPr/>
          <p:nvPr/>
        </p:nvSpPr>
        <p:spPr>
          <a:xfrm>
            <a:off x="4617720" y="1508760"/>
            <a:ext cx="4160520" cy="640080"/>
          </a:xfrm>
          <a:prstGeom prst="rect"/>
          <a:solidFill>
            <a:srgbClr val="FFFFFF"/>
          </a:solidFill>
          <a:ln w="12700">
            <a:solidFill>
              <a:srgbClr val="E5E5E5"/>
            </a:solidFill>
            <a:prstDash val="solid"/>
          </a:ln>
        </p:spPr>
      </p:sp>
      <p:sp>
        <p:nvSpPr>
          <p:cNvPr id="1048913" name="Shape 11"/>
          <p:cNvSpPr/>
          <p:nvPr/>
        </p:nvSpPr>
        <p:spPr>
          <a:xfrm>
            <a:off x="4617720" y="1508760"/>
            <a:ext cx="73152" cy="640080"/>
          </a:xfrm>
          <a:prstGeom prst="rect"/>
          <a:solidFill>
            <a:srgbClr val="E50010"/>
          </a:solidFill>
        </p:spPr>
      </p:sp>
      <p:sp>
        <p:nvSpPr>
          <p:cNvPr id="1048914" name="Text 12"/>
          <p:cNvSpPr/>
          <p:nvPr/>
        </p:nvSpPr>
        <p:spPr>
          <a:xfrm>
            <a:off x="4782312" y="1508760"/>
            <a:ext cx="548640" cy="640080"/>
          </a:xfrm>
          <a:prstGeom prst="rect"/>
          <a:noFill/>
        </p:spPr>
        <p:txBody>
          <a:bodyPr anchor="ctr" bIns="0" lIns="0" rIns="0" rtlCol="0" tIns="0" wrap="square"/>
          <a:p>
            <a:pPr indent="0" marL="0">
              <a:buNone/>
            </a:pPr>
            <a:r>
              <a:rPr b="1" dirty="0" sz="2200" lang="en-US">
                <a:solidFill>
                  <a:srgbClr val="E50010"/>
                </a:solidFill>
                <a:latin typeface="Arial" pitchFamily="34" charset="0"/>
                <a:ea typeface="Arial" pitchFamily="34" charset="-122"/>
                <a:cs typeface="Arial" pitchFamily="34" charset="-120"/>
              </a:rPr>
              <a:t>02</a:t>
            </a:r>
            <a:endParaRPr dirty="0" sz="2200" lang="en-US"/>
          </a:p>
        </p:txBody>
      </p:sp>
      <p:sp>
        <p:nvSpPr>
          <p:cNvPr id="1048915" name="Text 13"/>
          <p:cNvSpPr/>
          <p:nvPr/>
        </p:nvSpPr>
        <p:spPr>
          <a:xfrm>
            <a:off x="5349240" y="1508760"/>
            <a:ext cx="1554480" cy="640080"/>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White Friday Push</a:t>
            </a:r>
            <a:endParaRPr dirty="0" sz="1100" lang="en-US"/>
          </a:p>
        </p:txBody>
      </p:sp>
      <p:sp>
        <p:nvSpPr>
          <p:cNvPr id="1048916" name="Text 14"/>
          <p:cNvSpPr/>
          <p:nvPr/>
        </p:nvSpPr>
        <p:spPr>
          <a:xfrm>
            <a:off x="6903720" y="1508760"/>
            <a:ext cx="1783080" cy="64008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30-day countdown on Reels and Stories, COD-friendly bundles, MENA app push.</a:t>
            </a:r>
            <a:endParaRPr dirty="0" sz="900" lang="en-US"/>
          </a:p>
        </p:txBody>
      </p:sp>
      <p:sp>
        <p:nvSpPr>
          <p:cNvPr id="1048917" name="Shape 15"/>
          <p:cNvSpPr/>
          <p:nvPr/>
        </p:nvSpPr>
        <p:spPr>
          <a:xfrm>
            <a:off x="365760" y="2212848"/>
            <a:ext cx="4160520" cy="640080"/>
          </a:xfrm>
          <a:prstGeom prst="rect"/>
          <a:solidFill>
            <a:srgbClr val="FFFFFF"/>
          </a:solidFill>
          <a:ln w="12700">
            <a:solidFill>
              <a:srgbClr val="E5E5E5"/>
            </a:solidFill>
            <a:prstDash val="solid"/>
          </a:ln>
        </p:spPr>
      </p:sp>
      <p:sp>
        <p:nvSpPr>
          <p:cNvPr id="1048918" name="Shape 16"/>
          <p:cNvSpPr/>
          <p:nvPr/>
        </p:nvSpPr>
        <p:spPr>
          <a:xfrm>
            <a:off x="365760" y="2212848"/>
            <a:ext cx="73152" cy="640080"/>
          </a:xfrm>
          <a:prstGeom prst="rect"/>
          <a:solidFill>
            <a:srgbClr val="E50010"/>
          </a:solidFill>
        </p:spPr>
      </p:sp>
      <p:sp>
        <p:nvSpPr>
          <p:cNvPr id="1048919" name="Text 17"/>
          <p:cNvSpPr/>
          <p:nvPr/>
        </p:nvSpPr>
        <p:spPr>
          <a:xfrm>
            <a:off x="530352" y="2212848"/>
            <a:ext cx="548640" cy="640080"/>
          </a:xfrm>
          <a:prstGeom prst="rect"/>
          <a:noFill/>
        </p:spPr>
        <p:txBody>
          <a:bodyPr anchor="ctr" bIns="0" lIns="0" rIns="0" rtlCol="0" tIns="0" wrap="square"/>
          <a:p>
            <a:pPr indent="0" marL="0">
              <a:buNone/>
            </a:pPr>
            <a:r>
              <a:rPr b="1" dirty="0" sz="2200" lang="en-US">
                <a:solidFill>
                  <a:srgbClr val="E50010"/>
                </a:solidFill>
                <a:latin typeface="Arial" pitchFamily="34" charset="0"/>
                <a:ea typeface="Arial" pitchFamily="34" charset="-122"/>
                <a:cs typeface="Arial" pitchFamily="34" charset="-120"/>
              </a:rPr>
              <a:t>03</a:t>
            </a:r>
            <a:endParaRPr dirty="0" sz="2200" lang="en-US"/>
          </a:p>
        </p:txBody>
      </p:sp>
      <p:sp>
        <p:nvSpPr>
          <p:cNvPr id="1048920" name="Text 18"/>
          <p:cNvSpPr/>
          <p:nvPr/>
        </p:nvSpPr>
        <p:spPr>
          <a:xfrm>
            <a:off x="1097280" y="2212848"/>
            <a:ext cx="1554480" cy="640080"/>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COD-First Checkout</a:t>
            </a:r>
            <a:endParaRPr dirty="0" sz="1100" lang="en-US"/>
          </a:p>
        </p:txBody>
      </p:sp>
      <p:sp>
        <p:nvSpPr>
          <p:cNvPr id="1048921" name="Text 19"/>
          <p:cNvSpPr/>
          <p:nvPr/>
        </p:nvSpPr>
        <p:spPr>
          <a:xfrm>
            <a:off x="2651760" y="2212848"/>
            <a:ext cx="1783080" cy="64008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Make Cash on Delivery the default payment option in the Egyptian funnel.</a:t>
            </a:r>
            <a:endParaRPr dirty="0" sz="900" lang="en-US"/>
          </a:p>
        </p:txBody>
      </p:sp>
      <p:sp>
        <p:nvSpPr>
          <p:cNvPr id="1048922" name="Shape 20"/>
          <p:cNvSpPr/>
          <p:nvPr/>
        </p:nvSpPr>
        <p:spPr>
          <a:xfrm>
            <a:off x="4617720" y="2212848"/>
            <a:ext cx="4160520" cy="640080"/>
          </a:xfrm>
          <a:prstGeom prst="rect"/>
          <a:solidFill>
            <a:srgbClr val="FFFFFF"/>
          </a:solidFill>
          <a:ln w="12700">
            <a:solidFill>
              <a:srgbClr val="E5E5E5"/>
            </a:solidFill>
            <a:prstDash val="solid"/>
          </a:ln>
        </p:spPr>
      </p:sp>
      <p:sp>
        <p:nvSpPr>
          <p:cNvPr id="1048923" name="Shape 21"/>
          <p:cNvSpPr/>
          <p:nvPr/>
        </p:nvSpPr>
        <p:spPr>
          <a:xfrm>
            <a:off x="4617720" y="2212848"/>
            <a:ext cx="73152" cy="640080"/>
          </a:xfrm>
          <a:prstGeom prst="rect"/>
          <a:solidFill>
            <a:srgbClr val="E50010"/>
          </a:solidFill>
        </p:spPr>
      </p:sp>
      <p:sp>
        <p:nvSpPr>
          <p:cNvPr id="1048924" name="Text 22"/>
          <p:cNvSpPr/>
          <p:nvPr/>
        </p:nvSpPr>
        <p:spPr>
          <a:xfrm>
            <a:off x="4782312" y="2212848"/>
            <a:ext cx="548640" cy="640080"/>
          </a:xfrm>
          <a:prstGeom prst="rect"/>
          <a:noFill/>
        </p:spPr>
        <p:txBody>
          <a:bodyPr anchor="ctr" bIns="0" lIns="0" rIns="0" rtlCol="0" tIns="0" wrap="square"/>
          <a:p>
            <a:pPr indent="0" marL="0">
              <a:buNone/>
            </a:pPr>
            <a:r>
              <a:rPr b="1" dirty="0" sz="2200" lang="en-US">
                <a:solidFill>
                  <a:srgbClr val="E50010"/>
                </a:solidFill>
                <a:latin typeface="Arial" pitchFamily="34" charset="0"/>
                <a:ea typeface="Arial" pitchFamily="34" charset="-122"/>
                <a:cs typeface="Arial" pitchFamily="34" charset="-120"/>
              </a:rPr>
              <a:t>04</a:t>
            </a:r>
            <a:endParaRPr dirty="0" sz="2200" lang="en-US"/>
          </a:p>
        </p:txBody>
      </p:sp>
      <p:sp>
        <p:nvSpPr>
          <p:cNvPr id="1048925" name="Text 23"/>
          <p:cNvSpPr/>
          <p:nvPr/>
        </p:nvSpPr>
        <p:spPr>
          <a:xfrm>
            <a:off x="5349240" y="2212848"/>
            <a:ext cx="1554480" cy="640080"/>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Arabic Content Engine</a:t>
            </a:r>
            <a:endParaRPr dirty="0" sz="1100" lang="en-US"/>
          </a:p>
        </p:txBody>
      </p:sp>
      <p:sp>
        <p:nvSpPr>
          <p:cNvPr id="1048926" name="Text 24"/>
          <p:cNvSpPr/>
          <p:nvPr/>
        </p:nvSpPr>
        <p:spPr>
          <a:xfrm>
            <a:off x="6903720" y="2212848"/>
            <a:ext cx="1783080" cy="64008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Localise at least 70% of social copy into Egyptian Arabic with Arabic-first Reels.</a:t>
            </a:r>
            <a:endParaRPr dirty="0" sz="900" lang="en-US"/>
          </a:p>
        </p:txBody>
      </p:sp>
      <p:sp>
        <p:nvSpPr>
          <p:cNvPr id="1048927" name="Shape 25"/>
          <p:cNvSpPr/>
          <p:nvPr/>
        </p:nvSpPr>
        <p:spPr>
          <a:xfrm>
            <a:off x="365760" y="2916936"/>
            <a:ext cx="4160520" cy="640080"/>
          </a:xfrm>
          <a:prstGeom prst="rect"/>
          <a:solidFill>
            <a:srgbClr val="FFFFFF"/>
          </a:solidFill>
          <a:ln w="12700">
            <a:solidFill>
              <a:srgbClr val="E5E5E5"/>
            </a:solidFill>
            <a:prstDash val="solid"/>
          </a:ln>
        </p:spPr>
      </p:sp>
      <p:sp>
        <p:nvSpPr>
          <p:cNvPr id="1048928" name="Shape 26"/>
          <p:cNvSpPr/>
          <p:nvPr/>
        </p:nvSpPr>
        <p:spPr>
          <a:xfrm>
            <a:off x="365760" y="2916936"/>
            <a:ext cx="73152" cy="640080"/>
          </a:xfrm>
          <a:prstGeom prst="rect"/>
          <a:solidFill>
            <a:srgbClr val="E50010"/>
          </a:solidFill>
        </p:spPr>
      </p:sp>
      <p:sp>
        <p:nvSpPr>
          <p:cNvPr id="1048929" name="Text 27"/>
          <p:cNvSpPr/>
          <p:nvPr/>
        </p:nvSpPr>
        <p:spPr>
          <a:xfrm>
            <a:off x="530352" y="2916936"/>
            <a:ext cx="548640" cy="640080"/>
          </a:xfrm>
          <a:prstGeom prst="rect"/>
          <a:noFill/>
        </p:spPr>
        <p:txBody>
          <a:bodyPr anchor="ctr" bIns="0" lIns="0" rIns="0" rtlCol="0" tIns="0" wrap="square"/>
          <a:p>
            <a:pPr indent="0" marL="0">
              <a:buNone/>
            </a:pPr>
            <a:r>
              <a:rPr b="1" dirty="0" sz="2200" lang="en-US">
                <a:solidFill>
                  <a:srgbClr val="E50010"/>
                </a:solidFill>
                <a:latin typeface="Arial" pitchFamily="34" charset="0"/>
                <a:ea typeface="Arial" pitchFamily="34" charset="-122"/>
                <a:cs typeface="Arial" pitchFamily="34" charset="-120"/>
              </a:rPr>
              <a:t>05</a:t>
            </a:r>
            <a:endParaRPr dirty="0" sz="2200" lang="en-US"/>
          </a:p>
        </p:txBody>
      </p:sp>
      <p:sp>
        <p:nvSpPr>
          <p:cNvPr id="1048930" name="Text 28"/>
          <p:cNvSpPr/>
          <p:nvPr/>
        </p:nvSpPr>
        <p:spPr>
          <a:xfrm>
            <a:off x="1097280" y="2916936"/>
            <a:ext cx="1554480" cy="640080"/>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Egyptian Creator Roster</a:t>
            </a:r>
            <a:endParaRPr dirty="0" sz="1100" lang="en-US"/>
          </a:p>
        </p:txBody>
      </p:sp>
      <p:sp>
        <p:nvSpPr>
          <p:cNvPr id="1048931" name="Text 29"/>
          <p:cNvSpPr/>
          <p:nvPr/>
        </p:nvSpPr>
        <p:spPr>
          <a:xfrm>
            <a:off x="2651760" y="2916936"/>
            <a:ext cx="1783080" cy="64008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5 mega + 20 mid + 100+ nano creators under a tiered annual contract.</a:t>
            </a:r>
            <a:endParaRPr dirty="0" sz="900" lang="en-US"/>
          </a:p>
        </p:txBody>
      </p:sp>
      <p:sp>
        <p:nvSpPr>
          <p:cNvPr id="1048932" name="Shape 30"/>
          <p:cNvSpPr/>
          <p:nvPr/>
        </p:nvSpPr>
        <p:spPr>
          <a:xfrm>
            <a:off x="4617720" y="2916936"/>
            <a:ext cx="4160520" cy="640080"/>
          </a:xfrm>
          <a:prstGeom prst="rect"/>
          <a:solidFill>
            <a:srgbClr val="FFFFFF"/>
          </a:solidFill>
          <a:ln w="12700">
            <a:solidFill>
              <a:srgbClr val="E5E5E5"/>
            </a:solidFill>
            <a:prstDash val="solid"/>
          </a:ln>
        </p:spPr>
      </p:sp>
      <p:sp>
        <p:nvSpPr>
          <p:cNvPr id="1048933" name="Shape 31"/>
          <p:cNvSpPr/>
          <p:nvPr/>
        </p:nvSpPr>
        <p:spPr>
          <a:xfrm>
            <a:off x="4617720" y="2916936"/>
            <a:ext cx="73152" cy="640080"/>
          </a:xfrm>
          <a:prstGeom prst="rect"/>
          <a:solidFill>
            <a:srgbClr val="E50010"/>
          </a:solidFill>
        </p:spPr>
      </p:sp>
      <p:sp>
        <p:nvSpPr>
          <p:cNvPr id="1048934" name="Text 32"/>
          <p:cNvSpPr/>
          <p:nvPr/>
        </p:nvSpPr>
        <p:spPr>
          <a:xfrm>
            <a:off x="4782312" y="2916936"/>
            <a:ext cx="548640" cy="640080"/>
          </a:xfrm>
          <a:prstGeom prst="rect"/>
          <a:noFill/>
        </p:spPr>
        <p:txBody>
          <a:bodyPr anchor="ctr" bIns="0" lIns="0" rIns="0" rtlCol="0" tIns="0" wrap="square"/>
          <a:p>
            <a:pPr indent="0" marL="0">
              <a:buNone/>
            </a:pPr>
            <a:r>
              <a:rPr b="1" dirty="0" sz="2200" lang="en-US">
                <a:solidFill>
                  <a:srgbClr val="E50010"/>
                </a:solidFill>
                <a:latin typeface="Arial" pitchFamily="34" charset="0"/>
                <a:ea typeface="Arial" pitchFamily="34" charset="-122"/>
                <a:cs typeface="Arial" pitchFamily="34" charset="-120"/>
              </a:rPr>
              <a:t>06</a:t>
            </a:r>
            <a:endParaRPr dirty="0" sz="2200" lang="en-US"/>
          </a:p>
        </p:txBody>
      </p:sp>
      <p:sp>
        <p:nvSpPr>
          <p:cNvPr id="1048935" name="Text 33"/>
          <p:cNvSpPr/>
          <p:nvPr/>
        </p:nvSpPr>
        <p:spPr>
          <a:xfrm>
            <a:off x="5349240" y="2916936"/>
            <a:ext cx="1554480" cy="640080"/>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TikTok Shop + Reels</a:t>
            </a:r>
            <a:endParaRPr dirty="0" sz="1100" lang="en-US"/>
          </a:p>
        </p:txBody>
      </p:sp>
      <p:sp>
        <p:nvSpPr>
          <p:cNvPr id="1048936" name="Text 34"/>
          <p:cNvSpPr/>
          <p:nvPr/>
        </p:nvSpPr>
        <p:spPr>
          <a:xfrm>
            <a:off x="6903720" y="2916936"/>
            <a:ext cx="1783080" cy="64008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Pilot TikTok Shop in Egypt with shoppable Reels linked to hm.com/eg.</a:t>
            </a:r>
            <a:endParaRPr dirty="0" sz="900" lang="en-US"/>
          </a:p>
        </p:txBody>
      </p:sp>
      <p:sp>
        <p:nvSpPr>
          <p:cNvPr id="1048937" name="Shape 35"/>
          <p:cNvSpPr/>
          <p:nvPr/>
        </p:nvSpPr>
        <p:spPr>
          <a:xfrm>
            <a:off x="365760" y="3621024"/>
            <a:ext cx="4160520" cy="640080"/>
          </a:xfrm>
          <a:prstGeom prst="rect"/>
          <a:solidFill>
            <a:srgbClr val="FFFFFF"/>
          </a:solidFill>
          <a:ln w="12700">
            <a:solidFill>
              <a:srgbClr val="E5E5E5"/>
            </a:solidFill>
            <a:prstDash val="solid"/>
          </a:ln>
        </p:spPr>
      </p:sp>
      <p:sp>
        <p:nvSpPr>
          <p:cNvPr id="1048938" name="Shape 36"/>
          <p:cNvSpPr/>
          <p:nvPr/>
        </p:nvSpPr>
        <p:spPr>
          <a:xfrm>
            <a:off x="365760" y="3621024"/>
            <a:ext cx="73152" cy="640080"/>
          </a:xfrm>
          <a:prstGeom prst="rect"/>
          <a:solidFill>
            <a:srgbClr val="E50010"/>
          </a:solidFill>
        </p:spPr>
      </p:sp>
      <p:sp>
        <p:nvSpPr>
          <p:cNvPr id="1048939" name="Text 37"/>
          <p:cNvSpPr/>
          <p:nvPr/>
        </p:nvSpPr>
        <p:spPr>
          <a:xfrm>
            <a:off x="530352" y="3621024"/>
            <a:ext cx="548640" cy="640080"/>
          </a:xfrm>
          <a:prstGeom prst="rect"/>
          <a:noFill/>
        </p:spPr>
        <p:txBody>
          <a:bodyPr anchor="ctr" bIns="0" lIns="0" rIns="0" rtlCol="0" tIns="0" wrap="square"/>
          <a:p>
            <a:pPr indent="0" marL="0">
              <a:buNone/>
            </a:pPr>
            <a:r>
              <a:rPr b="1" dirty="0" sz="2200" lang="en-US">
                <a:solidFill>
                  <a:srgbClr val="E50010"/>
                </a:solidFill>
                <a:latin typeface="Arial" pitchFamily="34" charset="0"/>
                <a:ea typeface="Arial" pitchFamily="34" charset="-122"/>
                <a:cs typeface="Arial" pitchFamily="34" charset="-120"/>
              </a:rPr>
              <a:t>07</a:t>
            </a:r>
            <a:endParaRPr dirty="0" sz="2200" lang="en-US"/>
          </a:p>
        </p:txBody>
      </p:sp>
      <p:sp>
        <p:nvSpPr>
          <p:cNvPr id="1048940" name="Text 38"/>
          <p:cNvSpPr/>
          <p:nvPr/>
        </p:nvSpPr>
        <p:spPr>
          <a:xfrm>
            <a:off x="1097280" y="3621024"/>
            <a:ext cx="1554480" cy="640080"/>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Facebook Community</a:t>
            </a:r>
            <a:endParaRPr dirty="0" sz="1100" lang="en-US"/>
          </a:p>
        </p:txBody>
      </p:sp>
      <p:sp>
        <p:nvSpPr>
          <p:cNvPr id="1048941" name="Text 39"/>
          <p:cNvSpPr/>
          <p:nvPr/>
        </p:nvSpPr>
        <p:spPr>
          <a:xfrm>
            <a:off x="2651760" y="3621024"/>
            <a:ext cx="1783080" cy="64008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Build an H&amp;M Egypt Facebook group for early access, polls, and UGC.</a:t>
            </a:r>
            <a:endParaRPr dirty="0" sz="900" lang="en-US"/>
          </a:p>
        </p:txBody>
      </p:sp>
      <p:sp>
        <p:nvSpPr>
          <p:cNvPr id="1048942" name="Shape 40"/>
          <p:cNvSpPr/>
          <p:nvPr/>
        </p:nvSpPr>
        <p:spPr>
          <a:xfrm>
            <a:off x="4617720" y="3621024"/>
            <a:ext cx="4160520" cy="640080"/>
          </a:xfrm>
          <a:prstGeom prst="rect"/>
          <a:solidFill>
            <a:srgbClr val="FFFFFF"/>
          </a:solidFill>
          <a:ln w="12700">
            <a:solidFill>
              <a:srgbClr val="E5E5E5"/>
            </a:solidFill>
            <a:prstDash val="solid"/>
          </a:ln>
        </p:spPr>
      </p:sp>
      <p:sp>
        <p:nvSpPr>
          <p:cNvPr id="1048943" name="Shape 41"/>
          <p:cNvSpPr/>
          <p:nvPr/>
        </p:nvSpPr>
        <p:spPr>
          <a:xfrm>
            <a:off x="4617720" y="3621024"/>
            <a:ext cx="73152" cy="640080"/>
          </a:xfrm>
          <a:prstGeom prst="rect"/>
          <a:solidFill>
            <a:srgbClr val="E50010"/>
          </a:solidFill>
        </p:spPr>
      </p:sp>
      <p:sp>
        <p:nvSpPr>
          <p:cNvPr id="1048944" name="Text 42"/>
          <p:cNvSpPr/>
          <p:nvPr/>
        </p:nvSpPr>
        <p:spPr>
          <a:xfrm>
            <a:off x="4782312" y="3621024"/>
            <a:ext cx="548640" cy="640080"/>
          </a:xfrm>
          <a:prstGeom prst="rect"/>
          <a:noFill/>
        </p:spPr>
        <p:txBody>
          <a:bodyPr anchor="ctr" bIns="0" lIns="0" rIns="0" rtlCol="0" tIns="0" wrap="square"/>
          <a:p>
            <a:pPr indent="0" marL="0">
              <a:buNone/>
            </a:pPr>
            <a:r>
              <a:rPr b="1" dirty="0" sz="2200" lang="en-US">
                <a:solidFill>
                  <a:srgbClr val="E50010"/>
                </a:solidFill>
                <a:latin typeface="Arial" pitchFamily="34" charset="0"/>
                <a:ea typeface="Arial" pitchFamily="34" charset="-122"/>
                <a:cs typeface="Arial" pitchFamily="34" charset="-120"/>
              </a:rPr>
              <a:t>08</a:t>
            </a:r>
            <a:endParaRPr dirty="0" sz="2200" lang="en-US"/>
          </a:p>
        </p:txBody>
      </p:sp>
      <p:sp>
        <p:nvSpPr>
          <p:cNvPr id="1048945" name="Text 43"/>
          <p:cNvSpPr/>
          <p:nvPr/>
        </p:nvSpPr>
        <p:spPr>
          <a:xfrm>
            <a:off x="5349240" y="3621024"/>
            <a:ext cx="1554480" cy="640080"/>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Mobile-First Site &amp; App</a:t>
            </a:r>
            <a:endParaRPr dirty="0" sz="1100" lang="en-US"/>
          </a:p>
        </p:txBody>
      </p:sp>
      <p:sp>
        <p:nvSpPr>
          <p:cNvPr id="1048946" name="Text 44"/>
          <p:cNvSpPr/>
          <p:nvPr/>
        </p:nvSpPr>
        <p:spPr>
          <a:xfrm>
            <a:off x="6903720" y="3621024"/>
            <a:ext cx="1783080" cy="64008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Sub-2-second LCP on 4G, Apple Pay support, in-app exclusive drops.</a:t>
            </a:r>
            <a:endParaRPr dirty="0" sz="900" lang="en-US"/>
          </a:p>
        </p:txBody>
      </p:sp>
      <p:sp>
        <p:nvSpPr>
          <p:cNvPr id="1048947" name="Shape 45"/>
          <p:cNvSpPr/>
          <p:nvPr/>
        </p:nvSpPr>
        <p:spPr>
          <a:xfrm>
            <a:off x="365760" y="4325112"/>
            <a:ext cx="4160520" cy="640080"/>
          </a:xfrm>
          <a:prstGeom prst="rect"/>
          <a:solidFill>
            <a:srgbClr val="FFFFFF"/>
          </a:solidFill>
          <a:ln w="12700">
            <a:solidFill>
              <a:srgbClr val="E5E5E5"/>
            </a:solidFill>
            <a:prstDash val="solid"/>
          </a:ln>
        </p:spPr>
      </p:sp>
      <p:sp>
        <p:nvSpPr>
          <p:cNvPr id="1048948" name="Shape 46"/>
          <p:cNvSpPr/>
          <p:nvPr/>
        </p:nvSpPr>
        <p:spPr>
          <a:xfrm>
            <a:off x="365760" y="4325112"/>
            <a:ext cx="73152" cy="640080"/>
          </a:xfrm>
          <a:prstGeom prst="rect"/>
          <a:solidFill>
            <a:srgbClr val="E50010"/>
          </a:solidFill>
        </p:spPr>
      </p:sp>
      <p:sp>
        <p:nvSpPr>
          <p:cNvPr id="1048949" name="Text 47"/>
          <p:cNvSpPr/>
          <p:nvPr/>
        </p:nvSpPr>
        <p:spPr>
          <a:xfrm>
            <a:off x="530352" y="4325112"/>
            <a:ext cx="548640" cy="640080"/>
          </a:xfrm>
          <a:prstGeom prst="rect"/>
          <a:noFill/>
        </p:spPr>
        <p:txBody>
          <a:bodyPr anchor="ctr" bIns="0" lIns="0" rIns="0" rtlCol="0" tIns="0" wrap="square"/>
          <a:p>
            <a:pPr indent="0" marL="0">
              <a:buNone/>
            </a:pPr>
            <a:r>
              <a:rPr b="1" dirty="0" sz="2200" lang="en-US">
                <a:solidFill>
                  <a:srgbClr val="E50010"/>
                </a:solidFill>
                <a:latin typeface="Arial" pitchFamily="34" charset="0"/>
                <a:ea typeface="Arial" pitchFamily="34" charset="-122"/>
                <a:cs typeface="Arial" pitchFamily="34" charset="-120"/>
              </a:rPr>
              <a:t>09</a:t>
            </a:r>
            <a:endParaRPr dirty="0" sz="2200" lang="en-US"/>
          </a:p>
        </p:txBody>
      </p:sp>
      <p:sp>
        <p:nvSpPr>
          <p:cNvPr id="1048950" name="Text 48"/>
          <p:cNvSpPr/>
          <p:nvPr/>
        </p:nvSpPr>
        <p:spPr>
          <a:xfrm>
            <a:off x="1097280" y="4325112"/>
            <a:ext cx="1554480" cy="640080"/>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H&amp;M Member Egypt</a:t>
            </a:r>
            <a:endParaRPr dirty="0" sz="1100" lang="en-US"/>
          </a:p>
        </p:txBody>
      </p:sp>
      <p:sp>
        <p:nvSpPr>
          <p:cNvPr id="1048951" name="Text 49"/>
          <p:cNvSpPr/>
          <p:nvPr/>
        </p:nvSpPr>
        <p:spPr>
          <a:xfrm>
            <a:off x="2651760" y="4325112"/>
            <a:ext cx="1783080" cy="64008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Localised loyalty program: early access, free shipping thresholds, birthday gifts.</a:t>
            </a:r>
            <a:endParaRPr dirty="0" sz="900" lang="en-US"/>
          </a:p>
        </p:txBody>
      </p:sp>
      <p:sp>
        <p:nvSpPr>
          <p:cNvPr id="1048952" name="Shape 50"/>
          <p:cNvSpPr/>
          <p:nvPr/>
        </p:nvSpPr>
        <p:spPr>
          <a:xfrm>
            <a:off x="4617720" y="4325112"/>
            <a:ext cx="4160520" cy="640080"/>
          </a:xfrm>
          <a:prstGeom prst="rect"/>
          <a:solidFill>
            <a:srgbClr val="FFFFFF"/>
          </a:solidFill>
          <a:ln w="12700">
            <a:solidFill>
              <a:srgbClr val="E5E5E5"/>
            </a:solidFill>
            <a:prstDash val="solid"/>
          </a:ln>
        </p:spPr>
      </p:sp>
      <p:sp>
        <p:nvSpPr>
          <p:cNvPr id="1048953" name="Shape 51"/>
          <p:cNvSpPr/>
          <p:nvPr/>
        </p:nvSpPr>
        <p:spPr>
          <a:xfrm>
            <a:off x="4617720" y="4325112"/>
            <a:ext cx="73152" cy="640080"/>
          </a:xfrm>
          <a:prstGeom prst="rect"/>
          <a:solidFill>
            <a:srgbClr val="E50010"/>
          </a:solidFill>
        </p:spPr>
      </p:sp>
      <p:sp>
        <p:nvSpPr>
          <p:cNvPr id="1048954" name="Text 52"/>
          <p:cNvSpPr/>
          <p:nvPr/>
        </p:nvSpPr>
        <p:spPr>
          <a:xfrm>
            <a:off x="4782312" y="4325112"/>
            <a:ext cx="548640" cy="640080"/>
          </a:xfrm>
          <a:prstGeom prst="rect"/>
          <a:noFill/>
        </p:spPr>
        <p:txBody>
          <a:bodyPr anchor="ctr" bIns="0" lIns="0" rIns="0" rtlCol="0" tIns="0" wrap="square"/>
          <a:p>
            <a:pPr indent="0" marL="0">
              <a:buNone/>
            </a:pPr>
            <a:r>
              <a:rPr b="1" dirty="0" sz="2200" lang="en-US">
                <a:solidFill>
                  <a:srgbClr val="E50010"/>
                </a:solidFill>
                <a:latin typeface="Arial" pitchFamily="34" charset="0"/>
                <a:ea typeface="Arial" pitchFamily="34" charset="-122"/>
                <a:cs typeface="Arial" pitchFamily="34" charset="-120"/>
              </a:rPr>
              <a:t>10</a:t>
            </a:r>
            <a:endParaRPr dirty="0" sz="2200" lang="en-US"/>
          </a:p>
        </p:txBody>
      </p:sp>
      <p:sp>
        <p:nvSpPr>
          <p:cNvPr id="1048955" name="Text 53"/>
          <p:cNvSpPr/>
          <p:nvPr/>
        </p:nvSpPr>
        <p:spPr>
          <a:xfrm>
            <a:off x="5349240" y="4325112"/>
            <a:ext cx="1554480" cy="640080"/>
          </a:xfrm>
          <a:prstGeom prst="rect"/>
          <a:noFill/>
        </p:spPr>
        <p:txBody>
          <a:bodyPr anchor="ctr" bIns="0" lIns="0" rIns="0" rtlCol="0" tIns="0" wrap="square"/>
          <a:p>
            <a:pPr indent="0" marL="0">
              <a:buNone/>
            </a:pPr>
            <a:r>
              <a:rPr b="1" dirty="0" sz="1100" lang="en-US">
                <a:solidFill>
                  <a:srgbClr val="111111"/>
                </a:solidFill>
                <a:latin typeface="Arial" pitchFamily="34" charset="0"/>
                <a:ea typeface="Arial" pitchFamily="34" charset="-122"/>
                <a:cs typeface="Arial" pitchFamily="34" charset="-120"/>
              </a:rPr>
              <a:t>SEO in Arabic &amp; English</a:t>
            </a:r>
            <a:endParaRPr dirty="0" sz="1100" lang="en-US"/>
          </a:p>
        </p:txBody>
      </p:sp>
      <p:sp>
        <p:nvSpPr>
          <p:cNvPr id="1048956" name="Text 54"/>
          <p:cNvSpPr/>
          <p:nvPr/>
        </p:nvSpPr>
        <p:spPr>
          <a:xfrm>
            <a:off x="6903720" y="4325112"/>
            <a:ext cx="1783080" cy="640080"/>
          </a:xfrm>
          <a:prstGeom prst="rect"/>
          <a:noFill/>
        </p:spPr>
        <p:txBody>
          <a:bodyPr anchor="ctr" bIns="0" lIns="0" rIns="0" rtlCol="0" tIns="0" wrap="square"/>
          <a:p>
            <a:pPr indent="0" marL="0">
              <a:buNone/>
            </a:pPr>
            <a:r>
              <a:rPr dirty="0" sz="900" lang="en-US">
                <a:solidFill>
                  <a:srgbClr val="6B6B6B"/>
                </a:solidFill>
                <a:latin typeface="Arial" pitchFamily="34" charset="0"/>
                <a:ea typeface="Arial" pitchFamily="34" charset="-122"/>
                <a:cs typeface="Arial" pitchFamily="34" charset="-120"/>
              </a:rPr>
              <a:t>Own long-tail terms around fashion, modest wear, occasions, and Egyptian cities.</a:t>
            </a:r>
            <a:endParaRPr dirty="0" sz="900" lang="en-US"/>
          </a:p>
        </p:txBody>
      </p:sp>
      <p:sp>
        <p:nvSpPr>
          <p:cNvPr id="1048957" name="Text 55"/>
          <p:cNvSpPr/>
          <p:nvPr/>
        </p:nvSpPr>
        <p:spPr>
          <a:xfrm>
            <a:off x="8503920" y="4663440"/>
            <a:ext cx="457200" cy="27432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10</a:t>
            </a:r>
            <a:endParaRPr dirty="0" sz="10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46" name=""/>
        <p:cNvGrpSpPr/>
        <p:nvPr/>
      </p:nvGrpSpPr>
      <p:grpSpPr>
        <a:xfrm>
          <a:off x="0" y="0"/>
          <a:ext cx="0" cy="0"/>
          <a:chOff x="0" y="0"/>
          <a:chExt cx="0" cy="0"/>
        </a:xfrm>
      </p:grpSpPr>
      <p:sp>
        <p:nvSpPr>
          <p:cNvPr id="1048961" name="Shape 0"/>
          <p:cNvSpPr/>
          <p:nvPr/>
        </p:nvSpPr>
        <p:spPr>
          <a:xfrm>
            <a:off x="0" y="0"/>
            <a:ext cx="9144000" cy="502920"/>
          </a:xfrm>
          <a:prstGeom prst="rect"/>
          <a:solidFill>
            <a:srgbClr val="111111"/>
          </a:solidFill>
        </p:spPr>
      </p:sp>
      <p:sp>
        <p:nvSpPr>
          <p:cNvPr id="1048962" name="Text 1"/>
          <p:cNvSpPr/>
          <p:nvPr/>
        </p:nvSpPr>
        <p:spPr>
          <a:xfrm>
            <a:off x="365760" y="0"/>
            <a:ext cx="5486400" cy="502920"/>
          </a:xfrm>
          <a:prstGeom prst="rect"/>
          <a:noFill/>
        </p:spPr>
        <p:txBody>
          <a:bodyPr anchor="ctr" bIns="0" lIns="0" rIns="0" rtlCol="0" tIns="0" wrap="square"/>
          <a:p>
            <a:pPr indent="0" marL="0">
              <a:buNone/>
            </a:pPr>
            <a:r>
              <a:rPr b="1" dirty="0" sz="1000" kern="0" lang="en-US" spc="300">
                <a:solidFill>
                  <a:srgbClr val="FFFFFF"/>
                </a:solidFill>
                <a:latin typeface="Arial" pitchFamily="34" charset="0"/>
                <a:ea typeface="Arial" pitchFamily="34" charset="-122"/>
                <a:cs typeface="Arial" pitchFamily="34" charset="-120"/>
              </a:rPr>
              <a:t>H&amp;M EGYPT  |  DIGITAL SITUATION ANALYSIS</a:t>
            </a:r>
            <a:endParaRPr dirty="0" sz="1000" lang="en-US"/>
          </a:p>
        </p:txBody>
      </p:sp>
      <p:sp>
        <p:nvSpPr>
          <p:cNvPr id="1048963" name="Text 2"/>
          <p:cNvSpPr/>
          <p:nvPr/>
        </p:nvSpPr>
        <p:spPr>
          <a:xfrm>
            <a:off x="5029200" y="0"/>
            <a:ext cx="3749040" cy="502920"/>
          </a:xfrm>
          <a:prstGeom prst="rect"/>
          <a:noFill/>
        </p:spPr>
        <p:txBody>
          <a:bodyPr anchor="ctr" bIns="0" lIns="0" rIns="0" rtlCol="0" tIns="0" wrap="square"/>
          <a:p>
            <a:pPr algn="r" indent="0" marL="0">
              <a:buNone/>
            </a:pPr>
            <a:r>
              <a:rPr b="1" dirty="0" sz="1000" kern="0" lang="en-US" spc="300">
                <a:solidFill>
                  <a:srgbClr val="FFFFFF"/>
                </a:solidFill>
                <a:latin typeface="Arial" pitchFamily="34" charset="0"/>
                <a:ea typeface="Arial" pitchFamily="34" charset="-122"/>
                <a:cs typeface="Arial" pitchFamily="34" charset="-120"/>
              </a:rPr>
              <a:t>10 - Conclusion</a:t>
            </a:r>
            <a:endParaRPr dirty="0" sz="1000" lang="en-US"/>
          </a:p>
        </p:txBody>
      </p:sp>
      <p:sp>
        <p:nvSpPr>
          <p:cNvPr id="1048964" name="Text 3"/>
          <p:cNvSpPr/>
          <p:nvPr/>
        </p:nvSpPr>
        <p:spPr>
          <a:xfrm>
            <a:off x="365760" y="685800"/>
            <a:ext cx="8412480" cy="502920"/>
          </a:xfrm>
          <a:prstGeom prst="rect"/>
          <a:noFill/>
        </p:spPr>
        <p:txBody>
          <a:bodyPr anchor="ctr" bIns="0" lIns="0" rIns="0" rtlCol="0" tIns="0" wrap="square"/>
          <a:p>
            <a:pPr indent="0" marL="0">
              <a:buNone/>
            </a:pPr>
            <a:r>
              <a:rPr b="1" dirty="0" sz="3000" lang="en-US">
                <a:solidFill>
                  <a:srgbClr val="111111"/>
                </a:solidFill>
                <a:latin typeface="Arial" pitchFamily="34" charset="0"/>
                <a:ea typeface="Arial" pitchFamily="34" charset="-122"/>
                <a:cs typeface="Arial" pitchFamily="34" charset="-120"/>
              </a:rPr>
              <a:t>Conclusion</a:t>
            </a:r>
            <a:endParaRPr dirty="0" sz="3000" lang="en-US"/>
          </a:p>
        </p:txBody>
      </p:sp>
      <p:sp>
        <p:nvSpPr>
          <p:cNvPr id="1048965" name="Text 4"/>
          <p:cNvSpPr/>
          <p:nvPr/>
        </p:nvSpPr>
        <p:spPr>
          <a:xfrm>
            <a:off x="365760" y="1188720"/>
            <a:ext cx="8412480" cy="274320"/>
          </a:xfrm>
          <a:prstGeom prst="rect"/>
          <a:noFill/>
        </p:spPr>
        <p:txBody>
          <a:bodyPr anchor="ctr" bIns="0" lIns="0" rIns="0" rtlCol="0" tIns="0" wrap="square"/>
          <a:p>
            <a:pPr indent="0" marL="0">
              <a:buNone/>
            </a:pPr>
            <a:r>
              <a:rPr dirty="0" sz="1300" i="1" lang="en-US">
                <a:solidFill>
                  <a:srgbClr val="6B6B6B"/>
                </a:solidFill>
                <a:latin typeface="Arial" pitchFamily="34" charset="0"/>
                <a:ea typeface="Arial" pitchFamily="34" charset="-122"/>
                <a:cs typeface="Arial" pitchFamily="34" charset="-120"/>
              </a:rPr>
              <a:t>Egypt is H&amp;M's most strategic under-leveraged digital market in MENA</a:t>
            </a:r>
            <a:endParaRPr dirty="0" sz="1300" lang="en-US"/>
          </a:p>
        </p:txBody>
      </p:sp>
      <p:sp>
        <p:nvSpPr>
          <p:cNvPr id="1048966" name="Shape 5"/>
          <p:cNvSpPr/>
          <p:nvPr/>
        </p:nvSpPr>
        <p:spPr>
          <a:xfrm>
            <a:off x="365760" y="1554480"/>
            <a:ext cx="2743200" cy="2377440"/>
          </a:xfrm>
          <a:prstGeom prst="rect"/>
          <a:solidFill>
            <a:srgbClr val="F5F5F5"/>
          </a:solidFill>
        </p:spPr>
      </p:sp>
      <p:sp>
        <p:nvSpPr>
          <p:cNvPr id="1048967" name="Shape 6"/>
          <p:cNvSpPr/>
          <p:nvPr/>
        </p:nvSpPr>
        <p:spPr>
          <a:xfrm>
            <a:off x="365760" y="1554480"/>
            <a:ext cx="2743200" cy="457200"/>
          </a:xfrm>
          <a:prstGeom prst="rect"/>
          <a:solidFill>
            <a:srgbClr val="E50010"/>
          </a:solidFill>
        </p:spPr>
      </p:sp>
      <p:sp>
        <p:nvSpPr>
          <p:cNvPr id="1048968" name="Text 7"/>
          <p:cNvSpPr/>
          <p:nvPr/>
        </p:nvSpPr>
        <p:spPr>
          <a:xfrm>
            <a:off x="502920" y="1554480"/>
            <a:ext cx="2468880" cy="457200"/>
          </a:xfrm>
          <a:prstGeom prst="rect"/>
          <a:noFill/>
        </p:spPr>
        <p:txBody>
          <a:bodyPr anchor="ctr" bIns="0" lIns="0" rIns="0" rtlCol="0" tIns="0" wrap="square"/>
          <a:p>
            <a:pPr indent="0" marL="0">
              <a:buNone/>
            </a:pPr>
            <a:r>
              <a:rPr b="1" dirty="0" sz="1200" kern="0" lang="en-US" spc="300">
                <a:solidFill>
                  <a:srgbClr val="FFFFFF"/>
                </a:solidFill>
                <a:latin typeface="Arial" pitchFamily="34" charset="0"/>
                <a:ea typeface="Arial" pitchFamily="34" charset="-122"/>
                <a:cs typeface="Arial" pitchFamily="34" charset="-120"/>
              </a:rPr>
              <a:t>KEY FINDINGS</a:t>
            </a:r>
            <a:endParaRPr dirty="0" sz="1200" lang="en-US"/>
          </a:p>
        </p:txBody>
      </p:sp>
      <p:sp>
        <p:nvSpPr>
          <p:cNvPr id="1048969" name="Text 8"/>
          <p:cNvSpPr/>
          <p:nvPr/>
        </p:nvSpPr>
        <p:spPr>
          <a:xfrm>
            <a:off x="548640" y="2103120"/>
            <a:ext cx="2468880" cy="1737360"/>
          </a:xfrm>
          <a:prstGeom prst="rect"/>
          <a:noFill/>
        </p:spPr>
        <p:txBody>
          <a:bodyPr anchor="t" bIns="0" lIns="0" rIns="0" rtlCol="0" tIns="0" wrap="square"/>
          <a:p>
            <a:pPr indent="-342900" marL="342900">
              <a:spcAft>
                <a:spcPts val="600"/>
              </a:spcAft>
              <a:buSzPct val="100000"/>
              <a:buChar char="■"/>
            </a:pPr>
            <a:r>
              <a:rPr dirty="0" sz="1100" lang="en-US">
                <a:solidFill>
                  <a:srgbClr val="111111"/>
                </a:solidFill>
              </a:rPr>
              <a:t>Egypt: 96M+ online, 50M+ on social</a:t>
            </a:r>
            <a:endParaRPr dirty="0" sz="1100" lang="en-US"/>
          </a:p>
          <a:p>
            <a:pPr indent="-342900" marL="342900">
              <a:spcAft>
                <a:spcPts val="600"/>
              </a:spcAft>
              <a:buSzPct val="100000"/>
              <a:buChar char="■"/>
            </a:pPr>
            <a:r>
              <a:rPr dirty="0" sz="1100" lang="en-US">
                <a:solidFill>
                  <a:srgbClr val="111111"/>
                </a:solidFill>
              </a:rPr>
              <a:t>Fashion = 28% of e-commerce GMV</a:t>
            </a:r>
            <a:endParaRPr dirty="0" sz="1100" lang="en-US"/>
          </a:p>
          <a:p>
            <a:pPr indent="-342900" marL="342900">
              <a:spcAft>
                <a:spcPts val="600"/>
              </a:spcAft>
              <a:buSzPct val="100000"/>
              <a:buChar char="■"/>
            </a:pPr>
            <a:r>
              <a:rPr dirty="0" sz="1100" lang="en-US">
                <a:solidFill>
                  <a:srgbClr val="111111"/>
                </a:solidFill>
              </a:rPr>
              <a:t>Mobile-first, COD-driven funnel</a:t>
            </a:r>
            <a:endParaRPr dirty="0" sz="1100" lang="en-US"/>
          </a:p>
          <a:p>
            <a:pPr indent="-342900" marL="342900">
              <a:spcAft>
                <a:spcPts val="600"/>
              </a:spcAft>
              <a:buSzPct val="100000"/>
              <a:buChar char="■"/>
            </a:pPr>
            <a:r>
              <a:rPr dirty="0" sz="1100" lang="en-US">
                <a:solidFill>
                  <a:srgbClr val="111111"/>
                </a:solidFill>
              </a:rPr>
              <a:t>TikTok &amp; Reels lead discovery</a:t>
            </a:r>
            <a:endParaRPr dirty="0" sz="1100" lang="en-US"/>
          </a:p>
        </p:txBody>
      </p:sp>
      <p:sp>
        <p:nvSpPr>
          <p:cNvPr id="1048970" name="Shape 9"/>
          <p:cNvSpPr/>
          <p:nvPr/>
        </p:nvSpPr>
        <p:spPr>
          <a:xfrm>
            <a:off x="3200400" y="1554480"/>
            <a:ext cx="2743200" cy="2377440"/>
          </a:xfrm>
          <a:prstGeom prst="rect"/>
          <a:solidFill>
            <a:srgbClr val="F5F5F5"/>
          </a:solidFill>
        </p:spPr>
      </p:sp>
      <p:sp>
        <p:nvSpPr>
          <p:cNvPr id="1048971" name="Shape 10"/>
          <p:cNvSpPr/>
          <p:nvPr/>
        </p:nvSpPr>
        <p:spPr>
          <a:xfrm>
            <a:off x="3200400" y="1554480"/>
            <a:ext cx="2743200" cy="457200"/>
          </a:xfrm>
          <a:prstGeom prst="rect"/>
          <a:solidFill>
            <a:srgbClr val="E50010"/>
          </a:solidFill>
        </p:spPr>
      </p:sp>
      <p:sp>
        <p:nvSpPr>
          <p:cNvPr id="1048972" name="Text 11"/>
          <p:cNvSpPr/>
          <p:nvPr/>
        </p:nvSpPr>
        <p:spPr>
          <a:xfrm>
            <a:off x="3337560" y="1554480"/>
            <a:ext cx="2468880" cy="457200"/>
          </a:xfrm>
          <a:prstGeom prst="rect"/>
          <a:noFill/>
        </p:spPr>
        <p:txBody>
          <a:bodyPr anchor="ctr" bIns="0" lIns="0" rIns="0" rtlCol="0" tIns="0" wrap="square"/>
          <a:p>
            <a:pPr indent="0" marL="0">
              <a:buNone/>
            </a:pPr>
            <a:r>
              <a:rPr b="1" dirty="0" sz="1200" kern="0" lang="en-US" spc="300">
                <a:solidFill>
                  <a:srgbClr val="FFFFFF"/>
                </a:solidFill>
                <a:latin typeface="Arial" pitchFamily="34" charset="0"/>
                <a:ea typeface="Arial" pitchFamily="34" charset="-122"/>
                <a:cs typeface="Arial" pitchFamily="34" charset="-120"/>
              </a:rPr>
              <a:t>KEY OPPORTUNITIES</a:t>
            </a:r>
            <a:endParaRPr dirty="0" sz="1200" lang="en-US"/>
          </a:p>
        </p:txBody>
      </p:sp>
      <p:sp>
        <p:nvSpPr>
          <p:cNvPr id="1048973" name="Text 12"/>
          <p:cNvSpPr/>
          <p:nvPr/>
        </p:nvSpPr>
        <p:spPr>
          <a:xfrm>
            <a:off x="3383280" y="2103120"/>
            <a:ext cx="2468880" cy="1737360"/>
          </a:xfrm>
          <a:prstGeom prst="rect"/>
          <a:noFill/>
        </p:spPr>
        <p:txBody>
          <a:bodyPr anchor="t" bIns="0" lIns="0" rIns="0" rtlCol="0" tIns="0" wrap="square"/>
          <a:p>
            <a:pPr indent="-342900" marL="342900">
              <a:spcAft>
                <a:spcPts val="600"/>
              </a:spcAft>
              <a:buSzPct val="100000"/>
              <a:buChar char="■"/>
            </a:pPr>
            <a:r>
              <a:rPr dirty="0" sz="1100" lang="en-US">
                <a:solidFill>
                  <a:srgbClr val="111111"/>
                </a:solidFill>
              </a:rPr>
              <a:t>Own Arabic search &amp; content</a:t>
            </a:r>
            <a:endParaRPr dirty="0" sz="1100" lang="en-US"/>
          </a:p>
          <a:p>
            <a:pPr indent="-342900" marL="342900">
              <a:spcAft>
                <a:spcPts val="600"/>
              </a:spcAft>
              <a:buSzPct val="100000"/>
              <a:buChar char="■"/>
            </a:pPr>
            <a:r>
              <a:rPr dirty="0" sz="1100" lang="en-US">
                <a:solidFill>
                  <a:srgbClr val="111111"/>
                </a:solidFill>
              </a:rPr>
              <a:t>Tiered Egyptian creator roster</a:t>
            </a:r>
            <a:endParaRPr dirty="0" sz="1100" lang="en-US"/>
          </a:p>
          <a:p>
            <a:pPr indent="-342900" marL="342900">
              <a:spcAft>
                <a:spcPts val="600"/>
              </a:spcAft>
              <a:buSzPct val="100000"/>
              <a:buChar char="■"/>
            </a:pPr>
            <a:r>
              <a:rPr dirty="0" sz="1100" lang="en-US">
                <a:solidFill>
                  <a:srgbClr val="111111"/>
                </a:solidFill>
              </a:rPr>
              <a:t>TikTok Shop &amp; IG Shopping</a:t>
            </a:r>
            <a:endParaRPr dirty="0" sz="1100" lang="en-US"/>
          </a:p>
          <a:p>
            <a:pPr indent="-342900" marL="342900">
              <a:spcAft>
                <a:spcPts val="600"/>
              </a:spcAft>
              <a:buSzPct val="100000"/>
              <a:buChar char="■"/>
            </a:pPr>
            <a:r>
              <a:rPr dirty="0" sz="1100" lang="en-US">
                <a:solidFill>
                  <a:srgbClr val="111111"/>
                </a:solidFill>
              </a:rPr>
              <a:t>Ramadan &amp; White Friday moments</a:t>
            </a:r>
            <a:endParaRPr dirty="0" sz="1100" lang="en-US"/>
          </a:p>
        </p:txBody>
      </p:sp>
      <p:sp>
        <p:nvSpPr>
          <p:cNvPr id="1048974" name="Shape 13"/>
          <p:cNvSpPr/>
          <p:nvPr/>
        </p:nvSpPr>
        <p:spPr>
          <a:xfrm>
            <a:off x="6035040" y="1554480"/>
            <a:ext cx="2743200" cy="2377440"/>
          </a:xfrm>
          <a:prstGeom prst="rect"/>
          <a:solidFill>
            <a:srgbClr val="F5F5F5"/>
          </a:solidFill>
        </p:spPr>
      </p:sp>
      <p:sp>
        <p:nvSpPr>
          <p:cNvPr id="1048975" name="Shape 14"/>
          <p:cNvSpPr/>
          <p:nvPr/>
        </p:nvSpPr>
        <p:spPr>
          <a:xfrm>
            <a:off x="6035040" y="1554480"/>
            <a:ext cx="2743200" cy="457200"/>
          </a:xfrm>
          <a:prstGeom prst="rect"/>
          <a:solidFill>
            <a:srgbClr val="E50010"/>
          </a:solidFill>
        </p:spPr>
      </p:sp>
      <p:sp>
        <p:nvSpPr>
          <p:cNvPr id="1048976" name="Text 15"/>
          <p:cNvSpPr/>
          <p:nvPr/>
        </p:nvSpPr>
        <p:spPr>
          <a:xfrm>
            <a:off x="6172200" y="1554480"/>
            <a:ext cx="2468880" cy="457200"/>
          </a:xfrm>
          <a:prstGeom prst="rect"/>
          <a:noFill/>
        </p:spPr>
        <p:txBody>
          <a:bodyPr anchor="ctr" bIns="0" lIns="0" rIns="0" rtlCol="0" tIns="0" wrap="square"/>
          <a:p>
            <a:pPr indent="0" marL="0">
              <a:buNone/>
            </a:pPr>
            <a:r>
              <a:rPr b="1" dirty="0" sz="1200" kern="0" lang="en-US" spc="300">
                <a:solidFill>
                  <a:srgbClr val="FFFFFF"/>
                </a:solidFill>
                <a:latin typeface="Arial" pitchFamily="34" charset="0"/>
                <a:ea typeface="Arial" pitchFamily="34" charset="-122"/>
                <a:cs typeface="Arial" pitchFamily="34" charset="-120"/>
              </a:rPr>
              <a:t>BUSINESS INSIGHTS</a:t>
            </a:r>
            <a:endParaRPr dirty="0" sz="1200" lang="en-US"/>
          </a:p>
        </p:txBody>
      </p:sp>
      <p:sp>
        <p:nvSpPr>
          <p:cNvPr id="1048977" name="Text 16"/>
          <p:cNvSpPr/>
          <p:nvPr/>
        </p:nvSpPr>
        <p:spPr>
          <a:xfrm>
            <a:off x="6217920" y="2103120"/>
            <a:ext cx="2468880" cy="1737360"/>
          </a:xfrm>
          <a:prstGeom prst="rect"/>
          <a:noFill/>
        </p:spPr>
        <p:txBody>
          <a:bodyPr anchor="t" bIns="0" lIns="0" rIns="0" rtlCol="0" tIns="0" wrap="square"/>
          <a:p>
            <a:pPr indent="-342900" marL="342900">
              <a:spcAft>
                <a:spcPts val="600"/>
              </a:spcAft>
              <a:buSzPct val="100000"/>
              <a:buChar char="■"/>
            </a:pPr>
            <a:r>
              <a:rPr dirty="0" sz="1100" lang="en-US">
                <a:solidFill>
                  <a:srgbClr val="111111"/>
                </a:solidFill>
              </a:rPr>
              <a:t>COD-first checkout is non-negotiable</a:t>
            </a:r>
            <a:endParaRPr dirty="0" sz="1100" lang="en-US"/>
          </a:p>
          <a:p>
            <a:pPr indent="-342900" marL="342900">
              <a:spcAft>
                <a:spcPts val="600"/>
              </a:spcAft>
              <a:buSzPct val="100000"/>
              <a:buChar char="■"/>
            </a:pPr>
            <a:r>
              <a:rPr dirty="0" sz="1100" lang="en-US">
                <a:solidFill>
                  <a:srgbClr val="111111"/>
                </a:solidFill>
              </a:rPr>
              <a:t>Localised loyalty drives retention</a:t>
            </a:r>
            <a:endParaRPr dirty="0" sz="1100" lang="en-US"/>
          </a:p>
          <a:p>
            <a:pPr indent="-342900" marL="342900">
              <a:spcAft>
                <a:spcPts val="600"/>
              </a:spcAft>
              <a:buSzPct val="100000"/>
              <a:buChar char="■"/>
            </a:pPr>
            <a:r>
              <a:rPr dirty="0" sz="1100" lang="en-US">
                <a:solidFill>
                  <a:srgbClr val="111111"/>
                </a:solidFill>
              </a:rPr>
              <a:t>Conscious story resonates with Gen-Z</a:t>
            </a:r>
            <a:endParaRPr dirty="0" sz="1100" lang="en-US"/>
          </a:p>
          <a:p>
            <a:pPr indent="-342900" marL="342900">
              <a:spcAft>
                <a:spcPts val="600"/>
              </a:spcAft>
              <a:buSzPct val="100000"/>
              <a:buChar char="■"/>
            </a:pPr>
            <a:r>
              <a:rPr dirty="0" sz="1100" lang="en-US">
                <a:solidFill>
                  <a:srgbClr val="111111"/>
                </a:solidFill>
              </a:rPr>
              <a:t>Sustainability as brand moat</a:t>
            </a:r>
            <a:endParaRPr dirty="0" sz="1100" lang="en-US"/>
          </a:p>
        </p:txBody>
      </p:sp>
      <p:sp>
        <p:nvSpPr>
          <p:cNvPr id="1048978" name="Shape 17"/>
          <p:cNvSpPr/>
          <p:nvPr/>
        </p:nvSpPr>
        <p:spPr>
          <a:xfrm>
            <a:off x="365760" y="4114800"/>
            <a:ext cx="8412480" cy="502920"/>
          </a:xfrm>
          <a:prstGeom prst="rect"/>
          <a:solidFill>
            <a:srgbClr val="111111"/>
          </a:solidFill>
        </p:spPr>
      </p:sp>
      <p:sp>
        <p:nvSpPr>
          <p:cNvPr id="1048979" name="Text 18"/>
          <p:cNvSpPr/>
          <p:nvPr/>
        </p:nvSpPr>
        <p:spPr>
          <a:xfrm>
            <a:off x="502920" y="4114800"/>
            <a:ext cx="1554480" cy="502920"/>
          </a:xfrm>
          <a:prstGeom prst="rect"/>
          <a:noFill/>
        </p:spPr>
        <p:txBody>
          <a:bodyPr anchor="ctr" bIns="0" lIns="0" rIns="0" rtlCol="0" tIns="0" wrap="square"/>
          <a:p>
            <a:pPr indent="0" marL="0">
              <a:buNone/>
            </a:pPr>
            <a:r>
              <a:rPr b="1" dirty="0" sz="1100" kern="0" lang="en-US" spc="300">
                <a:solidFill>
                  <a:srgbClr val="FFFFFF"/>
                </a:solidFill>
                <a:latin typeface="Arial" pitchFamily="34" charset="0"/>
                <a:ea typeface="Arial" pitchFamily="34" charset="-122"/>
                <a:cs typeface="Arial" pitchFamily="34" charset="-120"/>
              </a:rPr>
              <a:t>FUTURE GROWTH</a:t>
            </a:r>
            <a:endParaRPr dirty="0" sz="1100" lang="en-US"/>
          </a:p>
        </p:txBody>
      </p:sp>
      <p:sp>
        <p:nvSpPr>
          <p:cNvPr id="1048980" name="Text 19"/>
          <p:cNvSpPr/>
          <p:nvPr/>
        </p:nvSpPr>
        <p:spPr>
          <a:xfrm>
            <a:off x="2103120" y="4114800"/>
            <a:ext cx="6583680" cy="502920"/>
          </a:xfrm>
          <a:prstGeom prst="rect"/>
          <a:noFill/>
        </p:spPr>
        <p:txBody>
          <a:bodyPr anchor="ctr" bIns="0" lIns="0" rIns="0" rtlCol="0" tIns="0" wrap="square"/>
          <a:p>
            <a:pPr indent="0" marL="0">
              <a:buNone/>
            </a:pPr>
            <a:r>
              <a:rPr dirty="0" sz="1100" i="1" lang="en-US">
                <a:solidFill>
                  <a:srgbClr val="FFFFFF"/>
                </a:solidFill>
                <a:latin typeface="Arial" pitchFamily="34" charset="0"/>
                <a:ea typeface="Arial" pitchFamily="34" charset="-122"/>
                <a:cs typeface="Arial" pitchFamily="34" charset="-120"/>
              </a:rPr>
              <a:t>Egypt e-commerce projected to reach USD 14.9B by 2028 - a strong runway for H&amp;M Egypt digital growth.</a:t>
            </a:r>
            <a:endParaRPr dirty="0" sz="1100" lang="en-US"/>
          </a:p>
        </p:txBody>
      </p:sp>
      <p:sp>
        <p:nvSpPr>
          <p:cNvPr id="1048981" name="Text 20"/>
          <p:cNvSpPr/>
          <p:nvPr/>
        </p:nvSpPr>
        <p:spPr>
          <a:xfrm>
            <a:off x="8503920" y="4663440"/>
            <a:ext cx="457200" cy="274320"/>
          </a:xfrm>
          <a:prstGeom prst="rect"/>
          <a:noFill/>
        </p:spPr>
        <p:txBody>
          <a:bodyPr anchor="ctr" bIns="0" lIns="0" rIns="0" rtlCol="0" tIns="0" wrap="square"/>
          <a:p>
            <a:pPr algn="r" indent="0" marL="0">
              <a:buNone/>
            </a:pPr>
            <a:r>
              <a:rPr b="1" dirty="0" sz="1000" lang="en-US">
                <a:solidFill>
                  <a:srgbClr val="E50010"/>
                </a:solidFill>
                <a:latin typeface="Arial" pitchFamily="34" charset="0"/>
                <a:ea typeface="Arial" pitchFamily="34" charset="-122"/>
                <a:cs typeface="Arial" pitchFamily="34" charset="-120"/>
              </a:rPr>
              <a:t>11</a:t>
            </a:r>
            <a:endParaRPr dirty="0" sz="10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نسق Offic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University Assignment</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H&amp;M Egypt - Digital Situation Analysis</dc:title>
  <dc:creator>Mohamed Mostafa Taher Salem</dc:creator>
  <cp:lastModifiedBy>mohamed salem</cp:lastModifiedBy>
  <dcterms:created xsi:type="dcterms:W3CDTF">2026-08-02T13:37:16Z</dcterms:created>
  <dcterms:modified xsi:type="dcterms:W3CDTF">2026-08-03T15:05:25Z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7fca27d7509f4311959581bc410c8915_23</vt:lpwstr>
  </property>
</Properties>
</file>