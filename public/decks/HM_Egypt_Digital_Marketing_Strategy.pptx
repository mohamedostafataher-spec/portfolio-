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0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80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81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81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81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75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5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6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8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8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8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9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9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9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9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9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9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9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0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5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5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80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80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80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80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0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7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77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7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7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7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76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7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7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7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7.png"/><Relationship Id="rId3" Type="http://schemas.openxmlformats.org/officeDocument/2006/relationships/image" Target="../media/image18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50.png"/><Relationship Id="rId16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4" name=""/>
        <p:cNvGrpSpPr/>
        <p:nvPr/>
      </p:nvGrpSpPr>
      <p:grpSpPr>
        <a:xfrm/>
      </p:grpSpPr>
      <p:pic>
        <p:nvPicPr>
          <p:cNvPr id="2097152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53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71500" y="3902273"/>
            <a:ext cx="4572000" cy="1152525"/>
          </a:xfrm>
          <a:prstGeom prst="rect"/>
        </p:spPr>
      </p:pic>
      <p:pic>
        <p:nvPicPr>
          <p:cNvPr id="2097154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71500" y="1803052"/>
            <a:ext cx="2647950" cy="266700"/>
          </a:xfrm>
          <a:prstGeom prst="rect"/>
        </p:spPr>
      </p:pic>
      <p:sp>
        <p:nvSpPr>
          <p:cNvPr id="1048584" name="TextBox 4"/>
          <p:cNvSpPr txBox="1"/>
          <p:nvPr/>
        </p:nvSpPr>
        <p:spPr>
          <a:xfrm>
            <a:off x="571500" y="2307877"/>
            <a:ext cx="10701337" cy="67047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111111"/>
                </a:solidFill>
                <a:latin typeface="Poppins"/>
              </a:rPr>
              <a:t>Assignment 5 – Content Strategy</a:t>
            </a:r>
          </a:p>
        </p:txBody>
      </p:sp>
      <p:sp>
        <p:nvSpPr>
          <p:cNvPr id="1048585" name="TextBox 5"/>
          <p:cNvSpPr txBox="1"/>
          <p:nvPr/>
        </p:nvSpPr>
        <p:spPr>
          <a:xfrm>
            <a:off x="571500" y="3121223"/>
            <a:ext cx="6105525" cy="28575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Inter"/>
              </a:rPr>
              <a:t>Comprehensive Social Media &amp; Digital Marketing Plan (2024–2025)</a:t>
            </a:r>
          </a:p>
        </p:txBody>
      </p:sp>
      <p:sp>
        <p:nvSpPr>
          <p:cNvPr id="1048586" name="TextBox 6"/>
          <p:cNvSpPr txBox="1"/>
          <p:nvPr/>
        </p:nvSpPr>
        <p:spPr>
          <a:xfrm>
            <a:off x="571500" y="4111823"/>
            <a:ext cx="4572000" cy="257175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222222"/>
                </a:solidFill>
                <a:latin typeface="Inter"/>
              </a:rPr>
              <a:t>Prepared by:</a:t>
            </a:r>
            <a:r>
              <a:rPr b="0" sz="1350" i="0" u="none">
                <a:solidFill>
                  <a:srgbClr val="222222"/>
                </a:solidFill>
                <a:latin typeface="Inter Medium"/>
              </a:rPr>
              <a:t> Mohamed Mostafa Taher Salem</a:t>
            </a:r>
          </a:p>
        </p:txBody>
      </p:sp>
      <p:sp>
        <p:nvSpPr>
          <p:cNvPr id="1048587" name="TextBox 7"/>
          <p:cNvSpPr txBox="1"/>
          <p:nvPr/>
        </p:nvSpPr>
        <p:spPr>
          <a:xfrm>
            <a:off x="571500" y="4426148"/>
            <a:ext cx="4572000" cy="257175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66666"/>
                </a:solidFill>
                <a:latin typeface="Inter Medium"/>
              </a:rPr>
              <a:t>Student ID:</a:t>
            </a:r>
            <a:r>
              <a:rPr b="0" sz="1350" i="0" u="none">
                <a:solidFill>
                  <a:srgbClr val="222222"/>
                </a:solidFill>
                <a:latin typeface="Inter Medium"/>
              </a:rPr>
              <a:t> 21172333</a:t>
            </a:r>
          </a:p>
        </p:txBody>
      </p:sp>
      <p:sp>
        <p:nvSpPr>
          <p:cNvPr id="1048588" name="TextBox 8"/>
          <p:cNvSpPr txBox="1"/>
          <p:nvPr/>
        </p:nvSpPr>
        <p:spPr>
          <a:xfrm>
            <a:off x="571500" y="4740473"/>
            <a:ext cx="4572000" cy="257175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66666"/>
                </a:solidFill>
                <a:latin typeface="Inter Medium"/>
              </a:rPr>
              <a:t>Target Market:</a:t>
            </a:r>
            <a:r>
              <a:rPr b="0" sz="1350" i="0" u="none">
                <a:solidFill>
                  <a:srgbClr val="222222"/>
                </a:solidFill>
                <a:latin typeface="Inter Medium"/>
              </a:rPr>
              <a:t> Egypt | Fashion Retail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8" name=""/>
        <p:cNvGrpSpPr/>
        <p:nvPr/>
      </p:nvGrpSpPr>
      <p:grpSpPr>
        <a:xfrm/>
      </p:grpSpPr>
      <p:pic>
        <p:nvPicPr>
          <p:cNvPr id="2097155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48589" name="TextBox 2"/>
          <p:cNvSpPr txBox="1"/>
          <p:nvPr/>
        </p:nvSpPr>
        <p:spPr>
          <a:xfrm>
            <a:off x="904875" y="2743200"/>
            <a:ext cx="1071562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Increase Instagram Engagement Rate: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Raise engagement from 2.1% to 4.5% within 4 months through interactive Reels, polls, and UGC campaigns.</a:t>
            </a:r>
          </a:p>
        </p:txBody>
      </p:sp>
      <p:sp>
        <p:nvSpPr>
          <p:cNvPr id="1048590" name="TextBox 3"/>
          <p:cNvSpPr txBox="1"/>
          <p:nvPr/>
        </p:nvSpPr>
        <p:spPr>
          <a:xfrm>
            <a:off x="904875" y="3124200"/>
            <a:ext cx="10715625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Boost Website Traffic from Social Media: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Expand monthly e-commerce traffic from Facebook &amp; IG by 35% in 6 months using shoppable links and promo offers.</a:t>
            </a:r>
          </a:p>
        </p:txBody>
      </p:sp>
      <p:sp>
        <p:nvSpPr>
          <p:cNvPr id="1048591" name="TextBox 4"/>
          <p:cNvSpPr txBox="1"/>
          <p:nvPr/>
        </p:nvSpPr>
        <p:spPr>
          <a:xfrm>
            <a:off x="904875" y="3733800"/>
            <a:ext cx="1071562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Drive Online Sales Growth: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Achieve a 20% increase in online sales during key retail seasons (White Friday, University Back-to-School) in 3 months.</a:t>
            </a:r>
          </a:p>
        </p:txBody>
      </p:sp>
      <p:sp>
        <p:nvSpPr>
          <p:cNvPr id="1048592" name="TextBox 5"/>
          <p:cNvSpPr txBox="1"/>
          <p:nvPr/>
        </p:nvSpPr>
        <p:spPr>
          <a:xfrm>
            <a:off x="904875" y="4114800"/>
            <a:ext cx="1071562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Expand Brand Monthly Reach: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Reach 2.5 million unique Egyptian youth per month on TikTok and Instagram within 5 months via viral video trends.</a:t>
            </a:r>
          </a:p>
        </p:txBody>
      </p:sp>
      <p:sp>
        <p:nvSpPr>
          <p:cNvPr id="1048593" name="TextBox 6"/>
          <p:cNvSpPr txBox="1"/>
          <p:nvPr/>
        </p:nvSpPr>
        <p:spPr>
          <a:xfrm>
            <a:off x="904875" y="4495800"/>
            <a:ext cx="1071562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Grow Social Media Follower Base: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Gain 100,000 active Egyptian followers on TikTok and Instagram combined over the next 6 months.</a:t>
            </a:r>
          </a:p>
        </p:txBody>
      </p:sp>
      <p:pic>
        <p:nvPicPr>
          <p:cNvPr id="2097156" name="Picture 7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71500" y="2767012"/>
            <a:ext cx="171450" cy="180975"/>
          </a:xfrm>
          <a:prstGeom prst="rect"/>
        </p:spPr>
      </p:pic>
      <p:pic>
        <p:nvPicPr>
          <p:cNvPr id="2097157" name="Picture 8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71500" y="3148012"/>
            <a:ext cx="190500" cy="180975"/>
          </a:xfrm>
          <a:prstGeom prst="rect"/>
        </p:spPr>
      </p:pic>
      <p:pic>
        <p:nvPicPr>
          <p:cNvPr id="2097158" name="Picture 9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71500" y="3757612"/>
            <a:ext cx="152400" cy="180975"/>
          </a:xfrm>
          <a:prstGeom prst="rect"/>
        </p:spPr>
      </p:pic>
      <p:pic>
        <p:nvPicPr>
          <p:cNvPr id="2097159" name="Picture 10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571500" y="4138612"/>
            <a:ext cx="190500" cy="180975"/>
          </a:xfrm>
          <a:prstGeom prst="rect"/>
        </p:spPr>
      </p:pic>
      <p:pic>
        <p:nvPicPr>
          <p:cNvPr id="2097160" name="Picture 1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571500" y="4519612"/>
            <a:ext cx="219075" cy="180975"/>
          </a:xfrm>
          <a:prstGeom prst="rect"/>
        </p:spPr>
      </p:pic>
      <p:sp>
        <p:nvSpPr>
          <p:cNvPr id="1048594" name="TextBox 12"/>
          <p:cNvSpPr txBox="1"/>
          <p:nvPr/>
        </p:nvSpPr>
        <p:spPr>
          <a:xfrm>
            <a:off x="571500" y="476250"/>
            <a:ext cx="11601450" cy="406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700" i="0" u="none">
                <a:solidFill>
                  <a:srgbClr val="111111"/>
                </a:solidFill>
                <a:latin typeface="Poppins"/>
              </a:rPr>
              <a:t>SMART Objectives (2024–2025)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" name=""/>
        <p:cNvGrpSpPr/>
        <p:nvPr/>
      </p:nvGrpSpPr>
      <p:grpSpPr>
        <a:xfrm/>
      </p:grpSpPr>
      <p:pic>
        <p:nvPicPr>
          <p:cNvPr id="2097161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62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71500" y="2043112"/>
            <a:ext cx="11049000" cy="3533775"/>
          </a:xfrm>
          <a:prstGeom prst="rect"/>
        </p:spPr>
      </p:pic>
      <p:pic>
        <p:nvPicPr>
          <p:cNvPr id="2097163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343025" y="2543175"/>
            <a:ext cx="1714500" cy="1714500"/>
          </a:xfrm>
          <a:prstGeom prst="rect"/>
        </p:spPr>
      </p:pic>
      <p:pic>
        <p:nvPicPr>
          <p:cNvPr id="2097164" name="Picture 4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3867150" y="2338387"/>
            <a:ext cx="3657600" cy="1019175"/>
          </a:xfrm>
          <a:prstGeom prst="rect"/>
        </p:spPr>
      </p:pic>
      <p:pic>
        <p:nvPicPr>
          <p:cNvPr id="2097165" name="Picture 5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7667625" y="2338387"/>
            <a:ext cx="3657600" cy="1019175"/>
          </a:xfrm>
          <a:prstGeom prst="rect"/>
        </p:spPr>
      </p:pic>
      <p:pic>
        <p:nvPicPr>
          <p:cNvPr id="2097166" name="Picture 6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3867150" y="3500437"/>
            <a:ext cx="3657600" cy="819150"/>
          </a:xfrm>
          <a:prstGeom prst="rect"/>
        </p:spPr>
      </p:pic>
      <p:pic>
        <p:nvPicPr>
          <p:cNvPr id="2097167" name="Picture 7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7667625" y="3500437"/>
            <a:ext cx="3657600" cy="819150"/>
          </a:xfrm>
          <a:prstGeom prst="rect"/>
        </p:spPr>
      </p:pic>
      <p:pic>
        <p:nvPicPr>
          <p:cNvPr id="2097168" name="Picture 8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3867150" y="4462462"/>
            <a:ext cx="3657600" cy="819150"/>
          </a:xfrm>
          <a:prstGeom prst="rect"/>
        </p:spPr>
      </p:pic>
      <p:pic>
        <p:nvPicPr>
          <p:cNvPr id="2097169" name="Picture 9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7667625" y="4462462"/>
            <a:ext cx="3657600" cy="819150"/>
          </a:xfrm>
          <a:prstGeom prst="rect"/>
        </p:spPr>
      </p:pic>
      <p:sp>
        <p:nvSpPr>
          <p:cNvPr id="1048595" name="TextBox 10"/>
          <p:cNvSpPr txBox="1"/>
          <p:nvPr/>
        </p:nvSpPr>
        <p:spPr>
          <a:xfrm>
            <a:off x="800100" y="4400550"/>
            <a:ext cx="2800350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0" sz="1500" i="0" u="none">
                <a:solidFill>
                  <a:srgbClr val="111111"/>
                </a:solidFill>
                <a:latin typeface="Poppins SemiBold"/>
              </a:rPr>
              <a:t>Mohamed Mostafa</a:t>
            </a:r>
          </a:p>
        </p:txBody>
      </p:sp>
      <p:sp>
        <p:nvSpPr>
          <p:cNvPr id="1048596" name="TextBox 11"/>
          <p:cNvSpPr txBox="1"/>
          <p:nvPr/>
        </p:nvSpPr>
        <p:spPr>
          <a:xfrm>
            <a:off x="866775" y="4762500"/>
            <a:ext cx="2667000" cy="200025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E50010"/>
                </a:solidFill>
                <a:latin typeface="Inter SemiBold"/>
              </a:rPr>
              <a:t>Target Audience</a:t>
            </a:r>
          </a:p>
        </p:txBody>
      </p:sp>
      <p:pic>
        <p:nvPicPr>
          <p:cNvPr id="2097170" name="Picture 1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1381125" y="2581275"/>
            <a:ext cx="1638300" cy="381000"/>
          </a:xfrm>
          <a:prstGeom prst="rect"/>
        </p:spPr>
      </p:pic>
      <p:sp>
        <p:nvSpPr>
          <p:cNvPr id="1048597" name="TextBox 13"/>
          <p:cNvSpPr txBox="1"/>
          <p:nvPr/>
        </p:nvSpPr>
        <p:spPr>
          <a:xfrm>
            <a:off x="4019550" y="2452687"/>
            <a:ext cx="3352800" cy="152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975" i="0" u="none">
                <a:solidFill>
                  <a:srgbClr val="E50010"/>
                </a:solidFill>
                <a:latin typeface="Inter"/>
              </a:rPr>
              <a:t>DEMOGRAPHICS</a:t>
            </a:r>
          </a:p>
        </p:txBody>
      </p:sp>
      <p:sp>
        <p:nvSpPr>
          <p:cNvPr id="1048598" name="TextBox 14"/>
          <p:cNvSpPr txBox="1"/>
          <p:nvPr/>
        </p:nvSpPr>
        <p:spPr>
          <a:xfrm>
            <a:off x="4019550" y="2643187"/>
            <a:ext cx="3352800" cy="600075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222222"/>
                </a:solidFill>
                <a:latin typeface="Inter Medium"/>
              </a:rPr>
              <a:t>21 Y/O | Cairo, Egypt</a:t>
            </a:r>
            <a:r>
              <a:t>
</a:t>
            </a:r>
            <a:r>
              <a:rPr b="0" sz="1050" i="0" u="none">
                <a:solidFill>
                  <a:srgbClr val="222222"/>
                </a:solidFill>
                <a:latin typeface="Inter Medium"/>
              </a:rPr>
              <a:t> Geography &amp; GIS Student</a:t>
            </a:r>
            <a:r>
              <a:t>
</a:t>
            </a:r>
            <a:r>
              <a:rPr b="0" sz="1050" i="0" u="none">
                <a:solidFill>
                  <a:srgbClr val="222222"/>
                </a:solidFill>
                <a:latin typeface="Inter Medium"/>
              </a:rPr>
              <a:t> Limited Monthly Budget</a:t>
            </a:r>
          </a:p>
        </p:txBody>
      </p:sp>
      <p:sp>
        <p:nvSpPr>
          <p:cNvPr id="1048599" name="TextBox 15"/>
          <p:cNvSpPr txBox="1"/>
          <p:nvPr/>
        </p:nvSpPr>
        <p:spPr>
          <a:xfrm>
            <a:off x="7820025" y="2452687"/>
            <a:ext cx="3352800" cy="152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975" i="0" u="none">
                <a:solidFill>
                  <a:srgbClr val="E50010"/>
                </a:solidFill>
                <a:latin typeface="Inter"/>
              </a:rPr>
              <a:t>SHOPPING BEHAVIOR</a:t>
            </a:r>
          </a:p>
        </p:txBody>
      </p:sp>
      <p:sp>
        <p:nvSpPr>
          <p:cNvPr id="1048600" name="TextBox 16"/>
          <p:cNvSpPr txBox="1"/>
          <p:nvPr/>
        </p:nvSpPr>
        <p:spPr>
          <a:xfrm>
            <a:off x="7820025" y="2643187"/>
            <a:ext cx="3352800" cy="40005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222222"/>
                </a:solidFill>
                <a:latin typeface="Inter Medium"/>
              </a:rPr>
              <a:t>Buys fashion online, tracks discount codes, seeks stylish budget outfits.</a:t>
            </a:r>
          </a:p>
        </p:txBody>
      </p:sp>
      <p:sp>
        <p:nvSpPr>
          <p:cNvPr id="1048601" name="TextBox 17"/>
          <p:cNvSpPr txBox="1"/>
          <p:nvPr/>
        </p:nvSpPr>
        <p:spPr>
          <a:xfrm>
            <a:off x="4019550" y="3614737"/>
            <a:ext cx="3352800" cy="152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975" i="0" u="none">
                <a:solidFill>
                  <a:srgbClr val="E50010"/>
                </a:solidFill>
                <a:latin typeface="Inter"/>
              </a:rPr>
              <a:t>PAIN POINTS</a:t>
            </a:r>
          </a:p>
        </p:txBody>
      </p:sp>
      <p:sp>
        <p:nvSpPr>
          <p:cNvPr id="1048602" name="TextBox 18"/>
          <p:cNvSpPr txBox="1"/>
          <p:nvPr/>
        </p:nvSpPr>
        <p:spPr>
          <a:xfrm>
            <a:off x="4019550" y="3805237"/>
            <a:ext cx="3352800" cy="40005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222222"/>
                </a:solidFill>
                <a:latin typeface="Inter Medium"/>
              </a:rPr>
              <a:t>Tight student budget, needs good material quality, fast delivery &amp; easy returns.</a:t>
            </a:r>
          </a:p>
        </p:txBody>
      </p:sp>
      <p:sp>
        <p:nvSpPr>
          <p:cNvPr id="1048603" name="TextBox 19"/>
          <p:cNvSpPr txBox="1"/>
          <p:nvPr/>
        </p:nvSpPr>
        <p:spPr>
          <a:xfrm>
            <a:off x="7820025" y="3614737"/>
            <a:ext cx="3352800" cy="152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975" i="0" u="none">
                <a:solidFill>
                  <a:srgbClr val="E50010"/>
                </a:solidFill>
                <a:latin typeface="Inter"/>
              </a:rPr>
              <a:t>GOALS &amp; DESIRES</a:t>
            </a:r>
          </a:p>
        </p:txBody>
      </p:sp>
      <p:sp>
        <p:nvSpPr>
          <p:cNvPr id="1048604" name="TextBox 20"/>
          <p:cNvSpPr txBox="1"/>
          <p:nvPr/>
        </p:nvSpPr>
        <p:spPr>
          <a:xfrm>
            <a:off x="7820025" y="3805237"/>
            <a:ext cx="3352800" cy="40005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222222"/>
                </a:solidFill>
                <a:latin typeface="Inter Medium"/>
              </a:rPr>
              <a:t>Look trendy at university, find affordable sales, smooth digital shopping experience.</a:t>
            </a:r>
          </a:p>
        </p:txBody>
      </p:sp>
      <p:sp>
        <p:nvSpPr>
          <p:cNvPr id="1048605" name="TextBox 21"/>
          <p:cNvSpPr txBox="1"/>
          <p:nvPr/>
        </p:nvSpPr>
        <p:spPr>
          <a:xfrm>
            <a:off x="4019550" y="4576762"/>
            <a:ext cx="3352800" cy="152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975" i="0" u="none">
                <a:solidFill>
                  <a:srgbClr val="E50010"/>
                </a:solidFill>
                <a:latin typeface="Inter"/>
              </a:rPr>
              <a:t>PREFERRED PLATFORMS</a:t>
            </a:r>
          </a:p>
        </p:txBody>
      </p:sp>
      <p:sp>
        <p:nvSpPr>
          <p:cNvPr id="1048606" name="TextBox 22"/>
          <p:cNvSpPr txBox="1"/>
          <p:nvPr/>
        </p:nvSpPr>
        <p:spPr>
          <a:xfrm>
            <a:off x="4019550" y="4767262"/>
            <a:ext cx="3352800" cy="200025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222222"/>
                </a:solidFill>
                <a:latin typeface="Inter Medium"/>
              </a:rPr>
              <a:t>Instagram, TikTok, Facebook, WhatsApp</a:t>
            </a:r>
          </a:p>
        </p:txBody>
      </p:sp>
      <p:sp>
        <p:nvSpPr>
          <p:cNvPr id="1048607" name="TextBox 23"/>
          <p:cNvSpPr txBox="1"/>
          <p:nvPr/>
        </p:nvSpPr>
        <p:spPr>
          <a:xfrm>
            <a:off x="7820025" y="4576762"/>
            <a:ext cx="3352800" cy="152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975" i="0" u="none">
                <a:solidFill>
                  <a:srgbClr val="E50010"/>
                </a:solidFill>
                <a:latin typeface="Inter"/>
              </a:rPr>
              <a:t>PREFERRED FORMATS</a:t>
            </a:r>
          </a:p>
        </p:txBody>
      </p:sp>
      <p:sp>
        <p:nvSpPr>
          <p:cNvPr id="1048608" name="TextBox 24"/>
          <p:cNvSpPr txBox="1"/>
          <p:nvPr/>
        </p:nvSpPr>
        <p:spPr>
          <a:xfrm>
            <a:off x="7820025" y="4767262"/>
            <a:ext cx="3352800" cy="200025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222222"/>
                </a:solidFill>
                <a:latin typeface="Inter Medium"/>
              </a:rPr>
              <a:t>Reels, Short Videos, Outfit Ideas, Discounts &amp; Carousels</a:t>
            </a:r>
          </a:p>
        </p:txBody>
      </p:sp>
      <p:sp>
        <p:nvSpPr>
          <p:cNvPr id="1048609" name="TextBox 25"/>
          <p:cNvSpPr txBox="1"/>
          <p:nvPr/>
        </p:nvSpPr>
        <p:spPr>
          <a:xfrm>
            <a:off x="571500" y="476250"/>
            <a:ext cx="11601450" cy="406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700" i="0" u="none">
                <a:solidFill>
                  <a:srgbClr val="111111"/>
                </a:solidFill>
                <a:latin typeface="Poppins"/>
              </a:rPr>
              <a:t>Buyer Persona Card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0" name=""/>
        <p:cNvGrpSpPr/>
        <p:nvPr/>
      </p:nvGrpSpPr>
      <p:grpSpPr>
        <a:xfrm/>
      </p:grpSpPr>
      <p:pic>
        <p:nvPicPr>
          <p:cNvPr id="2097171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72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238875" y="2000250"/>
            <a:ext cx="5381625" cy="3619500"/>
          </a:xfrm>
          <a:prstGeom prst="rect"/>
        </p:spPr>
      </p:pic>
      <p:sp>
        <p:nvSpPr>
          <p:cNvPr id="1048610" name="TextBox 3"/>
          <p:cNvSpPr txBox="1"/>
          <p:nvPr/>
        </p:nvSpPr>
        <p:spPr>
          <a:xfrm>
            <a:off x="904875" y="2000250"/>
            <a:ext cx="5048250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Visual Identity: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High-quality global studio imagery, clean aesthetic, recognizable brand color palette.</a:t>
            </a:r>
          </a:p>
        </p:txBody>
      </p:sp>
      <p:sp>
        <p:nvSpPr>
          <p:cNvPr id="1048611" name="TextBox 4"/>
          <p:cNvSpPr txBox="1"/>
          <p:nvPr/>
        </p:nvSpPr>
        <p:spPr>
          <a:xfrm>
            <a:off x="904875" y="2609850"/>
            <a:ext cx="5048250" cy="685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Inconsistent Posting (Key Weakness):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H&amp;M Egypt frequently suffers from long periods without regular posts, reducing algorithmic visibility and audience engagement.</a:t>
            </a:r>
          </a:p>
        </p:txBody>
      </p:sp>
      <p:sp>
        <p:nvSpPr>
          <p:cNvPr id="1048612" name="TextBox 5"/>
          <p:cNvSpPr txBox="1"/>
          <p:nvPr/>
        </p:nvSpPr>
        <p:spPr>
          <a:xfrm>
            <a:off x="904875" y="3448050"/>
            <a:ext cx="5048250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Posting Frequency: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Irregular schedule (0 to 2 posts per week), missing peak Egyptian engagement hours.</a:t>
            </a:r>
          </a:p>
        </p:txBody>
      </p:sp>
      <p:sp>
        <p:nvSpPr>
          <p:cNvPr id="1048613" name="TextBox 6"/>
          <p:cNvSpPr txBox="1"/>
          <p:nvPr/>
        </p:nvSpPr>
        <p:spPr>
          <a:xfrm>
            <a:off x="904875" y="4057650"/>
            <a:ext cx="5048250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Content Types: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Heavy reliance on static global catalog photos; lack of localized video content and Egyptian creators.</a:t>
            </a:r>
          </a:p>
        </p:txBody>
      </p:sp>
      <p:pic>
        <p:nvPicPr>
          <p:cNvPr id="2097173" name="Picture 7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71500" y="2024062"/>
            <a:ext cx="171450" cy="180975"/>
          </a:xfrm>
          <a:prstGeom prst="rect"/>
        </p:spPr>
      </p:pic>
      <p:pic>
        <p:nvPicPr>
          <p:cNvPr id="2097174" name="Picture 8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71500" y="2633662"/>
            <a:ext cx="171450" cy="180975"/>
          </a:xfrm>
          <a:prstGeom prst="rect"/>
        </p:spPr>
      </p:pic>
      <p:pic>
        <p:nvPicPr>
          <p:cNvPr id="2097175" name="Picture 9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571500" y="3471862"/>
            <a:ext cx="171450" cy="180975"/>
          </a:xfrm>
          <a:prstGeom prst="rect"/>
        </p:spPr>
      </p:pic>
      <p:pic>
        <p:nvPicPr>
          <p:cNvPr id="2097176" name="Picture 10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571500" y="4081462"/>
            <a:ext cx="190500" cy="180975"/>
          </a:xfrm>
          <a:prstGeom prst="rect"/>
        </p:spPr>
      </p:pic>
      <p:sp>
        <p:nvSpPr>
          <p:cNvPr id="1048614" name="TextBox 11"/>
          <p:cNvSpPr txBox="1"/>
          <p:nvPr/>
        </p:nvSpPr>
        <p:spPr>
          <a:xfrm>
            <a:off x="571500" y="476250"/>
            <a:ext cx="11601450" cy="406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700" i="0" u="none">
                <a:solidFill>
                  <a:srgbClr val="111111"/>
                </a:solidFill>
                <a:latin typeface="Poppins"/>
              </a:rPr>
              <a:t>Social Media Content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1" name=""/>
        <p:cNvGrpSpPr/>
        <p:nvPr/>
      </p:nvGrpSpPr>
      <p:grpSpPr>
        <a:xfrm/>
      </p:grpSpPr>
      <p:pic>
        <p:nvPicPr>
          <p:cNvPr id="2097177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571500" y="2495550"/>
          <a:ext cx="11048998" cy="2628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224"/>
                <a:gridCol w="1847254"/>
                <a:gridCol w="1835646"/>
                <a:gridCol w="1543347"/>
                <a:gridCol w="2186285"/>
                <a:gridCol w="2128242"/>
              </a:tblGrid>
              <a:tr h="438150"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Brand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Frequency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Content Quality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Engagement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Offers &amp; Discounts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Reels &amp; UGC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111"/>
                    </a:solidFill>
                  </a:tcPr>
                </a:tc>
              </a:tr>
              <a:tr h="438150">
                <a:tc>
                  <a:txBody>
                    <a:bodyPr/>
                    <a:p>
                      <a:pPr algn="l"/>
                      <a:r>
                        <a:rPr b="1" sz="1050" i="0" u="none">
                          <a:solidFill>
                            <a:srgbClr val="333333"/>
                          </a:solidFill>
                          <a:latin typeface="Inter"/>
                        </a:rPr>
                        <a:t>H&amp;M Egypt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Irregular (1-2/wk)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High (Global)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Seasonal Sales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Low (Needs boost)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8150">
                <a:tc>
                  <a:txBody>
                    <a:bodyPr/>
                    <a:p>
                      <a:pPr algn="l"/>
                      <a:r>
                        <a:rPr b="1" sz="1050" i="0" u="none">
                          <a:solidFill>
                            <a:srgbClr val="333333"/>
                          </a:solidFill>
                          <a:latin typeface="Inter"/>
                        </a:rPr>
                        <a:t>Zara Egypt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Daily (1-2/day)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Editorial / Premium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Minimal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Medium (Minimalist)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</a:tr>
              <a:tr h="438150">
                <a:tc>
                  <a:txBody>
                    <a:bodyPr/>
                    <a:p>
                      <a:pPr algn="l"/>
                      <a:r>
                        <a:rPr b="1" sz="1050" i="0" u="none">
                          <a:solidFill>
                            <a:srgbClr val="333333"/>
                          </a:solidFill>
                          <a:latin typeface="Inter"/>
                        </a:rPr>
                        <a:t>LC Waikiki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High (2-3/day)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Commercial / Local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Very Heavy Offers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High (Family focus)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8150">
                <a:tc>
                  <a:txBody>
                    <a:bodyPr/>
                    <a:p>
                      <a:pPr algn="l"/>
                      <a:r>
                        <a:rPr b="1" sz="1050" i="0" u="none">
                          <a:solidFill>
                            <a:srgbClr val="333333"/>
                          </a:solidFill>
                          <a:latin typeface="Inter"/>
                        </a:rPr>
                        <a:t>Defacto Egypt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Frequent (1-2/day)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Casual / Youth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Moderate-High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Frequent Student Deals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High (TikTok Reels)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FDFD"/>
                    </a:solidFill>
                  </a:tcPr>
                </a:tc>
              </a:tr>
              <a:tr h="438150">
                <a:tc>
                  <a:txBody>
                    <a:bodyPr/>
                    <a:p>
                      <a:pPr algn="l"/>
                      <a:r>
                        <a:rPr b="1" sz="1050" i="0" u="none">
                          <a:solidFill>
                            <a:srgbClr val="333333"/>
                          </a:solidFill>
                          <a:latin typeface="Inter"/>
                        </a:rPr>
                        <a:t>Mango Egypt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Moderate (3-4/wk)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Premium Fashion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Mid-Season Sales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b="0" sz="1050" i="0" u="none">
                          <a:solidFill>
                            <a:srgbClr val="333333"/>
                          </a:solidFill>
                          <a:latin typeface="Inter"/>
                        </a:rPr>
                        <a:t>Moderate (Influencers)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48615" name="Rectangle 3"/>
          <p:cNvSpPr/>
          <p:nvPr/>
        </p:nvSpPr>
        <p:spPr>
          <a:xfrm>
            <a:off x="571500" y="2919412"/>
            <a:ext cx="1508224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6" name="Rectangle 4"/>
          <p:cNvSpPr/>
          <p:nvPr/>
        </p:nvSpPr>
        <p:spPr>
          <a:xfrm>
            <a:off x="2079724" y="2919412"/>
            <a:ext cx="1847254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7" name="Rectangle 5"/>
          <p:cNvSpPr/>
          <p:nvPr/>
        </p:nvSpPr>
        <p:spPr>
          <a:xfrm>
            <a:off x="3926978" y="2919412"/>
            <a:ext cx="1835646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8" name="Rectangle 6"/>
          <p:cNvSpPr/>
          <p:nvPr/>
        </p:nvSpPr>
        <p:spPr>
          <a:xfrm>
            <a:off x="5762625" y="2919412"/>
            <a:ext cx="1543347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9" name="Rectangle 7"/>
          <p:cNvSpPr/>
          <p:nvPr/>
        </p:nvSpPr>
        <p:spPr>
          <a:xfrm>
            <a:off x="7305972" y="2919412"/>
            <a:ext cx="2186285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0" name="Rectangle 8"/>
          <p:cNvSpPr/>
          <p:nvPr/>
        </p:nvSpPr>
        <p:spPr>
          <a:xfrm>
            <a:off x="9492257" y="2919412"/>
            <a:ext cx="2128242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1" name="Rectangle 9"/>
          <p:cNvSpPr/>
          <p:nvPr/>
        </p:nvSpPr>
        <p:spPr>
          <a:xfrm>
            <a:off x="571500" y="3357562"/>
            <a:ext cx="1508224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2" name="Rectangle 10"/>
          <p:cNvSpPr/>
          <p:nvPr/>
        </p:nvSpPr>
        <p:spPr>
          <a:xfrm>
            <a:off x="2079724" y="3357562"/>
            <a:ext cx="1847254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3" name="Rectangle 11"/>
          <p:cNvSpPr/>
          <p:nvPr/>
        </p:nvSpPr>
        <p:spPr>
          <a:xfrm>
            <a:off x="3926978" y="3357562"/>
            <a:ext cx="1835646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4" name="Rectangle 12"/>
          <p:cNvSpPr/>
          <p:nvPr/>
        </p:nvSpPr>
        <p:spPr>
          <a:xfrm>
            <a:off x="5762625" y="3357562"/>
            <a:ext cx="1543347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5" name="Rectangle 13"/>
          <p:cNvSpPr/>
          <p:nvPr/>
        </p:nvSpPr>
        <p:spPr>
          <a:xfrm>
            <a:off x="7305972" y="3357562"/>
            <a:ext cx="2186285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6" name="Rectangle 14"/>
          <p:cNvSpPr/>
          <p:nvPr/>
        </p:nvSpPr>
        <p:spPr>
          <a:xfrm>
            <a:off x="9492257" y="3357562"/>
            <a:ext cx="2128242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7" name="Rectangle 15"/>
          <p:cNvSpPr/>
          <p:nvPr/>
        </p:nvSpPr>
        <p:spPr>
          <a:xfrm>
            <a:off x="571500" y="3795712"/>
            <a:ext cx="1508224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8" name="Rectangle 16"/>
          <p:cNvSpPr/>
          <p:nvPr/>
        </p:nvSpPr>
        <p:spPr>
          <a:xfrm>
            <a:off x="2079724" y="3795712"/>
            <a:ext cx="1847254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9" name="Rectangle 17"/>
          <p:cNvSpPr/>
          <p:nvPr/>
        </p:nvSpPr>
        <p:spPr>
          <a:xfrm>
            <a:off x="3926978" y="3795712"/>
            <a:ext cx="1835646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0" name="Rectangle 18"/>
          <p:cNvSpPr/>
          <p:nvPr/>
        </p:nvSpPr>
        <p:spPr>
          <a:xfrm>
            <a:off x="5762625" y="3795712"/>
            <a:ext cx="1543347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1" name="Rectangle 19"/>
          <p:cNvSpPr/>
          <p:nvPr/>
        </p:nvSpPr>
        <p:spPr>
          <a:xfrm>
            <a:off x="7305972" y="3795712"/>
            <a:ext cx="2186285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2" name="Rectangle 20"/>
          <p:cNvSpPr/>
          <p:nvPr/>
        </p:nvSpPr>
        <p:spPr>
          <a:xfrm>
            <a:off x="9492257" y="3795712"/>
            <a:ext cx="2128242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3" name="Rectangle 21"/>
          <p:cNvSpPr/>
          <p:nvPr/>
        </p:nvSpPr>
        <p:spPr>
          <a:xfrm>
            <a:off x="571500" y="4233862"/>
            <a:ext cx="1508224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4" name="Rectangle 22"/>
          <p:cNvSpPr/>
          <p:nvPr/>
        </p:nvSpPr>
        <p:spPr>
          <a:xfrm>
            <a:off x="2079724" y="4233862"/>
            <a:ext cx="1847254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5" name="Rectangle 23"/>
          <p:cNvSpPr/>
          <p:nvPr/>
        </p:nvSpPr>
        <p:spPr>
          <a:xfrm>
            <a:off x="3926978" y="4233862"/>
            <a:ext cx="1835646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6" name="Rectangle 24"/>
          <p:cNvSpPr/>
          <p:nvPr/>
        </p:nvSpPr>
        <p:spPr>
          <a:xfrm>
            <a:off x="5762625" y="4233862"/>
            <a:ext cx="1543347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7" name="Rectangle 25"/>
          <p:cNvSpPr/>
          <p:nvPr/>
        </p:nvSpPr>
        <p:spPr>
          <a:xfrm>
            <a:off x="7305972" y="4233862"/>
            <a:ext cx="2186285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8" name="Rectangle 26"/>
          <p:cNvSpPr/>
          <p:nvPr/>
        </p:nvSpPr>
        <p:spPr>
          <a:xfrm>
            <a:off x="9492257" y="4233862"/>
            <a:ext cx="2128242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9" name="Rectangle 27"/>
          <p:cNvSpPr/>
          <p:nvPr/>
        </p:nvSpPr>
        <p:spPr>
          <a:xfrm>
            <a:off x="571500" y="4672012"/>
            <a:ext cx="1508224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0" name="Rectangle 28"/>
          <p:cNvSpPr/>
          <p:nvPr/>
        </p:nvSpPr>
        <p:spPr>
          <a:xfrm>
            <a:off x="2079724" y="4672012"/>
            <a:ext cx="1847254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1" name="Rectangle 29"/>
          <p:cNvSpPr/>
          <p:nvPr/>
        </p:nvSpPr>
        <p:spPr>
          <a:xfrm>
            <a:off x="3926978" y="4672012"/>
            <a:ext cx="1835646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2" name="Rectangle 30"/>
          <p:cNvSpPr/>
          <p:nvPr/>
        </p:nvSpPr>
        <p:spPr>
          <a:xfrm>
            <a:off x="5762625" y="4672012"/>
            <a:ext cx="1543347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3" name="Rectangle 31"/>
          <p:cNvSpPr/>
          <p:nvPr/>
        </p:nvSpPr>
        <p:spPr>
          <a:xfrm>
            <a:off x="7305972" y="4672012"/>
            <a:ext cx="2186285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4" name="Rectangle 32"/>
          <p:cNvSpPr/>
          <p:nvPr/>
        </p:nvSpPr>
        <p:spPr>
          <a:xfrm>
            <a:off x="9492257" y="4672012"/>
            <a:ext cx="2128242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5" name="Rectangle 33"/>
          <p:cNvSpPr/>
          <p:nvPr/>
        </p:nvSpPr>
        <p:spPr>
          <a:xfrm>
            <a:off x="571500" y="5110162"/>
            <a:ext cx="1508224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6" name="Rectangle 34"/>
          <p:cNvSpPr/>
          <p:nvPr/>
        </p:nvSpPr>
        <p:spPr>
          <a:xfrm>
            <a:off x="2079724" y="5110162"/>
            <a:ext cx="1847254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7" name="Rectangle 35"/>
          <p:cNvSpPr/>
          <p:nvPr/>
        </p:nvSpPr>
        <p:spPr>
          <a:xfrm>
            <a:off x="3926978" y="5110162"/>
            <a:ext cx="1835646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8" name="Rectangle 36"/>
          <p:cNvSpPr/>
          <p:nvPr/>
        </p:nvSpPr>
        <p:spPr>
          <a:xfrm>
            <a:off x="5762625" y="5110162"/>
            <a:ext cx="1543347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9" name="Rectangle 37"/>
          <p:cNvSpPr/>
          <p:nvPr/>
        </p:nvSpPr>
        <p:spPr>
          <a:xfrm>
            <a:off x="7305972" y="5110162"/>
            <a:ext cx="2186285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0" name="Rectangle 38"/>
          <p:cNvSpPr/>
          <p:nvPr/>
        </p:nvSpPr>
        <p:spPr>
          <a:xfrm>
            <a:off x="9492257" y="5110162"/>
            <a:ext cx="2128242" cy="9525"/>
          </a:xfrm>
          <a:prstGeom prst="rect"/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1" name="TextBox 39"/>
          <p:cNvSpPr txBox="1"/>
          <p:nvPr/>
        </p:nvSpPr>
        <p:spPr>
          <a:xfrm>
            <a:off x="571500" y="476250"/>
            <a:ext cx="11601450" cy="406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700" i="0" u="none">
                <a:solidFill>
                  <a:srgbClr val="111111"/>
                </a:solidFill>
                <a:latin typeface="Poppins"/>
              </a:rPr>
              <a:t>Competitive Analysis (Egypt Market)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2" name=""/>
        <p:cNvGrpSpPr/>
        <p:nvPr/>
      </p:nvGrpSpPr>
      <p:grpSpPr>
        <a:xfrm/>
      </p:grpSpPr>
      <p:pic>
        <p:nvPicPr>
          <p:cNvPr id="2097178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79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71500" y="2171700"/>
            <a:ext cx="5429250" cy="1543050"/>
          </a:xfrm>
          <a:prstGeom prst="rect"/>
        </p:spPr>
      </p:pic>
      <p:pic>
        <p:nvPicPr>
          <p:cNvPr id="2097180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191250" y="2171700"/>
            <a:ext cx="5429250" cy="1543050"/>
          </a:xfrm>
          <a:prstGeom prst="rect"/>
        </p:spPr>
      </p:pic>
      <p:pic>
        <p:nvPicPr>
          <p:cNvPr id="2097181" name="Picture 4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71500" y="3905250"/>
            <a:ext cx="5429250" cy="1543050"/>
          </a:xfrm>
          <a:prstGeom prst="rect"/>
        </p:spPr>
      </p:pic>
      <p:pic>
        <p:nvPicPr>
          <p:cNvPr id="2097182" name="Picture 5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191250" y="3905250"/>
            <a:ext cx="5429250" cy="1543050"/>
          </a:xfrm>
          <a:prstGeom prst="rect"/>
        </p:spPr>
      </p:pic>
      <p:sp>
        <p:nvSpPr>
          <p:cNvPr id="1048652" name="TextBox 6"/>
          <p:cNvSpPr txBox="1"/>
          <p:nvPr/>
        </p:nvSpPr>
        <p:spPr>
          <a:xfrm>
            <a:off x="857250" y="2381250"/>
            <a:ext cx="5150643" cy="190500"/>
          </a:xfrm>
          <a:prstGeom prst="rect"/>
          <a:noFill/>
        </p:spPr>
        <p:txBody>
          <a:bodyPr anchor="t" bIns="0" lIns="171450" rIns="0" tIns="0" wrap="square">
            <a:spAutoFit/>
          </a:bodyPr>
          <a:p>
            <a:pPr algn="l"/>
            <a:r>
              <a:rPr b="0" sz="1350" i="0" u="none">
                <a:solidFill>
                  <a:srgbClr val="111111"/>
                </a:solidFill>
                <a:latin typeface="Poppins SemiBold"/>
              </a:rPr>
              <a:t>Strengths</a:t>
            </a:r>
          </a:p>
        </p:txBody>
      </p:sp>
      <p:sp>
        <p:nvSpPr>
          <p:cNvPr id="1048653" name="TextBox 7"/>
          <p:cNvSpPr txBox="1"/>
          <p:nvPr/>
        </p:nvSpPr>
        <p:spPr>
          <a:xfrm>
            <a:off x="6477000" y="2381250"/>
            <a:ext cx="5150643" cy="190500"/>
          </a:xfrm>
          <a:prstGeom prst="rect"/>
          <a:noFill/>
        </p:spPr>
        <p:txBody>
          <a:bodyPr anchor="t" bIns="0" lIns="171450" rIns="0" tIns="0" wrap="square">
            <a:spAutoFit/>
          </a:bodyPr>
          <a:p>
            <a:pPr algn="l"/>
            <a:r>
              <a:rPr b="0" sz="1350" i="0" u="none">
                <a:solidFill>
                  <a:srgbClr val="111111"/>
                </a:solidFill>
                <a:latin typeface="Poppins SemiBold"/>
              </a:rPr>
              <a:t>Weaknesses</a:t>
            </a:r>
          </a:p>
        </p:txBody>
      </p:sp>
      <p:sp>
        <p:nvSpPr>
          <p:cNvPr id="1048654" name="TextBox 8"/>
          <p:cNvSpPr txBox="1"/>
          <p:nvPr/>
        </p:nvSpPr>
        <p:spPr>
          <a:xfrm>
            <a:off x="857250" y="4114800"/>
            <a:ext cx="5150643" cy="190500"/>
          </a:xfrm>
          <a:prstGeom prst="rect"/>
          <a:noFill/>
        </p:spPr>
        <p:txBody>
          <a:bodyPr anchor="t" bIns="0" lIns="133350" rIns="0" tIns="0" wrap="square">
            <a:spAutoFit/>
          </a:bodyPr>
          <a:p>
            <a:pPr algn="l"/>
            <a:r>
              <a:rPr b="0" sz="1350" i="0" u="none">
                <a:solidFill>
                  <a:srgbClr val="111111"/>
                </a:solidFill>
                <a:latin typeface="Poppins SemiBold"/>
              </a:rPr>
              <a:t>Opportunities</a:t>
            </a:r>
          </a:p>
        </p:txBody>
      </p:sp>
      <p:sp>
        <p:nvSpPr>
          <p:cNvPr id="1048655" name="TextBox 9"/>
          <p:cNvSpPr txBox="1"/>
          <p:nvPr/>
        </p:nvSpPr>
        <p:spPr>
          <a:xfrm>
            <a:off x="6477000" y="4114800"/>
            <a:ext cx="5150643" cy="190500"/>
          </a:xfrm>
          <a:prstGeom prst="rect"/>
          <a:noFill/>
        </p:spPr>
        <p:txBody>
          <a:bodyPr anchor="t" bIns="0" lIns="152400" rIns="0" tIns="0" wrap="square">
            <a:spAutoFit/>
          </a:bodyPr>
          <a:p>
            <a:pPr algn="l"/>
            <a:r>
              <a:rPr b="0" sz="1350" i="0" u="none">
                <a:solidFill>
                  <a:srgbClr val="111111"/>
                </a:solidFill>
                <a:latin typeface="Poppins SemiBold"/>
              </a:rPr>
              <a:t>Threats</a:t>
            </a:r>
          </a:p>
        </p:txBody>
      </p:sp>
      <p:pic>
        <p:nvPicPr>
          <p:cNvPr id="2097183" name="Picture 10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857250" y="2428875"/>
            <a:ext cx="171450" cy="171450"/>
          </a:xfrm>
          <a:prstGeom prst="rect"/>
        </p:spPr>
      </p:pic>
      <p:sp>
        <p:nvSpPr>
          <p:cNvPr id="1048656" name="TextBox 11"/>
          <p:cNvSpPr txBox="1"/>
          <p:nvPr/>
        </p:nvSpPr>
        <p:spPr>
          <a:xfrm>
            <a:off x="981075" y="2733675"/>
            <a:ext cx="47625" cy="279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050" i="0" u="none">
                <a:solidFill>
                  <a:srgbClr val="333333"/>
                </a:solidFill>
                <a:latin typeface="Inter"/>
              </a:rPr>
              <a:t>▪</a:t>
            </a:r>
          </a:p>
        </p:txBody>
      </p:sp>
      <p:sp>
        <p:nvSpPr>
          <p:cNvPr id="1048657" name="TextBox 12"/>
          <p:cNvSpPr txBox="1"/>
          <p:nvPr/>
        </p:nvSpPr>
        <p:spPr>
          <a:xfrm>
            <a:off x="1028700" y="2733675"/>
            <a:ext cx="4733925" cy="200025"/>
          </a:xfrm>
          <a:prstGeom prst="rect"/>
          <a:noFill/>
        </p:spPr>
        <p:txBody>
          <a:bodyPr anchor="t" bIns="0" lIns="47625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Inter"/>
              </a:rPr>
              <a:t>Strong global brand equity and recognition.</a:t>
            </a:r>
          </a:p>
        </p:txBody>
      </p:sp>
      <p:sp>
        <p:nvSpPr>
          <p:cNvPr id="1048658" name="TextBox 13"/>
          <p:cNvSpPr txBox="1"/>
          <p:nvPr/>
        </p:nvSpPr>
        <p:spPr>
          <a:xfrm>
            <a:off x="981075" y="2990850"/>
            <a:ext cx="47625" cy="279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050" i="0" u="none">
                <a:solidFill>
                  <a:srgbClr val="333333"/>
                </a:solidFill>
                <a:latin typeface="Inter"/>
              </a:rPr>
              <a:t>▪</a:t>
            </a:r>
          </a:p>
        </p:txBody>
      </p:sp>
      <p:sp>
        <p:nvSpPr>
          <p:cNvPr id="1048659" name="TextBox 14"/>
          <p:cNvSpPr txBox="1"/>
          <p:nvPr/>
        </p:nvSpPr>
        <p:spPr>
          <a:xfrm>
            <a:off x="1028700" y="2990850"/>
            <a:ext cx="4733925" cy="200025"/>
          </a:xfrm>
          <a:prstGeom prst="rect"/>
          <a:noFill/>
        </p:spPr>
        <p:txBody>
          <a:bodyPr anchor="t" bIns="0" lIns="47625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Inter"/>
              </a:rPr>
              <a:t>Established e-commerce site &amp; mobile app in Egypt.</a:t>
            </a:r>
          </a:p>
        </p:txBody>
      </p:sp>
      <p:sp>
        <p:nvSpPr>
          <p:cNvPr id="1048660" name="TextBox 15"/>
          <p:cNvSpPr txBox="1"/>
          <p:nvPr/>
        </p:nvSpPr>
        <p:spPr>
          <a:xfrm>
            <a:off x="981075" y="3248025"/>
            <a:ext cx="47625" cy="279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050" i="0" u="none">
                <a:solidFill>
                  <a:srgbClr val="333333"/>
                </a:solidFill>
                <a:latin typeface="Inter"/>
              </a:rPr>
              <a:t>▪</a:t>
            </a:r>
          </a:p>
        </p:txBody>
      </p:sp>
      <p:sp>
        <p:nvSpPr>
          <p:cNvPr id="1048661" name="TextBox 16"/>
          <p:cNvSpPr txBox="1"/>
          <p:nvPr/>
        </p:nvSpPr>
        <p:spPr>
          <a:xfrm>
            <a:off x="1028700" y="3248025"/>
            <a:ext cx="4733925" cy="200025"/>
          </a:xfrm>
          <a:prstGeom prst="rect"/>
          <a:noFill/>
        </p:spPr>
        <p:txBody>
          <a:bodyPr anchor="t" bIns="0" lIns="47625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Inter"/>
              </a:rPr>
              <a:t>Wide range of sustainable &amp; affordable fashion.</a:t>
            </a:r>
          </a:p>
        </p:txBody>
      </p:sp>
      <p:pic>
        <p:nvPicPr>
          <p:cNvPr id="2097184" name="Picture 17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6477000" y="2428875"/>
            <a:ext cx="171450" cy="171450"/>
          </a:xfrm>
          <a:prstGeom prst="rect"/>
        </p:spPr>
      </p:pic>
      <p:sp>
        <p:nvSpPr>
          <p:cNvPr id="1048662" name="TextBox 18"/>
          <p:cNvSpPr txBox="1"/>
          <p:nvPr/>
        </p:nvSpPr>
        <p:spPr>
          <a:xfrm>
            <a:off x="6600825" y="2733675"/>
            <a:ext cx="47625" cy="279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050" i="0" u="none">
                <a:solidFill>
                  <a:srgbClr val="333333"/>
                </a:solidFill>
                <a:latin typeface="Inter"/>
              </a:rPr>
              <a:t>▪</a:t>
            </a:r>
          </a:p>
        </p:txBody>
      </p:sp>
      <p:sp>
        <p:nvSpPr>
          <p:cNvPr id="1048663" name="TextBox 19"/>
          <p:cNvSpPr txBox="1"/>
          <p:nvPr/>
        </p:nvSpPr>
        <p:spPr>
          <a:xfrm>
            <a:off x="6648450" y="2733675"/>
            <a:ext cx="4733925" cy="200025"/>
          </a:xfrm>
          <a:prstGeom prst="rect"/>
          <a:noFill/>
        </p:spPr>
        <p:txBody>
          <a:bodyPr anchor="t" bIns="0" lIns="47625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Inter"/>
              </a:rPr>
              <a:t>Inconsistent local posting schedule.</a:t>
            </a:r>
          </a:p>
        </p:txBody>
      </p:sp>
      <p:sp>
        <p:nvSpPr>
          <p:cNvPr id="1048664" name="TextBox 20"/>
          <p:cNvSpPr txBox="1"/>
          <p:nvPr/>
        </p:nvSpPr>
        <p:spPr>
          <a:xfrm>
            <a:off x="6600825" y="2990850"/>
            <a:ext cx="47625" cy="279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050" i="0" u="none">
                <a:solidFill>
                  <a:srgbClr val="333333"/>
                </a:solidFill>
                <a:latin typeface="Inter"/>
              </a:rPr>
              <a:t>▪</a:t>
            </a:r>
          </a:p>
        </p:txBody>
      </p:sp>
      <p:sp>
        <p:nvSpPr>
          <p:cNvPr id="1048665" name="TextBox 21"/>
          <p:cNvSpPr txBox="1"/>
          <p:nvPr/>
        </p:nvSpPr>
        <p:spPr>
          <a:xfrm>
            <a:off x="6648450" y="2990850"/>
            <a:ext cx="4733925" cy="200025"/>
          </a:xfrm>
          <a:prstGeom prst="rect"/>
          <a:noFill/>
        </p:spPr>
        <p:txBody>
          <a:bodyPr anchor="t" bIns="0" lIns="47625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Inter"/>
              </a:rPr>
              <a:t>Limited hyper-local Egyptian dialect content.</a:t>
            </a:r>
          </a:p>
        </p:txBody>
      </p:sp>
      <p:sp>
        <p:nvSpPr>
          <p:cNvPr id="1048666" name="TextBox 22"/>
          <p:cNvSpPr txBox="1"/>
          <p:nvPr/>
        </p:nvSpPr>
        <p:spPr>
          <a:xfrm>
            <a:off x="6600825" y="3248025"/>
            <a:ext cx="47625" cy="279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050" i="0" u="none">
                <a:solidFill>
                  <a:srgbClr val="333333"/>
                </a:solidFill>
                <a:latin typeface="Inter"/>
              </a:rPr>
              <a:t>▪</a:t>
            </a:r>
          </a:p>
        </p:txBody>
      </p:sp>
      <p:sp>
        <p:nvSpPr>
          <p:cNvPr id="1048667" name="TextBox 23"/>
          <p:cNvSpPr txBox="1"/>
          <p:nvPr/>
        </p:nvSpPr>
        <p:spPr>
          <a:xfrm>
            <a:off x="6648450" y="3248025"/>
            <a:ext cx="4733925" cy="200025"/>
          </a:xfrm>
          <a:prstGeom prst="rect"/>
          <a:noFill/>
        </p:spPr>
        <p:txBody>
          <a:bodyPr anchor="t" bIns="0" lIns="47625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Inter"/>
              </a:rPr>
              <a:t>Slower adaptation to rapid TikTok fashion trends.</a:t>
            </a:r>
          </a:p>
        </p:txBody>
      </p:sp>
      <p:pic>
        <p:nvPicPr>
          <p:cNvPr id="2097185" name="Picture 24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857250" y="4162425"/>
            <a:ext cx="133350" cy="171450"/>
          </a:xfrm>
          <a:prstGeom prst="rect"/>
        </p:spPr>
      </p:pic>
      <p:sp>
        <p:nvSpPr>
          <p:cNvPr id="1048668" name="TextBox 25"/>
          <p:cNvSpPr txBox="1"/>
          <p:nvPr/>
        </p:nvSpPr>
        <p:spPr>
          <a:xfrm>
            <a:off x="981075" y="4467225"/>
            <a:ext cx="47625" cy="279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050" i="0" u="none">
                <a:solidFill>
                  <a:srgbClr val="333333"/>
                </a:solidFill>
                <a:latin typeface="Inter"/>
              </a:rPr>
              <a:t>▪</a:t>
            </a:r>
          </a:p>
        </p:txBody>
      </p:sp>
      <p:sp>
        <p:nvSpPr>
          <p:cNvPr id="1048669" name="TextBox 26"/>
          <p:cNvSpPr txBox="1"/>
          <p:nvPr/>
        </p:nvSpPr>
        <p:spPr>
          <a:xfrm>
            <a:off x="1028700" y="4467225"/>
            <a:ext cx="4733925" cy="200025"/>
          </a:xfrm>
          <a:prstGeom prst="rect"/>
          <a:noFill/>
        </p:spPr>
        <p:txBody>
          <a:bodyPr anchor="t" bIns="0" lIns="47625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Inter"/>
              </a:rPr>
              <a:t>Growing online shopping adoption among university students.</a:t>
            </a:r>
          </a:p>
        </p:txBody>
      </p:sp>
      <p:sp>
        <p:nvSpPr>
          <p:cNvPr id="1048670" name="TextBox 27"/>
          <p:cNvSpPr txBox="1"/>
          <p:nvPr/>
        </p:nvSpPr>
        <p:spPr>
          <a:xfrm>
            <a:off x="981075" y="4724400"/>
            <a:ext cx="47625" cy="279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050" i="0" u="none">
                <a:solidFill>
                  <a:srgbClr val="333333"/>
                </a:solidFill>
                <a:latin typeface="Inter"/>
              </a:rPr>
              <a:t>▪</a:t>
            </a:r>
          </a:p>
        </p:txBody>
      </p:sp>
      <p:sp>
        <p:nvSpPr>
          <p:cNvPr id="1048671" name="TextBox 28"/>
          <p:cNvSpPr txBox="1"/>
          <p:nvPr/>
        </p:nvSpPr>
        <p:spPr>
          <a:xfrm>
            <a:off x="1028700" y="4724400"/>
            <a:ext cx="4733925" cy="200025"/>
          </a:xfrm>
          <a:prstGeom prst="rect"/>
          <a:noFill/>
        </p:spPr>
        <p:txBody>
          <a:bodyPr anchor="t" bIns="0" lIns="47625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Inter"/>
              </a:rPr>
              <a:t>Leveraging micro-influencer haul and styling Reels.</a:t>
            </a:r>
          </a:p>
        </p:txBody>
      </p:sp>
      <p:sp>
        <p:nvSpPr>
          <p:cNvPr id="1048672" name="TextBox 29"/>
          <p:cNvSpPr txBox="1"/>
          <p:nvPr/>
        </p:nvSpPr>
        <p:spPr>
          <a:xfrm>
            <a:off x="981075" y="4981575"/>
            <a:ext cx="47625" cy="279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050" i="0" u="none">
                <a:solidFill>
                  <a:srgbClr val="333333"/>
                </a:solidFill>
                <a:latin typeface="Inter"/>
              </a:rPr>
              <a:t>▪</a:t>
            </a:r>
          </a:p>
        </p:txBody>
      </p:sp>
      <p:sp>
        <p:nvSpPr>
          <p:cNvPr id="1048673" name="TextBox 30"/>
          <p:cNvSpPr txBox="1"/>
          <p:nvPr/>
        </p:nvSpPr>
        <p:spPr>
          <a:xfrm>
            <a:off x="1028700" y="4981575"/>
            <a:ext cx="4733925" cy="200025"/>
          </a:xfrm>
          <a:prstGeom prst="rect"/>
          <a:noFill/>
        </p:spPr>
        <p:txBody>
          <a:bodyPr anchor="t" bIns="0" lIns="47625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Inter"/>
              </a:rPr>
              <a:t>Dedicated student discounts &amp; back-to-university deals.</a:t>
            </a:r>
          </a:p>
        </p:txBody>
      </p:sp>
      <p:pic>
        <p:nvPicPr>
          <p:cNvPr id="2097186" name="Picture 3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6477000" y="4162425"/>
            <a:ext cx="152400" cy="171450"/>
          </a:xfrm>
          <a:prstGeom prst="rect"/>
        </p:spPr>
      </p:pic>
      <p:sp>
        <p:nvSpPr>
          <p:cNvPr id="1048674" name="TextBox 32"/>
          <p:cNvSpPr txBox="1"/>
          <p:nvPr/>
        </p:nvSpPr>
        <p:spPr>
          <a:xfrm>
            <a:off x="6600825" y="4467225"/>
            <a:ext cx="47625" cy="279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050" i="0" u="none">
                <a:solidFill>
                  <a:srgbClr val="333333"/>
                </a:solidFill>
                <a:latin typeface="Inter"/>
              </a:rPr>
              <a:t>▪</a:t>
            </a:r>
          </a:p>
        </p:txBody>
      </p:sp>
      <p:sp>
        <p:nvSpPr>
          <p:cNvPr id="1048675" name="TextBox 33"/>
          <p:cNvSpPr txBox="1"/>
          <p:nvPr/>
        </p:nvSpPr>
        <p:spPr>
          <a:xfrm>
            <a:off x="6648450" y="4467225"/>
            <a:ext cx="4733925" cy="200025"/>
          </a:xfrm>
          <a:prstGeom prst="rect"/>
          <a:noFill/>
        </p:spPr>
        <p:txBody>
          <a:bodyPr anchor="t" bIns="0" lIns="47625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Inter"/>
              </a:rPr>
              <a:t>Aggressive digital promotional pricing by LC Waikiki &amp; Defacto.</a:t>
            </a:r>
          </a:p>
        </p:txBody>
      </p:sp>
      <p:sp>
        <p:nvSpPr>
          <p:cNvPr id="1048676" name="TextBox 34"/>
          <p:cNvSpPr txBox="1"/>
          <p:nvPr/>
        </p:nvSpPr>
        <p:spPr>
          <a:xfrm>
            <a:off x="6600825" y="4724400"/>
            <a:ext cx="47625" cy="279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050" i="0" u="none">
                <a:solidFill>
                  <a:srgbClr val="333333"/>
                </a:solidFill>
                <a:latin typeface="Inter"/>
              </a:rPr>
              <a:t>▪</a:t>
            </a:r>
          </a:p>
        </p:txBody>
      </p:sp>
      <p:sp>
        <p:nvSpPr>
          <p:cNvPr id="1048677" name="TextBox 35"/>
          <p:cNvSpPr txBox="1"/>
          <p:nvPr/>
        </p:nvSpPr>
        <p:spPr>
          <a:xfrm>
            <a:off x="6648450" y="4724400"/>
            <a:ext cx="4733925" cy="200025"/>
          </a:xfrm>
          <a:prstGeom prst="rect"/>
          <a:noFill/>
        </p:spPr>
        <p:txBody>
          <a:bodyPr anchor="t" bIns="0" lIns="47625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Inter"/>
              </a:rPr>
              <a:t>Local Egyptian fast-fashion brands gaining popularity.</a:t>
            </a:r>
          </a:p>
        </p:txBody>
      </p:sp>
      <p:sp>
        <p:nvSpPr>
          <p:cNvPr id="1048678" name="TextBox 36"/>
          <p:cNvSpPr txBox="1"/>
          <p:nvPr/>
        </p:nvSpPr>
        <p:spPr>
          <a:xfrm>
            <a:off x="6600825" y="4981575"/>
            <a:ext cx="47625" cy="279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050" i="0" u="none">
                <a:solidFill>
                  <a:srgbClr val="333333"/>
                </a:solidFill>
                <a:latin typeface="Inter"/>
              </a:rPr>
              <a:t>▪</a:t>
            </a:r>
          </a:p>
        </p:txBody>
      </p:sp>
      <p:sp>
        <p:nvSpPr>
          <p:cNvPr id="1048679" name="TextBox 37"/>
          <p:cNvSpPr txBox="1"/>
          <p:nvPr/>
        </p:nvSpPr>
        <p:spPr>
          <a:xfrm>
            <a:off x="6648450" y="4981575"/>
            <a:ext cx="4733925" cy="200025"/>
          </a:xfrm>
          <a:prstGeom prst="rect"/>
          <a:noFill/>
        </p:spPr>
        <p:txBody>
          <a:bodyPr anchor="t" bIns="0" lIns="47625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Inter"/>
              </a:rPr>
              <a:t>Macroeconomic currency fluctuations impacting purchasing power.</a:t>
            </a:r>
          </a:p>
        </p:txBody>
      </p:sp>
      <p:sp>
        <p:nvSpPr>
          <p:cNvPr id="1048680" name="TextBox 38"/>
          <p:cNvSpPr txBox="1"/>
          <p:nvPr/>
        </p:nvSpPr>
        <p:spPr>
          <a:xfrm>
            <a:off x="571500" y="476250"/>
            <a:ext cx="11601450" cy="406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700" i="0" u="none">
                <a:solidFill>
                  <a:srgbClr val="111111"/>
                </a:solidFill>
                <a:latin typeface="Poppins"/>
              </a:rPr>
              <a:t>Digital Marketing SWOT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3" name=""/>
        <p:cNvGrpSpPr/>
        <p:nvPr/>
      </p:nvGrpSpPr>
      <p:grpSpPr>
        <a:xfrm/>
      </p:grpSpPr>
      <p:pic>
        <p:nvPicPr>
          <p:cNvPr id="2097187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48681" name="TextBox 2"/>
          <p:cNvSpPr txBox="1"/>
          <p:nvPr/>
        </p:nvSpPr>
        <p:spPr>
          <a:xfrm>
            <a:off x="904875" y="2857500"/>
            <a:ext cx="1071562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Student Offers &amp; Bundles: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Lack of targeted campaigns addressing university students with budget-friendly outfit packages.</a:t>
            </a:r>
          </a:p>
        </p:txBody>
      </p:sp>
      <p:sp>
        <p:nvSpPr>
          <p:cNvPr id="1048682" name="TextBox 3"/>
          <p:cNvSpPr txBox="1"/>
          <p:nvPr/>
        </p:nvSpPr>
        <p:spPr>
          <a:xfrm>
            <a:off x="904875" y="3238500"/>
            <a:ext cx="1071562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User-Generated Content (UGC):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Absence of re-posted authentic customer reviews, outfit try-on hauls, and student street style.</a:t>
            </a:r>
          </a:p>
        </p:txBody>
      </p:sp>
      <p:sp>
        <p:nvSpPr>
          <p:cNvPr id="1048683" name="TextBox 4"/>
          <p:cNvSpPr txBox="1"/>
          <p:nvPr/>
        </p:nvSpPr>
        <p:spPr>
          <a:xfrm>
            <a:off x="904875" y="3619500"/>
            <a:ext cx="1071562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Fashion Education &amp; Styling Tips: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Opportunity to create "How-to-Style 1 Piece in 3 Ways" short-form video reels.</a:t>
            </a:r>
          </a:p>
        </p:txBody>
      </p:sp>
      <p:sp>
        <p:nvSpPr>
          <p:cNvPr id="1048684" name="TextBox 5"/>
          <p:cNvSpPr txBox="1"/>
          <p:nvPr/>
        </p:nvSpPr>
        <p:spPr>
          <a:xfrm>
            <a:off x="904875" y="4000500"/>
            <a:ext cx="1071562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Behind The Scenes (BTS):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Missing human touch showing store launches, photo shoots, and sustainability initiatives.</a:t>
            </a:r>
          </a:p>
        </p:txBody>
      </p:sp>
      <p:sp>
        <p:nvSpPr>
          <p:cNvPr id="1048685" name="TextBox 6"/>
          <p:cNvSpPr txBox="1"/>
          <p:nvPr/>
        </p:nvSpPr>
        <p:spPr>
          <a:xfrm>
            <a:off x="904875" y="4381500"/>
            <a:ext cx="10715625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Localized Seasonal Campaigns: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Need stronger focus on key Egyptian cultural moments (Ramadan, White Friday, Summer Coast, University Start).</a:t>
            </a:r>
          </a:p>
        </p:txBody>
      </p:sp>
      <p:pic>
        <p:nvPicPr>
          <p:cNvPr id="2097188" name="Picture 7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71500" y="2881312"/>
            <a:ext cx="219075" cy="180975"/>
          </a:xfrm>
          <a:prstGeom prst="rect"/>
        </p:spPr>
      </p:pic>
      <p:pic>
        <p:nvPicPr>
          <p:cNvPr id="2097189" name="Picture 8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71500" y="3262312"/>
            <a:ext cx="190500" cy="180975"/>
          </a:xfrm>
          <a:prstGeom prst="rect"/>
        </p:spPr>
      </p:pic>
      <p:pic>
        <p:nvPicPr>
          <p:cNvPr id="2097190" name="Picture 9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71500" y="3643312"/>
            <a:ext cx="219075" cy="180975"/>
          </a:xfrm>
          <a:prstGeom prst="rect"/>
        </p:spPr>
      </p:pic>
      <p:pic>
        <p:nvPicPr>
          <p:cNvPr id="2097191" name="Picture 10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571500" y="4024312"/>
            <a:ext cx="171450" cy="180975"/>
          </a:xfrm>
          <a:prstGeom prst="rect"/>
        </p:spPr>
      </p:pic>
      <p:pic>
        <p:nvPicPr>
          <p:cNvPr id="2097192" name="Picture 1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571500" y="4405312"/>
            <a:ext cx="152400" cy="180975"/>
          </a:xfrm>
          <a:prstGeom prst="rect"/>
        </p:spPr>
      </p:pic>
      <p:sp>
        <p:nvSpPr>
          <p:cNvPr id="1048686" name="TextBox 12"/>
          <p:cNvSpPr txBox="1"/>
          <p:nvPr/>
        </p:nvSpPr>
        <p:spPr>
          <a:xfrm>
            <a:off x="571500" y="476250"/>
            <a:ext cx="11601450" cy="406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700" i="0" u="none">
                <a:solidFill>
                  <a:srgbClr val="111111"/>
                </a:solidFill>
                <a:latin typeface="Poppins"/>
              </a:rPr>
              <a:t>Content Gap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4" name=""/>
        <p:cNvGrpSpPr/>
        <p:nvPr/>
      </p:nvGrpSpPr>
      <p:grpSpPr>
        <a:xfrm/>
      </p:grpSpPr>
      <p:pic>
        <p:nvPicPr>
          <p:cNvPr id="2097193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48687" name="TextBox 2"/>
          <p:cNvSpPr txBox="1"/>
          <p:nvPr/>
        </p:nvSpPr>
        <p:spPr>
          <a:xfrm>
            <a:off x="571500" y="476250"/>
            <a:ext cx="5600700" cy="406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700" i="0" u="none">
                <a:solidFill>
                  <a:srgbClr val="111111"/>
                </a:solidFill>
                <a:latin typeface="Poppins"/>
              </a:rPr>
              <a:t>Content Direction</a:t>
            </a:r>
          </a:p>
        </p:txBody>
      </p:sp>
      <p:pic>
        <p:nvPicPr>
          <p:cNvPr id="2097194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286500" y="0"/>
            <a:ext cx="5905500" cy="6858000"/>
          </a:xfrm>
          <a:prstGeom prst="rect"/>
        </p:spPr>
      </p:pic>
      <p:sp>
        <p:nvSpPr>
          <p:cNvPr id="1048688" name="TextBox 4"/>
          <p:cNvSpPr txBox="1"/>
          <p:nvPr/>
        </p:nvSpPr>
        <p:spPr>
          <a:xfrm>
            <a:off x="571500" y="1238250"/>
            <a:ext cx="5600700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500" i="0" u="none">
                <a:solidFill>
                  <a:srgbClr val="111111"/>
                </a:solidFill>
                <a:latin typeface="Poppins SemiBold"/>
              </a:rPr>
              <a:t>Tone of Voice &amp; Audience</a:t>
            </a:r>
          </a:p>
        </p:txBody>
      </p:sp>
      <p:sp>
        <p:nvSpPr>
          <p:cNvPr id="1048689" name="TextBox 5"/>
          <p:cNvSpPr txBox="1"/>
          <p:nvPr/>
        </p:nvSpPr>
        <p:spPr>
          <a:xfrm>
            <a:off x="571500" y="1600200"/>
            <a:ext cx="5334000" cy="48768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44444"/>
                </a:solidFill>
                <a:latin typeface="Inter"/>
              </a:rPr>
              <a:t>Tone of Voice:</a:t>
            </a:r>
            <a:r>
              <a:rPr b="0" sz="1200" i="0" u="none">
                <a:solidFill>
                  <a:srgbClr val="444444"/>
                </a:solidFill>
                <a:latin typeface="Inter"/>
              </a:rPr>
              <a:t> Friendly, Fashionable, Modern, Youthful, and Approachable. Uses a blend of modern English &amp; conversational Egyptian Arabic.</a:t>
            </a:r>
          </a:p>
        </p:txBody>
      </p:sp>
      <p:sp>
        <p:nvSpPr>
          <p:cNvPr id="1048690" name="TextBox 6"/>
          <p:cNvSpPr txBox="1"/>
          <p:nvPr/>
        </p:nvSpPr>
        <p:spPr>
          <a:xfrm>
            <a:off x="571500" y="2445841"/>
            <a:ext cx="5334000" cy="4875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44444"/>
                </a:solidFill>
                <a:latin typeface="Inter"/>
              </a:rPr>
              <a:t>Target Audience:</a:t>
            </a:r>
            <a:r>
              <a:rPr b="0" sz="1200" i="0" u="none">
                <a:solidFill>
                  <a:srgbClr val="444444"/>
                </a:solidFill>
                <a:latin typeface="Inter"/>
              </a:rPr>
              <a:t> Egyptian Youth, University Students, and Young Professionals looking for trendy, affordable, everyday looks.</a:t>
            </a:r>
          </a:p>
        </p:txBody>
      </p:sp>
      <p:sp>
        <p:nvSpPr>
          <p:cNvPr id="1048691" name="TextBox 7"/>
          <p:cNvSpPr txBox="1"/>
          <p:nvPr/>
        </p:nvSpPr>
        <p:spPr>
          <a:xfrm>
            <a:off x="571500" y="3047702"/>
            <a:ext cx="5334000" cy="48756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44444"/>
                </a:solidFill>
                <a:latin typeface="Inter"/>
              </a:rPr>
              <a:t>Core Objective:</a:t>
            </a:r>
            <a:r>
              <a:rPr b="0" sz="1200" i="0" u="none">
                <a:solidFill>
                  <a:srgbClr val="444444"/>
                </a:solidFill>
                <a:latin typeface="Inter"/>
              </a:rPr>
              <a:t> Make H&amp;M Egypt the top choice for daily university outfits and effortless budget street fashion.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5" name=""/>
        <p:cNvGrpSpPr/>
        <p:nvPr/>
      </p:nvGrpSpPr>
      <p:grpSpPr>
        <a:xfrm/>
      </p:grpSpPr>
      <p:pic>
        <p:nvPicPr>
          <p:cNvPr id="2097195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196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71500" y="2138362"/>
            <a:ext cx="5381625" cy="3343275"/>
          </a:xfrm>
          <a:prstGeom prst="rect"/>
        </p:spPr>
      </p:pic>
      <p:pic>
        <p:nvPicPr>
          <p:cNvPr id="2097197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238875" y="2138362"/>
            <a:ext cx="5381625" cy="3343275"/>
          </a:xfrm>
          <a:prstGeom prst="rect"/>
        </p:spPr>
      </p:pic>
      <p:sp>
        <p:nvSpPr>
          <p:cNvPr id="1048692" name="TextBox 4"/>
          <p:cNvSpPr txBox="1"/>
          <p:nvPr/>
        </p:nvSpPr>
        <p:spPr>
          <a:xfrm>
            <a:off x="895350" y="2376487"/>
            <a:ext cx="5010626" cy="228600"/>
          </a:xfrm>
          <a:prstGeom prst="rect"/>
          <a:noFill/>
        </p:spPr>
        <p:txBody>
          <a:bodyPr anchor="t" bIns="0" lIns="190500" rIns="0" tIns="0" wrap="square">
            <a:spAutoFit/>
          </a:bodyPr>
          <a:p>
            <a:pPr algn="l"/>
            <a:r>
              <a:rPr b="0" sz="1500" i="0" u="none">
                <a:solidFill>
                  <a:srgbClr val="111111"/>
                </a:solidFill>
                <a:latin typeface="Poppins SemiBold"/>
              </a:rPr>
              <a:t>Key Brand Messages</a:t>
            </a:r>
          </a:p>
        </p:txBody>
      </p:sp>
      <p:sp>
        <p:nvSpPr>
          <p:cNvPr id="1048693" name="TextBox 5"/>
          <p:cNvSpPr txBox="1"/>
          <p:nvPr/>
        </p:nvSpPr>
        <p:spPr>
          <a:xfrm>
            <a:off x="6562725" y="2376487"/>
            <a:ext cx="5010626" cy="228600"/>
          </a:xfrm>
          <a:prstGeom prst="rect"/>
          <a:noFill/>
        </p:spPr>
        <p:txBody>
          <a:bodyPr anchor="t" bIns="0" lIns="190500" rIns="0" tIns="0" wrap="square">
            <a:spAutoFit/>
          </a:bodyPr>
          <a:p>
            <a:pPr algn="l"/>
            <a:r>
              <a:rPr b="0" sz="1500" i="0" u="none">
                <a:solidFill>
                  <a:srgbClr val="111111"/>
                </a:solidFill>
                <a:latin typeface="Poppins SemiBold"/>
              </a:rPr>
              <a:t>Core Content Themes</a:t>
            </a:r>
          </a:p>
        </p:txBody>
      </p:sp>
      <p:pic>
        <p:nvPicPr>
          <p:cNvPr id="2097198" name="Picture 6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95350" y="2424112"/>
            <a:ext cx="190500" cy="190500"/>
          </a:xfrm>
          <a:prstGeom prst="rect"/>
        </p:spPr>
      </p:pic>
      <p:pic>
        <p:nvPicPr>
          <p:cNvPr id="2097199" name="Picture 7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562725" y="2424112"/>
            <a:ext cx="190500" cy="190500"/>
          </a:xfrm>
          <a:prstGeom prst="rect"/>
        </p:spPr>
      </p:pic>
      <p:sp>
        <p:nvSpPr>
          <p:cNvPr id="1048694" name="TextBox 8"/>
          <p:cNvSpPr txBox="1"/>
          <p:nvPr/>
        </p:nvSpPr>
        <p:spPr>
          <a:xfrm>
            <a:off x="1228725" y="2805112"/>
            <a:ext cx="4438650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Affordable Fashion: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High style without breaking student budgets.</a:t>
            </a:r>
          </a:p>
        </p:txBody>
      </p:sp>
      <p:sp>
        <p:nvSpPr>
          <p:cNvPr id="1048695" name="TextBox 9"/>
          <p:cNvSpPr txBox="1"/>
          <p:nvPr/>
        </p:nvSpPr>
        <p:spPr>
          <a:xfrm>
            <a:off x="1228725" y="3414712"/>
            <a:ext cx="4438650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Quality &amp; Comfort: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Durable fabrics made for everyday busy campus life.</a:t>
            </a:r>
          </a:p>
        </p:txBody>
      </p:sp>
      <p:sp>
        <p:nvSpPr>
          <p:cNvPr id="1048696" name="TextBox 10"/>
          <p:cNvSpPr txBox="1"/>
          <p:nvPr/>
        </p:nvSpPr>
        <p:spPr>
          <a:xfrm>
            <a:off x="1228725" y="4024312"/>
            <a:ext cx="4438650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Sustainability: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Fashion-forward choices that care for the planet.</a:t>
            </a:r>
          </a:p>
        </p:txBody>
      </p:sp>
      <p:sp>
        <p:nvSpPr>
          <p:cNvPr id="1048697" name="TextBox 11"/>
          <p:cNvSpPr txBox="1"/>
          <p:nvPr/>
        </p:nvSpPr>
        <p:spPr>
          <a:xfrm>
            <a:off x="1228725" y="4633912"/>
            <a:ext cx="4438650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Student-Friendly: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Exclusive discounts &amp; hassle-free online returns.</a:t>
            </a:r>
          </a:p>
        </p:txBody>
      </p:sp>
      <p:sp>
        <p:nvSpPr>
          <p:cNvPr id="1048698" name="TextBox 12"/>
          <p:cNvSpPr txBox="1"/>
          <p:nvPr/>
        </p:nvSpPr>
        <p:spPr>
          <a:xfrm>
            <a:off x="6896100" y="2805112"/>
            <a:ext cx="4438650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University Look: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Smart-casual mix-and-match fashion.</a:t>
            </a:r>
          </a:p>
        </p:txBody>
      </p:sp>
      <p:sp>
        <p:nvSpPr>
          <p:cNvPr id="1048699" name="TextBox 13"/>
          <p:cNvSpPr txBox="1"/>
          <p:nvPr/>
        </p:nvSpPr>
        <p:spPr>
          <a:xfrm>
            <a:off x="6896100" y="3186112"/>
            <a:ext cx="4438650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Daily Outfit: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Quick inspo for classes and hangout routines.</a:t>
            </a:r>
          </a:p>
        </p:txBody>
      </p:sp>
      <p:sp>
        <p:nvSpPr>
          <p:cNvPr id="1048700" name="TextBox 14"/>
          <p:cNvSpPr txBox="1"/>
          <p:nvPr/>
        </p:nvSpPr>
        <p:spPr>
          <a:xfrm>
            <a:off x="6896100" y="3567112"/>
            <a:ext cx="4438650" cy="2286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Weekend &amp; Office: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Versatile outfits for internships &amp; weekends.</a:t>
            </a:r>
          </a:p>
        </p:txBody>
      </p:sp>
      <p:sp>
        <p:nvSpPr>
          <p:cNvPr id="1048701" name="TextBox 15"/>
          <p:cNvSpPr txBox="1"/>
          <p:nvPr/>
        </p:nvSpPr>
        <p:spPr>
          <a:xfrm>
            <a:off x="6896100" y="4176712"/>
            <a:ext cx="4438650" cy="4572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3333"/>
                </a:solidFill>
                <a:latin typeface="Inter"/>
              </a:rPr>
              <a:t>Seasonal Collections:</a:t>
            </a:r>
            <a:r>
              <a:rPr b="0" sz="1200" i="0" u="none">
                <a:solidFill>
                  <a:srgbClr val="333333"/>
                </a:solidFill>
                <a:latin typeface="Inter"/>
              </a:rPr>
              <a:t> Ramadan, Summer, and White Friday specials.</a:t>
            </a:r>
          </a:p>
        </p:txBody>
      </p:sp>
      <p:pic>
        <p:nvPicPr>
          <p:cNvPr id="2097200" name="Picture 16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895350" y="2828925"/>
            <a:ext cx="152400" cy="180975"/>
          </a:xfrm>
          <a:prstGeom prst="rect"/>
        </p:spPr>
      </p:pic>
      <p:pic>
        <p:nvPicPr>
          <p:cNvPr id="2097201" name="Picture 17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895350" y="3438525"/>
            <a:ext cx="152400" cy="180975"/>
          </a:xfrm>
          <a:prstGeom prst="rect"/>
        </p:spPr>
      </p:pic>
      <p:pic>
        <p:nvPicPr>
          <p:cNvPr id="2097202" name="Picture 18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895350" y="4048125"/>
            <a:ext cx="152400" cy="180975"/>
          </a:xfrm>
          <a:prstGeom prst="rect"/>
        </p:spPr>
      </p:pic>
      <p:pic>
        <p:nvPicPr>
          <p:cNvPr id="2097203" name="Picture 19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895350" y="4657725"/>
            <a:ext cx="152400" cy="180975"/>
          </a:xfrm>
          <a:prstGeom prst="rect"/>
        </p:spPr>
      </p:pic>
      <p:pic>
        <p:nvPicPr>
          <p:cNvPr id="2097204" name="Picture 20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562725" y="2828925"/>
            <a:ext cx="152400" cy="180975"/>
          </a:xfrm>
          <a:prstGeom prst="rect"/>
        </p:spPr>
      </p:pic>
      <p:pic>
        <p:nvPicPr>
          <p:cNvPr id="2097205" name="Picture 2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562725" y="3209925"/>
            <a:ext cx="152400" cy="180975"/>
          </a:xfrm>
          <a:prstGeom prst="rect"/>
        </p:spPr>
      </p:pic>
      <p:pic>
        <p:nvPicPr>
          <p:cNvPr id="2097206" name="Picture 2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562725" y="3590925"/>
            <a:ext cx="152400" cy="180975"/>
          </a:xfrm>
          <a:prstGeom prst="rect"/>
        </p:spPr>
      </p:pic>
      <p:pic>
        <p:nvPicPr>
          <p:cNvPr id="2097207" name="Picture 2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562725" y="4200525"/>
            <a:ext cx="152400" cy="180975"/>
          </a:xfrm>
          <a:prstGeom prst="rect"/>
        </p:spPr>
      </p:pic>
      <p:sp>
        <p:nvSpPr>
          <p:cNvPr id="1048702" name="TextBox 24"/>
          <p:cNvSpPr txBox="1"/>
          <p:nvPr/>
        </p:nvSpPr>
        <p:spPr>
          <a:xfrm>
            <a:off x="571500" y="476250"/>
            <a:ext cx="11601450" cy="406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700" i="0" u="none">
                <a:solidFill>
                  <a:srgbClr val="111111"/>
                </a:solidFill>
                <a:latin typeface="Poppins"/>
              </a:rPr>
              <a:t>Key Messages &amp; Themes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6" name=""/>
        <p:cNvGrpSpPr/>
        <p:nvPr/>
      </p:nvGrpSpPr>
      <p:grpSpPr>
        <a:xfrm/>
      </p:grpSpPr>
      <p:pic>
        <p:nvPicPr>
          <p:cNvPr id="2097208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209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71500" y="2738437"/>
            <a:ext cx="2057400" cy="2143125"/>
          </a:xfrm>
          <a:prstGeom prst="rect"/>
        </p:spPr>
      </p:pic>
      <p:pic>
        <p:nvPicPr>
          <p:cNvPr id="2097210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2819400" y="2738437"/>
            <a:ext cx="2057400" cy="2143125"/>
          </a:xfrm>
          <a:prstGeom prst="rect"/>
        </p:spPr>
      </p:pic>
      <p:pic>
        <p:nvPicPr>
          <p:cNvPr id="2097211" name="Picture 4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5067300" y="2738437"/>
            <a:ext cx="2057400" cy="2143125"/>
          </a:xfrm>
          <a:prstGeom prst="rect"/>
        </p:spPr>
      </p:pic>
      <p:pic>
        <p:nvPicPr>
          <p:cNvPr id="2097212" name="Picture 5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7315200" y="2738437"/>
            <a:ext cx="2057400" cy="2143125"/>
          </a:xfrm>
          <a:prstGeom prst="rect"/>
        </p:spPr>
      </p:pic>
      <p:pic>
        <p:nvPicPr>
          <p:cNvPr id="2097213" name="Picture 6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9563100" y="2738437"/>
            <a:ext cx="2057400" cy="2143125"/>
          </a:xfrm>
          <a:prstGeom prst="rect"/>
        </p:spPr>
      </p:pic>
      <p:pic>
        <p:nvPicPr>
          <p:cNvPr id="2097214" name="Picture 7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771525" y="2957512"/>
            <a:ext cx="428625" cy="428625"/>
          </a:xfrm>
          <a:prstGeom prst="rect"/>
        </p:spPr>
      </p:pic>
      <p:sp>
        <p:nvSpPr>
          <p:cNvPr id="1048703" name="TextBox 8"/>
          <p:cNvSpPr txBox="1"/>
          <p:nvPr/>
        </p:nvSpPr>
        <p:spPr>
          <a:xfrm>
            <a:off x="771525" y="3529012"/>
            <a:ext cx="1740217" cy="190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350" i="0" u="none">
                <a:solidFill>
                  <a:srgbClr val="111111"/>
                </a:solidFill>
                <a:latin typeface="Poppins SemiBold"/>
              </a:rPr>
              <a:t>1. Products</a:t>
            </a:r>
          </a:p>
        </p:txBody>
      </p:sp>
      <p:sp>
        <p:nvSpPr>
          <p:cNvPr id="1048704" name="TextBox 9"/>
          <p:cNvSpPr txBox="1"/>
          <p:nvPr/>
        </p:nvSpPr>
        <p:spPr>
          <a:xfrm>
            <a:off x="771525" y="3862387"/>
            <a:ext cx="1657350" cy="800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555555"/>
                </a:solidFill>
                <a:latin typeface="Inter"/>
              </a:rPr>
              <a:t>Highlighting new arrivals, seasonal collections, and wardrobe essentials for men &amp; women.</a:t>
            </a:r>
          </a:p>
        </p:txBody>
      </p:sp>
      <p:pic>
        <p:nvPicPr>
          <p:cNvPr id="2097215" name="Picture 10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3019425" y="2957512"/>
            <a:ext cx="428625" cy="428625"/>
          </a:xfrm>
          <a:prstGeom prst="rect"/>
        </p:spPr>
      </p:pic>
      <p:sp>
        <p:nvSpPr>
          <p:cNvPr id="1048705" name="TextBox 11"/>
          <p:cNvSpPr txBox="1"/>
          <p:nvPr/>
        </p:nvSpPr>
        <p:spPr>
          <a:xfrm>
            <a:off x="3019425" y="3529012"/>
            <a:ext cx="1740217" cy="190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350" i="0" u="none">
                <a:solidFill>
                  <a:srgbClr val="111111"/>
                </a:solidFill>
                <a:latin typeface="Poppins SemiBold"/>
              </a:rPr>
              <a:t>2. Offers</a:t>
            </a:r>
          </a:p>
        </p:txBody>
      </p:sp>
      <p:sp>
        <p:nvSpPr>
          <p:cNvPr id="1048706" name="TextBox 12"/>
          <p:cNvSpPr txBox="1"/>
          <p:nvPr/>
        </p:nvSpPr>
        <p:spPr>
          <a:xfrm>
            <a:off x="3019425" y="3862387"/>
            <a:ext cx="1657350" cy="800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555555"/>
                </a:solidFill>
                <a:latin typeface="Inter"/>
              </a:rPr>
              <a:t>Promoting flash sales, student promo codes, seasonal discounts, and White Friday deals.</a:t>
            </a:r>
          </a:p>
        </p:txBody>
      </p:sp>
      <p:pic>
        <p:nvPicPr>
          <p:cNvPr id="2097216" name="Picture 1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5267325" y="2957512"/>
            <a:ext cx="428625" cy="428625"/>
          </a:xfrm>
          <a:prstGeom prst="rect"/>
        </p:spPr>
      </p:pic>
      <p:sp>
        <p:nvSpPr>
          <p:cNvPr id="1048707" name="TextBox 14"/>
          <p:cNvSpPr txBox="1"/>
          <p:nvPr/>
        </p:nvSpPr>
        <p:spPr>
          <a:xfrm>
            <a:off x="5267325" y="3529012"/>
            <a:ext cx="1740217" cy="190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350" i="0" u="none">
                <a:solidFill>
                  <a:srgbClr val="111111"/>
                </a:solidFill>
                <a:latin typeface="Poppins SemiBold"/>
              </a:rPr>
              <a:t>3. Lifestyle</a:t>
            </a:r>
          </a:p>
        </p:txBody>
      </p:sp>
      <p:sp>
        <p:nvSpPr>
          <p:cNvPr id="1048708" name="TextBox 15"/>
          <p:cNvSpPr txBox="1"/>
          <p:nvPr/>
        </p:nvSpPr>
        <p:spPr>
          <a:xfrm>
            <a:off x="5267325" y="3862387"/>
            <a:ext cx="1657350" cy="800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555555"/>
                </a:solidFill>
                <a:latin typeface="Inter"/>
              </a:rPr>
              <a:t>Showing outfits in real life: university coffee breaks, weekend hangouts, and summer trips.</a:t>
            </a:r>
          </a:p>
        </p:txBody>
      </p:sp>
      <p:pic>
        <p:nvPicPr>
          <p:cNvPr id="2097217" name="Picture 16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7515225" y="2957512"/>
            <a:ext cx="428625" cy="428625"/>
          </a:xfrm>
          <a:prstGeom prst="rect"/>
        </p:spPr>
      </p:pic>
      <p:sp>
        <p:nvSpPr>
          <p:cNvPr id="1048709" name="TextBox 17"/>
          <p:cNvSpPr txBox="1"/>
          <p:nvPr/>
        </p:nvSpPr>
        <p:spPr>
          <a:xfrm>
            <a:off x="7515225" y="3529012"/>
            <a:ext cx="1740217" cy="190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350" i="0" u="none">
                <a:solidFill>
                  <a:srgbClr val="111111"/>
                </a:solidFill>
                <a:latin typeface="Poppins SemiBold"/>
              </a:rPr>
              <a:t>4. Fashion Edu</a:t>
            </a:r>
          </a:p>
        </p:txBody>
      </p:sp>
      <p:sp>
        <p:nvSpPr>
          <p:cNvPr id="1048710" name="TextBox 18"/>
          <p:cNvSpPr txBox="1"/>
          <p:nvPr/>
        </p:nvSpPr>
        <p:spPr>
          <a:xfrm>
            <a:off x="7515225" y="3862387"/>
            <a:ext cx="1657350" cy="600075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555555"/>
                </a:solidFill>
                <a:latin typeface="Inter"/>
              </a:rPr>
              <a:t>Styling tips, color matching guides, capsule wardrobe ideas, and clothing care hacks.</a:t>
            </a:r>
          </a:p>
        </p:txBody>
      </p:sp>
      <p:pic>
        <p:nvPicPr>
          <p:cNvPr id="2097218" name="Picture 19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9763125" y="2957512"/>
            <a:ext cx="428625" cy="428625"/>
          </a:xfrm>
          <a:prstGeom prst="rect"/>
        </p:spPr>
      </p:pic>
      <p:sp>
        <p:nvSpPr>
          <p:cNvPr id="1048711" name="TextBox 20"/>
          <p:cNvSpPr txBox="1"/>
          <p:nvPr/>
        </p:nvSpPr>
        <p:spPr>
          <a:xfrm>
            <a:off x="9763125" y="3529012"/>
            <a:ext cx="1740217" cy="190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350" i="0" u="none">
                <a:solidFill>
                  <a:srgbClr val="111111"/>
                </a:solidFill>
                <a:latin typeface="Poppins SemiBold"/>
              </a:rPr>
              <a:t>5. Community</a:t>
            </a:r>
          </a:p>
        </p:txBody>
      </p:sp>
      <p:sp>
        <p:nvSpPr>
          <p:cNvPr id="1048712" name="TextBox 21"/>
          <p:cNvSpPr txBox="1"/>
          <p:nvPr/>
        </p:nvSpPr>
        <p:spPr>
          <a:xfrm>
            <a:off x="9763125" y="3862387"/>
            <a:ext cx="1657350" cy="8001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555555"/>
                </a:solidFill>
                <a:latin typeface="Inter"/>
              </a:rPr>
              <a:t>Sharing customer UGC, student influencer hauls, polls, and interactive Q&amp;A sessions.</a:t>
            </a:r>
          </a:p>
        </p:txBody>
      </p:sp>
      <p:pic>
        <p:nvPicPr>
          <p:cNvPr id="2097219" name="Picture 2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1"/>
          <a:stretch>
            <a:fillRect/>
          </a:stretch>
        </p:blipFill>
        <p:spPr>
          <a:xfrm>
            <a:off x="895350" y="3067050"/>
            <a:ext cx="180975" cy="209550"/>
          </a:xfrm>
          <a:prstGeom prst="rect"/>
        </p:spPr>
      </p:pic>
      <p:pic>
        <p:nvPicPr>
          <p:cNvPr id="2097220" name="Picture 2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3152775" y="3067050"/>
            <a:ext cx="161925" cy="209550"/>
          </a:xfrm>
          <a:prstGeom prst="rect"/>
        </p:spPr>
      </p:pic>
      <p:pic>
        <p:nvPicPr>
          <p:cNvPr id="2097221" name="Picture 24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3"/>
          <a:stretch>
            <a:fillRect/>
          </a:stretch>
        </p:blipFill>
        <p:spPr>
          <a:xfrm>
            <a:off x="5376862" y="3067050"/>
            <a:ext cx="209550" cy="209550"/>
          </a:xfrm>
          <a:prstGeom prst="rect"/>
        </p:spPr>
      </p:pic>
      <p:pic>
        <p:nvPicPr>
          <p:cNvPr id="2097222" name="Picture 25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4"/>
          <a:stretch>
            <a:fillRect/>
          </a:stretch>
        </p:blipFill>
        <p:spPr>
          <a:xfrm>
            <a:off x="7596187" y="3067050"/>
            <a:ext cx="266700" cy="209550"/>
          </a:xfrm>
          <a:prstGeom prst="rect"/>
        </p:spPr>
      </p:pic>
      <p:pic>
        <p:nvPicPr>
          <p:cNvPr id="2097223" name="Picture 26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5"/>
          <a:stretch>
            <a:fillRect/>
          </a:stretch>
        </p:blipFill>
        <p:spPr>
          <a:xfrm>
            <a:off x="9872662" y="3067050"/>
            <a:ext cx="209550" cy="209550"/>
          </a:xfrm>
          <a:prstGeom prst="rect"/>
        </p:spPr>
      </p:pic>
      <p:sp>
        <p:nvSpPr>
          <p:cNvPr id="1048713" name="TextBox 27"/>
          <p:cNvSpPr txBox="1"/>
          <p:nvPr/>
        </p:nvSpPr>
        <p:spPr>
          <a:xfrm>
            <a:off x="571500" y="476250"/>
            <a:ext cx="11601450" cy="406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700" i="0" u="none">
                <a:solidFill>
                  <a:srgbClr val="111111"/>
                </a:solidFill>
                <a:latin typeface="Poppins"/>
              </a:rPr>
              <a:t>5 Core Content Pillars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7" name=""/>
        <p:cNvGrpSpPr/>
        <p:nvPr/>
      </p:nvGrpSpPr>
      <p:grpSpPr>
        <a:xfrm/>
      </p:grpSpPr>
      <p:pic>
        <p:nvPicPr>
          <p:cNvPr id="2097224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225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71500" y="2244328"/>
            <a:ext cx="3524250" cy="3131343"/>
          </a:xfrm>
          <a:prstGeom prst="rect"/>
        </p:spPr>
      </p:pic>
      <p:pic>
        <p:nvPicPr>
          <p:cNvPr id="2097226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333875" y="2244328"/>
            <a:ext cx="3524250" cy="3131343"/>
          </a:xfrm>
          <a:prstGeom prst="rect"/>
        </p:spPr>
      </p:pic>
      <p:pic>
        <p:nvPicPr>
          <p:cNvPr id="2097227" name="Picture 4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096250" y="2244328"/>
            <a:ext cx="3524250" cy="3131343"/>
          </a:xfrm>
          <a:prstGeom prst="rect"/>
        </p:spPr>
      </p:pic>
      <p:pic>
        <p:nvPicPr>
          <p:cNvPr id="2097228" name="Picture 5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71500" y="2244328"/>
            <a:ext cx="3524250" cy="1905000"/>
          </a:xfrm>
          <a:prstGeom prst="rect"/>
        </p:spPr>
      </p:pic>
      <p:sp>
        <p:nvSpPr>
          <p:cNvPr id="1048714" name="TextBox 6"/>
          <p:cNvSpPr txBox="1"/>
          <p:nvPr/>
        </p:nvSpPr>
        <p:spPr>
          <a:xfrm>
            <a:off x="742950" y="4320778"/>
            <a:ext cx="3340417" cy="177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275" i="0" u="none">
                <a:solidFill>
                  <a:srgbClr val="111111"/>
                </a:solidFill>
                <a:latin typeface="Poppins SemiBold"/>
              </a:rPr>
              <a:t>Reels &amp; TikToks</a:t>
            </a:r>
          </a:p>
        </p:txBody>
      </p:sp>
      <p:sp>
        <p:nvSpPr>
          <p:cNvPr id="1048715" name="TextBox 7"/>
          <p:cNvSpPr txBox="1"/>
          <p:nvPr/>
        </p:nvSpPr>
        <p:spPr>
          <a:xfrm>
            <a:off x="742950" y="4625578"/>
            <a:ext cx="3181350" cy="385573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555555"/>
                </a:solidFill>
                <a:latin typeface="Inter"/>
              </a:rPr>
              <a:t>Short, fast-paced videos with trending audio showing outfit transitions, hauls, and student budget styling tips.</a:t>
            </a:r>
          </a:p>
        </p:txBody>
      </p:sp>
      <p:pic>
        <p:nvPicPr>
          <p:cNvPr id="2097229" name="Picture 8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333875" y="2244328"/>
            <a:ext cx="3524250" cy="1905000"/>
          </a:xfrm>
          <a:prstGeom prst="rect"/>
        </p:spPr>
      </p:pic>
      <p:sp>
        <p:nvSpPr>
          <p:cNvPr id="1048716" name="TextBox 9"/>
          <p:cNvSpPr txBox="1"/>
          <p:nvPr/>
        </p:nvSpPr>
        <p:spPr>
          <a:xfrm>
            <a:off x="4505325" y="4320778"/>
            <a:ext cx="3340417" cy="177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275" i="0" u="none">
                <a:solidFill>
                  <a:srgbClr val="111111"/>
                </a:solidFill>
                <a:latin typeface="Poppins SemiBold"/>
              </a:rPr>
              <a:t>IG Carousels</a:t>
            </a:r>
          </a:p>
        </p:txBody>
      </p:sp>
      <p:sp>
        <p:nvSpPr>
          <p:cNvPr id="1048717" name="TextBox 10"/>
          <p:cNvSpPr txBox="1"/>
          <p:nvPr/>
        </p:nvSpPr>
        <p:spPr>
          <a:xfrm>
            <a:off x="4505325" y="4625578"/>
            <a:ext cx="3181350" cy="385573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555555"/>
                </a:solidFill>
                <a:latin typeface="Inter"/>
              </a:rPr>
              <a:t>Multi-slide guides such as "5 University Outfits Under 1500 EGP" driving higher save and share metrics.</a:t>
            </a:r>
          </a:p>
        </p:txBody>
      </p:sp>
      <p:pic>
        <p:nvPicPr>
          <p:cNvPr id="2097230" name="Picture 1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8096250" y="2244328"/>
            <a:ext cx="3524250" cy="1905000"/>
          </a:xfrm>
          <a:prstGeom prst="rect"/>
        </p:spPr>
      </p:pic>
      <p:sp>
        <p:nvSpPr>
          <p:cNvPr id="1048718" name="TextBox 12"/>
          <p:cNvSpPr txBox="1"/>
          <p:nvPr/>
        </p:nvSpPr>
        <p:spPr>
          <a:xfrm>
            <a:off x="8267700" y="4320778"/>
            <a:ext cx="3340417" cy="1778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0" sz="1275" i="0" u="none">
                <a:solidFill>
                  <a:srgbClr val="111111"/>
                </a:solidFill>
                <a:latin typeface="Poppins SemiBold"/>
              </a:rPr>
              <a:t>UGC &amp; Influencers</a:t>
            </a:r>
          </a:p>
        </p:txBody>
      </p:sp>
      <p:sp>
        <p:nvSpPr>
          <p:cNvPr id="1048719" name="TextBox 13"/>
          <p:cNvSpPr txBox="1"/>
          <p:nvPr/>
        </p:nvSpPr>
        <p:spPr>
          <a:xfrm>
            <a:off x="8267700" y="4625578"/>
            <a:ext cx="3181350" cy="385573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555555"/>
                </a:solidFill>
                <a:latin typeface="Inter"/>
              </a:rPr>
              <a:t>Authentic reviews by local Egyptian micro-influencers and interactive daily Instagram Stories with swipe links.</a:t>
            </a:r>
          </a:p>
        </p:txBody>
      </p:sp>
      <p:sp>
        <p:nvSpPr>
          <p:cNvPr id="1048720" name="TextBox 14"/>
          <p:cNvSpPr txBox="1"/>
          <p:nvPr/>
        </p:nvSpPr>
        <p:spPr>
          <a:xfrm>
            <a:off x="571500" y="476250"/>
            <a:ext cx="11601450" cy="406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2700" i="0" u="none">
                <a:solidFill>
                  <a:srgbClr val="111111"/>
                </a:solidFill>
                <a:latin typeface="Poppins"/>
              </a:rPr>
              <a:t>Recommended Content Formats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8" name=""/>
        <p:cNvGrpSpPr/>
        <p:nvPr/>
      </p:nvGrpSpPr>
      <p:grpSpPr>
        <a:xfrm/>
      </p:grpSpPr>
      <p:pic>
        <p:nvPicPr>
          <p:cNvPr id="2097231" name="Picture 1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pic>
        <p:nvPicPr>
          <p:cNvPr id="2097232" name="Picture 2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809750" y="2381250"/>
            <a:ext cx="2762250" cy="1235868"/>
          </a:xfrm>
          <a:prstGeom prst="rect"/>
        </p:spPr>
      </p:pic>
      <p:pic>
        <p:nvPicPr>
          <p:cNvPr id="2097233" name="Picture 3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714875" y="2381250"/>
            <a:ext cx="2762250" cy="1235868"/>
          </a:xfrm>
          <a:prstGeom prst="rect"/>
        </p:spPr>
      </p:pic>
      <p:pic>
        <p:nvPicPr>
          <p:cNvPr id="2097234" name="Picture 4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7620000" y="2381250"/>
            <a:ext cx="2762250" cy="1235868"/>
          </a:xfrm>
          <a:prstGeom prst="rect"/>
        </p:spPr>
      </p:pic>
      <p:pic>
        <p:nvPicPr>
          <p:cNvPr id="2097235" name="Picture 5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164931" y="476250"/>
            <a:ext cx="1862137" cy="266700"/>
          </a:xfrm>
          <a:prstGeom prst="rect"/>
        </p:spPr>
      </p:pic>
      <p:sp>
        <p:nvSpPr>
          <p:cNvPr id="1048721" name="TextBox 6"/>
          <p:cNvSpPr txBox="1"/>
          <p:nvPr/>
        </p:nvSpPr>
        <p:spPr>
          <a:xfrm>
            <a:off x="1595437" y="885825"/>
            <a:ext cx="9001125" cy="5334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/>
            <a:r>
              <a:rPr b="1" sz="3600" i="0" u="none">
                <a:solidFill>
                  <a:srgbClr val="111111"/>
                </a:solidFill>
                <a:latin typeface="Poppins"/>
              </a:rPr>
              <a:t>Strategy Conclusion &amp; Action Plan</a:t>
            </a:r>
          </a:p>
        </p:txBody>
      </p:sp>
      <p:sp>
        <p:nvSpPr>
          <p:cNvPr id="1048722" name="TextBox 7"/>
          <p:cNvSpPr txBox="1"/>
          <p:nvPr/>
        </p:nvSpPr>
        <p:spPr>
          <a:xfrm>
            <a:off x="1809750" y="1762125"/>
            <a:ext cx="8572500" cy="28575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555555"/>
                </a:solidFill>
                <a:latin typeface="Inter"/>
              </a:rPr>
              <a:t>Unlocking growth for H&amp;M Egypt through consistent, youth-focused content execution.</a:t>
            </a:r>
          </a:p>
        </p:txBody>
      </p:sp>
      <p:sp>
        <p:nvSpPr>
          <p:cNvPr id="1048723" name="TextBox 8"/>
          <p:cNvSpPr txBox="1"/>
          <p:nvPr/>
        </p:nvSpPr>
        <p:spPr>
          <a:xfrm>
            <a:off x="2000250" y="2600325"/>
            <a:ext cx="2381250" cy="190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200" i="0" u="none">
                <a:solidFill>
                  <a:srgbClr val="111111"/>
                </a:solidFill>
                <a:latin typeface="Inter"/>
              </a:rPr>
              <a:t>1. Posting Consistency</a:t>
            </a:r>
          </a:p>
        </p:txBody>
      </p:sp>
      <p:sp>
        <p:nvSpPr>
          <p:cNvPr id="1048724" name="TextBox 9"/>
          <p:cNvSpPr txBox="1"/>
          <p:nvPr/>
        </p:nvSpPr>
        <p:spPr>
          <a:xfrm>
            <a:off x="2000250" y="2847975"/>
            <a:ext cx="2381250" cy="578643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555555"/>
                </a:solidFill>
                <a:latin typeface="Inter"/>
              </a:rPr>
              <a:t>Establish a strict 5x weekly schedule to solve algorithmic invisibility and maintain audience retention.</a:t>
            </a:r>
          </a:p>
        </p:txBody>
      </p:sp>
      <p:sp>
        <p:nvSpPr>
          <p:cNvPr id="1048725" name="TextBox 10"/>
          <p:cNvSpPr txBox="1"/>
          <p:nvPr/>
        </p:nvSpPr>
        <p:spPr>
          <a:xfrm>
            <a:off x="4905375" y="2600325"/>
            <a:ext cx="2381250" cy="190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200" i="0" u="none">
                <a:solidFill>
                  <a:srgbClr val="111111"/>
                </a:solidFill>
                <a:latin typeface="Inter"/>
              </a:rPr>
              <a:t>2. Video-First Approach</a:t>
            </a:r>
          </a:p>
        </p:txBody>
      </p:sp>
      <p:sp>
        <p:nvSpPr>
          <p:cNvPr id="1048726" name="TextBox 11"/>
          <p:cNvSpPr txBox="1"/>
          <p:nvPr/>
        </p:nvSpPr>
        <p:spPr>
          <a:xfrm>
            <a:off x="4905375" y="2847975"/>
            <a:ext cx="2381250" cy="578643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555555"/>
                </a:solidFill>
                <a:latin typeface="Inter"/>
              </a:rPr>
              <a:t>Prioritize short-form Reels and TikTok content targeting university lifestyle &amp; student budgets.</a:t>
            </a:r>
          </a:p>
        </p:txBody>
      </p:sp>
      <p:sp>
        <p:nvSpPr>
          <p:cNvPr id="1048727" name="TextBox 12"/>
          <p:cNvSpPr txBox="1"/>
          <p:nvPr/>
        </p:nvSpPr>
        <p:spPr>
          <a:xfrm>
            <a:off x="7810500" y="2600325"/>
            <a:ext cx="2381250" cy="190500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/>
            <a:r>
              <a:rPr b="1" sz="1200" i="0" u="none">
                <a:solidFill>
                  <a:srgbClr val="111111"/>
                </a:solidFill>
                <a:latin typeface="Inter"/>
              </a:rPr>
              <a:t>3. Egyptian Creator UGC</a:t>
            </a:r>
          </a:p>
        </p:txBody>
      </p:sp>
      <p:sp>
        <p:nvSpPr>
          <p:cNvPr id="1048728" name="TextBox 13"/>
          <p:cNvSpPr txBox="1"/>
          <p:nvPr/>
        </p:nvSpPr>
        <p:spPr>
          <a:xfrm>
            <a:off x="7810500" y="2847975"/>
            <a:ext cx="2381250" cy="578643"/>
          </a:xfrm>
          <a:prstGeom prst="rect"/>
          <a:noFill/>
        </p:spPr>
        <p:txBody>
          <a:bodyPr anchor="t" bIns="0" lIns="0" rIns="0" tIns="0" wrap="square">
            <a:spAutoFit/>
          </a:bodyPr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555555"/>
                </a:solidFill>
                <a:latin typeface="Inter"/>
              </a:rPr>
              <a:t>Partner with local university micro-influencers for authentic try-on hauls and relatable styling.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RMX3627</dc:creator>
  <cp:lastModifiedBy>Steve Canny</cp:lastModifiedBy>
  <dcterms:created xsi:type="dcterms:W3CDTF">2013-01-27T03:14:16Z</dcterms:created>
  <dcterms:modified xsi:type="dcterms:W3CDTF">2026-08-07T12:20:33Z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0b9b2a0db7f541faa42f6f4c851abebb_23</vt:lpwstr>
  </property>
</Properties>
</file>