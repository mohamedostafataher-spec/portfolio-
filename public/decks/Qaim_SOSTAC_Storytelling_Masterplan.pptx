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image" Target="../media/image-3-1.png"/><Relationship Id="rId8" Type="http://schemas.openxmlformats.org/officeDocument/2006/relationships/image" Target="../media/image-3-8.png"/><Relationship Id="rId9" Type="http://schemas.openxmlformats.org/officeDocument/2006/relationships/image" Target="../media/image-3-8.png"/><Relationship Id="rId10" Type="http://schemas.openxmlformats.org/officeDocument/2006/relationships/image" Target="../media/image-3-8.png"/><Relationship Id="rId11" Type="http://schemas.openxmlformats.org/officeDocument/2006/relationships/image" Target="../media/image-3-8.png"/><Relationship Id="rId12" Type="http://schemas.openxmlformats.org/officeDocument/2006/relationships/image" Target="../media/image-3-8.png"/><Relationship Id="rId13" Type="http://schemas.openxmlformats.org/officeDocument/2006/relationships/image" Target="../media/image-3-8.png"/><Relationship Id="rId14" Type="http://schemas.openxmlformats.org/officeDocument/2006/relationships/image" Target="../media/image-3-8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7.png"/><Relationship Id="rId8" Type="http://schemas.openxmlformats.org/officeDocument/2006/relationships/image" Target="../media/image-7-7.png"/><Relationship Id="rId9" Type="http://schemas.openxmlformats.org/officeDocument/2006/relationships/image" Target="../media/image-7-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qaim/assets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07882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078827"/>
            <a:ext cx="12191695" cy="1779173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206843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</a:t>
            </a:r>
            <a:pPr algn="l" indent="0" marL="0">
              <a:buNone/>
            </a:pPr>
            <a:r>
              <a:rPr lang="en-US" sz="300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قيم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5700619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9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Storytelling Strategy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06637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7  –  SOSTAC Model Application &amp; Storytelling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03920" y="5206843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
</a:t>
            </a:r>
            <a:endParaRPr lang="en-US" sz="9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Mostafa Taher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03920" y="5737195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
</a:t>
            </a:r>
            <a:endParaRPr lang="en-US" sz="9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21172333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– Brand Snapshot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3F1E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98448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“Qaim is an Egyptian men’s clothing brand focused on modern everyday fashion.”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87168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</p:sp>
      <p:pic>
        <p:nvPicPr>
          <p:cNvPr id="7" name="Image 0" descr="/home/claude/qaim/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596896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48716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qaim.shop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063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CONTENT</a:t>
            </a:r>
            <a:endParaRPr lang="en-US" sz="1050" dirty="0"/>
          </a:p>
        </p:txBody>
      </p:sp>
      <p:pic>
        <p:nvPicPr>
          <p:cNvPr id="10" name="Image 1" descr="/home/claude/qaim/icons/check_burgund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92424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33649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</a:t>
            </a:r>
            <a:endParaRPr lang="en-US" sz="1150" dirty="0"/>
          </a:p>
        </p:txBody>
      </p:sp>
      <p:pic>
        <p:nvPicPr>
          <p:cNvPr id="12" name="Image 2" descr="/home/claude/qaim/icons/check_burgun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392424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38144" y="33649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content</a:t>
            </a:r>
            <a:endParaRPr lang="en-US" sz="1150" dirty="0"/>
          </a:p>
        </p:txBody>
      </p:sp>
      <p:pic>
        <p:nvPicPr>
          <p:cNvPr id="14" name="Image 3" descr="/home/claude/qaim/icons/check_burgund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58184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4944" y="37307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reviews</a:t>
            </a:r>
            <a:endParaRPr lang="en-US" sz="1150" dirty="0"/>
          </a:p>
        </p:txBody>
      </p:sp>
      <p:pic>
        <p:nvPicPr>
          <p:cNvPr id="16" name="Image 4" descr="/home/claude/qaim/icons/check_burgund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3758184"/>
            <a:ext cx="146304" cy="1463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438144" y="37307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opinions</a:t>
            </a:r>
            <a:endParaRPr lang="en-US" sz="1150" dirty="0"/>
          </a:p>
        </p:txBody>
      </p:sp>
      <p:pic>
        <p:nvPicPr>
          <p:cNvPr id="18" name="Image 5" descr="/home/claude/qaim/icons/check_burgund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23944"/>
            <a:ext cx="146304" cy="14630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4944" y="4096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proof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457200" y="44988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EXAMPLES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457200" y="480060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3F1EE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457200" y="4800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2286000" y="480060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3F1EE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2286000" y="4800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Sweatpants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4114800" y="480060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3F1EE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4114800" y="4800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Men's Essentials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457200" y="5349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EXPERIENCE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457200" y="5650992"/>
            <a:ext cx="384048" cy="384048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29" name="Image 6" descr="/home/claude/qaim/icons/tru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372" y="5743164"/>
            <a:ext cx="199705" cy="19970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74320" y="6053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Delivery</a:t>
            </a:r>
            <a:endParaRPr lang="en-US" sz="870" dirty="0"/>
          </a:p>
        </p:txBody>
      </p:sp>
      <p:sp>
        <p:nvSpPr>
          <p:cNvPr id="31" name="Shape 22"/>
          <p:cNvSpPr/>
          <p:nvPr/>
        </p:nvSpPr>
        <p:spPr>
          <a:xfrm>
            <a:off x="2304288" y="5650992"/>
            <a:ext cx="384048" cy="384048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32" name="Image 7" descr="/home/claude/qaim/icons/refresh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6460" y="5743164"/>
            <a:ext cx="199705" cy="19970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121408" y="6053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Exchange / Return</a:t>
            </a:r>
            <a:endParaRPr lang="en-US" sz="870" dirty="0"/>
          </a:p>
        </p:txBody>
      </p:sp>
      <p:sp>
        <p:nvSpPr>
          <p:cNvPr id="34" name="Shape 24"/>
          <p:cNvSpPr/>
          <p:nvPr/>
        </p:nvSpPr>
        <p:spPr>
          <a:xfrm>
            <a:off x="4151376" y="5650992"/>
            <a:ext cx="384048" cy="384048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35" name="Image 8" descr="/home/claude/qaim/icons/creditCard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3548" y="5743164"/>
            <a:ext cx="199705" cy="19970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968496" y="6053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Check Before Payment</a:t>
            </a:r>
            <a:endParaRPr lang="en-US" sz="870" dirty="0"/>
          </a:p>
        </p:txBody>
      </p:sp>
      <p:sp>
        <p:nvSpPr>
          <p:cNvPr id="37" name="Shape 26"/>
          <p:cNvSpPr/>
          <p:nvPr/>
        </p:nvSpPr>
        <p:spPr>
          <a:xfrm>
            <a:off x="6263640" y="1298448"/>
            <a:ext cx="2606040" cy="1481328"/>
          </a:xfrm>
          <a:prstGeom prst="roundRect">
            <a:avLst>
              <a:gd name="adj" fmla="val 6173"/>
            </a:avLst>
          </a:prstGeom>
          <a:solidFill>
            <a:srgbClr val="7A1E2C"/>
          </a:solidFill>
          <a:ln/>
        </p:spPr>
      </p:sp>
      <p:sp>
        <p:nvSpPr>
          <p:cNvPr id="38" name="Text 27"/>
          <p:cNvSpPr/>
          <p:nvPr/>
        </p:nvSpPr>
        <p:spPr>
          <a:xfrm>
            <a:off x="626364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62K</a:t>
            </a:r>
            <a:endParaRPr lang="en-US" sz="3400" dirty="0"/>
          </a:p>
        </p:txBody>
      </p:sp>
      <p:sp>
        <p:nvSpPr>
          <p:cNvPr id="39" name="Text 28"/>
          <p:cNvSpPr/>
          <p:nvPr/>
        </p:nvSpPr>
        <p:spPr>
          <a:xfrm>
            <a:off x="6400800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Followers</a:t>
            </a:r>
            <a:endParaRPr lang="en-US" sz="1050" dirty="0"/>
          </a:p>
        </p:txBody>
      </p:sp>
      <p:sp>
        <p:nvSpPr>
          <p:cNvPr id="40" name="Shape 29"/>
          <p:cNvSpPr/>
          <p:nvPr/>
        </p:nvSpPr>
        <p:spPr>
          <a:xfrm>
            <a:off x="9070848" y="1298448"/>
            <a:ext cx="2606040" cy="1481328"/>
          </a:xfrm>
          <a:prstGeom prst="roundRect">
            <a:avLst>
              <a:gd name="adj" fmla="val 6173"/>
            </a:avLst>
          </a:prstGeom>
          <a:solidFill>
            <a:srgbClr val="1A1A1A"/>
          </a:solidFill>
          <a:ln/>
        </p:spPr>
      </p:sp>
      <p:sp>
        <p:nvSpPr>
          <p:cNvPr id="41" name="Text 30"/>
          <p:cNvSpPr/>
          <p:nvPr/>
        </p:nvSpPr>
        <p:spPr>
          <a:xfrm>
            <a:off x="9070848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592</a:t>
            </a:r>
            <a:endParaRPr lang="en-US" sz="3400" dirty="0"/>
          </a:p>
        </p:txBody>
      </p:sp>
      <p:sp>
        <p:nvSpPr>
          <p:cNvPr id="42" name="Text 31"/>
          <p:cNvSpPr/>
          <p:nvPr/>
        </p:nvSpPr>
        <p:spPr>
          <a:xfrm>
            <a:off x="9208008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Published</a:t>
            </a:r>
            <a:endParaRPr lang="en-US" sz="1050" dirty="0"/>
          </a:p>
        </p:txBody>
      </p:sp>
      <p:sp>
        <p:nvSpPr>
          <p:cNvPr id="43" name="Shape 32"/>
          <p:cNvSpPr/>
          <p:nvPr/>
        </p:nvSpPr>
        <p:spPr>
          <a:xfrm>
            <a:off x="6263640" y="2980944"/>
            <a:ext cx="2606040" cy="1481328"/>
          </a:xfrm>
          <a:prstGeom prst="roundRect">
            <a:avLst>
              <a:gd name="adj" fmla="val 6173"/>
            </a:avLst>
          </a:prstGeom>
          <a:solidFill>
            <a:srgbClr val="1A1A1A"/>
          </a:solidFill>
          <a:ln/>
        </p:spPr>
      </p:sp>
      <p:sp>
        <p:nvSpPr>
          <p:cNvPr id="44" name="Text 33"/>
          <p:cNvSpPr/>
          <p:nvPr/>
        </p:nvSpPr>
        <p:spPr>
          <a:xfrm>
            <a:off x="6263640" y="3145536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3400" dirty="0"/>
          </a:p>
        </p:txBody>
      </p:sp>
      <p:sp>
        <p:nvSpPr>
          <p:cNvPr id="45" name="Text 34"/>
          <p:cNvSpPr/>
          <p:nvPr/>
        </p:nvSpPr>
        <p:spPr>
          <a:xfrm>
            <a:off x="6400800" y="387705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Rate</a:t>
            </a:r>
            <a:endParaRPr lang="en-US" sz="1050" dirty="0"/>
          </a:p>
        </p:txBody>
      </p:sp>
      <p:sp>
        <p:nvSpPr>
          <p:cNvPr id="46" name="Shape 35"/>
          <p:cNvSpPr/>
          <p:nvPr/>
        </p:nvSpPr>
        <p:spPr>
          <a:xfrm>
            <a:off x="9070848" y="2980944"/>
            <a:ext cx="2606040" cy="1481328"/>
          </a:xfrm>
          <a:prstGeom prst="roundRect">
            <a:avLst>
              <a:gd name="adj" fmla="val 6173"/>
            </a:avLst>
          </a:prstGeom>
          <a:solidFill>
            <a:srgbClr val="7A1E2C"/>
          </a:solidFill>
          <a:ln/>
        </p:spPr>
      </p:sp>
      <p:sp>
        <p:nvSpPr>
          <p:cNvPr id="47" name="Text 36"/>
          <p:cNvSpPr/>
          <p:nvPr/>
        </p:nvSpPr>
        <p:spPr>
          <a:xfrm>
            <a:off x="9070848" y="3145536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341</a:t>
            </a:r>
            <a:endParaRPr lang="en-US" sz="3400" dirty="0"/>
          </a:p>
        </p:txBody>
      </p:sp>
      <p:sp>
        <p:nvSpPr>
          <p:cNvPr id="48" name="Text 37"/>
          <p:cNvSpPr/>
          <p:nvPr/>
        </p:nvSpPr>
        <p:spPr>
          <a:xfrm>
            <a:off x="9208008" y="387705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Reviews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6263640" y="4736592"/>
            <a:ext cx="5413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information based on provided screenshots.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 •  DIGITAL MARKETING STORYTELLING STRATEGY</a:t>
            </a:r>
            <a:endParaRPr lang="en-US" sz="800" dirty="0"/>
          </a:p>
        </p:txBody>
      </p:sp>
      <p:sp>
        <p:nvSpPr>
          <p:cNvPr id="51" name="Text 40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AUDIT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Digital Situation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F3F1EE"/>
          </a:solidFill>
          <a:ln/>
        </p:spPr>
      </p:sp>
      <p:sp>
        <p:nvSpPr>
          <p:cNvPr id="5" name="Shape 3"/>
          <p:cNvSpPr/>
          <p:nvPr/>
        </p:nvSpPr>
        <p:spPr>
          <a:xfrm>
            <a:off x="6537960" y="137160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QAIM DOES WELL</a:t>
            </a:r>
            <a:endParaRPr lang="en-US" sz="1300" dirty="0"/>
          </a:p>
        </p:txBody>
      </p:sp>
      <p:pic>
        <p:nvPicPr>
          <p:cNvPr id="7" name="Image 0" descr="/home/claude/qaim/icons/check_burgun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57400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0299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Facebook presence</a:t>
            </a:r>
            <a:endParaRPr lang="en-US" sz="1250" dirty="0"/>
          </a:p>
        </p:txBody>
      </p:sp>
      <p:pic>
        <p:nvPicPr>
          <p:cNvPr id="9" name="Image 1" descr="/home/claude/qaim/icons/check_burgund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9631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4688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Reels</a:t>
            </a:r>
            <a:endParaRPr lang="en-US" sz="1250" dirty="0"/>
          </a:p>
        </p:txBody>
      </p:sp>
      <p:pic>
        <p:nvPicPr>
          <p:cNvPr id="11" name="Image 2" descr="/home/claude/qaim/icons/check_burgun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35224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9077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visibility</a:t>
            </a:r>
            <a:endParaRPr lang="en-US" sz="1250" dirty="0"/>
          </a:p>
        </p:txBody>
      </p:sp>
      <p:pic>
        <p:nvPicPr>
          <p:cNvPr id="13" name="Image 3" descr="/home/claude/qaim/icons/check_burgund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74136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334670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reviews</a:t>
            </a:r>
            <a:endParaRPr lang="en-US" sz="1250" dirty="0"/>
          </a:p>
        </p:txBody>
      </p:sp>
      <p:pic>
        <p:nvPicPr>
          <p:cNvPr id="15" name="Image 4" descr="/home/claude/qaim/icons/check_burgund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13048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1560" y="378561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opinions</a:t>
            </a:r>
            <a:endParaRPr lang="en-US" sz="1250" dirty="0"/>
          </a:p>
        </p:txBody>
      </p:sp>
      <p:pic>
        <p:nvPicPr>
          <p:cNvPr id="17" name="Image 5" descr="/home/claude/qaim/icons/check_burgund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251960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51560" y="42245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proof</a:t>
            </a:r>
            <a:endParaRPr lang="en-US" sz="1250" dirty="0"/>
          </a:p>
        </p:txBody>
      </p:sp>
      <p:pic>
        <p:nvPicPr>
          <p:cNvPr id="19" name="Image 6" descr="/home/claude/qaim/icons/check_burgund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690872"/>
            <a:ext cx="164592" cy="16459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51560" y="46634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website</a:t>
            </a:r>
            <a:endParaRPr lang="en-US" sz="1250" dirty="0"/>
          </a:p>
        </p:txBody>
      </p:sp>
      <p:sp>
        <p:nvSpPr>
          <p:cNvPr id="21" name="Text 12"/>
          <p:cNvSpPr/>
          <p:nvPr/>
        </p:nvSpPr>
        <p:spPr>
          <a:xfrm>
            <a:off x="685800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OPPORTUNITIES</a:t>
            </a:r>
            <a:endParaRPr lang="en-US" sz="1300" dirty="0"/>
          </a:p>
        </p:txBody>
      </p:sp>
      <p:pic>
        <p:nvPicPr>
          <p:cNvPr id="22" name="Image 7" descr="/home/claude/qaim/icons/arrowRigh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2057400"/>
            <a:ext cx="146304" cy="14630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132320" y="2029968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Hooks in some Reels</a:t>
            </a:r>
            <a:endParaRPr lang="en-US" sz="1250" dirty="0"/>
          </a:p>
        </p:txBody>
      </p:sp>
      <p:pic>
        <p:nvPicPr>
          <p:cNvPr id="24" name="Image 8" descr="/home/claude/qaim/icons/arrowRight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2560320"/>
            <a:ext cx="146304" cy="146304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132320" y="2532888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real-life storytelling</a:t>
            </a:r>
            <a:endParaRPr lang="en-US" sz="1250" dirty="0"/>
          </a:p>
        </p:txBody>
      </p:sp>
      <p:pic>
        <p:nvPicPr>
          <p:cNvPr id="26" name="Image 9" descr="/home/claude/qaim/icons/arrowRight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3063240"/>
            <a:ext cx="146304" cy="146304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132320" y="3035808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outfit combinations</a:t>
            </a:r>
            <a:endParaRPr lang="en-US" sz="1250" dirty="0"/>
          </a:p>
        </p:txBody>
      </p:sp>
      <p:pic>
        <p:nvPicPr>
          <p:cNvPr id="28" name="Image 10" descr="/home/claude/qaim/icons/arrowRight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0" y="3566160"/>
            <a:ext cx="146304" cy="146304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7132320" y="3538728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transformation stories</a:t>
            </a:r>
            <a:endParaRPr lang="en-US" sz="1250" dirty="0"/>
          </a:p>
        </p:txBody>
      </p:sp>
      <p:pic>
        <p:nvPicPr>
          <p:cNvPr id="30" name="Image 11" descr="/home/claude/qaim/icons/arrowRight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0" y="4069080"/>
            <a:ext cx="146304" cy="146304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132320" y="4041648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customer stories</a:t>
            </a:r>
            <a:endParaRPr lang="en-US" sz="1250" dirty="0"/>
          </a:p>
        </p:txBody>
      </p:sp>
      <p:pic>
        <p:nvPicPr>
          <p:cNvPr id="32" name="Image 12" descr="/home/claude/qaim/icons/arrowRight_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0" y="4572000"/>
            <a:ext cx="146304" cy="146304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7132320" y="4544568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creative openings</a:t>
            </a:r>
            <a:endParaRPr lang="en-US" sz="1250" dirty="0"/>
          </a:p>
        </p:txBody>
      </p:sp>
      <p:sp>
        <p:nvSpPr>
          <p:cNvPr id="34" name="Shape 19"/>
          <p:cNvSpPr/>
          <p:nvPr/>
        </p:nvSpPr>
        <p:spPr>
          <a:xfrm>
            <a:off x="5806440" y="3058668"/>
            <a:ext cx="603504" cy="603504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35" name="Image 13" descr="/home/claude/qaim/icons/arrowRight_whi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1281" y="3203509"/>
            <a:ext cx="313822" cy="313822"/>
          </a:xfrm>
          <a:prstGeom prst="rect">
            <a:avLst/>
          </a:prstGeom>
        </p:spPr>
      </p:pic>
      <p:sp>
        <p:nvSpPr>
          <p:cNvPr id="36" name="Shape 20"/>
          <p:cNvSpPr/>
          <p:nvPr/>
        </p:nvSpPr>
        <p:spPr>
          <a:xfrm>
            <a:off x="457200" y="5532120"/>
            <a:ext cx="11292840" cy="868680"/>
          </a:xfrm>
          <a:prstGeom prst="roundRect">
            <a:avLst>
              <a:gd name="adj" fmla="val 8421"/>
            </a:avLst>
          </a:prstGeom>
          <a:solidFill>
            <a:srgbClr val="F3F1EE"/>
          </a:solidFill>
          <a:ln/>
        </p:spPr>
      </p:sp>
      <p:sp>
        <p:nvSpPr>
          <p:cNvPr id="37" name="Text 21"/>
          <p:cNvSpPr/>
          <p:nvPr/>
        </p:nvSpPr>
        <p:spPr>
          <a:xfrm>
            <a:off x="777240" y="55321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Observation: Different levels of post reach may suggest paid support for selected content, but this cannot be confirmed from public information.</a:t>
            </a:r>
            <a:endParaRPr lang="en-US" sz="1150" dirty="0"/>
          </a:p>
        </p:txBody>
      </p:sp>
      <p:sp>
        <p:nvSpPr>
          <p:cNvPr id="38" name="Text 22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 •  DIGITAL MARKETING STORYTELLING STRATEGY</a:t>
            </a:r>
            <a:endParaRPr lang="en-US" sz="800" dirty="0"/>
          </a:p>
        </p:txBody>
      </p:sp>
      <p:sp>
        <p:nvSpPr>
          <p:cNvPr id="39" name="Text 23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SOSTAC –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“Sell the lifestyle and the solution, not only the product.”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627632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057400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50" dirty="0"/>
          </a:p>
        </p:txBody>
      </p:sp>
      <p:pic>
        <p:nvPicPr>
          <p:cNvPr id="7" name="Image 0" descr="/home/claude/qaim/icons/arrowRight_burgun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363724"/>
            <a:ext cx="182880" cy="1645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350008" y="2057400"/>
            <a:ext cx="1627632" cy="777240"/>
          </a:xfrm>
          <a:prstGeom prst="roundRect">
            <a:avLst>
              <a:gd name="adj" fmla="val 9412"/>
            </a:avLst>
          </a:prstGeom>
          <a:solidFill>
            <a:srgbClr val="5A5A5A"/>
          </a:solidFill>
          <a:ln/>
        </p:spPr>
      </p:sp>
      <p:sp>
        <p:nvSpPr>
          <p:cNvPr id="9" name="Text 6"/>
          <p:cNvSpPr/>
          <p:nvPr/>
        </p:nvSpPr>
        <p:spPr>
          <a:xfrm>
            <a:off x="2350008" y="2057400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50" dirty="0"/>
          </a:p>
        </p:txBody>
      </p:sp>
      <p:pic>
        <p:nvPicPr>
          <p:cNvPr id="10" name="Image 1" descr="/home/claude/qaim/icons/arrowRight_burgund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28" y="2363724"/>
            <a:ext cx="182880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97096" y="2057400"/>
            <a:ext cx="1627632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/>
        </p:spPr>
      </p:sp>
      <p:sp>
        <p:nvSpPr>
          <p:cNvPr id="12" name="Text 8"/>
          <p:cNvSpPr/>
          <p:nvPr/>
        </p:nvSpPr>
        <p:spPr>
          <a:xfrm>
            <a:off x="4197096" y="2057400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</a:t>
            </a:r>
            <a:endParaRPr lang="en-US" sz="1150" dirty="0"/>
          </a:p>
        </p:txBody>
      </p:sp>
      <p:pic>
        <p:nvPicPr>
          <p:cNvPr id="13" name="Image 2" descr="/home/claude/qaim/icons/arrowRight_burgun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2363724"/>
            <a:ext cx="182880" cy="16459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044184" y="2057400"/>
            <a:ext cx="1627632" cy="777240"/>
          </a:xfrm>
          <a:prstGeom prst="roundRect">
            <a:avLst>
              <a:gd name="adj" fmla="val 9412"/>
            </a:avLst>
          </a:prstGeom>
          <a:solidFill>
            <a:srgbClr val="5A5A5A"/>
          </a:solidFill>
          <a:ln/>
        </p:spPr>
      </p:sp>
      <p:sp>
        <p:nvSpPr>
          <p:cNvPr id="15" name="Text 10"/>
          <p:cNvSpPr/>
          <p:nvPr/>
        </p:nvSpPr>
        <p:spPr>
          <a:xfrm>
            <a:off x="6044184" y="2057400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150" dirty="0"/>
          </a:p>
        </p:txBody>
      </p:sp>
      <p:pic>
        <p:nvPicPr>
          <p:cNvPr id="16" name="Image 3" descr="/home/claude/qaim/icons/arrowRight_burgund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4" y="2363724"/>
            <a:ext cx="182880" cy="1645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891272" y="2057400"/>
            <a:ext cx="1627632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/>
        </p:spPr>
      </p:sp>
      <p:sp>
        <p:nvSpPr>
          <p:cNvPr id="18" name="Text 12"/>
          <p:cNvSpPr/>
          <p:nvPr/>
        </p:nvSpPr>
        <p:spPr>
          <a:xfrm>
            <a:off x="7891272" y="2057400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150" dirty="0"/>
          </a:p>
        </p:txBody>
      </p:sp>
      <p:pic>
        <p:nvPicPr>
          <p:cNvPr id="19" name="Image 4" descr="/home/claude/qaim/icons/arrowRight_burgund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192" y="2363724"/>
            <a:ext cx="182880" cy="16459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738360" y="2057400"/>
            <a:ext cx="1627632" cy="777240"/>
          </a:xfrm>
          <a:prstGeom prst="roundRect">
            <a:avLst>
              <a:gd name="adj" fmla="val 9412"/>
            </a:avLst>
          </a:prstGeom>
          <a:solidFill>
            <a:srgbClr val="7A1E2C"/>
          </a:solidFill>
          <a:ln/>
        </p:spPr>
      </p:sp>
      <p:sp>
        <p:nvSpPr>
          <p:cNvPr id="21" name="Text 14"/>
          <p:cNvSpPr/>
          <p:nvPr/>
        </p:nvSpPr>
        <p:spPr>
          <a:xfrm>
            <a:off x="9738360" y="2057400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50292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PILLARS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02920" y="3566160"/>
            <a:ext cx="2121408" cy="1234440"/>
          </a:xfrm>
          <a:prstGeom prst="roundRect">
            <a:avLst>
              <a:gd name="adj" fmla="val 7407"/>
            </a:avLst>
          </a:prstGeom>
          <a:solidFill>
            <a:srgbClr val="F3F1EE"/>
          </a:solidFill>
          <a:ln/>
        </p:spPr>
      </p:sp>
      <p:sp>
        <p:nvSpPr>
          <p:cNvPr id="24" name="Shape 17"/>
          <p:cNvSpPr/>
          <p:nvPr/>
        </p:nvSpPr>
        <p:spPr>
          <a:xfrm>
            <a:off x="1344168" y="3730752"/>
            <a:ext cx="438912" cy="438912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25" name="Image 5" descr="/home/claude/qaim/icons/compas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507" y="3836091"/>
            <a:ext cx="228234" cy="22823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76072" y="4279392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Style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2761488" y="3566160"/>
            <a:ext cx="2121408" cy="1234440"/>
          </a:xfrm>
          <a:prstGeom prst="roundRect">
            <a:avLst>
              <a:gd name="adj" fmla="val 7407"/>
            </a:avLst>
          </a:prstGeom>
          <a:solidFill>
            <a:srgbClr val="F3F1EE"/>
          </a:solidFill>
          <a:ln/>
        </p:spPr>
      </p:sp>
      <p:sp>
        <p:nvSpPr>
          <p:cNvPr id="28" name="Shape 20"/>
          <p:cNvSpPr/>
          <p:nvPr/>
        </p:nvSpPr>
        <p:spPr>
          <a:xfrm>
            <a:off x="3602736" y="3730752"/>
            <a:ext cx="438912" cy="438912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29" name="Image 6" descr="/home/claude/qaim/icons/hear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8075" y="3836091"/>
            <a:ext cx="228234" cy="22823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834640" y="4279392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5020056" y="3566160"/>
            <a:ext cx="2121408" cy="1234440"/>
          </a:xfrm>
          <a:prstGeom prst="roundRect">
            <a:avLst>
              <a:gd name="adj" fmla="val 7407"/>
            </a:avLst>
          </a:prstGeom>
          <a:solidFill>
            <a:srgbClr val="F3F1EE"/>
          </a:solidFill>
          <a:ln/>
        </p:spPr>
      </p:sp>
      <p:sp>
        <p:nvSpPr>
          <p:cNvPr id="32" name="Shape 23"/>
          <p:cNvSpPr/>
          <p:nvPr/>
        </p:nvSpPr>
        <p:spPr>
          <a:xfrm>
            <a:off x="5861304" y="3730752"/>
            <a:ext cx="438912" cy="438912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33" name="Image 7" descr="/home/claude/qaim/icons/lightbulb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6643" y="3836091"/>
            <a:ext cx="228234" cy="22823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093208" y="4279392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Outfit Inspiration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7278624" y="3566160"/>
            <a:ext cx="2121408" cy="1234440"/>
          </a:xfrm>
          <a:prstGeom prst="roundRect">
            <a:avLst>
              <a:gd name="adj" fmla="val 7407"/>
            </a:avLst>
          </a:prstGeom>
          <a:solidFill>
            <a:srgbClr val="F3F1EE"/>
          </a:solidFill>
          <a:ln/>
        </p:spPr>
      </p:sp>
      <p:sp>
        <p:nvSpPr>
          <p:cNvPr id="36" name="Shape 26"/>
          <p:cNvSpPr/>
          <p:nvPr/>
        </p:nvSpPr>
        <p:spPr>
          <a:xfrm>
            <a:off x="8119872" y="3730752"/>
            <a:ext cx="438912" cy="438912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37" name="Image 8" descr="/home/claude/qaim/icons/shield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5211" y="3836091"/>
            <a:ext cx="228234" cy="22823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351776" y="4279392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Trust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9537192" y="3566160"/>
            <a:ext cx="2121408" cy="1234440"/>
          </a:xfrm>
          <a:prstGeom prst="roundRect">
            <a:avLst>
              <a:gd name="adj" fmla="val 7407"/>
            </a:avLst>
          </a:prstGeom>
          <a:solidFill>
            <a:srgbClr val="F3F1EE"/>
          </a:solidFill>
          <a:ln/>
        </p:spPr>
      </p:sp>
      <p:sp>
        <p:nvSpPr>
          <p:cNvPr id="40" name="Shape 29"/>
          <p:cNvSpPr/>
          <p:nvPr/>
        </p:nvSpPr>
        <p:spPr>
          <a:xfrm>
            <a:off x="10378440" y="3730752"/>
            <a:ext cx="438912" cy="438912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41" name="Image 9" descr="/home/claude/qaim/icons/award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83779" y="3836091"/>
            <a:ext cx="228234" cy="22823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9610344" y="4279392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Value</a:t>
            </a:r>
            <a:endParaRPr lang="en-US" sz="1100" dirty="0"/>
          </a:p>
        </p:txBody>
      </p:sp>
      <p:sp>
        <p:nvSpPr>
          <p:cNvPr id="43" name="Shape 31"/>
          <p:cNvSpPr/>
          <p:nvPr/>
        </p:nvSpPr>
        <p:spPr>
          <a:xfrm>
            <a:off x="502920" y="516636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/>
        </p:spPr>
      </p:sp>
      <p:sp>
        <p:nvSpPr>
          <p:cNvPr id="44" name="Text 32"/>
          <p:cNvSpPr/>
          <p:nvPr/>
        </p:nvSpPr>
        <p:spPr>
          <a:xfrm>
            <a:off x="502920" y="516636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“Turn products into stories.”</a:t>
            </a:r>
            <a:endParaRPr lang="en-US" sz="2000" dirty="0"/>
          </a:p>
        </p:txBody>
      </p:sp>
      <p:sp>
        <p:nvSpPr>
          <p:cNvPr id="45" name="Text 33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 •  DIGITAL MARKETING STORYTELLING STRATEGY</a:t>
            </a:r>
            <a:endParaRPr lang="en-US" sz="800" dirty="0"/>
          </a:p>
        </p:txBody>
      </p:sp>
      <p:sp>
        <p:nvSpPr>
          <p:cNvPr id="46" name="Text 34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SOSTAC – Segments &amp; Target Audience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92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18–35 </a:t>
            </a:r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OLD  —  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EGYPTIAN MEN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81051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A1E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Students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23160" y="2148840"/>
            <a:ext cx="181051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A1E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214884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Graduates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181051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A1E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14884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Employees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181051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14884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83880" y="2148840"/>
            <a:ext cx="181051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A1E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14884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104120" y="2148840"/>
            <a:ext cx="181051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0" y="214884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Professionals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88036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F3F1E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88036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“Egyptian men aged 18–35 who want simple, modern, comfortable and practical everyday clothing.”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4041648"/>
            <a:ext cx="22366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39542" y="4114800"/>
            <a:ext cx="0" cy="292608"/>
          </a:xfrm>
          <a:prstGeom prst="line">
            <a:avLst/>
          </a:prstGeom>
          <a:noFill/>
          <a:ln w="12700">
            <a:solidFill>
              <a:srgbClr val="DCD8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39542" y="4041648"/>
            <a:ext cx="22366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976165" y="4114800"/>
            <a:ext cx="0" cy="292608"/>
          </a:xfrm>
          <a:prstGeom prst="line">
            <a:avLst/>
          </a:prstGeom>
          <a:noFill/>
          <a:ln w="12700">
            <a:solidFill>
              <a:srgbClr val="DCD8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6165" y="4041648"/>
            <a:ext cx="22366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212787" y="4114800"/>
            <a:ext cx="0" cy="292608"/>
          </a:xfrm>
          <a:prstGeom prst="line">
            <a:avLst/>
          </a:prstGeom>
          <a:noFill/>
          <a:ln w="12700">
            <a:solidFill>
              <a:srgbClr val="DCD8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12787" y="4041648"/>
            <a:ext cx="22366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PRACTICALITY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449410" y="4114800"/>
            <a:ext cx="0" cy="292608"/>
          </a:xfrm>
          <a:prstGeom prst="line">
            <a:avLst/>
          </a:prstGeom>
          <a:noFill/>
          <a:ln w="12700">
            <a:solidFill>
              <a:srgbClr val="DCD8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49410" y="4041648"/>
            <a:ext cx="223662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" y="4709160"/>
            <a:ext cx="11183112" cy="137160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892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PROBLEM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5166360"/>
            <a:ext cx="10561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want to look good every day, but choosing the right outfit should be easy.”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 •  DIGITAL MARKETING STORYTELLING STRATEGY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SOSTAC – Positioning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697480" cy="329184"/>
          </a:xfrm>
          <a:prstGeom prst="roundRect">
            <a:avLst>
              <a:gd name="adj" fmla="val 47222"/>
            </a:avLst>
          </a:prstGeom>
          <a:solidFill>
            <a:srgbClr val="7A1E2C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38404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Positioning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83112" cy="960120"/>
          </a:xfrm>
          <a:prstGeom prst="roundRect">
            <a:avLst>
              <a:gd name="adj" fmla="val 9524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10561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“Qaim is an accessible men’s fashion brand that helps Egyptian men create simple, modern and comfortable everyday looks.”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41414"/>
          </a:solidFill>
          <a:ln/>
        </p:spPr>
      </p:sp>
      <p:sp>
        <p:nvSpPr>
          <p:cNvPr id="9" name="Shape 7"/>
          <p:cNvSpPr/>
          <p:nvPr/>
        </p:nvSpPr>
        <p:spPr>
          <a:xfrm>
            <a:off x="1956816" y="277063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qaim/icons/compass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824" y="2928640"/>
            <a:ext cx="342351" cy="3423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382219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4306824" y="2450592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7A1E2C"/>
          </a:solidFill>
          <a:ln/>
        </p:spPr>
      </p:sp>
      <p:sp>
        <p:nvSpPr>
          <p:cNvPr id="13" name="Shape 10"/>
          <p:cNvSpPr/>
          <p:nvPr/>
        </p:nvSpPr>
        <p:spPr>
          <a:xfrm>
            <a:off x="5760720" y="277063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qaim/icons/heart_burgund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728" y="2928640"/>
            <a:ext cx="342351" cy="3423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06824" y="382219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8110728" y="2450592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41414"/>
          </a:solidFill>
          <a:ln/>
        </p:spPr>
      </p:sp>
      <p:sp>
        <p:nvSpPr>
          <p:cNvPr id="17" name="Shape 13"/>
          <p:cNvSpPr/>
          <p:nvPr/>
        </p:nvSpPr>
        <p:spPr>
          <a:xfrm>
            <a:off x="9564624" y="277063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qaim/icons/layers_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632" y="2928640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10728" y="382219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SIMPLICITY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502920" y="5029200"/>
            <a:ext cx="5468112" cy="1234440"/>
          </a:xfrm>
          <a:prstGeom prst="roundRect">
            <a:avLst>
              <a:gd name="adj" fmla="val 7407"/>
            </a:avLst>
          </a:prstGeom>
          <a:solidFill>
            <a:srgbClr val="F3F1EE"/>
          </a:solidFill>
          <a:ln/>
        </p:spPr>
      </p:sp>
      <p:sp>
        <p:nvSpPr>
          <p:cNvPr id="21" name="Text 16"/>
          <p:cNvSpPr/>
          <p:nvPr/>
        </p:nvSpPr>
        <p:spPr>
          <a:xfrm>
            <a:off x="777240" y="5166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PROBLEM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777240" y="546811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have clothes, but I do not know what to wear.”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217920" y="5029200"/>
            <a:ext cx="5468112" cy="1234440"/>
          </a:xfrm>
          <a:prstGeom prst="roundRect">
            <a:avLst>
              <a:gd name="adj" fmla="val 7407"/>
            </a:avLst>
          </a:prstGeom>
          <a:solidFill>
            <a:srgbClr val="141414"/>
          </a:solidFill>
          <a:ln/>
        </p:spPr>
      </p:sp>
      <p:sp>
        <p:nvSpPr>
          <p:cNvPr id="24" name="Text 19"/>
          <p:cNvSpPr/>
          <p:nvPr/>
        </p:nvSpPr>
        <p:spPr>
          <a:xfrm>
            <a:off x="6492240" y="5166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IDEA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492240" y="546811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“Make everyday outfit choices easier.”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 •  DIGITAL MARKETING STORYTELLING STRATEGY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STORYTELLING FRAMEWORKS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Storytelling Ideas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68112" cy="5257800"/>
          </a:xfrm>
          <a:prstGeom prst="roundRect">
            <a:avLst>
              <a:gd name="adj" fmla="val 1739"/>
            </a:avLst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PIXAR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Have Clothes, But I Have Nothing to Wear”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50592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 /  Character-based  /  Transformation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907792"/>
            <a:ext cx="4919472" cy="347472"/>
          </a:xfrm>
          <a:prstGeom prst="roundRect">
            <a:avLst>
              <a:gd name="adj" fmla="val 50000"/>
            </a:avLst>
          </a:prstGeom>
          <a:solidFill>
            <a:srgbClr val="55152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0779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</a:t>
            </a:r>
            <a:endParaRPr lang="en-US" sz="1100" dirty="0"/>
          </a:p>
        </p:txBody>
      </p:sp>
      <p:pic>
        <p:nvPicPr>
          <p:cNvPr id="10" name="Image 0" descr="/home/claude/qaim/icons/arrowD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2968" y="3264408"/>
            <a:ext cx="128016" cy="8229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" y="3342132"/>
            <a:ext cx="4919472" cy="347472"/>
          </a:xfrm>
          <a:prstGeom prst="roundRect">
            <a:avLst>
              <a:gd name="adj" fmla="val 50000"/>
            </a:avLst>
          </a:prstGeom>
          <a:solidFill>
            <a:srgbClr val="551520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34213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SITUATION</a:t>
            </a:r>
            <a:endParaRPr lang="en-US" sz="1100" dirty="0"/>
          </a:p>
        </p:txBody>
      </p:sp>
      <p:pic>
        <p:nvPicPr>
          <p:cNvPr id="13" name="Image 1" descr="/home/claude/qaim/icons/arrowDow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3698748"/>
            <a:ext cx="128016" cy="822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" y="3776472"/>
            <a:ext cx="4919472" cy="347472"/>
          </a:xfrm>
          <a:prstGeom prst="roundRect">
            <a:avLst>
              <a:gd name="adj" fmla="val 50000"/>
            </a:avLst>
          </a:prstGeom>
          <a:solidFill>
            <a:srgbClr val="551520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377647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pic>
        <p:nvPicPr>
          <p:cNvPr id="16" name="Image 2" descr="/home/claude/qaim/icons/arrowDow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4133088"/>
            <a:ext cx="128016" cy="8229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77240" y="4210812"/>
            <a:ext cx="4919472" cy="347472"/>
          </a:xfrm>
          <a:prstGeom prst="roundRect">
            <a:avLst>
              <a:gd name="adj" fmla="val 50000"/>
            </a:avLst>
          </a:prstGeom>
          <a:solidFill>
            <a:srgbClr val="551520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421081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100" dirty="0"/>
          </a:p>
        </p:txBody>
      </p:sp>
      <p:pic>
        <p:nvPicPr>
          <p:cNvPr id="19" name="Image 3" descr="/home/claude/qaim/icons/arrowDow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4567428"/>
            <a:ext cx="128016" cy="8229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77240" y="4645152"/>
            <a:ext cx="4919472" cy="347472"/>
          </a:xfrm>
          <a:prstGeom prst="roundRect">
            <a:avLst>
              <a:gd name="adj" fmla="val 50000"/>
            </a:avLst>
          </a:prstGeom>
          <a:solidFill>
            <a:srgbClr val="551520"/>
          </a:solidFill>
          <a:ln/>
        </p:spPr>
      </p:sp>
      <p:sp>
        <p:nvSpPr>
          <p:cNvPr id="21" name="Text 15"/>
          <p:cNvSpPr/>
          <p:nvPr/>
        </p:nvSpPr>
        <p:spPr>
          <a:xfrm>
            <a:off x="777240" y="464515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endParaRPr lang="en-US" sz="1100" dirty="0"/>
          </a:p>
        </p:txBody>
      </p:sp>
      <p:pic>
        <p:nvPicPr>
          <p:cNvPr id="22" name="Image 4" descr="/home/claude/qaim/icons/arrowDow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968" y="5001768"/>
            <a:ext cx="128016" cy="82296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77240" y="5079492"/>
            <a:ext cx="4919472" cy="347472"/>
          </a:xfrm>
          <a:prstGeom prst="roundRect">
            <a:avLst>
              <a:gd name="adj" fmla="val 50000"/>
            </a:avLst>
          </a:prstGeom>
          <a:solidFill>
            <a:srgbClr val="551520"/>
          </a:solidFill>
          <a:ln/>
        </p:spPr>
      </p:sp>
      <p:sp>
        <p:nvSpPr>
          <p:cNvPr id="24" name="Text 17"/>
          <p:cNvSpPr/>
          <p:nvPr/>
        </p:nvSpPr>
        <p:spPr>
          <a:xfrm>
            <a:off x="777240" y="507949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pic>
        <p:nvPicPr>
          <p:cNvPr id="25" name="Image 5" descr="/home/claude/qaim/icons/arrowDow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2968" y="5436108"/>
            <a:ext cx="128016" cy="8229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77240" y="5513832"/>
            <a:ext cx="4919472" cy="347472"/>
          </a:xfrm>
          <a:prstGeom prst="roundRect">
            <a:avLst>
              <a:gd name="adj" fmla="val 50000"/>
            </a:avLst>
          </a:prstGeom>
          <a:solidFill>
            <a:srgbClr val="551520"/>
          </a:solidFill>
          <a:ln/>
        </p:spPr>
      </p:sp>
      <p:sp>
        <p:nvSpPr>
          <p:cNvPr id="27" name="Text 19"/>
          <p:cNvSpPr/>
          <p:nvPr/>
        </p:nvSpPr>
        <p:spPr>
          <a:xfrm>
            <a:off x="777240" y="551383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777240" y="6035040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message: “Qaim makes everyday outfit choices easier.”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217920" y="1280160"/>
            <a:ext cx="5468112" cy="5257800"/>
          </a:xfrm>
          <a:prstGeom prst="roundRect">
            <a:avLst>
              <a:gd name="adj" fmla="val 1739"/>
            </a:avLst>
          </a:prstGeom>
          <a:solidFill>
            <a:srgbClr val="F3F1EE"/>
          </a:solidFill>
          <a:ln/>
        </p:spPr>
      </p:sp>
      <p:sp>
        <p:nvSpPr>
          <p:cNvPr id="30" name="Text 22"/>
          <p:cNvSpPr/>
          <p:nvPr/>
        </p:nvSpPr>
        <p:spPr>
          <a:xfrm>
            <a:off x="6492240" y="1463040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SCQA</a:t>
            </a:r>
            <a:endParaRPr lang="en-US" sz="2600" dirty="0"/>
          </a:p>
        </p:txBody>
      </p:sp>
      <p:sp>
        <p:nvSpPr>
          <p:cNvPr id="31" name="Text 23"/>
          <p:cNvSpPr/>
          <p:nvPr/>
        </p:nvSpPr>
        <p:spPr>
          <a:xfrm>
            <a:off x="6492240" y="1965960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“Improve Your Style Without Changing Your Whole Wardrobe”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492240" y="2450592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→ Solution  /  Educational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492240" y="3017520"/>
            <a:ext cx="49194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629400" y="3108960"/>
            <a:ext cx="365760" cy="365760"/>
          </a:xfrm>
          <a:prstGeom prst="ellipse">
            <a:avLst/>
          </a:prstGeom>
          <a:solidFill>
            <a:srgbClr val="7A1E2C"/>
          </a:solidFill>
          <a:ln/>
        </p:spPr>
      </p:sp>
      <p:sp>
        <p:nvSpPr>
          <p:cNvPr id="35" name="Text 27"/>
          <p:cNvSpPr/>
          <p:nvPr/>
        </p:nvSpPr>
        <p:spPr>
          <a:xfrm>
            <a:off x="66294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7132320" y="3017520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300" dirty="0"/>
          </a:p>
        </p:txBody>
      </p:sp>
      <p:pic>
        <p:nvPicPr>
          <p:cNvPr id="37" name="Image 6" descr="/home/claude/qaim/icons/arrowDown_burgund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3593592"/>
            <a:ext cx="128016" cy="100584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6492240" y="3730752"/>
            <a:ext cx="49194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629400" y="3822192"/>
            <a:ext cx="365760" cy="365760"/>
          </a:xfrm>
          <a:prstGeom prst="ellipse">
            <a:avLst/>
          </a:prstGeom>
          <a:solidFill>
            <a:srgbClr val="7A1E2C"/>
          </a:solidFill>
          <a:ln/>
        </p:spPr>
      </p:sp>
      <p:sp>
        <p:nvSpPr>
          <p:cNvPr id="40" name="Text 31"/>
          <p:cNvSpPr/>
          <p:nvPr/>
        </p:nvSpPr>
        <p:spPr>
          <a:xfrm>
            <a:off x="6629400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41" name="Text 32"/>
          <p:cNvSpPr/>
          <p:nvPr/>
        </p:nvSpPr>
        <p:spPr>
          <a:xfrm>
            <a:off x="7132320" y="3730752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Complication</a:t>
            </a:r>
            <a:endParaRPr lang="en-US" sz="1300" dirty="0"/>
          </a:p>
        </p:txBody>
      </p:sp>
      <p:pic>
        <p:nvPicPr>
          <p:cNvPr id="42" name="Image 7" descr="/home/claude/qaim/icons/arrowDown_burgund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4848" y="4306824"/>
            <a:ext cx="128016" cy="100584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6492240" y="4443984"/>
            <a:ext cx="49194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6629400" y="4535424"/>
            <a:ext cx="365760" cy="365760"/>
          </a:xfrm>
          <a:prstGeom prst="ellipse">
            <a:avLst/>
          </a:prstGeom>
          <a:solidFill>
            <a:srgbClr val="7A1E2C"/>
          </a:solidFill>
          <a:ln/>
        </p:spPr>
      </p:sp>
      <p:sp>
        <p:nvSpPr>
          <p:cNvPr id="45" name="Text 35"/>
          <p:cNvSpPr/>
          <p:nvPr/>
        </p:nvSpPr>
        <p:spPr>
          <a:xfrm>
            <a:off x="6629400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500" dirty="0"/>
          </a:p>
        </p:txBody>
      </p:sp>
      <p:sp>
        <p:nvSpPr>
          <p:cNvPr id="46" name="Text 36"/>
          <p:cNvSpPr/>
          <p:nvPr/>
        </p:nvSpPr>
        <p:spPr>
          <a:xfrm>
            <a:off x="7132320" y="4443984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300" dirty="0"/>
          </a:p>
        </p:txBody>
      </p:sp>
      <p:pic>
        <p:nvPicPr>
          <p:cNvPr id="47" name="Image 8" descr="/home/claude/qaim/icons/arrowDown_burgund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5020056"/>
            <a:ext cx="128016" cy="100584"/>
          </a:xfrm>
          <a:prstGeom prst="rect">
            <a:avLst/>
          </a:prstGeom>
        </p:spPr>
      </p:pic>
      <p:sp>
        <p:nvSpPr>
          <p:cNvPr id="48" name="Shape 37"/>
          <p:cNvSpPr/>
          <p:nvPr/>
        </p:nvSpPr>
        <p:spPr>
          <a:xfrm>
            <a:off x="6492240" y="5157216"/>
            <a:ext cx="49194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6629400" y="5248656"/>
            <a:ext cx="365760" cy="365760"/>
          </a:xfrm>
          <a:prstGeom prst="ellipse">
            <a:avLst/>
          </a:prstGeom>
          <a:solidFill>
            <a:srgbClr val="7A1E2C"/>
          </a:solidFill>
          <a:ln/>
        </p:spPr>
      </p:sp>
      <p:sp>
        <p:nvSpPr>
          <p:cNvPr id="50" name="Text 39"/>
          <p:cNvSpPr/>
          <p:nvPr/>
        </p:nvSpPr>
        <p:spPr>
          <a:xfrm>
            <a:off x="6629400" y="5248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51" name="Text 40"/>
          <p:cNvSpPr/>
          <p:nvPr/>
        </p:nvSpPr>
        <p:spPr>
          <a:xfrm>
            <a:off x="7132320" y="5157216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300" dirty="0"/>
          </a:p>
        </p:txBody>
      </p:sp>
      <p:sp>
        <p:nvSpPr>
          <p:cNvPr id="52" name="Text 41"/>
          <p:cNvSpPr/>
          <p:nvPr/>
        </p:nvSpPr>
        <p:spPr>
          <a:xfrm>
            <a:off x="6492240" y="6035040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message: “You do not need a completely new wardrobe. You need the right pieces.”</a:t>
            </a:r>
            <a:endParaRPr lang="en-US" sz="1000" dirty="0"/>
          </a:p>
        </p:txBody>
      </p:sp>
      <p:sp>
        <p:nvSpPr>
          <p:cNvPr id="53" name="Text 42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 •  DIGITAL MARKETING STORYTELLING STRATEGY</a:t>
            </a:r>
            <a:endParaRPr lang="en-US" sz="800" dirty="0"/>
          </a:p>
        </p:txBody>
      </p:sp>
      <p:sp>
        <p:nvSpPr>
          <p:cNvPr id="54" name="Text 43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PIXAR — ARABIC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PIXAR Storytelling – Arabic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329184"/>
          </a:xfrm>
          <a:prstGeom prst="roundRect">
            <a:avLst>
              <a:gd name="adj" fmla="val 47222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PIXAR = Personal Story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724912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517904"/>
            <a:ext cx="402336" cy="402336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8" name="Image 0" descr="/home/claude/qaim/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65" y="1614465"/>
            <a:ext cx="209215" cy="2092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517904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3504" y="2029968"/>
            <a:ext cx="243230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محمد شاب مصري وبيحب يبقى شكله شيك كل يوم.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00984" y="1371600"/>
            <a:ext cx="2724912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47288" y="1517904"/>
            <a:ext cx="402336" cy="402336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13" name="Image 1" descr="/home/claude/qaim/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849" y="1614465"/>
            <a:ext cx="209215" cy="2092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41064" y="1517904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47288" y="2029968"/>
            <a:ext cx="243230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كل يوم الصبح بيفتح الدولاب قبل الشغل أو الجامعة أو أي مشوار.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44768" y="1371600"/>
            <a:ext cx="2724912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91072" y="1517904"/>
            <a:ext cx="402336" cy="402336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18" name="Image 2" descr="/home/claude/qaim/icons/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633" y="1614465"/>
            <a:ext cx="209215" cy="2092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84848" y="1517904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291072" y="2029968"/>
            <a:ext cx="243230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الدولاب مليان هدوم، عنده Jeans وT-shirts وPants، بس برده مش عارف يلبس إيه أو يعمل Outfit بسيط.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988552" y="1371600"/>
            <a:ext cx="2724912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34856" y="1517904"/>
            <a:ext cx="402336" cy="402336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23" name="Image 3" descr="/home/claude/qaim/icons/he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1417" y="1614465"/>
            <a:ext cx="209215" cy="20921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28632" y="1517904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134856" y="2029968"/>
            <a:ext cx="243230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كل يوم بيضيع وقت وهو بيفكر يلبس إيه.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57200" y="3328416"/>
            <a:ext cx="2724912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03504" y="3474720"/>
            <a:ext cx="402336" cy="402336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28" name="Image 4" descr="/home/claude/qaim/icons/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65" y="3571281"/>
            <a:ext cx="209215" cy="20921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97280" y="3474720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03504" y="3986784"/>
            <a:ext cx="243230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في يوم قرر يدور على حل أسهل، وبدأ يشوف Qaim وقطع الملابس الرجالي اللي عندهم.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3300984" y="3328416"/>
            <a:ext cx="2724912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447288" y="3474720"/>
            <a:ext cx="402336" cy="402336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33" name="Image 5" descr="/home/claude/qaim/icons/tag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849" y="3571281"/>
            <a:ext cx="209215" cy="20921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941064" y="3474720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3447288" y="3986784"/>
            <a:ext cx="243230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اختار Jeans مع T-shirt بسيط، وبدأ يجرب الـLook.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6144768" y="3328416"/>
            <a:ext cx="2724912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291072" y="3474720"/>
            <a:ext cx="402336" cy="402336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38" name="Image 6" descr="/home/claude/qaim/icons/smil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7633" y="3571281"/>
            <a:ext cx="209215" cy="20921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784848" y="3474720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6291072" y="3986784"/>
            <a:ext cx="243230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بص في المراية، والـOutfit طلع بسيط ومريح وشكله حلو.</a:t>
            </a:r>
            <a:endParaRPr lang="en-US" sz="1250" dirty="0"/>
          </a:p>
        </p:txBody>
      </p:sp>
      <p:sp>
        <p:nvSpPr>
          <p:cNvPr id="41" name="Shape 32"/>
          <p:cNvSpPr/>
          <p:nvPr/>
        </p:nvSpPr>
        <p:spPr>
          <a:xfrm>
            <a:off x="8988552" y="3328416"/>
            <a:ext cx="2724912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134856" y="3474720"/>
            <a:ext cx="402336" cy="402336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43" name="Image 7" descr="/home/claude/qaim/icons/awar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1417" y="3571281"/>
            <a:ext cx="209215" cy="209215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628632" y="3474720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9134856" y="3986784"/>
            <a:ext cx="243230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 وقتها بقى اختيار لبسه اليومي أسهل وأسرع.</a:t>
            </a:r>
            <a:endParaRPr lang="en-US" sz="1250" dirty="0"/>
          </a:p>
        </p:txBody>
      </p:sp>
      <p:sp>
        <p:nvSpPr>
          <p:cNvPr id="46" name="Shape 36"/>
          <p:cNvSpPr/>
          <p:nvPr/>
        </p:nvSpPr>
        <p:spPr>
          <a:xfrm>
            <a:off x="457200" y="5577840"/>
            <a:ext cx="11292840" cy="868680"/>
          </a:xfrm>
          <a:prstGeom prst="roundRect">
            <a:avLst>
              <a:gd name="adj" fmla="val 10526"/>
            </a:avLst>
          </a:prstGeom>
          <a:solidFill>
            <a:srgbClr val="141414"/>
          </a:solidFill>
          <a:ln/>
        </p:spPr>
      </p:sp>
      <p:sp>
        <p:nvSpPr>
          <p:cNvPr id="47" name="Text 37"/>
          <p:cNvSpPr/>
          <p:nvPr/>
        </p:nvSpPr>
        <p:spPr>
          <a:xfrm>
            <a:off x="731520" y="565099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makes everyday outfit choices easier.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6309360" y="5650992"/>
            <a:ext cx="5212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B68A3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ادخل Qaim واختار الـNext Look بتاعك.</a:t>
            </a:r>
            <a:endParaRPr lang="en-US" sz="1600" dirty="0"/>
          </a:p>
        </p:txBody>
      </p:sp>
      <p:sp>
        <p:nvSpPr>
          <p:cNvPr id="49" name="Text 39"/>
          <p:cNvSpPr/>
          <p:nvPr/>
        </p:nvSpPr>
        <p:spPr>
          <a:xfrm>
            <a:off x="731520" y="5989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900" dirty="0"/>
          </a:p>
        </p:txBody>
      </p:sp>
      <p:sp>
        <p:nvSpPr>
          <p:cNvPr id="50" name="Text 40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 •  DIGITAL MARKETING STORYTELLING STRATEGY</a:t>
            </a:r>
            <a:endParaRPr lang="en-US" sz="800" dirty="0"/>
          </a:p>
        </p:txBody>
      </p:sp>
      <p:sp>
        <p:nvSpPr>
          <p:cNvPr id="51" name="Text 41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CREATIVE 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PIXAR Reel – Shot by Shot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3200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Reel Length: 20–30 seconds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170432"/>
            <a:ext cx="1558399" cy="365760"/>
          </a:xfrm>
          <a:prstGeom prst="roundRect">
            <a:avLst>
              <a:gd name="adj" fmla="val 20000"/>
            </a:avLst>
          </a:prstGeom>
          <a:solidFill>
            <a:srgbClr val="F3F1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70432"/>
            <a:ext cx="16132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870" dirty="0"/>
          </a:p>
        </p:txBody>
      </p:sp>
      <p:pic>
        <p:nvPicPr>
          <p:cNvPr id="7" name="Image 0" descr="/home/claude/qaim/icons/arrowRight_burgun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167" y="1316736"/>
            <a:ext cx="164592" cy="91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97895" y="1170432"/>
            <a:ext cx="1558399" cy="365760"/>
          </a:xfrm>
          <a:prstGeom prst="roundRect">
            <a:avLst>
              <a:gd name="adj" fmla="val 20000"/>
            </a:avLst>
          </a:prstGeom>
          <a:solidFill>
            <a:srgbClr val="F3F1EE"/>
          </a:solidFill>
          <a:ln/>
        </p:spPr>
      </p:sp>
      <p:sp>
        <p:nvSpPr>
          <p:cNvPr id="9" name="Text 6"/>
          <p:cNvSpPr/>
          <p:nvPr/>
        </p:nvSpPr>
        <p:spPr>
          <a:xfrm>
            <a:off x="2070463" y="1170432"/>
            <a:ext cx="16132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70" dirty="0"/>
          </a:p>
        </p:txBody>
      </p:sp>
      <p:pic>
        <p:nvPicPr>
          <p:cNvPr id="10" name="Image 1" descr="/home/claude/qaim/icons/arrowRight_burgund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430" y="1316736"/>
            <a:ext cx="164592" cy="91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711158" y="1170432"/>
            <a:ext cx="1558399" cy="365760"/>
          </a:xfrm>
          <a:prstGeom prst="roundRect">
            <a:avLst>
              <a:gd name="adj" fmla="val 20000"/>
            </a:avLst>
          </a:prstGeom>
          <a:solidFill>
            <a:srgbClr val="F3F1EE"/>
          </a:solidFill>
          <a:ln/>
        </p:spPr>
      </p:sp>
      <p:sp>
        <p:nvSpPr>
          <p:cNvPr id="12" name="Text 8"/>
          <p:cNvSpPr/>
          <p:nvPr/>
        </p:nvSpPr>
        <p:spPr>
          <a:xfrm>
            <a:off x="3683726" y="1170432"/>
            <a:ext cx="16132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870" dirty="0"/>
          </a:p>
        </p:txBody>
      </p:sp>
      <p:pic>
        <p:nvPicPr>
          <p:cNvPr id="13" name="Image 2" descr="/home/claude/qaim/icons/arrowRight_burgun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693" y="1316736"/>
            <a:ext cx="164592" cy="914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324421" y="1170432"/>
            <a:ext cx="1558399" cy="365760"/>
          </a:xfrm>
          <a:prstGeom prst="roundRect">
            <a:avLst>
              <a:gd name="adj" fmla="val 20000"/>
            </a:avLst>
          </a:prstGeom>
          <a:solidFill>
            <a:srgbClr val="F3F1EE"/>
          </a:solidFill>
          <a:ln/>
        </p:spPr>
      </p:sp>
      <p:sp>
        <p:nvSpPr>
          <p:cNvPr id="15" name="Text 10"/>
          <p:cNvSpPr/>
          <p:nvPr/>
        </p:nvSpPr>
        <p:spPr>
          <a:xfrm>
            <a:off x="5296989" y="1170432"/>
            <a:ext cx="16132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70" dirty="0"/>
          </a:p>
        </p:txBody>
      </p:sp>
      <p:pic>
        <p:nvPicPr>
          <p:cNvPr id="16" name="Image 3" descr="/home/claude/qaim/icons/arrowRight_burgund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955" y="1316736"/>
            <a:ext cx="164592" cy="914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937683" y="1170432"/>
            <a:ext cx="1558399" cy="365760"/>
          </a:xfrm>
          <a:prstGeom prst="roundRect">
            <a:avLst>
              <a:gd name="adj" fmla="val 20000"/>
            </a:avLst>
          </a:prstGeom>
          <a:solidFill>
            <a:srgbClr val="F3F1EE"/>
          </a:solidFill>
          <a:ln/>
        </p:spPr>
      </p:sp>
      <p:sp>
        <p:nvSpPr>
          <p:cNvPr id="18" name="Text 12"/>
          <p:cNvSpPr/>
          <p:nvPr/>
        </p:nvSpPr>
        <p:spPr>
          <a:xfrm>
            <a:off x="6910251" y="1170432"/>
            <a:ext cx="16132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endParaRPr lang="en-US" sz="870" dirty="0"/>
          </a:p>
        </p:txBody>
      </p:sp>
      <p:pic>
        <p:nvPicPr>
          <p:cNvPr id="19" name="Image 4" descr="/home/claude/qaim/icons/arrowRight_burgund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1218" y="1316736"/>
            <a:ext cx="164592" cy="9144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550946" y="1170432"/>
            <a:ext cx="1558399" cy="365760"/>
          </a:xfrm>
          <a:prstGeom prst="roundRect">
            <a:avLst>
              <a:gd name="adj" fmla="val 20000"/>
            </a:avLst>
          </a:prstGeom>
          <a:solidFill>
            <a:srgbClr val="F3F1EE"/>
          </a:solidFill>
          <a:ln/>
        </p:spPr>
      </p:sp>
      <p:sp>
        <p:nvSpPr>
          <p:cNvPr id="21" name="Text 14"/>
          <p:cNvSpPr/>
          <p:nvPr/>
        </p:nvSpPr>
        <p:spPr>
          <a:xfrm>
            <a:off x="8523514" y="1170432"/>
            <a:ext cx="16132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870" dirty="0"/>
          </a:p>
        </p:txBody>
      </p:sp>
      <p:pic>
        <p:nvPicPr>
          <p:cNvPr id="22" name="Image 5" descr="/home/claude/qaim/icons/arrowRight_burgund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4481" y="1316736"/>
            <a:ext cx="164592" cy="9144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0164209" y="1170432"/>
            <a:ext cx="1558399" cy="365760"/>
          </a:xfrm>
          <a:prstGeom prst="roundRect">
            <a:avLst>
              <a:gd name="adj" fmla="val 20000"/>
            </a:avLst>
          </a:prstGeom>
          <a:solidFill>
            <a:srgbClr val="7A1E2C"/>
          </a:solidFill>
          <a:ln/>
        </p:spPr>
      </p:sp>
      <p:sp>
        <p:nvSpPr>
          <p:cNvPr id="24" name="Text 16"/>
          <p:cNvSpPr/>
          <p:nvPr/>
        </p:nvSpPr>
        <p:spPr>
          <a:xfrm>
            <a:off x="10136777" y="1170432"/>
            <a:ext cx="16132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870" dirty="0"/>
          </a:p>
        </p:txBody>
      </p:sp>
      <p:sp>
        <p:nvSpPr>
          <p:cNvPr id="25" name="Shape 17"/>
          <p:cNvSpPr/>
          <p:nvPr/>
        </p:nvSpPr>
        <p:spPr>
          <a:xfrm>
            <a:off x="457200" y="1691640"/>
            <a:ext cx="1600200" cy="23317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548640" y="17647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1</a:t>
            </a:r>
            <a:endParaRPr lang="en-US" sz="800" dirty="0"/>
          </a:p>
        </p:txBody>
      </p:sp>
      <p:sp>
        <p:nvSpPr>
          <p:cNvPr id="27" name="Text 19"/>
          <p:cNvSpPr/>
          <p:nvPr/>
        </p:nvSpPr>
        <p:spPr>
          <a:xfrm>
            <a:off x="548640" y="193852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1691640" y="1783080"/>
            <a:ext cx="274320" cy="274320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29" name="Image 6" descr="/home/claude/qaim/icons/user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7477" y="1848917"/>
            <a:ext cx="142646" cy="14264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48640" y="229514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  <a:endParaRPr lang="en-US" sz="630" dirty="0"/>
          </a:p>
        </p:txBody>
      </p:sp>
      <p:sp>
        <p:nvSpPr>
          <p:cNvPr id="31" name="Text 22"/>
          <p:cNvSpPr/>
          <p:nvPr/>
        </p:nvSpPr>
        <p:spPr>
          <a:xfrm>
            <a:off x="548640" y="244144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opens wardrobe, confused</a:t>
            </a:r>
            <a:endParaRPr lang="en-US" sz="760" dirty="0"/>
          </a:p>
        </p:txBody>
      </p:sp>
      <p:sp>
        <p:nvSpPr>
          <p:cNvPr id="32" name="Text 23"/>
          <p:cNvSpPr/>
          <p:nvPr/>
        </p:nvSpPr>
        <p:spPr>
          <a:xfrm>
            <a:off x="548640" y="2761488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VOICE-OVER</a:t>
            </a:r>
            <a:endParaRPr lang="en-US" sz="630" dirty="0"/>
          </a:p>
        </p:txBody>
      </p:sp>
      <p:sp>
        <p:nvSpPr>
          <p:cNvPr id="33" name="Text 24"/>
          <p:cNvSpPr/>
          <p:nvPr/>
        </p:nvSpPr>
        <p:spPr>
          <a:xfrm>
            <a:off x="548640" y="290779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830" i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كل يوم نفس السؤال… ألبس إيه؟</a:t>
            </a:r>
            <a:endParaRPr lang="en-US" sz="830" dirty="0"/>
          </a:p>
        </p:txBody>
      </p:sp>
      <p:sp>
        <p:nvSpPr>
          <p:cNvPr id="34" name="Text 25"/>
          <p:cNvSpPr/>
          <p:nvPr/>
        </p:nvSpPr>
        <p:spPr>
          <a:xfrm>
            <a:off x="548640" y="345643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ON-SCREEN</a:t>
            </a:r>
            <a:endParaRPr lang="en-US" sz="630" dirty="0"/>
          </a:p>
        </p:txBody>
      </p:sp>
      <p:sp>
        <p:nvSpPr>
          <p:cNvPr id="35" name="Text 26"/>
          <p:cNvSpPr/>
          <p:nvPr/>
        </p:nvSpPr>
        <p:spPr>
          <a:xfrm>
            <a:off x="548640" y="3593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760" dirty="0">
                <a:solidFill>
                  <a:srgbClr val="5A5A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عندك دولاب مليان ولسه مش عارف تلبس إيه؟</a:t>
            </a:r>
            <a:endParaRPr lang="en-US" sz="760" dirty="0"/>
          </a:p>
        </p:txBody>
      </p:sp>
      <p:sp>
        <p:nvSpPr>
          <p:cNvPr id="36" name="Shape 27"/>
          <p:cNvSpPr/>
          <p:nvPr/>
        </p:nvSpPr>
        <p:spPr>
          <a:xfrm>
            <a:off x="2139696" y="1691640"/>
            <a:ext cx="1600200" cy="23317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37" name="Text 28"/>
          <p:cNvSpPr/>
          <p:nvPr/>
        </p:nvSpPr>
        <p:spPr>
          <a:xfrm>
            <a:off x="2231136" y="17647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2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2231136" y="193852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3374136" y="1783080"/>
            <a:ext cx="274320" cy="274320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40" name="Image 7" descr="/home/claude/qaim/icons/close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9973" y="1848917"/>
            <a:ext cx="142646" cy="14264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2231136" y="229514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  <a:endParaRPr lang="en-US" sz="630" dirty="0"/>
          </a:p>
        </p:txBody>
      </p:sp>
      <p:sp>
        <p:nvSpPr>
          <p:cNvPr id="42" name="Text 32"/>
          <p:cNvSpPr/>
          <p:nvPr/>
        </p:nvSpPr>
        <p:spPr>
          <a:xfrm>
            <a:off x="2231136" y="244144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looks at many clothes</a:t>
            </a:r>
            <a:endParaRPr lang="en-US" sz="760" dirty="0"/>
          </a:p>
        </p:txBody>
      </p:sp>
      <p:sp>
        <p:nvSpPr>
          <p:cNvPr id="43" name="Text 33"/>
          <p:cNvSpPr/>
          <p:nvPr/>
        </p:nvSpPr>
        <p:spPr>
          <a:xfrm>
            <a:off x="2231136" y="2761488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VOICE-OVER</a:t>
            </a:r>
            <a:endParaRPr lang="en-US" sz="630" dirty="0"/>
          </a:p>
        </p:txBody>
      </p:sp>
      <p:sp>
        <p:nvSpPr>
          <p:cNvPr id="44" name="Text 34"/>
          <p:cNvSpPr/>
          <p:nvPr/>
        </p:nvSpPr>
        <p:spPr>
          <a:xfrm>
            <a:off x="2231136" y="290779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830" i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عندي هدوم كتير، بس برده مش عارف أعمل Outfit.</a:t>
            </a:r>
            <a:endParaRPr lang="en-US" sz="830" dirty="0"/>
          </a:p>
        </p:txBody>
      </p:sp>
      <p:sp>
        <p:nvSpPr>
          <p:cNvPr id="45" name="Text 35"/>
          <p:cNvSpPr/>
          <p:nvPr/>
        </p:nvSpPr>
        <p:spPr>
          <a:xfrm>
            <a:off x="2231136" y="345643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ON-SCREEN</a:t>
            </a:r>
            <a:endParaRPr lang="en-US" sz="630" dirty="0"/>
          </a:p>
        </p:txBody>
      </p:sp>
      <p:sp>
        <p:nvSpPr>
          <p:cNvPr id="46" name="Text 36"/>
          <p:cNvSpPr/>
          <p:nvPr/>
        </p:nvSpPr>
        <p:spPr>
          <a:xfrm>
            <a:off x="2231136" y="3593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760" dirty="0">
                <a:solidFill>
                  <a:srgbClr val="5A5A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هدوم كتير… Outfit مفيش!</a:t>
            </a:r>
            <a:endParaRPr lang="en-US" sz="760" dirty="0"/>
          </a:p>
        </p:txBody>
      </p:sp>
      <p:sp>
        <p:nvSpPr>
          <p:cNvPr id="47" name="Shape 37"/>
          <p:cNvSpPr/>
          <p:nvPr/>
        </p:nvSpPr>
        <p:spPr>
          <a:xfrm>
            <a:off x="3822192" y="1691640"/>
            <a:ext cx="1600200" cy="23317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48" name="Text 38"/>
          <p:cNvSpPr/>
          <p:nvPr/>
        </p:nvSpPr>
        <p:spPr>
          <a:xfrm>
            <a:off x="3913632" y="17647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3</a:t>
            </a:r>
            <a:endParaRPr lang="en-US" sz="800" dirty="0"/>
          </a:p>
        </p:txBody>
      </p:sp>
      <p:sp>
        <p:nvSpPr>
          <p:cNvPr id="49" name="Text 39"/>
          <p:cNvSpPr/>
          <p:nvPr/>
        </p:nvSpPr>
        <p:spPr>
          <a:xfrm>
            <a:off x="3913632" y="193852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5056632" y="1783080"/>
            <a:ext cx="274320" cy="274320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51" name="Image 8" descr="/home/claude/qaim/icons/phon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2469" y="1848917"/>
            <a:ext cx="142646" cy="142646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3913632" y="229514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  <a:endParaRPr lang="en-US" sz="630" dirty="0"/>
          </a:p>
        </p:txBody>
      </p:sp>
      <p:sp>
        <p:nvSpPr>
          <p:cNvPr id="53" name="Text 42"/>
          <p:cNvSpPr/>
          <p:nvPr/>
        </p:nvSpPr>
        <p:spPr>
          <a:xfrm>
            <a:off x="3913632" y="244144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finds Qaim on his phone</a:t>
            </a:r>
            <a:endParaRPr lang="en-US" sz="760" dirty="0"/>
          </a:p>
        </p:txBody>
      </p:sp>
      <p:sp>
        <p:nvSpPr>
          <p:cNvPr id="54" name="Text 43"/>
          <p:cNvSpPr/>
          <p:nvPr/>
        </p:nvSpPr>
        <p:spPr>
          <a:xfrm>
            <a:off x="3913632" y="2761488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VOICE-OVER</a:t>
            </a:r>
            <a:endParaRPr lang="en-US" sz="630" dirty="0"/>
          </a:p>
        </p:txBody>
      </p:sp>
      <p:sp>
        <p:nvSpPr>
          <p:cNvPr id="55" name="Text 44"/>
          <p:cNvSpPr/>
          <p:nvPr/>
        </p:nvSpPr>
        <p:spPr>
          <a:xfrm>
            <a:off x="3913632" y="290779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830" i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يمكن المشكلة مش في الهدوم… المشكلة في الاختيار.</a:t>
            </a:r>
            <a:endParaRPr lang="en-US" sz="830" dirty="0"/>
          </a:p>
        </p:txBody>
      </p:sp>
      <p:sp>
        <p:nvSpPr>
          <p:cNvPr id="56" name="Text 45"/>
          <p:cNvSpPr/>
          <p:nvPr/>
        </p:nvSpPr>
        <p:spPr>
          <a:xfrm>
            <a:off x="3913632" y="345643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ON-SCREEN</a:t>
            </a:r>
            <a:endParaRPr lang="en-US" sz="630" dirty="0"/>
          </a:p>
        </p:txBody>
      </p:sp>
      <p:sp>
        <p:nvSpPr>
          <p:cNvPr id="57" name="Text 46"/>
          <p:cNvSpPr/>
          <p:nvPr/>
        </p:nvSpPr>
        <p:spPr>
          <a:xfrm>
            <a:off x="3913632" y="3593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760" dirty="0">
                <a:solidFill>
                  <a:srgbClr val="5A5A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Maybe you just need the right pieces.</a:t>
            </a:r>
            <a:endParaRPr lang="en-US" sz="760" dirty="0"/>
          </a:p>
        </p:txBody>
      </p:sp>
      <p:sp>
        <p:nvSpPr>
          <p:cNvPr id="58" name="Shape 47"/>
          <p:cNvSpPr/>
          <p:nvPr/>
        </p:nvSpPr>
        <p:spPr>
          <a:xfrm>
            <a:off x="5504688" y="1691640"/>
            <a:ext cx="1600200" cy="23317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59" name="Text 48"/>
          <p:cNvSpPr/>
          <p:nvPr/>
        </p:nvSpPr>
        <p:spPr>
          <a:xfrm>
            <a:off x="5596128" y="17647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4</a:t>
            </a:r>
            <a:endParaRPr lang="en-US" sz="800" dirty="0"/>
          </a:p>
        </p:txBody>
      </p:sp>
      <p:sp>
        <p:nvSpPr>
          <p:cNvPr id="60" name="Text 49"/>
          <p:cNvSpPr/>
          <p:nvPr/>
        </p:nvSpPr>
        <p:spPr>
          <a:xfrm>
            <a:off x="5596128" y="193852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/ PRODUCT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6739128" y="1783080"/>
            <a:ext cx="274320" cy="274320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62" name="Image 9" descr="/home/claude/qaim/icons/tag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4965" y="1848917"/>
            <a:ext cx="142646" cy="142646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5596128" y="229514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  <a:endParaRPr lang="en-US" sz="630" dirty="0"/>
          </a:p>
        </p:txBody>
      </p:sp>
      <p:sp>
        <p:nvSpPr>
          <p:cNvPr id="64" name="Text 52"/>
          <p:cNvSpPr/>
          <p:nvPr/>
        </p:nvSpPr>
        <p:spPr>
          <a:xfrm>
            <a:off x="5596128" y="244144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Jeans, T-shirt, Pants</a:t>
            </a:r>
            <a:endParaRPr lang="en-US" sz="760" dirty="0"/>
          </a:p>
        </p:txBody>
      </p:sp>
      <p:sp>
        <p:nvSpPr>
          <p:cNvPr id="65" name="Text 53"/>
          <p:cNvSpPr/>
          <p:nvPr/>
        </p:nvSpPr>
        <p:spPr>
          <a:xfrm>
            <a:off x="5596128" y="2761488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VOICE-OVER</a:t>
            </a:r>
            <a:endParaRPr lang="en-US" sz="630" dirty="0"/>
          </a:p>
        </p:txBody>
      </p:sp>
      <p:sp>
        <p:nvSpPr>
          <p:cNvPr id="66" name="Text 54"/>
          <p:cNvSpPr/>
          <p:nvPr/>
        </p:nvSpPr>
        <p:spPr>
          <a:xfrm>
            <a:off x="5596128" y="290779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830" i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اختار قطع بسيطة تقدر تعمل بيها أكتر من Look.</a:t>
            </a:r>
            <a:endParaRPr lang="en-US" sz="830" dirty="0"/>
          </a:p>
        </p:txBody>
      </p:sp>
      <p:sp>
        <p:nvSpPr>
          <p:cNvPr id="67" name="Text 55"/>
          <p:cNvSpPr/>
          <p:nvPr/>
        </p:nvSpPr>
        <p:spPr>
          <a:xfrm>
            <a:off x="5596128" y="345643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ON-SCREEN</a:t>
            </a:r>
            <a:endParaRPr lang="en-US" sz="630" dirty="0"/>
          </a:p>
        </p:txBody>
      </p:sp>
      <p:sp>
        <p:nvSpPr>
          <p:cNvPr id="68" name="Text 56"/>
          <p:cNvSpPr/>
          <p:nvPr/>
        </p:nvSpPr>
        <p:spPr>
          <a:xfrm>
            <a:off x="5596128" y="3593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760" dirty="0">
                <a:solidFill>
                  <a:srgbClr val="5A5A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Simple pieces. More outfits.</a:t>
            </a:r>
            <a:endParaRPr lang="en-US" sz="760" dirty="0"/>
          </a:p>
        </p:txBody>
      </p:sp>
      <p:sp>
        <p:nvSpPr>
          <p:cNvPr id="69" name="Shape 57"/>
          <p:cNvSpPr/>
          <p:nvPr/>
        </p:nvSpPr>
        <p:spPr>
          <a:xfrm>
            <a:off x="1298448" y="4160520"/>
            <a:ext cx="1600200" cy="23317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70" name="Text 58"/>
          <p:cNvSpPr/>
          <p:nvPr/>
        </p:nvSpPr>
        <p:spPr>
          <a:xfrm>
            <a:off x="1389888" y="423367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5</a:t>
            </a:r>
            <a:endParaRPr lang="en-US" sz="800" dirty="0"/>
          </a:p>
        </p:txBody>
      </p:sp>
      <p:sp>
        <p:nvSpPr>
          <p:cNvPr id="71" name="Text 59"/>
          <p:cNvSpPr/>
          <p:nvPr/>
        </p:nvSpPr>
        <p:spPr>
          <a:xfrm>
            <a:off x="1389888" y="44074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endParaRPr lang="en-US" sz="900" dirty="0"/>
          </a:p>
        </p:txBody>
      </p:sp>
      <p:sp>
        <p:nvSpPr>
          <p:cNvPr id="72" name="Shape 60"/>
          <p:cNvSpPr/>
          <p:nvPr/>
        </p:nvSpPr>
        <p:spPr>
          <a:xfrm>
            <a:off x="2532888" y="4251960"/>
            <a:ext cx="274320" cy="274320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73" name="Image 10" descr="/home/claude/qaim/icons/smile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8725" y="4317797"/>
            <a:ext cx="142646" cy="142646"/>
          </a:xfrm>
          <a:prstGeom prst="rect">
            <a:avLst/>
          </a:prstGeom>
        </p:spPr>
      </p:pic>
      <p:sp>
        <p:nvSpPr>
          <p:cNvPr id="74" name="Text 61"/>
          <p:cNvSpPr/>
          <p:nvPr/>
        </p:nvSpPr>
        <p:spPr>
          <a:xfrm>
            <a:off x="1389888" y="476402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  <a:endParaRPr lang="en-US" sz="630" dirty="0"/>
          </a:p>
        </p:txBody>
      </p:sp>
      <p:sp>
        <p:nvSpPr>
          <p:cNvPr id="75" name="Text 62"/>
          <p:cNvSpPr/>
          <p:nvPr/>
        </p:nvSpPr>
        <p:spPr>
          <a:xfrm>
            <a:off x="1389888" y="491032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wears outfit, checks mirror</a:t>
            </a:r>
            <a:endParaRPr lang="en-US" sz="760" dirty="0"/>
          </a:p>
        </p:txBody>
      </p:sp>
      <p:sp>
        <p:nvSpPr>
          <p:cNvPr id="76" name="Text 63"/>
          <p:cNvSpPr/>
          <p:nvPr/>
        </p:nvSpPr>
        <p:spPr>
          <a:xfrm>
            <a:off x="1389888" y="5230368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VOICE-OVER</a:t>
            </a:r>
            <a:endParaRPr lang="en-US" sz="630" dirty="0"/>
          </a:p>
        </p:txBody>
      </p:sp>
      <p:sp>
        <p:nvSpPr>
          <p:cNvPr id="77" name="Text 64"/>
          <p:cNvSpPr/>
          <p:nvPr/>
        </p:nvSpPr>
        <p:spPr>
          <a:xfrm>
            <a:off x="1389888" y="537667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830" i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Look بسيط، مريح، وشكله حلو.</a:t>
            </a:r>
            <a:endParaRPr lang="en-US" sz="830" dirty="0"/>
          </a:p>
        </p:txBody>
      </p:sp>
      <p:sp>
        <p:nvSpPr>
          <p:cNvPr id="78" name="Text 65"/>
          <p:cNvSpPr/>
          <p:nvPr/>
        </p:nvSpPr>
        <p:spPr>
          <a:xfrm>
            <a:off x="1389888" y="592531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ON-SCREEN</a:t>
            </a:r>
            <a:endParaRPr lang="en-US" sz="630" dirty="0"/>
          </a:p>
        </p:txBody>
      </p:sp>
      <p:sp>
        <p:nvSpPr>
          <p:cNvPr id="79" name="Text 66"/>
          <p:cNvSpPr/>
          <p:nvPr/>
        </p:nvSpPr>
        <p:spPr>
          <a:xfrm>
            <a:off x="1389888" y="60624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760" dirty="0">
                <a:solidFill>
                  <a:srgbClr val="5A5A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Simple. Comfortable. Stylish.</a:t>
            </a:r>
            <a:endParaRPr lang="en-US" sz="760" dirty="0"/>
          </a:p>
        </p:txBody>
      </p:sp>
      <p:sp>
        <p:nvSpPr>
          <p:cNvPr id="80" name="Shape 67"/>
          <p:cNvSpPr/>
          <p:nvPr/>
        </p:nvSpPr>
        <p:spPr>
          <a:xfrm>
            <a:off x="2980944" y="4160520"/>
            <a:ext cx="1600200" cy="23317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81" name="Text 68"/>
          <p:cNvSpPr/>
          <p:nvPr/>
        </p:nvSpPr>
        <p:spPr>
          <a:xfrm>
            <a:off x="3072384" y="423367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6</a:t>
            </a:r>
            <a:endParaRPr lang="en-US" sz="800" dirty="0"/>
          </a:p>
        </p:txBody>
      </p:sp>
      <p:sp>
        <p:nvSpPr>
          <p:cNvPr id="82" name="Text 69"/>
          <p:cNvSpPr/>
          <p:nvPr/>
        </p:nvSpPr>
        <p:spPr>
          <a:xfrm>
            <a:off x="3072384" y="44074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900" dirty="0"/>
          </a:p>
        </p:txBody>
      </p:sp>
      <p:sp>
        <p:nvSpPr>
          <p:cNvPr id="83" name="Shape 70"/>
          <p:cNvSpPr/>
          <p:nvPr/>
        </p:nvSpPr>
        <p:spPr>
          <a:xfrm>
            <a:off x="4215384" y="4251960"/>
            <a:ext cx="274320" cy="274320"/>
          </a:xfrm>
          <a:prstGeom prst="ellipse">
            <a:avLst/>
          </a:prstGeom>
          <a:solidFill>
            <a:srgbClr val="7A1E2C"/>
          </a:solidFill>
          <a:ln/>
        </p:spPr>
      </p:sp>
      <p:pic>
        <p:nvPicPr>
          <p:cNvPr id="84" name="Image 11" descr="/home/claude/qaim/icons/walk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1221" y="4317797"/>
            <a:ext cx="142646" cy="142646"/>
          </a:xfrm>
          <a:prstGeom prst="rect">
            <a:avLst/>
          </a:prstGeom>
        </p:spPr>
      </p:pic>
      <p:sp>
        <p:nvSpPr>
          <p:cNvPr id="85" name="Text 71"/>
          <p:cNvSpPr/>
          <p:nvPr/>
        </p:nvSpPr>
        <p:spPr>
          <a:xfrm>
            <a:off x="3072384" y="476402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  <a:endParaRPr lang="en-US" sz="630" dirty="0"/>
          </a:p>
        </p:txBody>
      </p:sp>
      <p:sp>
        <p:nvSpPr>
          <p:cNvPr id="86" name="Text 72"/>
          <p:cNvSpPr/>
          <p:nvPr/>
        </p:nvSpPr>
        <p:spPr>
          <a:xfrm>
            <a:off x="3072384" y="491032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leaves home confidently</a:t>
            </a:r>
            <a:endParaRPr lang="en-US" sz="760" dirty="0"/>
          </a:p>
        </p:txBody>
      </p:sp>
      <p:sp>
        <p:nvSpPr>
          <p:cNvPr id="87" name="Text 73"/>
          <p:cNvSpPr/>
          <p:nvPr/>
        </p:nvSpPr>
        <p:spPr>
          <a:xfrm>
            <a:off x="3072384" y="5230368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VOICE-OVER</a:t>
            </a:r>
            <a:endParaRPr lang="en-US" sz="630" dirty="0"/>
          </a:p>
        </p:txBody>
      </p:sp>
      <p:sp>
        <p:nvSpPr>
          <p:cNvPr id="88" name="Text 74"/>
          <p:cNvSpPr/>
          <p:nvPr/>
        </p:nvSpPr>
        <p:spPr>
          <a:xfrm>
            <a:off x="3072384" y="537667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830" i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لما القطع تكون صح… اختيار الـOutfit بيبقى أسهل.</a:t>
            </a:r>
            <a:endParaRPr lang="en-US" sz="830" dirty="0"/>
          </a:p>
        </p:txBody>
      </p:sp>
      <p:sp>
        <p:nvSpPr>
          <p:cNvPr id="89" name="Text 75"/>
          <p:cNvSpPr/>
          <p:nvPr/>
        </p:nvSpPr>
        <p:spPr>
          <a:xfrm>
            <a:off x="3072384" y="592531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ON-SCREEN</a:t>
            </a:r>
            <a:endParaRPr lang="en-US" sz="630" dirty="0"/>
          </a:p>
        </p:txBody>
      </p:sp>
      <p:sp>
        <p:nvSpPr>
          <p:cNvPr id="90" name="Text 76"/>
          <p:cNvSpPr/>
          <p:nvPr/>
        </p:nvSpPr>
        <p:spPr>
          <a:xfrm>
            <a:off x="3072384" y="60624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760" dirty="0">
                <a:solidFill>
                  <a:srgbClr val="5A5A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Ready for the day.</a:t>
            </a:r>
            <a:endParaRPr lang="en-US" sz="760" dirty="0"/>
          </a:p>
        </p:txBody>
      </p:sp>
      <p:sp>
        <p:nvSpPr>
          <p:cNvPr id="91" name="Shape 77"/>
          <p:cNvSpPr/>
          <p:nvPr/>
        </p:nvSpPr>
        <p:spPr>
          <a:xfrm>
            <a:off x="4663440" y="4160520"/>
            <a:ext cx="1600200" cy="2331720"/>
          </a:xfrm>
          <a:prstGeom prst="roundRect">
            <a:avLst>
              <a:gd name="adj" fmla="val 4571"/>
            </a:avLst>
          </a:prstGeom>
          <a:solidFill>
            <a:srgbClr val="7A1E2C"/>
          </a:solidFill>
          <a:ln w="12700">
            <a:solidFill>
              <a:srgbClr val="DCD8D2"/>
            </a:solidFill>
            <a:prstDash val="solid"/>
          </a:ln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92" name="Text 78"/>
          <p:cNvSpPr/>
          <p:nvPr/>
        </p:nvSpPr>
        <p:spPr>
          <a:xfrm>
            <a:off x="4754880" y="423367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E8C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7</a:t>
            </a:r>
            <a:endParaRPr lang="en-US" sz="800" dirty="0"/>
          </a:p>
        </p:txBody>
      </p:sp>
      <p:sp>
        <p:nvSpPr>
          <p:cNvPr id="93" name="Text 79"/>
          <p:cNvSpPr/>
          <p:nvPr/>
        </p:nvSpPr>
        <p:spPr>
          <a:xfrm>
            <a:off x="4754880" y="44074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900" dirty="0"/>
          </a:p>
        </p:txBody>
      </p:sp>
      <p:sp>
        <p:nvSpPr>
          <p:cNvPr id="94" name="Shape 80"/>
          <p:cNvSpPr/>
          <p:nvPr/>
        </p:nvSpPr>
        <p:spPr>
          <a:xfrm>
            <a:off x="5897880" y="425196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5" name="Image 12" descr="/home/claude/qaim/icons/star_burgund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63717" y="4317797"/>
            <a:ext cx="142646" cy="142646"/>
          </a:xfrm>
          <a:prstGeom prst="rect">
            <a:avLst/>
          </a:prstGeom>
        </p:spPr>
      </p:pic>
      <p:sp>
        <p:nvSpPr>
          <p:cNvPr id="96" name="Text 81"/>
          <p:cNvSpPr/>
          <p:nvPr/>
        </p:nvSpPr>
        <p:spPr>
          <a:xfrm>
            <a:off x="4754880" y="476402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E8C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  <a:endParaRPr lang="en-US" sz="630" dirty="0"/>
          </a:p>
        </p:txBody>
      </p:sp>
      <p:sp>
        <p:nvSpPr>
          <p:cNvPr id="97" name="Text 82"/>
          <p:cNvSpPr/>
          <p:nvPr/>
        </p:nvSpPr>
        <p:spPr>
          <a:xfrm>
            <a:off x="4754880" y="491032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F0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logo + qaim.shop</a:t>
            </a:r>
            <a:endParaRPr lang="en-US" sz="760" dirty="0"/>
          </a:p>
        </p:txBody>
      </p:sp>
      <p:sp>
        <p:nvSpPr>
          <p:cNvPr id="98" name="Text 83"/>
          <p:cNvSpPr/>
          <p:nvPr/>
        </p:nvSpPr>
        <p:spPr>
          <a:xfrm>
            <a:off x="4754880" y="5230368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E8C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VOICE-OVER</a:t>
            </a:r>
            <a:endParaRPr lang="en-US" sz="630" dirty="0"/>
          </a:p>
        </p:txBody>
      </p:sp>
      <p:sp>
        <p:nvSpPr>
          <p:cNvPr id="99" name="Text 84"/>
          <p:cNvSpPr/>
          <p:nvPr/>
        </p:nvSpPr>
        <p:spPr>
          <a:xfrm>
            <a:off x="4754880" y="537667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830" i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ادخل Qaim واختار الـNext Look بتاعك.</a:t>
            </a:r>
            <a:endParaRPr lang="en-US" sz="830" dirty="0"/>
          </a:p>
        </p:txBody>
      </p:sp>
      <p:sp>
        <p:nvSpPr>
          <p:cNvPr id="100" name="Text 85"/>
          <p:cNvSpPr/>
          <p:nvPr/>
        </p:nvSpPr>
        <p:spPr>
          <a:xfrm>
            <a:off x="4754880" y="592531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E8C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ON-SCREEN</a:t>
            </a:r>
            <a:endParaRPr lang="en-US" sz="630" dirty="0"/>
          </a:p>
        </p:txBody>
      </p:sp>
      <p:sp>
        <p:nvSpPr>
          <p:cNvPr id="101" name="Text 86"/>
          <p:cNvSpPr/>
          <p:nvPr/>
        </p:nvSpPr>
        <p:spPr>
          <a:xfrm>
            <a:off x="4754880" y="60624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760" dirty="0">
                <a:solidFill>
                  <a:srgbClr val="F0EA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Visit Qaim – qaim.shop</a:t>
            </a:r>
            <a:endParaRPr lang="en-US" sz="760" dirty="0"/>
          </a:p>
        </p:txBody>
      </p:sp>
      <p:sp>
        <p:nvSpPr>
          <p:cNvPr id="102" name="Text 87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 •  DIGITAL MARKETING STORYTELLING STRATEGY</a:t>
            </a:r>
            <a:endParaRPr lang="en-US" sz="800" dirty="0"/>
          </a:p>
        </p:txBody>
      </p:sp>
      <p:sp>
        <p:nvSpPr>
          <p:cNvPr id="103" name="Text 88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SCQA — SEPARATE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SCQA Storytelling &amp; Final Recommendation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3703320" cy="2606040"/>
          </a:xfrm>
          <a:prstGeom prst="roundRect">
            <a:avLst>
              <a:gd name="adj" fmla="val 3158"/>
            </a:avLst>
          </a:prstGeom>
          <a:solidFill>
            <a:srgbClr val="F3F1E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1673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SCQA STORY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609344"/>
            <a:ext cx="256032" cy="256032"/>
          </a:xfrm>
          <a:prstGeom prst="ellipse">
            <a:avLst/>
          </a:prstGeom>
          <a:solidFill>
            <a:srgbClr val="7A1E2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6093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1591056"/>
            <a:ext cx="299923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93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رجالة وشباب كتير عايزين يكون شكلهم شيك ومريح في نفس الوقت.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566928" y="2157984"/>
            <a:ext cx="256032" cy="256032"/>
          </a:xfrm>
          <a:prstGeom prst="ellipse">
            <a:avLst/>
          </a:prstGeom>
          <a:solidFill>
            <a:srgbClr val="7A1E2C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579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139696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93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لكن صعب تلاقي هدوم تجمع بين الـStyle والراحة.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66928" y="2487168"/>
            <a:ext cx="256032" cy="256032"/>
          </a:xfrm>
          <a:prstGeom prst="ellipse">
            <a:avLst/>
          </a:prstGeom>
          <a:solidFill>
            <a:srgbClr val="7A1E2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487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" y="246888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93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إزاي تعمل Look بسيط وشيك من غير تعقيد؟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66928" y="2816352"/>
            <a:ext cx="256032" cy="256032"/>
          </a:xfrm>
          <a:prstGeom prst="ellipse">
            <a:avLst/>
          </a:prstGeom>
          <a:solidFill>
            <a:srgbClr val="7A1E2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816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96112" y="2798064"/>
            <a:ext cx="299923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93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الحل هو اختيار القطع الصح اللي تقدر تنسقها بسهولة، وده اللي تقدر تلاقيه في Qaim.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35204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70" b="1" i="1" dirty="0">
                <a:solidFill>
                  <a:srgbClr val="7A1E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CTA: ادخل Qaim واختار الـNext Look بتاعك.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4224528" y="1207008"/>
            <a:ext cx="3703320" cy="2606040"/>
          </a:xfrm>
          <a:prstGeom prst="roundRect">
            <a:avLst>
              <a:gd name="adj" fmla="val 3158"/>
            </a:avLst>
          </a:prstGeom>
          <a:solidFill>
            <a:srgbClr val="141414"/>
          </a:solidFill>
          <a:ln/>
        </p:spPr>
      </p:sp>
      <p:sp>
        <p:nvSpPr>
          <p:cNvPr id="20" name="Text 18"/>
          <p:cNvSpPr/>
          <p:nvPr/>
        </p:nvSpPr>
        <p:spPr>
          <a:xfrm>
            <a:off x="4425696" y="131673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SCQA REEL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25696" y="16093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56048" y="16093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عايز تحسن ستايلك من غير ما تغير دولابك كله؟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4425696" y="19110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56048" y="191109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رجالة كتير عايزين شكل أحسن في لبسهم اليومي.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4425696" y="221284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56048" y="221284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بس في نفس الوقت عايزين اللبس يكون مريح وعملي.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4425696" y="26974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56048" y="26974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فإيه الحل؟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4425696" y="29992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56048" y="299923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ابدأ بالقطع الصح… Jeans، T-shirts، Cargo وقطع تقدر تعمل بيها أكتر من Outfit.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4425696" y="35204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70" b="1" i="1" dirty="0">
                <a:solidFill>
                  <a:srgbClr val="B68A3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CTA: ادخل Qaim واختار الـNext Look بتاعك.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8083296" y="1207008"/>
            <a:ext cx="3730752" cy="2606040"/>
          </a:xfrm>
          <a:prstGeom prst="roundRect">
            <a:avLst>
              <a:gd name="adj" fmla="val 3158"/>
            </a:avLst>
          </a:prstGeom>
          <a:solidFill>
            <a:srgbClr val="F3F1EE"/>
          </a:solidFill>
          <a:ln/>
        </p:spPr>
      </p:sp>
      <p:sp>
        <p:nvSpPr>
          <p:cNvPr id="33" name="Text 31"/>
          <p:cNvSpPr/>
          <p:nvPr/>
        </p:nvSpPr>
        <p:spPr>
          <a:xfrm>
            <a:off x="8284464" y="131673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A1E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SCQA VISUAL CONCEPTS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284464" y="1627632"/>
            <a:ext cx="310896" cy="310896"/>
          </a:xfrm>
          <a:prstGeom prst="ellipse">
            <a:avLst/>
          </a:prstGeom>
          <a:solidFill>
            <a:srgbClr val="7A1E2C"/>
          </a:solidFill>
          <a:ln/>
        </p:spPr>
      </p:sp>
      <p:sp>
        <p:nvSpPr>
          <p:cNvPr id="35" name="Text 33"/>
          <p:cNvSpPr/>
          <p:nvPr/>
        </p:nvSpPr>
        <p:spPr>
          <a:xfrm>
            <a:off x="8284464" y="1627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" dirty="0"/>
          </a:p>
        </p:txBody>
      </p:sp>
      <p:pic>
        <p:nvPicPr>
          <p:cNvPr id="36" name="Image 0" descr="/home/claude/qaim/icons/compass_burgun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2" y="1673352"/>
            <a:ext cx="219456" cy="219456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979408" y="160934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wants a stylish, comfortable look</a:t>
            </a:r>
            <a:endParaRPr lang="en-US" sz="870" dirty="0"/>
          </a:p>
        </p:txBody>
      </p:sp>
      <p:sp>
        <p:nvSpPr>
          <p:cNvPr id="38" name="Shape 35"/>
          <p:cNvSpPr/>
          <p:nvPr/>
        </p:nvSpPr>
        <p:spPr>
          <a:xfrm>
            <a:off x="8284464" y="2084832"/>
            <a:ext cx="310896" cy="310896"/>
          </a:xfrm>
          <a:prstGeom prst="ellipse">
            <a:avLst/>
          </a:prstGeom>
          <a:solidFill>
            <a:srgbClr val="7A1E2C"/>
          </a:solidFill>
          <a:ln/>
        </p:spPr>
      </p:sp>
      <p:sp>
        <p:nvSpPr>
          <p:cNvPr id="39" name="Text 36"/>
          <p:cNvSpPr/>
          <p:nvPr/>
        </p:nvSpPr>
        <p:spPr>
          <a:xfrm>
            <a:off x="8284464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pic>
        <p:nvPicPr>
          <p:cNvPr id="40" name="Image 1" descr="/home/claude/qaim/icons/alert_burgund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2130552"/>
            <a:ext cx="219456" cy="219456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8979408" y="206654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 confused building a simple outfit</a:t>
            </a:r>
            <a:endParaRPr lang="en-US" sz="870" dirty="0"/>
          </a:p>
        </p:txBody>
      </p:sp>
      <p:sp>
        <p:nvSpPr>
          <p:cNvPr id="42" name="Shape 38"/>
          <p:cNvSpPr/>
          <p:nvPr/>
        </p:nvSpPr>
        <p:spPr>
          <a:xfrm>
            <a:off x="8284464" y="2542032"/>
            <a:ext cx="310896" cy="310896"/>
          </a:xfrm>
          <a:prstGeom prst="ellipse">
            <a:avLst/>
          </a:prstGeom>
          <a:solidFill>
            <a:srgbClr val="7A1E2C"/>
          </a:solidFill>
          <a:ln/>
        </p:spPr>
      </p:sp>
      <p:sp>
        <p:nvSpPr>
          <p:cNvPr id="43" name="Text 39"/>
          <p:cNvSpPr/>
          <p:nvPr/>
        </p:nvSpPr>
        <p:spPr>
          <a:xfrm>
            <a:off x="8284464" y="25420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100" dirty="0"/>
          </a:p>
        </p:txBody>
      </p:sp>
      <p:pic>
        <p:nvPicPr>
          <p:cNvPr id="44" name="Image 2" descr="/home/claude/qaim/icons/question_burgun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587752"/>
            <a:ext cx="219456" cy="219456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8979408" y="252374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Thinks about the simple solution</a:t>
            </a:r>
            <a:endParaRPr lang="en-US" sz="870" dirty="0"/>
          </a:p>
        </p:txBody>
      </p:sp>
      <p:sp>
        <p:nvSpPr>
          <p:cNvPr id="46" name="Shape 41"/>
          <p:cNvSpPr/>
          <p:nvPr/>
        </p:nvSpPr>
        <p:spPr>
          <a:xfrm>
            <a:off x="8284464" y="2999232"/>
            <a:ext cx="310896" cy="310896"/>
          </a:xfrm>
          <a:prstGeom prst="ellipse">
            <a:avLst/>
          </a:prstGeom>
          <a:solidFill>
            <a:srgbClr val="7A1E2C"/>
          </a:solidFill>
          <a:ln/>
        </p:spPr>
      </p:sp>
      <p:sp>
        <p:nvSpPr>
          <p:cNvPr id="47" name="Text 42"/>
          <p:cNvSpPr/>
          <p:nvPr/>
        </p:nvSpPr>
        <p:spPr>
          <a:xfrm>
            <a:off x="8284464" y="2999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pic>
        <p:nvPicPr>
          <p:cNvPr id="48" name="Image 3" descr="/home/claude/qaim/icons/check_burgund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12" y="3044952"/>
            <a:ext cx="219456" cy="219456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8979408" y="298094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Wears a clean Qaim outfit, confident</a:t>
            </a:r>
            <a:endParaRPr lang="en-US" sz="870" dirty="0"/>
          </a:p>
        </p:txBody>
      </p:sp>
      <p:sp>
        <p:nvSpPr>
          <p:cNvPr id="50" name="Text 44"/>
          <p:cNvSpPr/>
          <p:nvPr/>
        </p:nvSpPr>
        <p:spPr>
          <a:xfrm>
            <a:off x="8284464" y="342900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campaign — not a continuation of Mohamed’s PIXAR story.</a:t>
            </a:r>
            <a:endParaRPr lang="en-US" sz="760" dirty="0"/>
          </a:p>
        </p:txBody>
      </p:sp>
      <p:sp>
        <p:nvSpPr>
          <p:cNvPr id="51" name="Shape 45"/>
          <p:cNvSpPr/>
          <p:nvPr/>
        </p:nvSpPr>
        <p:spPr>
          <a:xfrm>
            <a:off x="365760" y="3977640"/>
            <a:ext cx="7223760" cy="2496312"/>
          </a:xfrm>
          <a:prstGeom prst="roundRect">
            <a:avLst>
              <a:gd name="adj" fmla="val 3297"/>
            </a:avLst>
          </a:prstGeom>
          <a:solidFill>
            <a:srgbClr val="141414"/>
          </a:solidFill>
          <a:ln/>
        </p:spPr>
      </p:sp>
      <p:sp>
        <p:nvSpPr>
          <p:cNvPr id="52" name="Shape 46"/>
          <p:cNvSpPr/>
          <p:nvPr/>
        </p:nvSpPr>
        <p:spPr>
          <a:xfrm>
            <a:off x="566928" y="4105656"/>
            <a:ext cx="1965960" cy="274320"/>
          </a:xfrm>
          <a:prstGeom prst="roundRect">
            <a:avLst>
              <a:gd name="adj" fmla="val 56667"/>
            </a:avLst>
          </a:prstGeom>
          <a:solidFill>
            <a:srgbClr val="7A1E2C"/>
          </a:solidFill>
          <a:ln/>
        </p:spPr>
      </p:sp>
      <p:sp>
        <p:nvSpPr>
          <p:cNvPr id="53" name="Text 47"/>
          <p:cNvSpPr/>
          <p:nvPr/>
        </p:nvSpPr>
        <p:spPr>
          <a:xfrm>
            <a:off x="566928" y="410565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70" dirty="0"/>
          </a:p>
        </p:txBody>
      </p:sp>
      <p:sp>
        <p:nvSpPr>
          <p:cNvPr id="54" name="Text 48"/>
          <p:cNvSpPr/>
          <p:nvPr/>
        </p:nvSpPr>
        <p:spPr>
          <a:xfrm>
            <a:off x="2651760" y="41056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Marketing Recommendation</a:t>
            </a:r>
            <a:endParaRPr lang="en-US" sz="1200" dirty="0"/>
          </a:p>
        </p:txBody>
      </p:sp>
      <p:sp>
        <p:nvSpPr>
          <p:cNvPr id="55" name="Text 49"/>
          <p:cNvSpPr/>
          <p:nvPr/>
        </p:nvSpPr>
        <p:spPr>
          <a:xfrm>
            <a:off x="566928" y="439826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C9C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already has an active social presence and customer social proof. The next opportunity is to make the content more story-driven.</a:t>
            </a:r>
            <a:endParaRPr lang="en-US" sz="870" dirty="0"/>
          </a:p>
        </p:txBody>
      </p:sp>
      <p:sp>
        <p:nvSpPr>
          <p:cNvPr id="56" name="Text 50"/>
          <p:cNvSpPr/>
          <p:nvPr/>
        </p:nvSpPr>
        <p:spPr>
          <a:xfrm>
            <a:off x="566928" y="476402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850" dirty="0"/>
          </a:p>
        </p:txBody>
      </p:sp>
      <p:sp>
        <p:nvSpPr>
          <p:cNvPr id="57" name="Text 51"/>
          <p:cNvSpPr/>
          <p:nvPr/>
        </p:nvSpPr>
        <p:spPr>
          <a:xfrm>
            <a:off x="822960" y="47640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Hooks in the first 3 seconds</a:t>
            </a:r>
            <a:endParaRPr lang="en-US" sz="820" dirty="0"/>
          </a:p>
        </p:txBody>
      </p:sp>
      <p:sp>
        <p:nvSpPr>
          <p:cNvPr id="58" name="Text 52"/>
          <p:cNvSpPr/>
          <p:nvPr/>
        </p:nvSpPr>
        <p:spPr>
          <a:xfrm>
            <a:off x="4087368" y="476402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850" dirty="0"/>
          </a:p>
        </p:txBody>
      </p:sp>
      <p:sp>
        <p:nvSpPr>
          <p:cNvPr id="59" name="Text 53"/>
          <p:cNvSpPr/>
          <p:nvPr/>
        </p:nvSpPr>
        <p:spPr>
          <a:xfrm>
            <a:off x="4343400" y="47640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real-life Egyptian situations</a:t>
            </a:r>
            <a:endParaRPr lang="en-US" sz="820" dirty="0"/>
          </a:p>
        </p:txBody>
      </p:sp>
      <p:sp>
        <p:nvSpPr>
          <p:cNvPr id="60" name="Text 54"/>
          <p:cNvSpPr/>
          <p:nvPr/>
        </p:nvSpPr>
        <p:spPr>
          <a:xfrm>
            <a:off x="566928" y="512978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850" dirty="0"/>
          </a:p>
        </p:txBody>
      </p:sp>
      <p:sp>
        <p:nvSpPr>
          <p:cNvPr id="61" name="Text 55"/>
          <p:cNvSpPr/>
          <p:nvPr/>
        </p:nvSpPr>
        <p:spPr>
          <a:xfrm>
            <a:off x="822960" y="51297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outfit transformation Reels</a:t>
            </a:r>
            <a:endParaRPr lang="en-US" sz="820" dirty="0"/>
          </a:p>
        </p:txBody>
      </p:sp>
      <p:sp>
        <p:nvSpPr>
          <p:cNvPr id="62" name="Text 56"/>
          <p:cNvSpPr/>
          <p:nvPr/>
        </p:nvSpPr>
        <p:spPr>
          <a:xfrm>
            <a:off x="4087368" y="512978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850" dirty="0"/>
          </a:p>
        </p:txBody>
      </p:sp>
      <p:sp>
        <p:nvSpPr>
          <p:cNvPr id="63" name="Text 57"/>
          <p:cNvSpPr/>
          <p:nvPr/>
        </p:nvSpPr>
        <p:spPr>
          <a:xfrm>
            <a:off x="4343400" y="51297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complete outfit combinations</a:t>
            </a:r>
            <a:endParaRPr lang="en-US" sz="820" dirty="0"/>
          </a:p>
        </p:txBody>
      </p:sp>
      <p:sp>
        <p:nvSpPr>
          <p:cNvPr id="64" name="Text 58"/>
          <p:cNvSpPr/>
          <p:nvPr/>
        </p:nvSpPr>
        <p:spPr>
          <a:xfrm>
            <a:off x="566928" y="549554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850" dirty="0"/>
          </a:p>
        </p:txBody>
      </p:sp>
      <p:sp>
        <p:nvSpPr>
          <p:cNvPr id="65" name="Text 59"/>
          <p:cNvSpPr/>
          <p:nvPr/>
        </p:nvSpPr>
        <p:spPr>
          <a:xfrm>
            <a:off x="822960" y="54955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using customer reviews as social proof</a:t>
            </a:r>
            <a:endParaRPr lang="en-US" sz="820" dirty="0"/>
          </a:p>
        </p:txBody>
      </p:sp>
      <p:sp>
        <p:nvSpPr>
          <p:cNvPr id="66" name="Text 60"/>
          <p:cNvSpPr/>
          <p:nvPr/>
        </p:nvSpPr>
        <p:spPr>
          <a:xfrm>
            <a:off x="4087368" y="549554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850" dirty="0"/>
          </a:p>
        </p:txBody>
      </p:sp>
      <p:sp>
        <p:nvSpPr>
          <p:cNvPr id="67" name="Text 61"/>
          <p:cNvSpPr/>
          <p:nvPr/>
        </p:nvSpPr>
        <p:spPr>
          <a:xfrm>
            <a:off x="4343400" y="54955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products into relatable stories</a:t>
            </a:r>
            <a:endParaRPr lang="en-US" sz="820" dirty="0"/>
          </a:p>
        </p:txBody>
      </p:sp>
      <p:sp>
        <p:nvSpPr>
          <p:cNvPr id="68" name="Text 62"/>
          <p:cNvSpPr/>
          <p:nvPr/>
        </p:nvSpPr>
        <p:spPr>
          <a:xfrm>
            <a:off x="566928" y="586130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850" dirty="0"/>
          </a:p>
        </p:txBody>
      </p:sp>
      <p:sp>
        <p:nvSpPr>
          <p:cNvPr id="69" name="Text 63"/>
          <p:cNvSpPr/>
          <p:nvPr/>
        </p:nvSpPr>
        <p:spPr>
          <a:xfrm>
            <a:off x="822960" y="58613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different Hooks and creative openings</a:t>
            </a:r>
            <a:endParaRPr lang="en-US" sz="820" dirty="0"/>
          </a:p>
        </p:txBody>
      </p:sp>
      <p:sp>
        <p:nvSpPr>
          <p:cNvPr id="70" name="Text 64"/>
          <p:cNvSpPr/>
          <p:nvPr/>
        </p:nvSpPr>
        <p:spPr>
          <a:xfrm>
            <a:off x="4087368" y="586130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68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endParaRPr lang="en-US" sz="850" dirty="0"/>
          </a:p>
        </p:txBody>
      </p:sp>
      <p:sp>
        <p:nvSpPr>
          <p:cNvPr id="71" name="Text 65"/>
          <p:cNvSpPr/>
          <p:nvPr/>
        </p:nvSpPr>
        <p:spPr>
          <a:xfrm>
            <a:off x="4343400" y="58613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paid promotion to amplify strong content, alongside organic content</a:t>
            </a:r>
            <a:endParaRPr lang="en-US" sz="820" dirty="0"/>
          </a:p>
        </p:txBody>
      </p:sp>
      <p:sp>
        <p:nvSpPr>
          <p:cNvPr id="72" name="Text 66"/>
          <p:cNvSpPr/>
          <p:nvPr/>
        </p:nvSpPr>
        <p:spPr>
          <a:xfrm>
            <a:off x="566928" y="6236208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marketing recommendations — not current Qaim performance results.</a:t>
            </a:r>
            <a:endParaRPr lang="en-US" sz="760" dirty="0"/>
          </a:p>
        </p:txBody>
      </p:sp>
      <p:sp>
        <p:nvSpPr>
          <p:cNvPr id="73" name="Shape 67"/>
          <p:cNvSpPr/>
          <p:nvPr/>
        </p:nvSpPr>
        <p:spPr>
          <a:xfrm>
            <a:off x="7772400" y="3977640"/>
            <a:ext cx="4041648" cy="2496312"/>
          </a:xfrm>
          <a:prstGeom prst="roundRect">
            <a:avLst>
              <a:gd name="adj" fmla="val 3297"/>
            </a:avLst>
          </a:prstGeom>
          <a:solidFill>
            <a:srgbClr val="F3F1EE"/>
          </a:solidFill>
          <a:ln/>
        </p:spPr>
      </p:sp>
      <p:sp>
        <p:nvSpPr>
          <p:cNvPr id="74" name="Shape 68"/>
          <p:cNvSpPr/>
          <p:nvPr/>
        </p:nvSpPr>
        <p:spPr>
          <a:xfrm>
            <a:off x="7973568" y="4105656"/>
            <a:ext cx="2011680" cy="274320"/>
          </a:xfrm>
          <a:prstGeom prst="roundRect">
            <a:avLst>
              <a:gd name="adj" fmla="val 56667"/>
            </a:avLst>
          </a:prstGeom>
          <a:solidFill>
            <a:srgbClr val="1A1A1A"/>
          </a:solidFill>
          <a:ln/>
        </p:spPr>
      </p:sp>
      <p:sp>
        <p:nvSpPr>
          <p:cNvPr id="75" name="Text 69"/>
          <p:cNvSpPr/>
          <p:nvPr/>
        </p:nvSpPr>
        <p:spPr>
          <a:xfrm>
            <a:off x="7973568" y="41056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KPIs</a:t>
            </a:r>
            <a:endParaRPr lang="en-US" sz="870" dirty="0"/>
          </a:p>
        </p:txBody>
      </p:sp>
      <p:sp>
        <p:nvSpPr>
          <p:cNvPr id="76" name="Shape 70"/>
          <p:cNvSpPr/>
          <p:nvPr/>
        </p:nvSpPr>
        <p:spPr>
          <a:xfrm>
            <a:off x="7973568" y="4489704"/>
            <a:ext cx="184708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</p:spPr>
      </p:sp>
      <p:pic>
        <p:nvPicPr>
          <p:cNvPr id="77" name="Image 4" descr="/home/claude/qaim/icons/camera_burgund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4654296"/>
            <a:ext cx="237744" cy="237744"/>
          </a:xfrm>
          <a:prstGeom prst="rect">
            <a:avLst/>
          </a:prstGeom>
        </p:spPr>
      </p:pic>
      <p:sp>
        <p:nvSpPr>
          <p:cNvPr id="78" name="Text 71"/>
          <p:cNvSpPr/>
          <p:nvPr/>
        </p:nvSpPr>
        <p:spPr>
          <a:xfrm>
            <a:off x="8375904" y="4489704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Views</a:t>
            </a:r>
            <a:endParaRPr lang="en-US" sz="870" dirty="0"/>
          </a:p>
        </p:txBody>
      </p:sp>
      <p:sp>
        <p:nvSpPr>
          <p:cNvPr id="79" name="Shape 72"/>
          <p:cNvSpPr/>
          <p:nvPr/>
        </p:nvSpPr>
        <p:spPr>
          <a:xfrm>
            <a:off x="9930384" y="4489704"/>
            <a:ext cx="184708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</p:spPr>
      </p:sp>
      <p:pic>
        <p:nvPicPr>
          <p:cNvPr id="80" name="Image 5" descr="/home/claude/qaim/icons/clock_burgund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112" y="4654296"/>
            <a:ext cx="237744" cy="237744"/>
          </a:xfrm>
          <a:prstGeom prst="rect">
            <a:avLst/>
          </a:prstGeom>
        </p:spPr>
      </p:pic>
      <p:sp>
        <p:nvSpPr>
          <p:cNvPr id="81" name="Text 73"/>
          <p:cNvSpPr/>
          <p:nvPr/>
        </p:nvSpPr>
        <p:spPr>
          <a:xfrm>
            <a:off x="10332720" y="4489704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Time</a:t>
            </a:r>
            <a:endParaRPr lang="en-US" sz="870" dirty="0"/>
          </a:p>
        </p:txBody>
      </p:sp>
      <p:sp>
        <p:nvSpPr>
          <p:cNvPr id="82" name="Shape 74"/>
          <p:cNvSpPr/>
          <p:nvPr/>
        </p:nvSpPr>
        <p:spPr>
          <a:xfrm>
            <a:off x="7973568" y="5166360"/>
            <a:ext cx="184708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</p:spPr>
      </p:sp>
      <p:pic>
        <p:nvPicPr>
          <p:cNvPr id="83" name="Image 6" descr="/home/claude/qaim/icons/heart_burgund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5330952"/>
            <a:ext cx="237744" cy="237744"/>
          </a:xfrm>
          <a:prstGeom prst="rect">
            <a:avLst/>
          </a:prstGeom>
        </p:spPr>
      </p:pic>
      <p:sp>
        <p:nvSpPr>
          <p:cNvPr id="84" name="Text 75"/>
          <p:cNvSpPr/>
          <p:nvPr/>
        </p:nvSpPr>
        <p:spPr>
          <a:xfrm>
            <a:off x="8375904" y="5166360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870" dirty="0"/>
          </a:p>
        </p:txBody>
      </p:sp>
      <p:sp>
        <p:nvSpPr>
          <p:cNvPr id="85" name="Shape 76"/>
          <p:cNvSpPr/>
          <p:nvPr/>
        </p:nvSpPr>
        <p:spPr>
          <a:xfrm>
            <a:off x="9930384" y="5166360"/>
            <a:ext cx="184708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</p:spPr>
      </p:sp>
      <p:pic>
        <p:nvPicPr>
          <p:cNvPr id="86" name="Image 7" descr="/home/claude/qaim/icons/user_burgund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0112" y="5330952"/>
            <a:ext cx="237744" cy="237744"/>
          </a:xfrm>
          <a:prstGeom prst="rect">
            <a:avLst/>
          </a:prstGeom>
        </p:spPr>
      </p:pic>
      <p:sp>
        <p:nvSpPr>
          <p:cNvPr id="87" name="Text 77"/>
          <p:cNvSpPr/>
          <p:nvPr/>
        </p:nvSpPr>
        <p:spPr>
          <a:xfrm>
            <a:off x="10332720" y="5166360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Visits</a:t>
            </a:r>
            <a:endParaRPr lang="en-US" sz="870" dirty="0"/>
          </a:p>
        </p:txBody>
      </p:sp>
      <p:sp>
        <p:nvSpPr>
          <p:cNvPr id="88" name="Shape 78"/>
          <p:cNvSpPr/>
          <p:nvPr/>
        </p:nvSpPr>
        <p:spPr>
          <a:xfrm>
            <a:off x="7973568" y="5843016"/>
            <a:ext cx="184708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</p:spPr>
      </p:sp>
      <p:pic>
        <p:nvPicPr>
          <p:cNvPr id="89" name="Image 8" descr="/home/claude/qaim/icons/mousePointer_burgund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3296" y="6007608"/>
            <a:ext cx="237744" cy="237744"/>
          </a:xfrm>
          <a:prstGeom prst="rect">
            <a:avLst/>
          </a:prstGeom>
        </p:spPr>
      </p:pic>
      <p:sp>
        <p:nvSpPr>
          <p:cNvPr id="90" name="Text 79"/>
          <p:cNvSpPr/>
          <p:nvPr/>
        </p:nvSpPr>
        <p:spPr>
          <a:xfrm>
            <a:off x="8375904" y="5843016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Clicks</a:t>
            </a:r>
            <a:endParaRPr lang="en-US" sz="870" dirty="0"/>
          </a:p>
        </p:txBody>
      </p:sp>
      <p:sp>
        <p:nvSpPr>
          <p:cNvPr id="91" name="Shape 80"/>
          <p:cNvSpPr/>
          <p:nvPr/>
        </p:nvSpPr>
        <p:spPr>
          <a:xfrm>
            <a:off x="9930384" y="5843016"/>
            <a:ext cx="184708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D8D2"/>
            </a:solidFill>
            <a:prstDash val="solid"/>
          </a:ln>
        </p:spPr>
      </p:sp>
      <p:pic>
        <p:nvPicPr>
          <p:cNvPr id="92" name="Image 9" descr="/home/claude/qaim/icons/trendingUp_burgund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0112" y="6007608"/>
            <a:ext cx="237744" cy="237744"/>
          </a:xfrm>
          <a:prstGeom prst="rect">
            <a:avLst/>
          </a:prstGeom>
        </p:spPr>
      </p:pic>
      <p:sp>
        <p:nvSpPr>
          <p:cNvPr id="93" name="Text 81"/>
          <p:cNvSpPr/>
          <p:nvPr/>
        </p:nvSpPr>
        <p:spPr>
          <a:xfrm>
            <a:off x="10332720" y="5843016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Conversions</a:t>
            </a:r>
            <a:endParaRPr lang="en-US" sz="870" dirty="0"/>
          </a:p>
        </p:txBody>
      </p:sp>
      <p:sp>
        <p:nvSpPr>
          <p:cNvPr id="94" name="Text 82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 •  DIGITAL MARKETING STORYTELLING STRATEGY</a:t>
            </a:r>
            <a:endParaRPr lang="en-US" sz="800" dirty="0"/>
          </a:p>
        </p:txBody>
      </p:sp>
      <p:sp>
        <p:nvSpPr>
          <p:cNvPr id="95" name="Text 83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2026-08-14T23:16:26Z</dcterms:created>
  <dcterms:modified xsi:type="dcterms:W3CDTF">2026-08-14T23:16:26Z</dcterms:modified>
</cp:coreProperties>
</file>