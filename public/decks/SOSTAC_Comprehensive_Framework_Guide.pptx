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Relationship Id="rId6" Type="http://schemas.openxmlformats.org/officeDocument/2006/relationships/image" Target="../media/image26.png"/><Relationship Id="rId7" Type="http://schemas.openxmlformats.org/officeDocument/2006/relationships/image" Target="../media/image2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Relationship Id="rId6" Type="http://schemas.openxmlformats.org/officeDocument/2006/relationships/image" Target="../media/image42.png"/><Relationship Id="rId7" Type="http://schemas.openxmlformats.org/officeDocument/2006/relationships/image" Target="../media/image43.png"/><Relationship Id="rId8" Type="http://schemas.openxmlformats.org/officeDocument/2006/relationships/image" Target="../media/image4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image" Target="../media/image5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1900" y="4226718"/>
            <a:ext cx="4648200" cy="8763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0299" y="2550318"/>
            <a:ext cx="11211401" cy="581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3750" i="0" u="none">
                <a:solidFill>
                  <a:srgbClr val="FFFFFF"/>
                </a:solidFill>
                <a:latin typeface="Montserrat"/>
              </a:rPr>
              <a:t>Assignment 6 – SOSTAC Model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967162" y="3502818"/>
            <a:ext cx="425767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b="0" sz="1800" i="0" u="none">
                <a:solidFill>
                  <a:srgbClr val="D4AF37"/>
                </a:solidFill>
                <a:latin typeface="Montserrat"/>
              </a:rPr>
              <a:t>Content Creation &amp; Content Calendar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9262" y="1754981"/>
            <a:ext cx="1133475" cy="285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62425" y="4426743"/>
            <a:ext cx="386715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1" sz="1200" i="0" u="none">
                <a:solidFill>
                  <a:srgbClr val="FFFFFF"/>
                </a:solidFill>
                <a:latin typeface="Open Sans"/>
              </a:rPr>
              <a:t>Prepared by:</a:t>
            </a:r>
            <a:r>
              <a:rPr b="0" sz="1200" i="0" u="none">
                <a:solidFill>
                  <a:srgbClr val="FFFFFF"/>
                </a:solidFill>
                <a:latin typeface="Open Sans"/>
              </a:rPr>
              <a:t> Mohamed Mostafa Taher | </a:t>
            </a:r>
            <a:r>
              <a:rPr b="1" sz="1200" i="0" u="none">
                <a:solidFill>
                  <a:srgbClr val="FFFFFF"/>
                </a:solidFill>
                <a:latin typeface="Open Sans"/>
              </a:rPr>
              <a:t>ID:</a:t>
            </a:r>
            <a:r>
              <a:rPr b="0" sz="1200" i="0" u="none">
                <a:solidFill>
                  <a:srgbClr val="FFFFFF"/>
                </a:solidFill>
                <a:latin typeface="Open Sans"/>
              </a:rPr>
              <a:t> 21172333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2425" y="4702968"/>
            <a:ext cx="386715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050" i="0" u="none">
                <a:solidFill>
                  <a:srgbClr val="CCCCCC"/>
                </a:solidFill>
                <a:latin typeface="Open Sans"/>
              </a:rPr>
              <a:t>Egyptian Men's Fashion | E-commerce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43360"/>
            <a:ext cx="5334000" cy="183088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617118"/>
            <a:ext cx="5334000" cy="99268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1643360"/>
            <a:ext cx="5334000" cy="283577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776585"/>
            <a:ext cx="1160145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111111"/>
                </a:solidFill>
                <a:latin typeface="Montserrat"/>
              </a:rPr>
              <a:t>Qaim – Brand Overview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338560"/>
            <a:ext cx="11049000" cy="19050"/>
          </a:xfrm>
          <a:prstGeom prst="rect">
            <a:avLst/>
          </a:prstGeom>
          <a:solidFill>
            <a:srgbClr val="800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625" y="1833860"/>
            <a:ext cx="5150643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04" i="0" u="none">
                <a:solidFill>
                  <a:srgbClr val="800020"/>
                </a:solidFill>
                <a:latin typeface="Montserrat"/>
              </a:rPr>
              <a:t>Business Identity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2231231"/>
            <a:ext cx="490537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3333"/>
                </a:solidFill>
                <a:latin typeface="Open Sans"/>
              </a:rPr>
              <a:t>Qaim is a specialized Egyptian online men's clothing store delivering trendy and affordable daily apparel across Egypt.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2878931"/>
            <a:ext cx="4905375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3333"/>
                </a:solidFill>
                <a:latin typeface="Open Sans"/>
              </a:rPr>
              <a:t>Website:</a:t>
            </a:r>
            <a:r>
              <a:rPr b="0" sz="1275" i="0" u="none">
                <a:solidFill>
                  <a:srgbClr val="333333"/>
                </a:solidFill>
                <a:latin typeface="Open Sans"/>
              </a:rPr>
              <a:t> </a:t>
            </a:r>
            <a:r>
              <a:rPr b="0" sz="1275" i="0" u="none">
                <a:solidFill>
                  <a:srgbClr val="800020"/>
                </a:solidFill>
                <a:latin typeface="Open Sans SemiBold"/>
              </a:rPr>
              <a:t>https://www.qaim.shop/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3807618"/>
            <a:ext cx="5150643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04" i="0" u="none">
                <a:solidFill>
                  <a:srgbClr val="B8860B"/>
                </a:solidFill>
                <a:latin typeface="Montserrat"/>
              </a:rPr>
              <a:t>Main Product Categories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4204989"/>
            <a:ext cx="4905375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333333"/>
                </a:solidFill>
                <a:latin typeface="Open Sans"/>
              </a:rPr>
              <a:t>Jeans, Cargo Pants, Sweatpants, Polo Shirts, Oversized T-shirts, and Shoes.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4625" y="1833860"/>
            <a:ext cx="5150643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04" i="0" u="none">
                <a:solidFill>
                  <a:srgbClr val="111111"/>
                </a:solidFill>
                <a:latin typeface="Montserrat"/>
              </a:rPr>
              <a:t>Observed Facebook Metrics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4625" y="3831431"/>
            <a:ext cx="4905375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b="0" sz="900" i="1" u="none">
                <a:solidFill>
                  <a:srgbClr val="777777"/>
                </a:solidFill>
                <a:latin typeface="Open Sans"/>
              </a:rPr>
              <a:t>*Note: Facebook figures are observed from the provided screenshots and may change over time.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7975" y="2228850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3333"/>
                </a:solidFill>
                <a:latin typeface="Open San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15125" y="2231231"/>
            <a:ext cx="4714875" cy="242887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3333"/>
                </a:solidFill>
                <a:latin typeface="Open Sans"/>
              </a:rPr>
              <a:t>Followers:</a:t>
            </a:r>
            <a:r>
              <a:rPr b="0" sz="1275" i="0" u="none">
                <a:solidFill>
                  <a:srgbClr val="333333"/>
                </a:solidFill>
                <a:latin typeface="Open Sans"/>
              </a:rPr>
              <a:t> Around 62,000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57975" y="2471737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3333"/>
                </a:solidFill>
                <a:latin typeface="Open San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15125" y="2474118"/>
            <a:ext cx="4714875" cy="242887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3333"/>
                </a:solidFill>
                <a:latin typeface="Open Sans"/>
              </a:rPr>
              <a:t>Total Posts:</a:t>
            </a:r>
            <a:r>
              <a:rPr b="0" sz="1275" i="0" u="none">
                <a:solidFill>
                  <a:srgbClr val="333333"/>
                </a:solidFill>
                <a:latin typeface="Open Sans"/>
              </a:rPr>
              <a:t> Around 592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57975" y="2714625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3333"/>
                </a:solidFill>
                <a:latin typeface="Open San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15125" y="2717006"/>
            <a:ext cx="4714875" cy="242887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3333"/>
                </a:solidFill>
                <a:latin typeface="Open Sans"/>
              </a:rPr>
              <a:t>Recommendation:</a:t>
            </a:r>
            <a:r>
              <a:rPr b="0" sz="1275" i="0" u="none">
                <a:solidFill>
                  <a:srgbClr val="333333"/>
                </a:solidFill>
                <a:latin typeface="Open Sans"/>
              </a:rPr>
              <a:t> 96% positive rating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57975" y="2957512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3333"/>
                </a:solidFill>
                <a:latin typeface="Open San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15125" y="2959893"/>
            <a:ext cx="4714875" cy="242887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3333"/>
                </a:solidFill>
                <a:latin typeface="Open Sans"/>
              </a:rPr>
              <a:t>Reviews/Ratings:</a:t>
            </a:r>
            <a:r>
              <a:rPr b="0" sz="1275" i="0" u="none">
                <a:solidFill>
                  <a:srgbClr val="333333"/>
                </a:solidFill>
                <a:latin typeface="Open Sans"/>
              </a:rPr>
              <a:t> 341 reviews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57975" y="3200400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3333"/>
                </a:solidFill>
                <a:latin typeface="Open San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15125" y="3202781"/>
            <a:ext cx="4714875" cy="485775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3333"/>
                </a:solidFill>
                <a:latin typeface="Open Sans"/>
              </a:rPr>
              <a:t>Conversion Paths:</a:t>
            </a:r>
            <a:r>
              <a:rPr b="0" sz="1275" i="0" u="none">
                <a:solidFill>
                  <a:srgbClr val="333333"/>
                </a:solidFill>
                <a:latin typeface="Open Sans"/>
              </a:rPr>
              <a:t> Active WhatsApp contact &amp; direct website links.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091285"/>
            <a:ext cx="11049000" cy="647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643360"/>
            <a:ext cx="3587650" cy="22574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2025" y="1643360"/>
            <a:ext cx="3587799" cy="22574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2700" y="1643360"/>
            <a:ext cx="3587650" cy="22574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776585"/>
            <a:ext cx="1160145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111111"/>
                </a:solidFill>
                <a:latin typeface="Montserrat"/>
              </a:rPr>
              <a:t>Current Digital Situation (SWOT Analysis)</a:t>
            </a:r>
          </a:p>
        </p:txBody>
      </p:sp>
      <p:sp>
        <p:nvSpPr>
          <p:cNvPr id="8" name="Rectangle 7"/>
          <p:cNvSpPr/>
          <p:nvPr/>
        </p:nvSpPr>
        <p:spPr>
          <a:xfrm>
            <a:off x="571500" y="1338560"/>
            <a:ext cx="11049000" cy="19050"/>
          </a:xfrm>
          <a:prstGeom prst="rect">
            <a:avLst/>
          </a:prstGeom>
          <a:solidFill>
            <a:srgbClr val="800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5325" y="4215110"/>
            <a:ext cx="108013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555555"/>
                </a:solidFill>
                <a:latin typeface="Open Sans"/>
              </a:rPr>
              <a:t>Analyst Note:</a:t>
            </a:r>
            <a:r>
              <a:rPr b="0" sz="1050" i="0" u="none">
                <a:solidFill>
                  <a:srgbClr val="555555"/>
                </a:solidFill>
                <a:latin typeface="Open Sans"/>
              </a:rPr>
              <a:t> The visible difference in reach between posts suggests that paid promotion may support some content, but this cannot be confirmed without access to Meta Ads Manager.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1833860"/>
            <a:ext cx="3316977" cy="228600"/>
          </a:xfrm>
          <a:prstGeom prst="rect">
            <a:avLst/>
          </a:prstGeom>
          <a:noFill/>
        </p:spPr>
        <p:txBody>
          <a:bodyPr wrap="square" lIns="17145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800020"/>
                </a:solidFill>
                <a:latin typeface="Montserrat"/>
              </a:rPr>
              <a:t>Strengths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0150" y="1833860"/>
            <a:ext cx="3317133" cy="228600"/>
          </a:xfrm>
          <a:prstGeom prst="rect">
            <a:avLst/>
          </a:prstGeom>
          <a:noFill/>
        </p:spPr>
        <p:txBody>
          <a:bodyPr wrap="square" lIns="19050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B8860B"/>
                </a:solidFill>
                <a:latin typeface="Montserrat"/>
              </a:rPr>
              <a:t>Weaknesses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0825" y="1833860"/>
            <a:ext cx="3316977" cy="228600"/>
          </a:xfrm>
          <a:prstGeom prst="rect">
            <a:avLst/>
          </a:prstGeom>
          <a:noFill/>
        </p:spPr>
        <p:txBody>
          <a:bodyPr wrap="square" lIns="142875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2E7D32"/>
                </a:solidFill>
                <a:latin typeface="Montserrat"/>
              </a:rPr>
              <a:t>Opportunities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625" y="1852910"/>
            <a:ext cx="171450" cy="1905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95350" y="2250578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3333"/>
                </a:solidFill>
                <a:latin typeface="Open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2500" y="2252960"/>
            <a:ext cx="3016150" cy="242887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3333"/>
                </a:solidFill>
                <a:latin typeface="Open Sans"/>
              </a:rPr>
              <a:t>Active Reel utilization.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350" y="2493466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3333"/>
                </a:solidFill>
                <a:latin typeface="Open San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2500" y="2495847"/>
            <a:ext cx="3016150" cy="485775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3333"/>
                </a:solidFill>
                <a:latin typeface="Open Sans"/>
              </a:rPr>
              <a:t>Strong customer review social proof (96%).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5350" y="2979241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3333"/>
                </a:solidFill>
                <a:latin typeface="Open San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2500" y="2981622"/>
            <a:ext cx="3016150" cy="242887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3333"/>
                </a:solidFill>
                <a:latin typeface="Open Sans"/>
              </a:rPr>
              <a:t>62K+ follower base observed.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5350" y="3222128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3333"/>
                </a:solidFill>
                <a:latin typeface="Open San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2500" y="3224510"/>
            <a:ext cx="3016150" cy="485775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3333"/>
                </a:solidFill>
                <a:latin typeface="Open Sans"/>
              </a:rPr>
              <a:t>Direct website &amp; WhatsApp order funnels.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40150" y="1852910"/>
            <a:ext cx="190500" cy="1905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625875" y="2250578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3333"/>
                </a:solidFill>
                <a:latin typeface="Open San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83025" y="2252960"/>
            <a:ext cx="3016299" cy="242887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3333"/>
                </a:solidFill>
                <a:latin typeface="Open Sans"/>
              </a:rPr>
              <a:t>Some Reels lack strong hook phrases.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25875" y="2493466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3333"/>
                </a:solidFill>
                <a:latin typeface="Open Sans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83025" y="2495847"/>
            <a:ext cx="3016299" cy="242887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3333"/>
                </a:solidFill>
                <a:latin typeface="Open Sans"/>
              </a:rPr>
              <a:t>Content leans heavily product-centric.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25875" y="2736353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3333"/>
                </a:solidFill>
                <a:latin typeface="Open Sans"/>
              </a:rPr>
              <a:t>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83025" y="2738735"/>
            <a:ext cx="3016299" cy="242887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3333"/>
                </a:solidFill>
                <a:latin typeface="Open Sans"/>
              </a:rPr>
              <a:t>Varying organic reach across posts.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25875" y="2979241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3333"/>
                </a:solidFill>
                <a:latin typeface="Open Sans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83025" y="2981622"/>
            <a:ext cx="3016299" cy="485775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3333"/>
                </a:solidFill>
                <a:latin typeface="Open Sans"/>
              </a:rPr>
              <a:t>Need for structured educational content.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70825" y="1852910"/>
            <a:ext cx="142875" cy="1905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356550" y="2250578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3333"/>
                </a:solidFill>
                <a:latin typeface="Open Sans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3700" y="2252960"/>
            <a:ext cx="3016150" cy="242887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3333"/>
                </a:solidFill>
                <a:latin typeface="Open Sans"/>
              </a:rPr>
              <a:t>Styling and 'How-to' Reels.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56550" y="2493466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3333"/>
                </a:solidFill>
                <a:latin typeface="Open Sans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3700" y="2495847"/>
            <a:ext cx="3016150" cy="242887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3333"/>
                </a:solidFill>
                <a:latin typeface="Open Sans"/>
              </a:rPr>
              <a:t>Customer-generated content (UGC).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56550" y="2736353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3333"/>
                </a:solidFill>
                <a:latin typeface="Open Sans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3700" y="2738735"/>
            <a:ext cx="3016150" cy="242887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3333"/>
                </a:solidFill>
                <a:latin typeface="Open Sans"/>
              </a:rPr>
              <a:t>Micro-influencer partnerships.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56550" y="2979241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3333"/>
                </a:solidFill>
                <a:latin typeface="Open Sans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3700" y="2981622"/>
            <a:ext cx="3016150" cy="242887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3333"/>
                </a:solidFill>
                <a:latin typeface="Open Sans"/>
              </a:rPr>
              <a:t>Interactive Stories and polls.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43360"/>
            <a:ext cx="11049000" cy="419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252960"/>
            <a:ext cx="5334000" cy="11906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586460"/>
            <a:ext cx="5334000" cy="11906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2252960"/>
            <a:ext cx="5334000" cy="11906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3586460"/>
            <a:ext cx="5334000" cy="119062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776585"/>
            <a:ext cx="1160145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111111"/>
                </a:solidFill>
                <a:latin typeface="Montserrat"/>
              </a:rPr>
              <a:t>SMART Marketing Objectives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1338560"/>
            <a:ext cx="11049000" cy="19050"/>
          </a:xfrm>
          <a:prstGeom prst="rect">
            <a:avLst/>
          </a:prstGeom>
          <a:solidFill>
            <a:srgbClr val="800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1786235"/>
            <a:ext cx="142875" cy="14287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09625" y="2443460"/>
            <a:ext cx="5150643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800020"/>
                </a:solidFill>
                <a:latin typeface="Montserrat"/>
              </a:rPr>
              <a:t>Objective 1: Engagement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2824460"/>
            <a:ext cx="490537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333333"/>
                </a:solidFill>
                <a:latin typeface="Open Sans"/>
              </a:rPr>
              <a:t>Increase organic social media engagement by </a:t>
            </a:r>
            <a:r>
              <a:rPr b="1" sz="1125" i="0" u="none">
                <a:solidFill>
                  <a:srgbClr val="333333"/>
                </a:solidFill>
                <a:latin typeface="Open Sans"/>
              </a:rPr>
              <a:t>20% within 3 months</a:t>
            </a:r>
            <a:r>
              <a:rPr b="0" sz="1125" i="0" u="none">
                <a:solidFill>
                  <a:srgbClr val="333333"/>
                </a:solidFill>
                <a:latin typeface="Open Sans"/>
              </a:rPr>
              <a:t> using interactive content, polls, UGC, and Carousels.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3776960"/>
            <a:ext cx="5150643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800020"/>
                </a:solidFill>
                <a:latin typeface="Montserrat"/>
              </a:rPr>
              <a:t>Objective 2: Website Traffic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4157960"/>
            <a:ext cx="490537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333333"/>
                </a:solidFill>
                <a:latin typeface="Open Sans"/>
              </a:rPr>
              <a:t>Increase website visits from social channels by </a:t>
            </a:r>
            <a:r>
              <a:rPr b="1" sz="1125" i="0" u="none">
                <a:solidFill>
                  <a:srgbClr val="333333"/>
                </a:solidFill>
                <a:latin typeface="Open Sans"/>
              </a:rPr>
              <a:t>15% within 3 months</a:t>
            </a:r>
            <a:r>
              <a:rPr b="0" sz="1125" i="0" u="none">
                <a:solidFill>
                  <a:srgbClr val="333333"/>
                </a:solidFill>
                <a:latin typeface="Open Sans"/>
              </a:rPr>
              <a:t> via clear CTAs and conversion-focused Reels.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4625" y="2443460"/>
            <a:ext cx="5150643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B8860B"/>
                </a:solidFill>
                <a:latin typeface="Montserrat"/>
              </a:rPr>
              <a:t>Objective 3: Reel Reach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4625" y="2824460"/>
            <a:ext cx="490537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333333"/>
                </a:solidFill>
                <a:latin typeface="Open Sans"/>
              </a:rPr>
              <a:t>Increase average organic Reel reach by </a:t>
            </a:r>
            <a:r>
              <a:rPr b="1" sz="1125" i="0" u="none">
                <a:solidFill>
                  <a:srgbClr val="333333"/>
                </a:solidFill>
                <a:latin typeface="Open Sans"/>
              </a:rPr>
              <a:t>20% within 3 months</a:t>
            </a:r>
            <a:r>
              <a:rPr b="0" sz="1125" i="0" u="none">
                <a:solidFill>
                  <a:srgbClr val="333333"/>
                </a:solidFill>
                <a:latin typeface="Open Sans"/>
              </a:rPr>
              <a:t> by optimizing first-3-second hooks and shareable tips.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4625" y="3776960"/>
            <a:ext cx="5150643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B8860B"/>
                </a:solidFill>
                <a:latin typeface="Montserrat"/>
              </a:rPr>
              <a:t>Objective 4: Direct Orders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4625" y="4157960"/>
            <a:ext cx="490537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333333"/>
                </a:solidFill>
                <a:latin typeface="Open Sans"/>
              </a:rPr>
              <a:t>Increase WhatsApp inquiries by </a:t>
            </a:r>
            <a:r>
              <a:rPr b="1" sz="1125" i="0" u="none">
                <a:solidFill>
                  <a:srgbClr val="333333"/>
                </a:solidFill>
                <a:latin typeface="Open Sans"/>
              </a:rPr>
              <a:t>15% within 3 months</a:t>
            </a:r>
            <a:r>
              <a:rPr b="0" sz="1125" i="0" u="none">
                <a:solidFill>
                  <a:srgbClr val="333333"/>
                </a:solidFill>
                <a:latin typeface="Open Sans"/>
              </a:rPr>
              <a:t> using explicit "Order on WhatsApp" calls-to-action.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43360"/>
            <a:ext cx="5334000" cy="191184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698081"/>
            <a:ext cx="5334000" cy="120699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1643360"/>
            <a:ext cx="5334000" cy="260717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776585"/>
            <a:ext cx="1160145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111111"/>
                </a:solidFill>
                <a:latin typeface="Montserrat"/>
              </a:rPr>
              <a:t>Target Audience Profile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338560"/>
            <a:ext cx="11049000" cy="19050"/>
          </a:xfrm>
          <a:prstGeom prst="rect">
            <a:avLst/>
          </a:prstGeom>
          <a:solidFill>
            <a:srgbClr val="800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625" y="1833860"/>
            <a:ext cx="5150643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04" i="0" u="none">
                <a:solidFill>
                  <a:srgbClr val="800020"/>
                </a:solidFill>
                <a:latin typeface="Montserrat"/>
              </a:rPr>
              <a:t>Primary Demographic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2231231"/>
            <a:ext cx="4905375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3333"/>
                </a:solidFill>
                <a:latin typeface="Open Sans"/>
              </a:rPr>
              <a:t>Egyptian Males Aged 18–30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3888581"/>
            <a:ext cx="5150643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04" i="0" u="none">
                <a:solidFill>
                  <a:srgbClr val="B8860B"/>
                </a:solidFill>
                <a:latin typeface="Montserrat"/>
              </a:rPr>
              <a:t>Preferred Platforms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4285952"/>
            <a:ext cx="490537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333333"/>
                </a:solidFill>
                <a:latin typeface="Open Sans"/>
              </a:rPr>
              <a:t>Facebook (Main community &amp; reviews), Instagram (Visual styling &amp; Reels), WhatsApp (Direct checkout &amp; customer service).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4625" y="1833860"/>
            <a:ext cx="5150643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404" i="0" u="none">
                <a:solidFill>
                  <a:srgbClr val="111111"/>
                </a:solidFill>
                <a:latin typeface="Montserrat"/>
              </a:rPr>
              <a:t>Customer Needs &amp; Pain Points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4625" y="2231231"/>
            <a:ext cx="490537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3333"/>
                </a:solidFill>
                <a:latin typeface="Open Sans"/>
              </a:rPr>
              <a:t>Needs:</a:t>
            </a:r>
            <a:r>
              <a:rPr b="0" sz="1275" i="0" u="none">
                <a:solidFill>
                  <a:srgbClr val="333333"/>
                </a:solidFill>
                <a:latin typeface="Open Sans"/>
              </a:rPr>
              <a:t> Affordable pricing, reliable quality, trendy cuts (oversized, cargo), fast delivery, and flexible exchange/return policies.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4625" y="2878931"/>
            <a:ext cx="4905375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3333"/>
                </a:solidFill>
                <a:latin typeface="Open Sans"/>
              </a:rPr>
              <a:t>Pain Points: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2975" y="2633662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3333"/>
                </a:solidFill>
                <a:latin typeface="Open Sans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0125" y="2636043"/>
            <a:ext cx="4714875" cy="242887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3333"/>
                </a:solidFill>
                <a:latin typeface="Open Sans"/>
              </a:rPr>
              <a:t>University students looking for trendy apparel on a budget.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2975" y="2876550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3333"/>
                </a:solidFill>
                <a:latin typeface="Open San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0125" y="2878931"/>
            <a:ext cx="4714875" cy="242887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3333"/>
                </a:solidFill>
                <a:latin typeface="Open Sans"/>
              </a:rPr>
              <a:t>Young employees needing smart-casual daily wear.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2975" y="3119437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3333"/>
                </a:solidFill>
                <a:latin typeface="Open Sans"/>
              </a:rPr>
              <a:t>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0125" y="3121818"/>
            <a:ext cx="4714875" cy="242887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3333"/>
                </a:solidFill>
                <a:latin typeface="Open Sans"/>
              </a:rPr>
              <a:t>Active online shoppers on Facebook &amp; Instagram.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57975" y="3167062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3333"/>
                </a:solidFill>
                <a:latin typeface="Open San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15125" y="3169443"/>
            <a:ext cx="4714875" cy="242887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3333"/>
                </a:solidFill>
                <a:latin typeface="Open Sans"/>
              </a:rPr>
              <a:t>Uncertainty about correct online sizing.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57975" y="3409950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3333"/>
                </a:solidFill>
                <a:latin typeface="Open San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15125" y="3412331"/>
            <a:ext cx="4714875" cy="242887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3333"/>
                </a:solidFill>
                <a:latin typeface="Open Sans"/>
              </a:rPr>
              <a:t>Doubt regarding fabric quality vs. photos.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57975" y="3652837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3333"/>
                </a:solidFill>
                <a:latin typeface="Open Sans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15125" y="3655218"/>
            <a:ext cx="4714875" cy="242887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0" sz="1275" i="0" u="none">
                <a:solidFill>
                  <a:srgbClr val="333333"/>
                </a:solidFill>
                <a:latin typeface="Open Sans"/>
              </a:rPr>
              <a:t>Strict budgets requiring high value-for-money.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43360"/>
            <a:ext cx="11049000" cy="5619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05535"/>
            <a:ext cx="11049000" cy="457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443460"/>
            <a:ext cx="3555950" cy="11239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7950" y="2443460"/>
            <a:ext cx="3555950" cy="11239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4400" y="2443460"/>
            <a:ext cx="3556099" cy="11239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776585"/>
            <a:ext cx="1160145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111111"/>
                </a:solidFill>
                <a:latin typeface="Montserrat"/>
              </a:rPr>
              <a:t>Content Strategy Shift &amp; Pillars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1338560"/>
            <a:ext cx="11049000" cy="19050"/>
          </a:xfrm>
          <a:prstGeom prst="rect">
            <a:avLst/>
          </a:prstGeom>
          <a:solidFill>
            <a:srgbClr val="800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3900" y="1795760"/>
            <a:ext cx="10744200" cy="2571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1" sz="1350" i="0" u="none">
                <a:solidFill>
                  <a:srgbClr val="333333"/>
                </a:solidFill>
                <a:latin typeface="Montserrat"/>
              </a:rPr>
              <a:t>Strategic Shift:</a:t>
            </a:r>
            <a:r>
              <a:rPr b="0" sz="1350" i="0" u="none">
                <a:solidFill>
                  <a:srgbClr val="333333"/>
                </a:solidFill>
                <a:latin typeface="Montserrat"/>
              </a:rPr>
              <a:t> Moving from </a:t>
            </a:r>
            <a:r>
              <a:rPr b="0" sz="1350" i="0" u="none">
                <a:solidFill>
                  <a:srgbClr val="800020"/>
                </a:solidFill>
                <a:latin typeface="Montserrat"/>
              </a:rPr>
              <a:t>"Simply Showing the Product"</a:t>
            </a:r>
            <a:r>
              <a:rPr b="0" sz="1350" i="0" u="none">
                <a:solidFill>
                  <a:srgbClr val="333333"/>
                </a:solidFill>
                <a:latin typeface="Montserrat"/>
              </a:rPr>
              <a:t> ➔ To </a:t>
            </a:r>
            <a:r>
              <a:rPr b="0" sz="1350" i="0" u="none">
                <a:solidFill>
                  <a:srgbClr val="B8860B"/>
                </a:solidFill>
                <a:latin typeface="Montserrat"/>
              </a:rPr>
              <a:t>"Helping the Customer Choose &amp; Style"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919835"/>
            <a:ext cx="10820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1" sz="1200" i="0" u="none">
                <a:solidFill>
                  <a:srgbClr val="FFFFFF"/>
                </a:solidFill>
                <a:latin typeface="Open Sans"/>
              </a:rPr>
              <a:t>Core Content Formula:</a:t>
            </a:r>
            <a:r>
              <a:rPr b="0" sz="1200" i="0" u="none">
                <a:solidFill>
                  <a:srgbClr val="FFFFFF"/>
                </a:solidFill>
                <a:latin typeface="Open Sans"/>
              </a:rPr>
              <a:t> </a:t>
            </a:r>
            <a:r>
              <a:rPr b="0" sz="1200" i="0" u="none">
                <a:solidFill>
                  <a:srgbClr val="D4AF37"/>
                </a:solidFill>
                <a:latin typeface="Open Sans"/>
              </a:rPr>
              <a:t>HOOK (0-3s)</a:t>
            </a:r>
            <a:r>
              <a:rPr b="0" sz="1200" i="0" u="none">
                <a:solidFill>
                  <a:srgbClr val="FFFFFF"/>
                </a:solidFill>
                <a:latin typeface="Open Sans"/>
              </a:rPr>
              <a:t> ➔ </a:t>
            </a:r>
            <a:r>
              <a:rPr b="0" sz="1200" i="0" u="none">
                <a:solidFill>
                  <a:srgbClr val="D4AF37"/>
                </a:solidFill>
                <a:latin typeface="Open Sans"/>
              </a:rPr>
              <a:t>VALUE</a:t>
            </a:r>
            <a:r>
              <a:rPr b="0" sz="1200" i="0" u="none">
                <a:solidFill>
                  <a:srgbClr val="FFFFFF"/>
                </a:solidFill>
                <a:latin typeface="Open Sans"/>
              </a:rPr>
              <a:t> ➔ </a:t>
            </a:r>
            <a:r>
              <a:rPr b="0" sz="1200" i="0" u="none">
                <a:solidFill>
                  <a:srgbClr val="D4AF37"/>
                </a:solidFill>
                <a:latin typeface="Open Sans"/>
              </a:rPr>
              <a:t>PROOF</a:t>
            </a:r>
            <a:r>
              <a:rPr b="0" sz="1200" i="0" u="none">
                <a:solidFill>
                  <a:srgbClr val="FFFFFF"/>
                </a:solidFill>
                <a:latin typeface="Open Sans"/>
              </a:rPr>
              <a:t> ➔ </a:t>
            </a:r>
            <a:r>
              <a:rPr b="0" sz="1200" i="0" u="none">
                <a:solidFill>
                  <a:srgbClr val="D4AF37"/>
                </a:solidFill>
                <a:latin typeface="Open Sans"/>
              </a:rPr>
              <a:t>CLEAR CTA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2626" y="2719685"/>
            <a:ext cx="3333697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800020"/>
                </a:solidFill>
                <a:latin typeface="Montserrat"/>
              </a:rPr>
              <a:t>Product Education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2976860"/>
            <a:ext cx="31749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050" i="0" u="none">
                <a:solidFill>
                  <a:srgbClr val="333333"/>
                </a:solidFill>
                <a:latin typeface="Open Sans"/>
              </a:rPr>
              <a:t>How to pick the right fit, fabric breakdown, and sizing guides.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29076" y="2719685"/>
            <a:ext cx="3333697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B8860B"/>
                </a:solidFill>
                <a:latin typeface="Montserrat"/>
              </a:rPr>
              <a:t>Styling Tips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08450" y="2976860"/>
            <a:ext cx="31749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050" i="0" u="none">
                <a:solidFill>
                  <a:srgbClr val="333333"/>
                </a:solidFill>
                <a:latin typeface="Open Sans"/>
              </a:rPr>
              <a:t>Outfit combinations (Casual, Smart Casual, Streetwear).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75523" y="2719685"/>
            <a:ext cx="3333854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111111"/>
                </a:solidFill>
                <a:latin typeface="Montserrat"/>
              </a:rPr>
              <a:t>Social Proof &amp; UGC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4900" y="2976860"/>
            <a:ext cx="317509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b="0" sz="1050" i="0" u="none">
                <a:solidFill>
                  <a:srgbClr val="333333"/>
                </a:solidFill>
                <a:latin typeface="Open Sans"/>
              </a:rPr>
              <a:t>Real customer reviews, unboxing, and rating showcases.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43360"/>
            <a:ext cx="5334000" cy="1343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129260"/>
            <a:ext cx="5334000" cy="14382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1643360"/>
            <a:ext cx="5334000" cy="30670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776585"/>
            <a:ext cx="1160145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111111"/>
                </a:solidFill>
                <a:latin typeface="Montserrat"/>
              </a:rPr>
              <a:t>Content Idea 1 – Educational Reel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338560"/>
            <a:ext cx="11049000" cy="19050"/>
          </a:xfrm>
          <a:prstGeom prst="rect">
            <a:avLst/>
          </a:prstGeom>
          <a:solidFill>
            <a:srgbClr val="800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625" y="1833860"/>
            <a:ext cx="5150643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800020"/>
                </a:solidFill>
                <a:latin typeface="Montserrat"/>
              </a:rPr>
              <a:t>Format &amp;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2214860"/>
            <a:ext cx="4905375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3333"/>
                </a:solidFill>
                <a:latin typeface="Open Sans"/>
              </a:rPr>
              <a:t>Format:</a:t>
            </a:r>
            <a:r>
              <a:rPr b="0" sz="1275" i="0" u="none">
                <a:solidFill>
                  <a:srgbClr val="333333"/>
                </a:solidFill>
                <a:latin typeface="Open Sans"/>
              </a:rPr>
              <a:t> Video / Reel (20–30 sec)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2552997"/>
            <a:ext cx="4905375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3333"/>
                </a:solidFill>
                <a:latin typeface="Open Sans"/>
              </a:rPr>
              <a:t>Topic:</a:t>
            </a:r>
            <a:r>
              <a:rPr b="0" sz="1275" i="0" u="none">
                <a:solidFill>
                  <a:srgbClr val="333333"/>
                </a:solidFill>
                <a:latin typeface="Open Sans"/>
              </a:rPr>
              <a:t> How to Choose the Right Jeans 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3319760"/>
            <a:ext cx="5150643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B8860B"/>
                </a:solidFill>
                <a:latin typeface="Montserrat"/>
              </a:rPr>
              <a:t>Script Outline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3700760"/>
            <a:ext cx="49053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333333"/>
                </a:solidFill>
                <a:latin typeface="Open Sans"/>
              </a:rPr>
              <a:t>Hook:</a:t>
            </a:r>
            <a:r>
              <a:rPr b="0" sz="1050" i="0" u="none">
                <a:solidFill>
                  <a:srgbClr val="333333"/>
                </a:solidFill>
                <a:latin typeface="Open Sans"/>
              </a:rPr>
              <a:t> "بتشتري جينز وكل مرة الـfit بيطلع مش مظبوط؟"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3976985"/>
            <a:ext cx="49053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333333"/>
                </a:solidFill>
                <a:latin typeface="Open Sans"/>
              </a:rPr>
              <a:t>Body:</a:t>
            </a:r>
            <a:r>
              <a:rPr b="0" sz="1050" i="0" u="none">
                <a:solidFill>
                  <a:srgbClr val="333333"/>
                </a:solidFill>
                <a:latin typeface="Open Sans"/>
              </a:rPr>
              <a:t> The issue might be the fit, not the jeans. Check size, cut, and daily utility before buying. Always verify size charts.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4625" y="1833860"/>
            <a:ext cx="5150643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11111"/>
                </a:solidFill>
                <a:latin typeface="Montserrat"/>
              </a:rPr>
              <a:t>Execution Details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4625" y="2214860"/>
            <a:ext cx="4905375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333333"/>
                </a:solidFill>
                <a:latin typeface="Open Sans"/>
              </a:rPr>
              <a:t>CTA:</a:t>
            </a:r>
            <a:r>
              <a:rPr b="0" sz="1125" i="0" u="none">
                <a:solidFill>
                  <a:srgbClr val="333333"/>
                </a:solidFill>
                <a:latin typeface="Open Sans"/>
              </a:rPr>
              <a:t> "Check the Qaim jeans collection and choose your perfect fit."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4625" y="2476797"/>
            <a:ext cx="490537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333333"/>
                </a:solidFill>
                <a:latin typeface="Open Sans"/>
              </a:rPr>
              <a:t>Caption:</a:t>
            </a:r>
            <a:r>
              <a:rPr b="0" sz="1125" i="0" u="none">
                <a:solidFill>
                  <a:srgbClr val="333333"/>
                </a:solidFill>
                <a:latin typeface="Open Sans"/>
              </a:rPr>
              <a:t> "Not every jeans fit works for everyone. Choose the cut that matches your daily style."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4625" y="2953047"/>
            <a:ext cx="4905375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333333"/>
                </a:solidFill>
                <a:latin typeface="Open Sans"/>
              </a:rPr>
              <a:t>Platforms:</a:t>
            </a:r>
            <a:r>
              <a:rPr b="0" sz="1125" i="0" u="none">
                <a:solidFill>
                  <a:srgbClr val="333333"/>
                </a:solidFill>
                <a:latin typeface="Open Sans"/>
              </a:rPr>
              <a:t> Instagram &amp; Facebook Reels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4625" y="3214985"/>
            <a:ext cx="4905375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333333"/>
                </a:solidFill>
                <a:latin typeface="Open Sans"/>
              </a:rPr>
              <a:t>KPIs:</a:t>
            </a:r>
            <a:r>
              <a:rPr b="0" sz="1125" i="0" u="none">
                <a:solidFill>
                  <a:srgbClr val="333333"/>
                </a:solidFill>
                <a:latin typeface="Open Sans"/>
              </a:rPr>
              <a:t> Watch time, retention, saves, and shares.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43360"/>
            <a:ext cx="5334000" cy="13430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129260"/>
            <a:ext cx="5334000" cy="14382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1643360"/>
            <a:ext cx="5334000" cy="30670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776585"/>
            <a:ext cx="1160145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111111"/>
                </a:solidFill>
                <a:latin typeface="Montserrat"/>
              </a:rPr>
              <a:t>Content Idea 2 – Trust &amp; Buying Guide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338560"/>
            <a:ext cx="11049000" cy="19050"/>
          </a:xfrm>
          <a:prstGeom prst="rect">
            <a:avLst/>
          </a:prstGeom>
          <a:solidFill>
            <a:srgbClr val="800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625" y="1833860"/>
            <a:ext cx="5150643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800020"/>
                </a:solidFill>
                <a:latin typeface="Montserrat"/>
              </a:rPr>
              <a:t>Format &amp;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2214860"/>
            <a:ext cx="4905375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3333"/>
                </a:solidFill>
                <a:latin typeface="Open Sans"/>
              </a:rPr>
              <a:t>Format:</a:t>
            </a:r>
            <a:r>
              <a:rPr b="0" sz="1275" i="0" u="none">
                <a:solidFill>
                  <a:srgbClr val="333333"/>
                </a:solidFill>
                <a:latin typeface="Open Sans"/>
              </a:rPr>
              <a:t> Video / Reel (20–25 sec)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2552997"/>
            <a:ext cx="4905375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3333"/>
                </a:solidFill>
                <a:latin typeface="Open Sans"/>
              </a:rPr>
              <a:t>Topic:</a:t>
            </a:r>
            <a:r>
              <a:rPr b="0" sz="1275" i="0" u="none">
                <a:solidFill>
                  <a:srgbClr val="333333"/>
                </a:solidFill>
                <a:latin typeface="Open Sans"/>
              </a:rPr>
              <a:t> 3 Things to Check Before Buying Jeans Online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3319760"/>
            <a:ext cx="5150643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B8860B"/>
                </a:solidFill>
                <a:latin typeface="Montserrat"/>
              </a:rPr>
              <a:t>Script &amp; Verified Info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3700760"/>
            <a:ext cx="49053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333333"/>
                </a:solidFill>
                <a:latin typeface="Open Sans"/>
              </a:rPr>
              <a:t>Hook:</a:t>
            </a:r>
            <a:r>
              <a:rPr b="0" sz="1050" i="0" u="none">
                <a:solidFill>
                  <a:srgbClr val="333333"/>
                </a:solidFill>
                <a:latin typeface="Open Sans"/>
              </a:rPr>
              <a:t> "قبل ما تشتري جينز أونلاين، اتأكد من الـ3 دول."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625" y="3976985"/>
            <a:ext cx="49053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333333"/>
                </a:solidFill>
                <a:latin typeface="Open Sans"/>
              </a:rPr>
              <a:t>Body:</a:t>
            </a:r>
            <a:r>
              <a:rPr b="0" sz="1050" i="0" u="none">
                <a:solidFill>
                  <a:srgbClr val="333333"/>
                </a:solidFill>
                <a:latin typeface="Open Sans"/>
              </a:rPr>
              <a:t> 1. Material (e.g., New Speed / Lycra). 2. Size &amp; fit. 3. Return &amp; inspection terms. Qaim offers inspection before payment and delivery!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4625" y="1833860"/>
            <a:ext cx="5150643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11111"/>
                </a:solidFill>
                <a:latin typeface="Montserrat"/>
              </a:rPr>
              <a:t>Execution Details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4625" y="2214860"/>
            <a:ext cx="4905375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333333"/>
                </a:solidFill>
                <a:latin typeface="Open Sans"/>
              </a:rPr>
              <a:t>CTA:</a:t>
            </a:r>
            <a:r>
              <a:rPr b="0" sz="1125" i="0" u="none">
                <a:solidFill>
                  <a:srgbClr val="333333"/>
                </a:solidFill>
                <a:latin typeface="Open Sans"/>
              </a:rPr>
              <a:t> "Check product details before ordering on qaim.shop."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4625" y="2476797"/>
            <a:ext cx="4905375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333333"/>
                </a:solidFill>
                <a:latin typeface="Open Sans"/>
              </a:rPr>
              <a:t>Caption:</a:t>
            </a:r>
            <a:r>
              <a:rPr b="0" sz="1125" i="0" u="none">
                <a:solidFill>
                  <a:srgbClr val="333333"/>
                </a:solidFill>
                <a:latin typeface="Open Sans"/>
              </a:rPr>
              <a:t> "Online shopping should be simple. Verify your fabric, size, and inspection guarantees."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4625" y="2953047"/>
            <a:ext cx="4905375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333333"/>
                </a:solidFill>
                <a:latin typeface="Open Sans"/>
              </a:rPr>
              <a:t>Platforms:</a:t>
            </a:r>
            <a:r>
              <a:rPr b="0" sz="1125" i="0" u="none">
                <a:solidFill>
                  <a:srgbClr val="333333"/>
                </a:solidFill>
                <a:latin typeface="Open Sans"/>
              </a:rPr>
              <a:t> Instagram &amp; Facebook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4625" y="3214985"/>
            <a:ext cx="4905375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333333"/>
                </a:solidFill>
                <a:latin typeface="Open Sans"/>
              </a:rPr>
              <a:t>KPIs:</a:t>
            </a:r>
            <a:r>
              <a:rPr b="0" sz="1125" i="0" u="none">
                <a:solidFill>
                  <a:srgbClr val="333333"/>
                </a:solidFill>
                <a:latin typeface="Open Sans"/>
              </a:rPr>
              <a:t> Reach, watch time, and website clicks.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43360"/>
            <a:ext cx="11049000" cy="9763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2810172"/>
            <a:ext cx="2655093" cy="12811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9468" y="2810172"/>
            <a:ext cx="2655093" cy="12811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7437" y="2810172"/>
            <a:ext cx="2655093" cy="128111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5406" y="2810172"/>
            <a:ext cx="2655093" cy="128111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" y="776585"/>
            <a:ext cx="1160145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111111"/>
                </a:solidFill>
                <a:latin typeface="Montserrat"/>
              </a:rPr>
              <a:t>Content Idea 3 – Styling Carousel</a:t>
            </a:r>
          </a:p>
        </p:txBody>
      </p:sp>
      <p:sp>
        <p:nvSpPr>
          <p:cNvPr id="9" name="Rectangle 8"/>
          <p:cNvSpPr/>
          <p:nvPr/>
        </p:nvSpPr>
        <p:spPr>
          <a:xfrm>
            <a:off x="571500" y="1338560"/>
            <a:ext cx="11049000" cy="19050"/>
          </a:xfrm>
          <a:prstGeom prst="rect">
            <a:avLst/>
          </a:prstGeom>
          <a:solidFill>
            <a:srgbClr val="800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9625" y="1833860"/>
            <a:ext cx="11151393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800020"/>
                </a:solidFill>
                <a:latin typeface="Montserrat"/>
              </a:rPr>
              <a:t>Format &amp; Topic: Carousel (3 Ways to Style One Item)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2214860"/>
            <a:ext cx="10620375" cy="214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333333"/>
                </a:solidFill>
                <a:latin typeface="Open Sans"/>
              </a:rPr>
              <a:t>Designed to boost saves and shares by demonstrating versatility using Qaim's staple jeans.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147" y="3086397"/>
            <a:ext cx="2387798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800020"/>
                </a:solidFill>
                <a:latin typeface="Open Sans"/>
              </a:rPr>
              <a:t>Slide 1-2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3343572"/>
            <a:ext cx="2274093" cy="557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1" sz="975" i="0" u="none">
                <a:solidFill>
                  <a:srgbClr val="333333"/>
                </a:solidFill>
                <a:latin typeface="Open Sans"/>
              </a:rPr>
              <a:t>Cover &amp; Casual:</a:t>
            </a:r>
            <a:r>
              <a:t>
</a:t>
            </a:r>
            <a:r>
              <a:rPr b="0" sz="975" i="0" u="none">
                <a:solidFill>
                  <a:srgbClr val="333333"/>
                </a:solidFill>
                <a:latin typeface="Open Sans"/>
              </a:rPr>
              <a:t> One Jeans, 3 Looks.</a:t>
            </a:r>
            <a:r>
              <a:t>
</a:t>
            </a:r>
            <a:r>
              <a:rPr b="0" sz="975" i="0" u="none">
                <a:solidFill>
                  <a:srgbClr val="333333"/>
                </a:solidFill>
                <a:latin typeface="Open Sans"/>
              </a:rPr>
              <a:t> Jeans + Basic Tee + Sneakers.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3116" y="3086397"/>
            <a:ext cx="2387798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B8860B"/>
                </a:solidFill>
                <a:latin typeface="Open Sans"/>
              </a:rPr>
              <a:t>Slide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9968" y="3343572"/>
            <a:ext cx="2274093" cy="557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1" sz="975" i="0" u="none">
                <a:solidFill>
                  <a:srgbClr val="333333"/>
                </a:solidFill>
                <a:latin typeface="Open Sans"/>
              </a:rPr>
              <a:t>Smart Casual:</a:t>
            </a:r>
            <a:r>
              <a:t>
</a:t>
            </a:r>
            <a:r>
              <a:rPr b="0" sz="975" i="0" u="none">
                <a:solidFill>
                  <a:srgbClr val="333333"/>
                </a:solidFill>
                <a:latin typeface="Open Sans"/>
              </a:rPr>
              <a:t> Jeans + Qaim Polo Shirt + Clean Sneakers.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1085" y="3086397"/>
            <a:ext cx="2387798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111111"/>
                </a:solidFill>
                <a:latin typeface="Open Sans"/>
              </a:rPr>
              <a:t>Slide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7937" y="3343572"/>
            <a:ext cx="2274093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1" sz="975" i="0" u="none">
                <a:solidFill>
                  <a:srgbClr val="333333"/>
                </a:solidFill>
                <a:latin typeface="Open Sans"/>
              </a:rPr>
              <a:t>Street Style:</a:t>
            </a:r>
            <a:r>
              <a:t>
</a:t>
            </a:r>
            <a:r>
              <a:rPr b="0" sz="975" i="0" u="none">
                <a:solidFill>
                  <a:srgbClr val="333333"/>
                </a:solidFill>
                <a:latin typeface="Open Sans"/>
              </a:rPr>
              <a:t> Jeans + Oversized T-shirt + Sneakers.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9053" y="3086397"/>
            <a:ext cx="2387798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800020"/>
                </a:solidFill>
                <a:latin typeface="Open Sans"/>
              </a:rPr>
              <a:t>Slide 5-6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55906" y="3343572"/>
            <a:ext cx="2274093" cy="557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462"/>
              </a:lnSpc>
            </a:pPr>
            <a:r>
              <a:rPr b="1" sz="975" i="0" u="none">
                <a:solidFill>
                  <a:srgbClr val="333333"/>
                </a:solidFill>
                <a:latin typeface="Open Sans"/>
              </a:rPr>
              <a:t>Interactive:</a:t>
            </a:r>
            <a:r>
              <a:t>
</a:t>
            </a:r>
            <a:r>
              <a:rPr b="0" sz="975" i="0" u="none">
                <a:solidFill>
                  <a:srgbClr val="333333"/>
                </a:solidFill>
                <a:latin typeface="Open Sans"/>
              </a:rPr>
              <a:t> Poll: "Which look is your favorite?" + Shop Now CTA.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43360"/>
            <a:ext cx="5334000" cy="15859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372147"/>
            <a:ext cx="5334000" cy="11620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1643360"/>
            <a:ext cx="5334000" cy="30337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776585"/>
            <a:ext cx="1160145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111111"/>
                </a:solidFill>
                <a:latin typeface="Montserrat"/>
              </a:rPr>
              <a:t>Content Idea 4 – Social Proof Carousel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338560"/>
            <a:ext cx="11049000" cy="19050"/>
          </a:xfrm>
          <a:prstGeom prst="rect">
            <a:avLst/>
          </a:prstGeom>
          <a:solidFill>
            <a:srgbClr val="800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9625" y="1833860"/>
            <a:ext cx="5150643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800020"/>
                </a:solidFill>
                <a:latin typeface="Montserrat"/>
              </a:rPr>
              <a:t>Format &amp; Objective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2214860"/>
            <a:ext cx="4905375" cy="242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3333"/>
                </a:solidFill>
                <a:latin typeface="Open Sans"/>
              </a:rPr>
              <a:t>Format:</a:t>
            </a:r>
            <a:r>
              <a:rPr b="0" sz="1275" i="0" u="none">
                <a:solidFill>
                  <a:srgbClr val="333333"/>
                </a:solidFill>
                <a:latin typeface="Open Sans"/>
              </a:rPr>
              <a:t> Multi-slide Carousel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2552997"/>
            <a:ext cx="4905375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3333"/>
                </a:solidFill>
                <a:latin typeface="Open Sans"/>
              </a:rPr>
              <a:t>Topic:</a:t>
            </a:r>
            <a:r>
              <a:rPr b="0" sz="1275" i="0" u="none">
                <a:solidFill>
                  <a:srgbClr val="333333"/>
                </a:solidFill>
                <a:latin typeface="Open Sans"/>
              </a:rPr>
              <a:t> Why Customers Keep Coming Back (Leveraging Qaim's 96% positive recommendation rate).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9625" y="3562647"/>
            <a:ext cx="5150643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B8860B"/>
                </a:solidFill>
                <a:latin typeface="Montserrat"/>
              </a:rPr>
              <a:t>Important Rule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3943647"/>
            <a:ext cx="49053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333333"/>
                </a:solidFill>
                <a:latin typeface="Open Sans"/>
              </a:rPr>
              <a:t>Do not create fake quotes. Use real screenshots or verified feedback from Qaim customer reviews (e.g., good quality, fast delivery, matching photos).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4625" y="1833860"/>
            <a:ext cx="5150643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111111"/>
                </a:solidFill>
                <a:latin typeface="Montserrat"/>
              </a:rPr>
              <a:t>Carousel 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57975" y="2212478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3333"/>
                </a:solidFill>
                <a:latin typeface="Open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15125" y="2214860"/>
            <a:ext cx="4714875" cy="242887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3333"/>
                </a:solidFill>
                <a:latin typeface="Open Sans"/>
              </a:rPr>
              <a:t>Slide 1:</a:t>
            </a:r>
            <a:r>
              <a:rPr b="0" sz="1275" i="0" u="none">
                <a:solidFill>
                  <a:srgbClr val="333333"/>
                </a:solidFill>
                <a:latin typeface="Open Sans"/>
              </a:rPr>
              <a:t> "Still thinking about ordering? See what customers say."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57975" y="2455366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3333"/>
                </a:solidFill>
                <a:latin typeface="Open San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15125" y="2457747"/>
            <a:ext cx="4714875" cy="485775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3333"/>
                </a:solidFill>
                <a:latin typeface="Open Sans"/>
              </a:rPr>
              <a:t>Slide 2-5:</a:t>
            </a:r>
            <a:r>
              <a:rPr b="0" sz="1275" i="0" u="none">
                <a:solidFill>
                  <a:srgbClr val="333333"/>
                </a:solidFill>
                <a:latin typeface="Open Sans"/>
              </a:rPr>
              <a:t> Real reviews highlighting Quality, Value, Delivery speed, and Product accuracy.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57975" y="2941141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3333"/>
                </a:solidFill>
                <a:latin typeface="Open San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15125" y="2943522"/>
            <a:ext cx="4714875" cy="485775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3333"/>
                </a:solidFill>
                <a:latin typeface="Open Sans"/>
              </a:rPr>
              <a:t>Slide 6:</a:t>
            </a:r>
            <a:r>
              <a:rPr b="0" sz="1275" i="0" u="none">
                <a:solidFill>
                  <a:srgbClr val="333333"/>
                </a:solidFill>
                <a:latin typeface="Open Sans"/>
              </a:rPr>
              <a:t> "Your review could be next. Try it and share your experience." + CTA.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015085"/>
            <a:ext cx="11049000" cy="3905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776585"/>
            <a:ext cx="1160145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111111"/>
                </a:solidFill>
                <a:latin typeface="Montserrat"/>
              </a:rPr>
              <a:t>1-Week Sample Content Calendar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" y="1338560"/>
            <a:ext cx="11049000" cy="19050"/>
          </a:xfrm>
          <a:prstGeom prst="rect">
            <a:avLst/>
          </a:prstGeom>
          <a:solidFill>
            <a:srgbClr val="800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71500" y="1738610"/>
          <a:ext cx="11048998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1594395"/>
                <a:gridCol w="1888033"/>
                <a:gridCol w="4741217"/>
                <a:gridCol w="2825353"/>
              </a:tblGrid>
              <a:tr h="42672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Montserrat"/>
                        </a:rPr>
                        <a:t>Day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00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Montserrat"/>
                        </a:rPr>
                        <a:t>Content Type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00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Montserrat"/>
                        </a:rPr>
                        <a:t>Topic / Format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002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FFFFFF"/>
                          </a:solidFill>
                          <a:latin typeface="Montserrat"/>
                        </a:rPr>
                        <a:t>Goal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0020"/>
                    </a:solidFill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00000"/>
                          </a:solidFill>
                          <a:latin typeface="Open Sans"/>
                        </a:rPr>
                        <a:t>Saturday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000000"/>
                          </a:solidFill>
                          <a:latin typeface="Open Sans"/>
                        </a:rPr>
                        <a:t>Reel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000000"/>
                          </a:solidFill>
                          <a:latin typeface="Open Sans"/>
                        </a:rPr>
                        <a:t>How to Choose the Right Jeans (Educational)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000000"/>
                          </a:solidFill>
                          <a:latin typeface="Open Sans"/>
                        </a:rPr>
                        <a:t>Education &amp; Engagement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00000"/>
                          </a:solidFill>
                          <a:latin typeface="Open Sans"/>
                        </a:rPr>
                        <a:t>Monday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000000"/>
                          </a:solidFill>
                          <a:latin typeface="Open Sans"/>
                        </a:rPr>
                        <a:t>Reel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000000"/>
                          </a:solidFill>
                          <a:latin typeface="Open Sans"/>
                        </a:rPr>
                        <a:t>3 Things to Check Before Buying Online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000000"/>
                          </a:solidFill>
                          <a:latin typeface="Open Sans"/>
                        </a:rPr>
                        <a:t>Trust &amp; Website Visits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00000"/>
                          </a:solidFill>
                          <a:latin typeface="Open Sans"/>
                        </a:rPr>
                        <a:t>Wednesday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000000"/>
                          </a:solidFill>
                          <a:latin typeface="Open Sans"/>
                        </a:rPr>
                        <a:t>Carousel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000000"/>
                          </a:solidFill>
                          <a:latin typeface="Open Sans"/>
                        </a:rPr>
                        <a:t>3 Ways to Style One Jeans (Styling)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000000"/>
                          </a:solidFill>
                          <a:latin typeface="Open Sans"/>
                        </a:rPr>
                        <a:t>Saves &amp; Shares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26720">
                <a:tc>
                  <a:txBody>
                    <a:bodyPr/>
                    <a:lstStyle/>
                    <a:p>
                      <a:pPr algn="l"/>
                      <a:r>
                        <a:rPr b="1" sz="1125" i="0" u="none">
                          <a:solidFill>
                            <a:srgbClr val="000000"/>
                          </a:solidFill>
                          <a:latin typeface="Open Sans"/>
                        </a:rPr>
                        <a:t>Friday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000000"/>
                          </a:solidFill>
                          <a:latin typeface="Open Sans"/>
                        </a:rPr>
                        <a:t>Carousel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000000"/>
                          </a:solidFill>
                          <a:latin typeface="Open Sans"/>
                        </a:rPr>
                        <a:t>Why Customers Keep Coming Back (Reviews)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125" i="0" u="none">
                          <a:solidFill>
                            <a:srgbClr val="000000"/>
                          </a:solidFill>
                          <a:latin typeface="Open Sans"/>
                        </a:rPr>
                        <a:t>Trust &amp; Conversion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71500" y="2143422"/>
            <a:ext cx="1594395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165895" y="2143422"/>
            <a:ext cx="1888033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053929" y="2143422"/>
            <a:ext cx="4741217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795146" y="2143422"/>
            <a:ext cx="2825353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850" y="4110335"/>
            <a:ext cx="10820400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1" sz="1050" i="0" u="none">
                <a:solidFill>
                  <a:srgbClr val="333333"/>
                </a:solidFill>
                <a:latin typeface="Open Sans"/>
              </a:rPr>
              <a:t>Support Stories:</a:t>
            </a:r>
            <a:r>
              <a:rPr b="0" sz="1050" i="0" u="none">
                <a:solidFill>
                  <a:srgbClr val="333333"/>
                </a:solidFill>
                <a:latin typeface="Open Sans"/>
              </a:rPr>
              <a:t> Sunday Poll ("Casual or Street Style?") | Tuesday Question box ("Biggest online shopping problem?") | Thursday Product reminder &amp; website link.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2572047"/>
            <a:ext cx="1594395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65895" y="2572047"/>
            <a:ext cx="1888033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53929" y="2572047"/>
            <a:ext cx="4741217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95146" y="2572047"/>
            <a:ext cx="2825353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1500" y="3000672"/>
            <a:ext cx="1594395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165895" y="3000672"/>
            <a:ext cx="1888033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053929" y="3000672"/>
            <a:ext cx="4741217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95146" y="3000672"/>
            <a:ext cx="2825353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1500" y="3429297"/>
            <a:ext cx="1594395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165895" y="3429297"/>
            <a:ext cx="1888033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053929" y="3429297"/>
            <a:ext cx="4741217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795146" y="3429297"/>
            <a:ext cx="2825353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71500" y="3857922"/>
            <a:ext cx="1594395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165895" y="3857922"/>
            <a:ext cx="1888033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053929" y="3857922"/>
            <a:ext cx="4741217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795146" y="3857922"/>
            <a:ext cx="2825353" cy="9525"/>
          </a:xfrm>
          <a:prstGeom prst="rect">
            <a:avLst/>
          </a:prstGeom>
          <a:solidFill>
            <a:srgbClr val="DDDD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43360"/>
            <a:ext cx="3587650" cy="119538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2025" y="1643360"/>
            <a:ext cx="3587799" cy="1195387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2700" y="1643360"/>
            <a:ext cx="3587650" cy="1195387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981622"/>
            <a:ext cx="3587650" cy="1009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02025" y="2981622"/>
            <a:ext cx="3587799" cy="10096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32700" y="2981622"/>
            <a:ext cx="3587650" cy="10096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776585"/>
            <a:ext cx="1160145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111111"/>
                </a:solidFill>
                <a:latin typeface="Montserrat"/>
              </a:rPr>
              <a:t>SOSTAC Action Plan Summary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1500" y="1338560"/>
            <a:ext cx="11049000" cy="19050"/>
          </a:xfrm>
          <a:prstGeom prst="rect">
            <a:avLst/>
          </a:prstGeom>
          <a:solidFill>
            <a:srgbClr val="800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625" y="1833860"/>
            <a:ext cx="3316977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800020"/>
                </a:solidFill>
                <a:latin typeface="Open Sans"/>
              </a:rPr>
              <a:t>S – Situation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625" y="2091035"/>
            <a:ext cx="3159025" cy="5572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3333"/>
                </a:solidFill>
                <a:latin typeface="Open Sans"/>
              </a:rPr>
              <a:t>Active Facebook presence, 62K followers observed, frequent Reels, 96% recommendations, website, and WhatsApp.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0150" y="1833860"/>
            <a:ext cx="3317133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B8860B"/>
                </a:solidFill>
                <a:latin typeface="Open Sans"/>
              </a:rPr>
              <a:t>O – Objectives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0150" y="2091035"/>
            <a:ext cx="3159174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3333"/>
                </a:solidFill>
                <a:latin typeface="Open Sans"/>
              </a:rPr>
              <a:t>Improve organic engagement (+20%), website visits (+15%), Reel reach (+20%), and WhatsApp clicks (+15%).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0825" y="1833860"/>
            <a:ext cx="3316977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11111"/>
                </a:solidFill>
                <a:latin typeface="Open Sans"/>
              </a:rPr>
              <a:t>S – Strategy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0825" y="2091035"/>
            <a:ext cx="315902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3333"/>
                </a:solidFill>
                <a:latin typeface="Open Sans"/>
              </a:rPr>
              <a:t>Transition from pure product listing to helpful, engaging, and trust-building content creation.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625" y="3172122"/>
            <a:ext cx="3316977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111111"/>
                </a:solidFill>
                <a:latin typeface="Open Sans"/>
              </a:rPr>
              <a:t>T – Tactics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625" y="3429297"/>
            <a:ext cx="315902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3333"/>
                </a:solidFill>
                <a:latin typeface="Open Sans"/>
              </a:rPr>
              <a:t>Strong hooks, educational Reels, styling carousels, customer proof, daily Stories, and clear CTAs.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40150" y="3172122"/>
            <a:ext cx="3317133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800020"/>
                </a:solidFill>
                <a:latin typeface="Open Sans"/>
              </a:rPr>
              <a:t>A – 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0150" y="3429297"/>
            <a:ext cx="3159174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3333"/>
                </a:solidFill>
                <a:latin typeface="Open Sans"/>
              </a:rPr>
              <a:t>Consistent 3-month publishing schedule, format testing, weekly review, and refinement.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0825" y="3172122"/>
            <a:ext cx="3316977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B8860B"/>
                </a:solidFill>
                <a:latin typeface="Open Sans"/>
              </a:rPr>
              <a:t>C – 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0825" y="3429297"/>
            <a:ext cx="3159025" cy="3714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b="0" sz="975" i="0" u="none">
                <a:solidFill>
                  <a:srgbClr val="333333"/>
                </a:solidFill>
                <a:latin typeface="Open Sans"/>
              </a:rPr>
              <a:t>Track weekly KPIs, analyze watch time, saves, website clicks, and compare performance monthly.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43360"/>
            <a:ext cx="5334000" cy="1162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643360"/>
            <a:ext cx="5334000" cy="17335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776585"/>
            <a:ext cx="1160145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111111"/>
                </a:solidFill>
                <a:latin typeface="Montserrat"/>
              </a:rPr>
              <a:t>KPIs &amp; Decision Control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1338560"/>
            <a:ext cx="11049000" cy="19050"/>
          </a:xfrm>
          <a:prstGeom prst="rect">
            <a:avLst/>
          </a:prstGeom>
          <a:solidFill>
            <a:srgbClr val="800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9625" y="1833860"/>
            <a:ext cx="5150643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800020"/>
                </a:solidFill>
                <a:latin typeface="Montserrat"/>
              </a:rPr>
              <a:t>Tracked Weekly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2214860"/>
            <a:ext cx="49053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333333"/>
                </a:solidFill>
                <a:latin typeface="Open Sans"/>
              </a:rPr>
              <a:t>Reach, Reel Views, Average Watch Time, Engagement Rate, Saves, Shares, Comments, Website Clicks, WhatsApp Clicks, and Orders.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4625" y="1833860"/>
            <a:ext cx="5150643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B8860B"/>
                </a:solidFill>
                <a:latin typeface="Montserrat"/>
              </a:rPr>
              <a:t>Optimization Decision 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38925" y="2212478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3333"/>
                </a:solidFill>
                <a:latin typeface="Open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96075" y="2214860"/>
            <a:ext cx="4733925" cy="242887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3333"/>
                </a:solidFill>
                <a:latin typeface="Open Sans"/>
              </a:rPr>
              <a:t>Low retention:</a:t>
            </a:r>
            <a:r>
              <a:rPr b="0" sz="1275" i="0" u="none">
                <a:solidFill>
                  <a:srgbClr val="333333"/>
                </a:solidFill>
                <a:latin typeface="Open Sans"/>
              </a:rPr>
              <a:t> Change the first 3 seconds hook.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38925" y="2455366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3333"/>
                </a:solidFill>
                <a:latin typeface="Open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96075" y="2457747"/>
            <a:ext cx="4733925" cy="242887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3333"/>
                </a:solidFill>
                <a:latin typeface="Open Sans"/>
              </a:rPr>
              <a:t>High saves:</a:t>
            </a:r>
            <a:r>
              <a:rPr b="0" sz="1275" i="0" u="none">
                <a:solidFill>
                  <a:srgbClr val="333333"/>
                </a:solidFill>
                <a:latin typeface="Open Sans"/>
              </a:rPr>
              <a:t> Produce more educational content.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38925" y="2698253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3333"/>
                </a:solidFill>
                <a:latin typeface="Open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6075" y="2700635"/>
            <a:ext cx="4733925" cy="242887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3333"/>
                </a:solidFill>
                <a:latin typeface="Open Sans"/>
              </a:rPr>
              <a:t>High shares:</a:t>
            </a:r>
            <a:r>
              <a:rPr b="0" sz="1275" i="0" u="none">
                <a:solidFill>
                  <a:srgbClr val="333333"/>
                </a:solidFill>
                <a:latin typeface="Open Sans"/>
              </a:rPr>
              <a:t> Create similar shareable formats.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38925" y="2941141"/>
            <a:ext cx="571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75" i="0" u="none">
                <a:solidFill>
                  <a:srgbClr val="333333"/>
                </a:solidFill>
                <a:latin typeface="Open San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96075" y="2943522"/>
            <a:ext cx="4733925" cy="242887"/>
          </a:xfrm>
          <a:prstGeom prst="rect">
            <a:avLst/>
          </a:prstGeom>
          <a:noFill/>
        </p:spPr>
        <p:txBody>
          <a:bodyPr wrap="square" lIns="57150" rIns="0" t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sz="1275" i="0" u="none">
                <a:solidFill>
                  <a:srgbClr val="333333"/>
                </a:solidFill>
                <a:latin typeface="Open Sans"/>
              </a:rPr>
              <a:t>More clicks:</a:t>
            </a:r>
            <a:r>
              <a:rPr b="0" sz="1275" i="0" u="none">
                <a:solidFill>
                  <a:srgbClr val="333333"/>
                </a:solidFill>
                <a:latin typeface="Open Sans"/>
              </a:rPr>
              <a:t> Focus on product &amp; website CTAs.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43360"/>
            <a:ext cx="3555950" cy="154989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7950" y="1643360"/>
            <a:ext cx="3555950" cy="154989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400" y="1643360"/>
            <a:ext cx="3556099" cy="15498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776585"/>
            <a:ext cx="1160145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111111"/>
                </a:solidFill>
                <a:latin typeface="Montserrat"/>
              </a:rPr>
              <a:t>3-Month Implementation Timeline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571500" y="1338560"/>
            <a:ext cx="11049000" cy="19050"/>
          </a:xfrm>
          <a:prstGeom prst="rect">
            <a:avLst/>
          </a:prstGeom>
          <a:solidFill>
            <a:srgbClr val="800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71800" y="3383756"/>
            <a:ext cx="6248400" cy="25717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2626" y="1871960"/>
            <a:ext cx="3333697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404" i="0" u="none">
                <a:solidFill>
                  <a:srgbClr val="800020"/>
                </a:solidFill>
                <a:latin typeface="Montserrat"/>
              </a:rPr>
              <a:t>Month 1: Testing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2269331"/>
            <a:ext cx="31749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333333"/>
                </a:solidFill>
                <a:latin typeface="Open Sans"/>
              </a:rPr>
              <a:t>Test 4 core content ideas, experiment with different hook styles and posting days, and establish baseline KPI tracking.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29076" y="1871960"/>
            <a:ext cx="3333697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404" i="0" u="none">
                <a:solidFill>
                  <a:srgbClr val="B8860B"/>
                </a:solidFill>
                <a:latin typeface="Montserrat"/>
              </a:rPr>
              <a:t>Month 2: Optimization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8450" y="2269331"/>
            <a:ext cx="317495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333333"/>
                </a:solidFill>
                <a:latin typeface="Open Sans"/>
              </a:rPr>
              <a:t>Keep top-performing formats, improve weak Reels, increase UGC integration, and expand styling content.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75523" y="1871960"/>
            <a:ext cx="3333854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404" i="0" u="none">
                <a:solidFill>
                  <a:srgbClr val="111111"/>
                </a:solidFill>
                <a:latin typeface="Montserrat"/>
              </a:rPr>
              <a:t>Month 3: Growth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4900" y="2269331"/>
            <a:ext cx="3175099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333333"/>
                </a:solidFill>
                <a:latin typeface="Open Sans"/>
              </a:rPr>
              <a:t>Scale successful formats, enhance conversion-driven CTAs for website and WhatsApp, and review milestone targets.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643360"/>
            <a:ext cx="5334000" cy="14049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643360"/>
            <a:ext cx="5334000" cy="17002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776585"/>
            <a:ext cx="1160145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850" i="0" u="none">
                <a:solidFill>
                  <a:srgbClr val="111111"/>
                </a:solidFill>
                <a:latin typeface="Montserrat"/>
              </a:rPr>
              <a:t>Conclusion &amp; Final Recommendations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1500" y="1338560"/>
            <a:ext cx="11049000" cy="19050"/>
          </a:xfrm>
          <a:prstGeom prst="rect">
            <a:avLst/>
          </a:prstGeom>
          <a:solidFill>
            <a:srgbClr val="800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9625" y="1833860"/>
            <a:ext cx="5150643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800020"/>
                </a:solidFill>
                <a:latin typeface="Montserrat"/>
              </a:rPr>
              <a:t>Qaim's Strong 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2214860"/>
            <a:ext cx="4905375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333333"/>
                </a:solidFill>
                <a:latin typeface="Open Sans"/>
              </a:rPr>
              <a:t>Qaim already possesses solid products, active Reels, genuine customer reviews, a functional e-commerce website, and strong WhatsApp communication channels.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4625" y="1833860"/>
            <a:ext cx="5150643" cy="2095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B8860B"/>
                </a:solidFill>
                <a:latin typeface="Montserrat"/>
              </a:rPr>
              <a:t>Core Strategic Takeaway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4625" y="2214860"/>
            <a:ext cx="4905375" cy="64293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1" sz="1125" i="0" u="none">
                <a:solidFill>
                  <a:srgbClr val="333333"/>
                </a:solidFill>
                <a:latin typeface="Open Sans"/>
              </a:rPr>
              <a:t>"Keep the Reels, but improve the Hooks. Keep the reviews, but turn them into Stories and Carousels. Keep the traffic, but build a stronger organic content system."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4625" y="2953047"/>
            <a:ext cx="49053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555555"/>
                </a:solidFill>
                <a:latin typeface="Open Sans"/>
              </a:rPr>
              <a:t>Ready for academic submission and classroom presentation.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