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67" r:id="rId2"/>
    <p:sldId id="268" r:id="rId3"/>
    <p:sldId id="269" r:id="rId4"/>
    <p:sldId id="270" r:id="rId5"/>
    <p:sldId id="271" r:id="rId6"/>
    <p:sldId id="272" r:id="rId7"/>
    <p:sldId id="273" r:id="rId8"/>
    <p:sldId id="274" r:id="rId9"/>
    <p:sldId id="275" r:id="rId10"/>
    <p:sldId id="276" r:id="rId11"/>
    <p:sldId id="277" r:id="rId12"/>
    <p:sldId id="256" r:id="rId13"/>
    <p:sldId id="278" r:id="rId14"/>
    <p:sldId id="257" r:id="rId15"/>
    <p:sldId id="258" r:id="rId16"/>
    <p:sldId id="259" r:id="rId17"/>
    <p:sldId id="260" r:id="rId18"/>
    <p:sldId id="261" r:id="rId19"/>
    <p:sldId id="262" r:id="rId20"/>
    <p:sldId id="263" r:id="rId21"/>
    <p:sldId id="264" r:id="rId22"/>
    <p:sldId id="265" r:id="rId23"/>
    <p:sldId id="266"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6" d="100"/>
          <a:sy n="86" d="100"/>
        </p:scale>
        <p:origin x="708"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رأس 1"/>
          <p:cNvSpPr>
            <a:spLocks noGrp="1"/>
          </p:cNvSpPr>
          <p:nvPr>
            <p:ph type="hdr" sz="quarter"/>
          </p:nvPr>
        </p:nvSpPr>
        <p:spPr>
          <a:xfrm>
            <a:off x="3886200" y="0"/>
            <a:ext cx="2971800" cy="458788"/>
          </a:xfrm>
          <a:prstGeom prst="rect">
            <a:avLst/>
          </a:prstGeom>
        </p:spPr>
        <p:txBody>
          <a:bodyPr vert="horz" lIns="91440" tIns="45720" rIns="91440" bIns="45720" rtlCol="1"/>
          <a:lstStyle>
            <a:lvl1pPr algn="l">
              <a:defRPr sz="1200"/>
            </a:lvl1pPr>
          </a:lstStyle>
          <a:p>
            <a:endParaRPr lang="en-US"/>
          </a:p>
        </p:txBody>
      </p:sp>
      <p:sp>
        <p:nvSpPr>
          <p:cNvPr id="3" name="عنصر نائب للتاريخ 2"/>
          <p:cNvSpPr>
            <a:spLocks noGrp="1"/>
          </p:cNvSpPr>
          <p:nvPr>
            <p:ph type="dt" idx="1"/>
          </p:nvPr>
        </p:nvSpPr>
        <p:spPr>
          <a:xfrm>
            <a:off x="1588" y="0"/>
            <a:ext cx="2971800" cy="458788"/>
          </a:xfrm>
          <a:prstGeom prst="rect">
            <a:avLst/>
          </a:prstGeom>
        </p:spPr>
        <p:txBody>
          <a:bodyPr vert="horz" lIns="91440" tIns="45720" rIns="91440" bIns="45720" rtlCol="1"/>
          <a:lstStyle>
            <a:lvl1pPr algn="r">
              <a:defRPr sz="1200"/>
            </a:lvl1pPr>
          </a:lstStyle>
          <a:p>
            <a:fld id="{A6B88F40-A69D-4414-AF87-29FC59298373}" type="datetimeFigureOut">
              <a:rPr lang="en-US" smtClean="0"/>
              <a:t>8/22/2026</a:t>
            </a:fld>
            <a:endParaRPr lang="en-US"/>
          </a:p>
        </p:txBody>
      </p:sp>
      <p:sp>
        <p:nvSpPr>
          <p:cNvPr id="4" name="عنصر نائب لصورة الشريحة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en-US"/>
          </a:p>
        </p:txBody>
      </p:sp>
      <p:sp>
        <p:nvSpPr>
          <p:cNvPr id="5" name="عنصر نائب للملاحظات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6" name="عنصر نائب للتذييل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l">
              <a:defRPr sz="1200"/>
            </a:lvl1pPr>
          </a:lstStyle>
          <a:p>
            <a:endParaRPr lang="en-US"/>
          </a:p>
        </p:txBody>
      </p:sp>
      <p:sp>
        <p:nvSpPr>
          <p:cNvPr id="7" name="عنصر نائب لرقم الشريحة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r">
              <a:defRPr sz="1200"/>
            </a:lvl1pPr>
          </a:lstStyle>
          <a:p>
            <a:fld id="{9B3AD8B9-67C0-413D-A354-51AC6CE20907}" type="slidenum">
              <a:rPr lang="en-US" smtClean="0"/>
              <a:t>‹#›</a:t>
            </a:fld>
            <a:endParaRPr lang="en-US"/>
          </a:p>
        </p:txBody>
      </p:sp>
    </p:spTree>
    <p:extLst>
      <p:ext uri="{BB962C8B-B14F-4D97-AF65-F5344CB8AC3E}">
        <p14:creationId xmlns:p14="http://schemas.microsoft.com/office/powerpoint/2010/main" val="3309348675"/>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3764982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832815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78094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9057126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5560220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7382827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42499692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46061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739628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01970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5588598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980648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38563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jpeg"/></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4.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6.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 Id="rId4" Type="http://schemas.openxmlformats.org/officeDocument/2006/relationships/hyperlink" Target="https://drive.google.com/file/d/1IDmx-0Cmzo8fjB-Jm7igpoQjbqmxDS2Z/view?usp=drivesdk"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hyperlink" Target="https://drive.google.com/file/d/1IGuZn5bMumjbgMvEK6Zu3D0UDUMh42Kd/view?usp=drivesdk"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hyperlink" Target="https://drive.google.com/drive/folders/1IXTq511kTnTyhcE4trgjhiUwLLkBzhHu" TargetMode="Externa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hyperlink" Target="https://drive.google.com/drive/folders/1IY77ZaiL-h1x-6NypbmU9zTQmvDoDTBJ"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37.png"/><Relationship Id="rId5" Type="http://schemas.openxmlformats.org/officeDocument/2006/relationships/hyperlink" Target="https://drive.google.com/drive/folders/1FJHzMlutOM92t9QcnLZBOka5EkZEti_k" TargetMode="Externa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 Id="rId4" Type="http://schemas.openxmlformats.org/officeDocument/2006/relationships/image" Target="../media/image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66751" y="1190626"/>
            <a:ext cx="647700" cy="647700"/>
          </a:xfrm>
          <a:prstGeom prst="rect">
            <a:avLst/>
          </a:prstGeom>
        </p:spPr>
      </p:pic>
      <p:sp>
        <p:nvSpPr>
          <p:cNvPr id="4" name="Text 0"/>
          <p:cNvSpPr/>
          <p:nvPr/>
        </p:nvSpPr>
        <p:spPr>
          <a:xfrm>
            <a:off x="1447800" y="1371600"/>
            <a:ext cx="581826" cy="266676"/>
          </a:xfrm>
          <a:prstGeom prst="rect">
            <a:avLst/>
          </a:prstGeom>
          <a:noFill/>
          <a:ln/>
        </p:spPr>
        <p:txBody>
          <a:bodyPr wrap="none" lIns="0" tIns="0" rIns="0" bIns="0" rtlCol="0" anchor="t">
            <a:spAutoFit/>
          </a:bodyPr>
          <a:lstStyle/>
          <a:p>
            <a:r>
              <a:rPr lang="en-US" sz="1733" b="1" kern="0" spc="3" dirty="0">
                <a:solidFill>
                  <a:srgbClr val="FFFFFF"/>
                </a:solidFill>
                <a:latin typeface="Arial" pitchFamily="34" charset="0"/>
                <a:ea typeface="Arial" pitchFamily="34" charset="-122"/>
                <a:cs typeface="Arial" pitchFamily="34" charset="-120"/>
              </a:rPr>
              <a:t>QAIM</a:t>
            </a:r>
            <a:endParaRPr lang="en-US" sz="1733" dirty="0"/>
          </a:p>
        </p:txBody>
      </p:sp>
      <p:sp>
        <p:nvSpPr>
          <p:cNvPr id="5" name="Text 1"/>
          <p:cNvSpPr/>
          <p:nvPr/>
        </p:nvSpPr>
        <p:spPr>
          <a:xfrm>
            <a:off x="666751" y="2171701"/>
            <a:ext cx="4905375"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ASSIGNMENT 8 / SOSTAC MODEL APPLICATION</a:t>
            </a:r>
            <a:endParaRPr lang="en-US" sz="933" dirty="0"/>
          </a:p>
        </p:txBody>
      </p:sp>
      <p:sp>
        <p:nvSpPr>
          <p:cNvPr id="6" name="Text 2"/>
          <p:cNvSpPr/>
          <p:nvPr/>
        </p:nvSpPr>
        <p:spPr>
          <a:xfrm>
            <a:off x="666751" y="2447925"/>
            <a:ext cx="4905375" cy="879600"/>
          </a:xfrm>
          <a:prstGeom prst="rect">
            <a:avLst/>
          </a:prstGeom>
          <a:noFill/>
          <a:ln/>
        </p:spPr>
        <p:txBody>
          <a:bodyPr wrap="square" lIns="0" tIns="0" rIns="0" bIns="0" rtlCol="0" anchor="t">
            <a:spAutoFit/>
          </a:bodyPr>
          <a:lstStyle/>
          <a:p>
            <a:pPr>
              <a:lnSpc>
                <a:spcPct val="81600"/>
              </a:lnSpc>
            </a:pPr>
            <a:r>
              <a:rPr lang="en-US" sz="3467" b="1" dirty="0">
                <a:solidFill>
                  <a:srgbClr val="FFFFFF"/>
                </a:solidFill>
                <a:latin typeface="Arial" pitchFamily="34" charset="0"/>
                <a:ea typeface="Arial" pitchFamily="34" charset="-122"/>
                <a:cs typeface="Arial" pitchFamily="34" charset="-120"/>
              </a:rPr>
              <a:t>Tactics
+ AI Content</a:t>
            </a:r>
            <a:endParaRPr lang="en-US" sz="3467" dirty="0"/>
          </a:p>
        </p:txBody>
      </p:sp>
      <p:sp>
        <p:nvSpPr>
          <p:cNvPr id="7" name="Text 3"/>
          <p:cNvSpPr/>
          <p:nvPr/>
        </p:nvSpPr>
        <p:spPr>
          <a:xfrm>
            <a:off x="666751" y="3600749"/>
            <a:ext cx="4905375" cy="513089"/>
          </a:xfrm>
          <a:prstGeom prst="rect">
            <a:avLst/>
          </a:prstGeom>
          <a:noFill/>
          <a:ln/>
        </p:spPr>
        <p:txBody>
          <a:bodyPr wrap="square" lIns="0" tIns="0" rIns="0" bIns="0" rtlCol="0" anchor="t">
            <a:spAutoFit/>
          </a:bodyPr>
          <a:lstStyle/>
          <a:p>
            <a:r>
              <a:rPr lang="en-US" sz="1667" dirty="0">
                <a:solidFill>
                  <a:srgbClr val="CCCCCC"/>
                </a:solidFill>
                <a:latin typeface="Arial" pitchFamily="34" charset="0"/>
                <a:ea typeface="Arial" pitchFamily="34" charset="-122"/>
                <a:cs typeface="Arial" pitchFamily="34" charset="-120"/>
              </a:rPr>
              <a:t>A connected digital growth plan for Qaim Men's Fashion</a:t>
            </a:r>
            <a:endParaRPr lang="en-US" sz="1667" dirty="0"/>
          </a:p>
        </p:txBody>
      </p:sp>
      <p:sp>
        <p:nvSpPr>
          <p:cNvPr id="8" name="Text 4"/>
          <p:cNvSpPr/>
          <p:nvPr/>
        </p:nvSpPr>
        <p:spPr>
          <a:xfrm>
            <a:off x="666751" y="4591349"/>
            <a:ext cx="4905375" cy="820503"/>
          </a:xfrm>
          <a:prstGeom prst="rect">
            <a:avLst/>
          </a:prstGeom>
          <a:noFill/>
          <a:ln/>
        </p:spPr>
        <p:txBody>
          <a:bodyPr wrap="square" lIns="0" tIns="170011" rIns="0" bIns="0" rtlCol="0" anchor="t">
            <a:spAutoFit/>
          </a:bodyPr>
          <a:lstStyle/>
          <a:p>
            <a:pPr>
              <a:lnSpc>
                <a:spcPct val="120000"/>
              </a:lnSpc>
            </a:pPr>
            <a:r>
              <a:rPr lang="en-US" sz="1133" b="1" dirty="0">
                <a:solidFill>
                  <a:srgbClr val="FFFFFF"/>
                </a:solidFill>
                <a:latin typeface="Arial" pitchFamily="34" charset="0"/>
                <a:ea typeface="Arial" pitchFamily="34" charset="-122"/>
                <a:cs typeface="Arial" pitchFamily="34" charset="-120"/>
              </a:rPr>
              <a:t>Prepared by:</a:t>
            </a:r>
            <a:r>
              <a:rPr lang="en-US" sz="1200" dirty="0">
                <a:solidFill>
                  <a:srgbClr val="BBBBBB"/>
                </a:solidFill>
                <a:latin typeface="Arial" pitchFamily="34" charset="0"/>
                <a:ea typeface="Arial" pitchFamily="34" charset="-122"/>
                <a:cs typeface="Arial" pitchFamily="34" charset="-120"/>
              </a:rPr>
              <a:t> Mohamed Mostafa Taher
</a:t>
            </a:r>
            <a:r>
              <a:rPr lang="en-US" sz="1133" b="1" dirty="0">
                <a:solidFill>
                  <a:srgbClr val="FFFFFF"/>
                </a:solidFill>
                <a:latin typeface="Arial" pitchFamily="34" charset="0"/>
                <a:ea typeface="Arial" pitchFamily="34" charset="-122"/>
                <a:cs typeface="Arial" pitchFamily="34" charset="-120"/>
              </a:rPr>
              <a:t>Student ID:</a:t>
            </a:r>
            <a:r>
              <a:rPr lang="en-US" sz="1200" dirty="0">
                <a:solidFill>
                  <a:srgbClr val="BBBBBB"/>
                </a:solidFill>
                <a:latin typeface="Arial" pitchFamily="34" charset="0"/>
                <a:ea typeface="Arial" pitchFamily="34" charset="-122"/>
                <a:cs typeface="Arial" pitchFamily="34" charset="-120"/>
              </a:rPr>
              <a:t> 21172333
</a:t>
            </a:r>
            <a:r>
              <a:rPr lang="en-US" sz="1133" b="1" dirty="0">
                <a:solidFill>
                  <a:srgbClr val="FFFFFF"/>
                </a:solidFill>
                <a:latin typeface="Arial" pitchFamily="34" charset="0"/>
                <a:ea typeface="Arial" pitchFamily="34" charset="-122"/>
                <a:cs typeface="Arial" pitchFamily="34" charset="-120"/>
              </a:rPr>
              <a:t>Channels:</a:t>
            </a:r>
            <a:r>
              <a:rPr lang="en-US" sz="1200" dirty="0">
                <a:solidFill>
                  <a:srgbClr val="BBBBBB"/>
                </a:solidFill>
                <a:latin typeface="Arial" pitchFamily="34" charset="0"/>
                <a:ea typeface="Arial" pitchFamily="34" charset="-122"/>
                <a:cs typeface="Arial" pitchFamily="34" charset="-120"/>
              </a:rPr>
              <a:t> Facebook • Instagram • Qaim.shop</a:t>
            </a:r>
            <a:endParaRPr lang="en-US" sz="1133" dirty="0"/>
          </a:p>
        </p:txBody>
      </p:sp>
      <p:pic>
        <p:nvPicPr>
          <p:cNvPr id="9" name="Image 2" descr="preencoded.png"/>
          <p:cNvPicPr>
            <a:picLocks noChangeAspect="1"/>
          </p:cNvPicPr>
          <p:nvPr/>
        </p:nvPicPr>
        <p:blipFill>
          <a:blip r:embed="rId5"/>
          <a:stretch>
            <a:fillRect/>
          </a:stretch>
        </p:blipFill>
        <p:spPr>
          <a:xfrm>
            <a:off x="6000751" y="523875"/>
            <a:ext cx="5524500" cy="5619751"/>
          </a:xfrm>
          <a:prstGeom prst="rect">
            <a:avLst/>
          </a:prstGeom>
        </p:spPr>
      </p:pic>
      <p:sp>
        <p:nvSpPr>
          <p:cNvPr id="10" name="Text 5"/>
          <p:cNvSpPr/>
          <p:nvPr/>
        </p:nvSpPr>
        <p:spPr>
          <a:xfrm>
            <a:off x="666752" y="6496051"/>
            <a:ext cx="6614145" cy="112788"/>
          </a:xfrm>
          <a:prstGeom prst="rect">
            <a:avLst/>
          </a:prstGeom>
          <a:noFill/>
          <a:ln/>
        </p:spPr>
        <p:txBody>
          <a:bodyPr wrap="square" lIns="0" tIns="0" rIns="0" bIns="0" rtlCol="0" anchor="t">
            <a:spAutoFit/>
          </a:bodyPr>
          <a:lstStyle/>
          <a:p>
            <a:r>
              <a:rPr lang="en-US" sz="733" kern="0" spc="1" dirty="0">
                <a:solidFill>
                  <a:srgbClr val="777777"/>
                </a:solidFill>
                <a:latin typeface="Arial" pitchFamily="34" charset="0"/>
                <a:ea typeface="Arial" pitchFamily="34" charset="-122"/>
                <a:cs typeface="Arial" pitchFamily="34" charset="-120"/>
              </a:rPr>
              <a:t>PRODUCT REFERENCE: Qaim public Facebook campaign image • CREATIVE RECOMPOSITION FOR PRESENTATION</a:t>
            </a:r>
            <a:endParaRPr lang="en-US" sz="733" dirty="0"/>
          </a:p>
        </p:txBody>
      </p:sp>
    </p:spTree>
    <p:extLst>
      <p:ext uri="{BB962C8B-B14F-4D97-AF65-F5344CB8AC3E}">
        <p14:creationId xmlns:p14="http://schemas.microsoft.com/office/powerpoint/2010/main" val="40761944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7060407"/>
          </a:xfrm>
          <a:prstGeom prst="rect">
            <a:avLst/>
          </a:prstGeom>
        </p:spPr>
      </p:pic>
      <p:pic>
        <p:nvPicPr>
          <p:cNvPr id="3" name="Image 1" descr="preencoded.png"/>
          <p:cNvPicPr>
            <a:picLocks noChangeAspect="1"/>
          </p:cNvPicPr>
          <p:nvPr/>
        </p:nvPicPr>
        <p:blipFill>
          <a:blip r:embed="rId4"/>
          <a:stretch>
            <a:fillRect/>
          </a:stretch>
        </p:blipFill>
        <p:spPr>
          <a:xfrm>
            <a:off x="666751" y="457200"/>
            <a:ext cx="457200" cy="457200"/>
          </a:xfrm>
          <a:prstGeom prst="rect">
            <a:avLst/>
          </a:prstGeom>
        </p:spPr>
      </p:pic>
      <p:sp>
        <p:nvSpPr>
          <p:cNvPr id="4" name="Text 0"/>
          <p:cNvSpPr/>
          <p:nvPr/>
        </p:nvSpPr>
        <p:spPr>
          <a:xfrm>
            <a:off x="1266826" y="566738"/>
            <a:ext cx="493661" cy="225767"/>
          </a:xfrm>
          <a:prstGeom prst="rect">
            <a:avLst/>
          </a:prstGeom>
          <a:noFill/>
          <a:ln/>
        </p:spPr>
        <p:txBody>
          <a:bodyPr wrap="none" lIns="0" tIns="0" rIns="0" bIns="0" rtlCol="0" anchor="t">
            <a:spAutoFit/>
          </a:bodyPr>
          <a:lstStyle/>
          <a:p>
            <a:r>
              <a:rPr lang="en-US" sz="1467" b="1" kern="0" spc="3" dirty="0">
                <a:solidFill>
                  <a:srgbClr val="FFFFFF"/>
                </a:solidFill>
                <a:latin typeface="Arial" pitchFamily="34" charset="0"/>
                <a:ea typeface="Arial" pitchFamily="34" charset="-122"/>
                <a:cs typeface="Arial" pitchFamily="34" charset="-120"/>
              </a:rPr>
              <a:t>QAIM</a:t>
            </a:r>
            <a:endParaRPr lang="en-US" sz="1467" dirty="0"/>
          </a:p>
        </p:txBody>
      </p:sp>
      <p:sp>
        <p:nvSpPr>
          <p:cNvPr id="5" name="Text 1"/>
          <p:cNvSpPr/>
          <p:nvPr/>
        </p:nvSpPr>
        <p:spPr>
          <a:xfrm>
            <a:off x="666751" y="1057275"/>
            <a:ext cx="10858500"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02 / CURRENT DIGITAL PRESENCE</a:t>
            </a:r>
            <a:endParaRPr lang="en-US" sz="933" dirty="0"/>
          </a:p>
        </p:txBody>
      </p:sp>
      <p:sp>
        <p:nvSpPr>
          <p:cNvPr id="6" name="Text 2"/>
          <p:cNvSpPr/>
          <p:nvPr/>
        </p:nvSpPr>
        <p:spPr>
          <a:xfrm>
            <a:off x="666751" y="1295401"/>
            <a:ext cx="10858500" cy="400110"/>
          </a:xfrm>
          <a:prstGeom prst="rect">
            <a:avLst/>
          </a:prstGeom>
          <a:noFill/>
          <a:ln/>
        </p:spPr>
        <p:txBody>
          <a:bodyPr wrap="square" lIns="0" tIns="0" rIns="0" bIns="0" rtlCol="0" anchor="t">
            <a:spAutoFit/>
          </a:bodyPr>
          <a:lstStyle/>
          <a:p>
            <a:r>
              <a:rPr lang="en-US" sz="2600" b="1" dirty="0">
                <a:solidFill>
                  <a:srgbClr val="FFFFFF"/>
                </a:solidFill>
                <a:latin typeface="Arial" pitchFamily="34" charset="0"/>
                <a:ea typeface="Arial" pitchFamily="34" charset="-122"/>
                <a:cs typeface="Arial" pitchFamily="34" charset="-120"/>
              </a:rPr>
              <a:t>Qaim Already Has the Touchpoints to Build a Funnel</a:t>
            </a:r>
            <a:endParaRPr lang="en-US" sz="2600" dirty="0"/>
          </a:p>
        </p:txBody>
      </p:sp>
      <p:sp>
        <p:nvSpPr>
          <p:cNvPr id="7" name="Text 3"/>
          <p:cNvSpPr/>
          <p:nvPr/>
        </p:nvSpPr>
        <p:spPr>
          <a:xfrm>
            <a:off x="666751" y="2071688"/>
            <a:ext cx="5162551" cy="133434"/>
          </a:xfrm>
          <a:prstGeom prst="rect">
            <a:avLst/>
          </a:prstGeom>
          <a:noFill/>
          <a:ln/>
        </p:spPr>
        <p:txBody>
          <a:bodyPr wrap="square" lIns="0" tIns="0" rIns="0" bIns="0" rtlCol="0" anchor="t">
            <a:spAutoFit/>
          </a:bodyPr>
          <a:lstStyle/>
          <a:p>
            <a:r>
              <a:rPr lang="en-US" sz="867" b="1" kern="0" spc="3" dirty="0">
                <a:solidFill>
                  <a:srgbClr val="AAAAAA"/>
                </a:solidFill>
                <a:latin typeface="Arial" pitchFamily="34" charset="0"/>
                <a:ea typeface="Arial" pitchFamily="34" charset="-122"/>
                <a:cs typeface="Arial" pitchFamily="34" charset="-120"/>
              </a:rPr>
              <a:t>VERIFIED FACEBOOK PRESENCE</a:t>
            </a:r>
            <a:endParaRPr lang="en-US" sz="867" dirty="0"/>
          </a:p>
        </p:txBody>
      </p:sp>
      <p:sp>
        <p:nvSpPr>
          <p:cNvPr id="8" name="Text 4"/>
          <p:cNvSpPr/>
          <p:nvPr/>
        </p:nvSpPr>
        <p:spPr>
          <a:xfrm>
            <a:off x="666751" y="2305051"/>
            <a:ext cx="5162551" cy="875304"/>
          </a:xfrm>
          <a:prstGeom prst="rect">
            <a:avLst/>
          </a:prstGeom>
          <a:noFill/>
          <a:ln/>
        </p:spPr>
        <p:txBody>
          <a:bodyPr wrap="square" lIns="0" tIns="0" rIns="0" bIns="0" rtlCol="0" anchor="t">
            <a:spAutoFit/>
          </a:bodyPr>
          <a:lstStyle/>
          <a:p>
            <a:pPr>
              <a:lnSpc>
                <a:spcPct val="113600"/>
              </a:lnSpc>
            </a:pPr>
            <a:r>
              <a:rPr lang="en-US" sz="1267" dirty="0">
                <a:solidFill>
                  <a:srgbClr val="DDDDDD"/>
                </a:solidFill>
                <a:latin typeface="Arial" pitchFamily="34" charset="0"/>
                <a:ea typeface="Arial" pitchFamily="34" charset="-122"/>
                <a:cs typeface="Arial" pitchFamily="34" charset="-120"/>
              </a:rPr>
              <a:t>The public page is categorized as a </a:t>
            </a:r>
            <a:r>
              <a:rPr lang="en-US" sz="1200" b="1" dirty="0">
                <a:solidFill>
                  <a:srgbClr val="FFFFFF"/>
                </a:solidFill>
                <a:latin typeface="Arial" pitchFamily="34" charset="0"/>
                <a:ea typeface="Arial" pitchFamily="34" charset="-122"/>
                <a:cs typeface="Arial" pitchFamily="34" charset="-120"/>
              </a:rPr>
              <a:t>Clothing shop, Men's clothes shop and Apparel &amp; clothing</a:t>
            </a:r>
            <a:r>
              <a:rPr lang="en-US" sz="1267" dirty="0">
                <a:solidFill>
                  <a:srgbClr val="DDDDDD"/>
                </a:solidFill>
                <a:latin typeface="Arial" pitchFamily="34" charset="0"/>
                <a:ea typeface="Arial" pitchFamily="34" charset="-122"/>
                <a:cs typeface="Arial" pitchFamily="34" charset="-120"/>
              </a:rPr>
              <a:t> page. It shows approximately </a:t>
            </a:r>
            <a:r>
              <a:rPr lang="en-US" sz="1200" b="1" dirty="0">
                <a:solidFill>
                  <a:srgbClr val="FFFFFF"/>
                </a:solidFill>
                <a:latin typeface="Arial" pitchFamily="34" charset="0"/>
                <a:ea typeface="Arial" pitchFamily="34" charset="-122"/>
                <a:cs typeface="Arial" pitchFamily="34" charset="-120"/>
              </a:rPr>
              <a:t>62K followers</a:t>
            </a:r>
            <a:r>
              <a:rPr lang="en-US" sz="1267" dirty="0">
                <a:solidFill>
                  <a:srgbClr val="DDDDDD"/>
                </a:solidFill>
                <a:latin typeface="Arial" pitchFamily="34" charset="0"/>
                <a:ea typeface="Arial" pitchFamily="34" charset="-122"/>
                <a:cs typeface="Arial" pitchFamily="34" charset="-120"/>
              </a:rPr>
              <a:t>, a public phone number, the official website link and a public rating of </a:t>
            </a:r>
            <a:r>
              <a:rPr lang="en-US" sz="1200" b="1" dirty="0">
                <a:solidFill>
                  <a:srgbClr val="FFFFFF"/>
                </a:solidFill>
                <a:latin typeface="Arial" pitchFamily="34" charset="0"/>
                <a:ea typeface="Arial" pitchFamily="34" charset="-122"/>
                <a:cs typeface="Arial" pitchFamily="34" charset="-120"/>
              </a:rPr>
              <a:t>94% recommend from 362 reviews</a:t>
            </a:r>
            <a:r>
              <a:rPr lang="en-US" sz="1267" dirty="0">
                <a:solidFill>
                  <a:srgbClr val="DDDDDD"/>
                </a:solidFill>
                <a:latin typeface="Arial" pitchFamily="34" charset="0"/>
                <a:ea typeface="Arial" pitchFamily="34" charset="-122"/>
                <a:cs typeface="Arial" pitchFamily="34" charset="-120"/>
              </a:rPr>
              <a:t>.</a:t>
            </a:r>
            <a:endParaRPr lang="en-US" sz="1267" dirty="0"/>
          </a:p>
        </p:txBody>
      </p:sp>
      <p:sp>
        <p:nvSpPr>
          <p:cNvPr id="9" name="Text 5"/>
          <p:cNvSpPr/>
          <p:nvPr/>
        </p:nvSpPr>
        <p:spPr>
          <a:xfrm>
            <a:off x="666751" y="3507284"/>
            <a:ext cx="5162551" cy="133434"/>
          </a:xfrm>
          <a:prstGeom prst="rect">
            <a:avLst/>
          </a:prstGeom>
          <a:noFill/>
          <a:ln/>
        </p:spPr>
        <p:txBody>
          <a:bodyPr wrap="square" lIns="0" tIns="0" rIns="0" bIns="0" rtlCol="0" anchor="t">
            <a:spAutoFit/>
          </a:bodyPr>
          <a:lstStyle/>
          <a:p>
            <a:r>
              <a:rPr lang="en-US" sz="867" b="1" kern="0" spc="3" dirty="0">
                <a:solidFill>
                  <a:srgbClr val="AAAAAA"/>
                </a:solidFill>
                <a:latin typeface="Arial" pitchFamily="34" charset="0"/>
                <a:ea typeface="Arial" pitchFamily="34" charset="-122"/>
                <a:cs typeface="Arial" pitchFamily="34" charset="-120"/>
              </a:rPr>
              <a:t>VERIFIED WEBSITE PRESENCE</a:t>
            </a:r>
            <a:endParaRPr lang="en-US" sz="867" dirty="0"/>
          </a:p>
        </p:txBody>
      </p:sp>
      <p:sp>
        <p:nvSpPr>
          <p:cNvPr id="10" name="Text 6"/>
          <p:cNvSpPr/>
          <p:nvPr/>
        </p:nvSpPr>
        <p:spPr>
          <a:xfrm>
            <a:off x="666751" y="3740647"/>
            <a:ext cx="5162551" cy="875304"/>
          </a:xfrm>
          <a:prstGeom prst="rect">
            <a:avLst/>
          </a:prstGeom>
          <a:noFill/>
          <a:ln/>
        </p:spPr>
        <p:txBody>
          <a:bodyPr wrap="square" lIns="0" tIns="0" rIns="0" bIns="0" rtlCol="0" anchor="t">
            <a:spAutoFit/>
          </a:bodyPr>
          <a:lstStyle/>
          <a:p>
            <a:pPr>
              <a:lnSpc>
                <a:spcPct val="113600"/>
              </a:lnSpc>
            </a:pPr>
            <a:r>
              <a:rPr lang="en-US" sz="1267" dirty="0">
                <a:solidFill>
                  <a:srgbClr val="DDDDDD"/>
                </a:solidFill>
                <a:latin typeface="Arial" pitchFamily="34" charset="0"/>
                <a:ea typeface="Arial" pitchFamily="34" charset="-122"/>
                <a:cs typeface="Arial" pitchFamily="34" charset="-120"/>
              </a:rPr>
              <a:t>The official website is an ecommerce storefront. Its public title references men's jeans, polo shirts, oversized T-shirts, sweatpants, cargo pants and shoes. The page also exposes search and cart functions.</a:t>
            </a:r>
            <a:endParaRPr lang="en-US" sz="1267" dirty="0"/>
          </a:p>
        </p:txBody>
      </p:sp>
      <p:pic>
        <p:nvPicPr>
          <p:cNvPr id="11" name="Image 2" descr="preencoded.png"/>
          <p:cNvPicPr>
            <a:picLocks noChangeAspect="1"/>
          </p:cNvPicPr>
          <p:nvPr/>
        </p:nvPicPr>
        <p:blipFill>
          <a:blip r:embed="rId5"/>
          <a:stretch>
            <a:fillRect/>
          </a:stretch>
        </p:blipFill>
        <p:spPr>
          <a:xfrm>
            <a:off x="6286501" y="2071689"/>
            <a:ext cx="5238751" cy="3333751"/>
          </a:xfrm>
          <a:prstGeom prst="rect">
            <a:avLst/>
          </a:prstGeom>
        </p:spPr>
      </p:pic>
      <p:sp>
        <p:nvSpPr>
          <p:cNvPr id="12" name="Text 7"/>
          <p:cNvSpPr/>
          <p:nvPr/>
        </p:nvSpPr>
        <p:spPr>
          <a:xfrm>
            <a:off x="6286501" y="5519738"/>
            <a:ext cx="5238751" cy="339837"/>
          </a:xfrm>
          <a:prstGeom prst="rect">
            <a:avLst/>
          </a:prstGeom>
          <a:noFill/>
          <a:ln/>
        </p:spPr>
        <p:txBody>
          <a:bodyPr wrap="square" lIns="0" tIns="0" rIns="0" bIns="0" rtlCol="0" anchor="t">
            <a:spAutoFit/>
          </a:bodyPr>
          <a:lstStyle/>
          <a:p>
            <a:pPr>
              <a:lnSpc>
                <a:spcPct val="113600"/>
              </a:lnSpc>
            </a:pPr>
            <a:r>
              <a:rPr lang="en-US" sz="1000" dirty="0">
                <a:solidFill>
                  <a:srgbClr val="AAAAAA"/>
                </a:solidFill>
                <a:latin typeface="Arial" pitchFamily="34" charset="0"/>
                <a:ea typeface="Arial" pitchFamily="34" charset="-122"/>
                <a:cs typeface="Arial" pitchFamily="34" charset="-120"/>
              </a:rPr>
              <a:t>Concept visual for the social-to-ecommerce journey; not a screenshot of Qaim's actual interface.</a:t>
            </a:r>
            <a:endParaRPr lang="en-US" sz="1000" dirty="0"/>
          </a:p>
        </p:txBody>
      </p:sp>
      <p:sp>
        <p:nvSpPr>
          <p:cNvPr id="13" name="Shape 8"/>
          <p:cNvSpPr/>
          <p:nvPr/>
        </p:nvSpPr>
        <p:spPr>
          <a:xfrm>
            <a:off x="666751" y="6136482"/>
            <a:ext cx="10858500" cy="638175"/>
          </a:xfrm>
          <a:prstGeom prst="rect">
            <a:avLst/>
          </a:prstGeom>
          <a:solidFill>
            <a:srgbClr val="000000">
              <a:alpha val="0"/>
            </a:srgbClr>
          </a:solidFill>
          <a:ln/>
        </p:spPr>
      </p:sp>
      <p:sp>
        <p:nvSpPr>
          <p:cNvPr id="14" name="Shape 9"/>
          <p:cNvSpPr/>
          <p:nvPr/>
        </p:nvSpPr>
        <p:spPr>
          <a:xfrm>
            <a:off x="666751" y="6136482"/>
            <a:ext cx="10858500" cy="9525"/>
          </a:xfrm>
          <a:prstGeom prst="rect">
            <a:avLst/>
          </a:prstGeom>
          <a:solidFill>
            <a:srgbClr val="555555"/>
          </a:solidFill>
          <a:ln/>
        </p:spPr>
      </p:sp>
      <p:sp>
        <p:nvSpPr>
          <p:cNvPr id="15" name="Text 10"/>
          <p:cNvSpPr/>
          <p:nvPr/>
        </p:nvSpPr>
        <p:spPr>
          <a:xfrm>
            <a:off x="666751" y="6136482"/>
            <a:ext cx="10858500" cy="374419"/>
          </a:xfrm>
          <a:prstGeom prst="rect">
            <a:avLst/>
          </a:prstGeom>
          <a:noFill/>
          <a:ln/>
        </p:spPr>
        <p:txBody>
          <a:bodyPr wrap="square" lIns="0" tIns="158835" rIns="0" bIns="0" rtlCol="0" anchor="t">
            <a:spAutoFit/>
          </a:bodyPr>
          <a:lstStyle/>
          <a:p>
            <a:pPr>
              <a:lnSpc>
                <a:spcPct val="104000"/>
              </a:lnSpc>
            </a:pPr>
            <a:r>
              <a:rPr lang="en-US" sz="1333" b="1" dirty="0">
                <a:solidFill>
                  <a:srgbClr val="B64046"/>
                </a:solidFill>
                <a:latin typeface="Arial" pitchFamily="34" charset="0"/>
                <a:ea typeface="Arial" pitchFamily="34" charset="-122"/>
                <a:cs typeface="Arial" pitchFamily="34" charset="-120"/>
              </a:rPr>
              <a:t>Strategic implication:</a:t>
            </a:r>
            <a:r>
              <a:rPr lang="en-US" sz="1400" dirty="0">
                <a:solidFill>
                  <a:srgbClr val="FFFFFF"/>
                </a:solidFill>
                <a:latin typeface="Arial" pitchFamily="34" charset="0"/>
                <a:ea typeface="Arial" pitchFamily="34" charset="-122"/>
                <a:cs typeface="Arial" pitchFamily="34" charset="-120"/>
              </a:rPr>
              <a:t> use Facebook and Instagram for discovery, styling and trust; use Qaim.shop for product evaluation and ordering.</a:t>
            </a:r>
            <a:endParaRPr lang="en-US" sz="1333" dirty="0"/>
          </a:p>
        </p:txBody>
      </p:sp>
      <p:sp>
        <p:nvSpPr>
          <p:cNvPr id="16" name="Text 11"/>
          <p:cNvSpPr/>
          <p:nvPr/>
        </p:nvSpPr>
        <p:spPr>
          <a:xfrm>
            <a:off x="666751" y="6927056"/>
            <a:ext cx="10858500" cy="112788"/>
          </a:xfrm>
          <a:prstGeom prst="rect">
            <a:avLst/>
          </a:prstGeom>
          <a:noFill/>
          <a:ln/>
        </p:spPr>
        <p:txBody>
          <a:bodyPr wrap="square" lIns="0" tIns="0" rIns="0" bIns="0" rtlCol="0" anchor="t">
            <a:spAutoFit/>
          </a:bodyPr>
          <a:lstStyle/>
          <a:p>
            <a:r>
              <a:rPr lang="en-US" sz="733" dirty="0">
                <a:solidFill>
                  <a:srgbClr val="777777"/>
                </a:solidFill>
                <a:latin typeface="Arial" pitchFamily="34" charset="0"/>
                <a:ea typeface="Arial" pitchFamily="34" charset="-122"/>
                <a:cs typeface="Arial" pitchFamily="34" charset="-120"/>
              </a:rPr>
              <a:t>Sources: facebook.com/Qaimbrand.AA • qaim.shop | Public facts verified 21 August 2026</a:t>
            </a:r>
            <a:endParaRPr lang="en-US" sz="733" dirty="0"/>
          </a:p>
        </p:txBody>
      </p:sp>
    </p:spTree>
    <p:extLst>
      <p:ext uri="{BB962C8B-B14F-4D97-AF65-F5344CB8AC3E}">
        <p14:creationId xmlns:p14="http://schemas.microsoft.com/office/powerpoint/2010/main" val="1707615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71500" y="400051"/>
            <a:ext cx="381000" cy="381000"/>
          </a:xfrm>
          <a:prstGeom prst="rect">
            <a:avLst/>
          </a:prstGeom>
        </p:spPr>
      </p:pic>
      <p:sp>
        <p:nvSpPr>
          <p:cNvPr id="4" name="Text 0"/>
          <p:cNvSpPr/>
          <p:nvPr/>
        </p:nvSpPr>
        <p:spPr>
          <a:xfrm>
            <a:off x="1047751" y="488156"/>
            <a:ext cx="424732" cy="194990"/>
          </a:xfrm>
          <a:prstGeom prst="rect">
            <a:avLst/>
          </a:prstGeom>
          <a:noFill/>
          <a:ln/>
        </p:spPr>
        <p:txBody>
          <a:bodyPr wrap="none" lIns="0" tIns="0" rIns="0" bIns="0" rtlCol="0" anchor="t">
            <a:spAutoFit/>
          </a:bodyPr>
          <a:lstStyle/>
          <a:p>
            <a:r>
              <a:rPr lang="en-US" sz="1267" b="1" kern="0" spc="3" dirty="0">
                <a:solidFill>
                  <a:srgbClr val="FFFFFF"/>
                </a:solidFill>
                <a:latin typeface="Arial" pitchFamily="34" charset="0"/>
                <a:ea typeface="Arial" pitchFamily="34" charset="-122"/>
                <a:cs typeface="Arial" pitchFamily="34" charset="-120"/>
              </a:rPr>
              <a:t>QAIM</a:t>
            </a:r>
            <a:endParaRPr lang="en-US" sz="1267" dirty="0"/>
          </a:p>
        </p:txBody>
      </p:sp>
      <p:sp>
        <p:nvSpPr>
          <p:cNvPr id="5" name="Text 1"/>
          <p:cNvSpPr/>
          <p:nvPr/>
        </p:nvSpPr>
        <p:spPr>
          <a:xfrm>
            <a:off x="571500" y="876300"/>
            <a:ext cx="11049000" cy="133434"/>
          </a:xfrm>
          <a:prstGeom prst="rect">
            <a:avLst/>
          </a:prstGeom>
          <a:noFill/>
          <a:ln/>
        </p:spPr>
        <p:txBody>
          <a:bodyPr wrap="square" lIns="0" tIns="0" rIns="0" bIns="0" rtlCol="0" anchor="t">
            <a:spAutoFit/>
          </a:bodyPr>
          <a:lstStyle/>
          <a:p>
            <a:r>
              <a:rPr lang="en-US" sz="867" b="1" kern="0" spc="3" dirty="0">
                <a:solidFill>
                  <a:srgbClr val="B64046"/>
                </a:solidFill>
                <a:latin typeface="Arial" pitchFamily="34" charset="0"/>
                <a:ea typeface="Arial" pitchFamily="34" charset="-122"/>
                <a:cs typeface="Arial" pitchFamily="34" charset="-120"/>
              </a:rPr>
              <a:t>03 / SITUATION → OPPORTUNITY</a:t>
            </a:r>
            <a:endParaRPr lang="en-US" sz="867" dirty="0"/>
          </a:p>
        </p:txBody>
      </p:sp>
      <p:sp>
        <p:nvSpPr>
          <p:cNvPr id="6" name="Text 2"/>
          <p:cNvSpPr/>
          <p:nvPr/>
        </p:nvSpPr>
        <p:spPr>
          <a:xfrm>
            <a:off x="571500" y="1100138"/>
            <a:ext cx="11049000" cy="400110"/>
          </a:xfrm>
          <a:prstGeom prst="rect">
            <a:avLst/>
          </a:prstGeom>
          <a:noFill/>
          <a:ln/>
        </p:spPr>
        <p:txBody>
          <a:bodyPr wrap="square" lIns="0" tIns="0" rIns="0" bIns="0" rtlCol="0" anchor="t">
            <a:spAutoFit/>
          </a:bodyPr>
          <a:lstStyle/>
          <a:p>
            <a:r>
              <a:rPr lang="en-US" sz="2600" b="1" dirty="0">
                <a:solidFill>
                  <a:srgbClr val="FFFFFF"/>
                </a:solidFill>
                <a:latin typeface="Arial" pitchFamily="34" charset="0"/>
                <a:ea typeface="Arial" pitchFamily="34" charset="-122"/>
                <a:cs typeface="Arial" pitchFamily="34" charset="-120"/>
              </a:rPr>
              <a:t>Qaim Has the Audience and the Store; the Plan Connects Them</a:t>
            </a:r>
            <a:endParaRPr lang="en-US" sz="2600" dirty="0"/>
          </a:p>
        </p:txBody>
      </p:sp>
      <p:sp>
        <p:nvSpPr>
          <p:cNvPr id="7" name="Text 3"/>
          <p:cNvSpPr/>
          <p:nvPr/>
        </p:nvSpPr>
        <p:spPr>
          <a:xfrm>
            <a:off x="571501" y="2271713"/>
            <a:ext cx="5391151"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WHAT IS PUBLICLY VERIFIED</a:t>
            </a:r>
            <a:endParaRPr lang="en-US" sz="800" dirty="0"/>
          </a:p>
        </p:txBody>
      </p:sp>
      <p:sp>
        <p:nvSpPr>
          <p:cNvPr id="8" name="Text 4"/>
          <p:cNvSpPr/>
          <p:nvPr/>
        </p:nvSpPr>
        <p:spPr>
          <a:xfrm>
            <a:off x="571501" y="2481264"/>
            <a:ext cx="5391151" cy="587853"/>
          </a:xfrm>
          <a:prstGeom prst="rect">
            <a:avLst/>
          </a:prstGeom>
          <a:noFill/>
          <a:ln/>
        </p:spPr>
        <p:txBody>
          <a:bodyPr wrap="square" lIns="0" tIns="0" rIns="0" bIns="0" rtlCol="0" anchor="t">
            <a:spAutoFit/>
          </a:bodyPr>
          <a:lstStyle/>
          <a:p>
            <a:pPr>
              <a:lnSpc>
                <a:spcPct val="108000"/>
              </a:lnSpc>
            </a:pPr>
            <a:r>
              <a:rPr lang="en-US" sz="1200" dirty="0">
                <a:solidFill>
                  <a:srgbClr val="DDDDDD"/>
                </a:solidFill>
                <a:latin typeface="Arial" pitchFamily="34" charset="0"/>
                <a:ea typeface="Arial" pitchFamily="34" charset="-122"/>
                <a:cs typeface="Arial" pitchFamily="34" charset="-120"/>
              </a:rPr>
              <a:t>Qaim's public Facebook page is positioned as a men's clothing shop. It shows approximately </a:t>
            </a:r>
            <a:r>
              <a:rPr lang="en-US" sz="1133" b="1" dirty="0">
                <a:solidFill>
                  <a:srgbClr val="FFFFFF"/>
                </a:solidFill>
                <a:latin typeface="Arial" pitchFamily="34" charset="0"/>
                <a:ea typeface="Arial" pitchFamily="34" charset="-122"/>
                <a:cs typeface="Arial" pitchFamily="34" charset="-120"/>
              </a:rPr>
              <a:t>62K followers</a:t>
            </a:r>
            <a:r>
              <a:rPr lang="en-US" sz="1200" dirty="0">
                <a:solidFill>
                  <a:srgbClr val="DDDDDD"/>
                </a:solidFill>
                <a:latin typeface="Arial" pitchFamily="34" charset="0"/>
                <a:ea typeface="Arial" pitchFamily="34" charset="-122"/>
                <a:cs typeface="Arial" pitchFamily="34" charset="-120"/>
              </a:rPr>
              <a:t>, </a:t>
            </a:r>
            <a:r>
              <a:rPr lang="en-US" sz="1133" b="1" dirty="0">
                <a:solidFill>
                  <a:srgbClr val="FFFFFF"/>
                </a:solidFill>
                <a:latin typeface="Arial" pitchFamily="34" charset="0"/>
                <a:ea typeface="Arial" pitchFamily="34" charset="-122"/>
                <a:cs typeface="Arial" pitchFamily="34" charset="-120"/>
              </a:rPr>
              <a:t>1 following</a:t>
            </a:r>
            <a:r>
              <a:rPr lang="en-US" sz="1200" dirty="0">
                <a:solidFill>
                  <a:srgbClr val="DDDDDD"/>
                </a:solidFill>
                <a:latin typeface="Arial" pitchFamily="34" charset="0"/>
                <a:ea typeface="Arial" pitchFamily="34" charset="-122"/>
                <a:cs typeface="Arial" pitchFamily="34" charset="-120"/>
              </a:rPr>
              <a:t>, a public recommendation signal of </a:t>
            </a:r>
            <a:r>
              <a:rPr lang="en-US" sz="1133" b="1" dirty="0">
                <a:solidFill>
                  <a:srgbClr val="FFFFFF"/>
                </a:solidFill>
                <a:latin typeface="Arial" pitchFamily="34" charset="0"/>
                <a:ea typeface="Arial" pitchFamily="34" charset="-122"/>
                <a:cs typeface="Arial" pitchFamily="34" charset="-120"/>
              </a:rPr>
              <a:t>94% from 362 reviews</a:t>
            </a:r>
            <a:r>
              <a:rPr lang="en-US" sz="1200" dirty="0">
                <a:solidFill>
                  <a:srgbClr val="DDDDDD"/>
                </a:solidFill>
                <a:latin typeface="Arial" pitchFamily="34" charset="0"/>
                <a:ea typeface="Arial" pitchFamily="34" charset="-122"/>
                <a:cs typeface="Arial" pitchFamily="34" charset="-120"/>
              </a:rPr>
              <a:t>, a phone number and a link to Qaim.shop.</a:t>
            </a:r>
            <a:endParaRPr lang="en-US" sz="1200" dirty="0"/>
          </a:p>
        </p:txBody>
      </p:sp>
      <p:sp>
        <p:nvSpPr>
          <p:cNvPr id="9" name="Text 5"/>
          <p:cNvSpPr/>
          <p:nvPr/>
        </p:nvSpPr>
        <p:spPr>
          <a:xfrm>
            <a:off x="571501" y="3612654"/>
            <a:ext cx="2633663"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62K</a:t>
            </a:r>
            <a:endParaRPr lang="en-US" sz="1667" dirty="0"/>
          </a:p>
        </p:txBody>
      </p:sp>
      <p:sp>
        <p:nvSpPr>
          <p:cNvPr id="10" name="Text 6"/>
          <p:cNvSpPr/>
          <p:nvPr/>
        </p:nvSpPr>
        <p:spPr>
          <a:xfrm>
            <a:off x="571500" y="3907930"/>
            <a:ext cx="1077218" cy="118174"/>
          </a:xfrm>
          <a:prstGeom prst="rect">
            <a:avLst/>
          </a:prstGeom>
          <a:noFill/>
          <a:ln/>
        </p:spPr>
        <p:txBody>
          <a:bodyPr wrap="none" lIns="0" tIns="0" rIns="0" bIns="0" rtlCol="0" anchor="t">
            <a:spAutoFit/>
          </a:bodyPr>
          <a:lstStyle/>
          <a:p>
            <a:pPr>
              <a:lnSpc>
                <a:spcPct val="96000"/>
              </a:lnSpc>
            </a:pPr>
            <a:r>
              <a:rPr lang="en-US" sz="800" dirty="0">
                <a:solidFill>
                  <a:srgbClr val="AAAAAA"/>
                </a:solidFill>
                <a:latin typeface="Arial" pitchFamily="34" charset="0"/>
                <a:ea typeface="Arial" pitchFamily="34" charset="-122"/>
                <a:cs typeface="Arial" pitchFamily="34" charset="-120"/>
              </a:rPr>
              <a:t>approx. public followers</a:t>
            </a:r>
            <a:endParaRPr lang="en-US" sz="800" dirty="0"/>
          </a:p>
        </p:txBody>
      </p:sp>
      <p:sp>
        <p:nvSpPr>
          <p:cNvPr id="11" name="Text 7"/>
          <p:cNvSpPr/>
          <p:nvPr/>
        </p:nvSpPr>
        <p:spPr>
          <a:xfrm>
            <a:off x="3328989" y="3612654"/>
            <a:ext cx="2633663"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94% / 362</a:t>
            </a:r>
            <a:endParaRPr lang="en-US" sz="1667" dirty="0"/>
          </a:p>
        </p:txBody>
      </p:sp>
      <p:sp>
        <p:nvSpPr>
          <p:cNvPr id="12" name="Text 8"/>
          <p:cNvSpPr/>
          <p:nvPr/>
        </p:nvSpPr>
        <p:spPr>
          <a:xfrm>
            <a:off x="3328988" y="3907930"/>
            <a:ext cx="1364156" cy="118174"/>
          </a:xfrm>
          <a:prstGeom prst="rect">
            <a:avLst/>
          </a:prstGeom>
          <a:noFill/>
          <a:ln/>
        </p:spPr>
        <p:txBody>
          <a:bodyPr wrap="none" lIns="0" tIns="0" rIns="0" bIns="0" rtlCol="0" anchor="t">
            <a:spAutoFit/>
          </a:bodyPr>
          <a:lstStyle/>
          <a:p>
            <a:pPr>
              <a:lnSpc>
                <a:spcPct val="96000"/>
              </a:lnSpc>
            </a:pPr>
            <a:r>
              <a:rPr lang="en-US" sz="800" dirty="0">
                <a:solidFill>
                  <a:srgbClr val="AAAAAA"/>
                </a:solidFill>
                <a:latin typeface="Arial" pitchFamily="34" charset="0"/>
                <a:ea typeface="Arial" pitchFamily="34" charset="-122"/>
                <a:cs typeface="Arial" pitchFamily="34" charset="-120"/>
              </a:rPr>
              <a:t>public recommendation signal</a:t>
            </a:r>
            <a:endParaRPr lang="en-US" sz="800" dirty="0"/>
          </a:p>
        </p:txBody>
      </p:sp>
      <p:sp>
        <p:nvSpPr>
          <p:cNvPr id="13" name="Text 9"/>
          <p:cNvSpPr/>
          <p:nvPr/>
        </p:nvSpPr>
        <p:spPr>
          <a:xfrm>
            <a:off x="571501" y="4254625"/>
            <a:ext cx="2633663"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Qaim.shop</a:t>
            </a:r>
            <a:endParaRPr lang="en-US" sz="1667" dirty="0"/>
          </a:p>
        </p:txBody>
      </p:sp>
      <p:sp>
        <p:nvSpPr>
          <p:cNvPr id="14" name="Text 10"/>
          <p:cNvSpPr/>
          <p:nvPr/>
        </p:nvSpPr>
        <p:spPr>
          <a:xfrm>
            <a:off x="571500" y="4549899"/>
            <a:ext cx="1386598" cy="118174"/>
          </a:xfrm>
          <a:prstGeom prst="rect">
            <a:avLst/>
          </a:prstGeom>
          <a:noFill/>
          <a:ln/>
        </p:spPr>
        <p:txBody>
          <a:bodyPr wrap="none" lIns="0" tIns="0" rIns="0" bIns="0" rtlCol="0" anchor="t">
            <a:spAutoFit/>
          </a:bodyPr>
          <a:lstStyle/>
          <a:p>
            <a:pPr>
              <a:lnSpc>
                <a:spcPct val="96000"/>
              </a:lnSpc>
            </a:pPr>
            <a:r>
              <a:rPr lang="en-US" sz="800" dirty="0">
                <a:solidFill>
                  <a:srgbClr val="AAAAAA"/>
                </a:solidFill>
                <a:latin typeface="Arial" pitchFamily="34" charset="0"/>
                <a:ea typeface="Arial" pitchFamily="34" charset="-122"/>
                <a:cs typeface="Arial" pitchFamily="34" charset="-120"/>
              </a:rPr>
              <a:t>official ecommerce destination</a:t>
            </a:r>
            <a:endParaRPr lang="en-US" sz="800" dirty="0"/>
          </a:p>
        </p:txBody>
      </p:sp>
      <p:sp>
        <p:nvSpPr>
          <p:cNvPr id="15" name="Text 11"/>
          <p:cNvSpPr/>
          <p:nvPr/>
        </p:nvSpPr>
        <p:spPr>
          <a:xfrm>
            <a:off x="3328989" y="4254625"/>
            <a:ext cx="2633663"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Search + Cart</a:t>
            </a:r>
            <a:endParaRPr lang="en-US" sz="1667" dirty="0"/>
          </a:p>
        </p:txBody>
      </p:sp>
      <p:sp>
        <p:nvSpPr>
          <p:cNvPr id="16" name="Text 12"/>
          <p:cNvSpPr/>
          <p:nvPr/>
        </p:nvSpPr>
        <p:spPr>
          <a:xfrm>
            <a:off x="3328988" y="4549899"/>
            <a:ext cx="1106072" cy="118174"/>
          </a:xfrm>
          <a:prstGeom prst="rect">
            <a:avLst/>
          </a:prstGeom>
          <a:noFill/>
          <a:ln/>
        </p:spPr>
        <p:txBody>
          <a:bodyPr wrap="none" lIns="0" tIns="0" rIns="0" bIns="0" rtlCol="0" anchor="t">
            <a:spAutoFit/>
          </a:bodyPr>
          <a:lstStyle/>
          <a:p>
            <a:pPr>
              <a:lnSpc>
                <a:spcPct val="96000"/>
              </a:lnSpc>
            </a:pPr>
            <a:r>
              <a:rPr lang="en-US" sz="800" dirty="0">
                <a:solidFill>
                  <a:srgbClr val="AAAAAA"/>
                </a:solidFill>
                <a:latin typeface="Arial" pitchFamily="34" charset="0"/>
                <a:ea typeface="Arial" pitchFamily="34" charset="-122"/>
                <a:cs typeface="Arial" pitchFamily="34" charset="-120"/>
              </a:rPr>
              <a:t>visible website functions</a:t>
            </a:r>
            <a:endParaRPr lang="en-US" sz="800" dirty="0"/>
          </a:p>
        </p:txBody>
      </p:sp>
      <p:sp>
        <p:nvSpPr>
          <p:cNvPr id="17" name="Text 13"/>
          <p:cNvSpPr/>
          <p:nvPr/>
        </p:nvSpPr>
        <p:spPr>
          <a:xfrm>
            <a:off x="6229351" y="2271713"/>
            <a:ext cx="5391151"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WHAT THE PLAN MUST SOLVE</a:t>
            </a:r>
            <a:endParaRPr lang="en-US" sz="800" dirty="0"/>
          </a:p>
        </p:txBody>
      </p:sp>
      <p:sp>
        <p:nvSpPr>
          <p:cNvPr id="18" name="Text 14"/>
          <p:cNvSpPr/>
          <p:nvPr/>
        </p:nvSpPr>
        <p:spPr>
          <a:xfrm>
            <a:off x="6229351" y="2481263"/>
            <a:ext cx="5391151" cy="787267"/>
          </a:xfrm>
          <a:prstGeom prst="rect">
            <a:avLst/>
          </a:prstGeom>
          <a:noFill/>
          <a:ln/>
        </p:spPr>
        <p:txBody>
          <a:bodyPr wrap="square" lIns="0" tIns="0" rIns="0" bIns="0" rtlCol="0" anchor="t">
            <a:spAutoFit/>
          </a:bodyPr>
          <a:lstStyle/>
          <a:p>
            <a:pPr>
              <a:lnSpc>
                <a:spcPct val="108000"/>
              </a:lnSpc>
            </a:pPr>
            <a:r>
              <a:rPr lang="en-US" sz="1200" dirty="0">
                <a:solidFill>
                  <a:srgbClr val="DDDDDD"/>
                </a:solidFill>
                <a:latin typeface="Arial" pitchFamily="34" charset="0"/>
                <a:ea typeface="Arial" pitchFamily="34" charset="-122"/>
                <a:cs typeface="Arial" pitchFamily="34" charset="-120"/>
              </a:rPr>
              <a:t>The public pages do not reveal which Reels, posts or ads generate the strongest clicks and orders. Therefore, the strategy must not assume that engagement is low or invent sales targets. It must create a repeatable path from attention to action and measure each hand-off.</a:t>
            </a:r>
            <a:endParaRPr lang="en-US" sz="1200" dirty="0"/>
          </a:p>
        </p:txBody>
      </p:sp>
      <p:sp>
        <p:nvSpPr>
          <p:cNvPr id="19" name="Text 15"/>
          <p:cNvSpPr/>
          <p:nvPr/>
        </p:nvSpPr>
        <p:spPr>
          <a:xfrm>
            <a:off x="6229351" y="3526930"/>
            <a:ext cx="5391151" cy="587853"/>
          </a:xfrm>
          <a:prstGeom prst="rect">
            <a:avLst/>
          </a:prstGeom>
          <a:noFill/>
          <a:ln/>
        </p:spPr>
        <p:txBody>
          <a:bodyPr wrap="square" lIns="0" tIns="0" rIns="0" bIns="0" rtlCol="0" anchor="t">
            <a:spAutoFit/>
          </a:bodyPr>
          <a:lstStyle/>
          <a:p>
            <a:pPr>
              <a:lnSpc>
                <a:spcPct val="108000"/>
              </a:lnSpc>
            </a:pPr>
            <a:r>
              <a:rPr lang="en-US" sz="1133" b="1" dirty="0">
                <a:solidFill>
                  <a:srgbClr val="FFFFFF"/>
                </a:solidFill>
                <a:latin typeface="Arial" pitchFamily="34" charset="0"/>
                <a:ea typeface="Arial" pitchFamily="34" charset="-122"/>
                <a:cs typeface="Arial" pitchFamily="34" charset="-120"/>
              </a:rPr>
              <a:t>Customer decision:</a:t>
            </a:r>
            <a:r>
              <a:rPr lang="en-US" sz="1200" dirty="0">
                <a:solidFill>
                  <a:srgbClr val="DDDDDD"/>
                </a:solidFill>
                <a:latin typeface="Arial" pitchFamily="34" charset="0"/>
                <a:ea typeface="Arial" pitchFamily="34" charset="-122"/>
                <a:cs typeface="Arial" pitchFamily="34" charset="-120"/>
              </a:rPr>
              <a:t>
What does Qaim sell? → How can I wear it? → Is it suitable for me? → Where do I order?</a:t>
            </a:r>
            <a:endParaRPr lang="en-US" sz="1133" dirty="0"/>
          </a:p>
        </p:txBody>
      </p:sp>
      <p:sp>
        <p:nvSpPr>
          <p:cNvPr id="20" name="Shape 16"/>
          <p:cNvSpPr/>
          <p:nvPr/>
        </p:nvSpPr>
        <p:spPr>
          <a:xfrm>
            <a:off x="571500" y="4877544"/>
            <a:ext cx="11049000" cy="619125"/>
          </a:xfrm>
          <a:prstGeom prst="rect">
            <a:avLst/>
          </a:prstGeom>
          <a:solidFill>
            <a:srgbClr val="000000">
              <a:alpha val="0"/>
            </a:srgbClr>
          </a:solidFill>
          <a:ln/>
        </p:spPr>
      </p:sp>
      <p:sp>
        <p:nvSpPr>
          <p:cNvPr id="21" name="Shape 17"/>
          <p:cNvSpPr/>
          <p:nvPr/>
        </p:nvSpPr>
        <p:spPr>
          <a:xfrm>
            <a:off x="571500" y="4877544"/>
            <a:ext cx="11049000" cy="9525"/>
          </a:xfrm>
          <a:prstGeom prst="rect">
            <a:avLst/>
          </a:prstGeom>
          <a:solidFill>
            <a:srgbClr val="555555"/>
          </a:solidFill>
          <a:ln/>
        </p:spPr>
      </p:sp>
      <p:sp>
        <p:nvSpPr>
          <p:cNvPr id="22" name="Text 18"/>
          <p:cNvSpPr/>
          <p:nvPr/>
        </p:nvSpPr>
        <p:spPr>
          <a:xfrm>
            <a:off x="571500" y="4877544"/>
            <a:ext cx="11049000" cy="575542"/>
          </a:xfrm>
          <a:prstGeom prst="rect">
            <a:avLst/>
          </a:prstGeom>
          <a:noFill/>
          <a:ln/>
        </p:spPr>
        <p:txBody>
          <a:bodyPr wrap="square" lIns="0" tIns="136144" rIns="0" bIns="0" rtlCol="0" anchor="t">
            <a:spAutoFit/>
          </a:bodyPr>
          <a:lstStyle/>
          <a:p>
            <a:pPr>
              <a:lnSpc>
                <a:spcPct val="104000"/>
              </a:lnSpc>
            </a:pPr>
            <a:r>
              <a:rPr lang="en-US" sz="1333" b="1" dirty="0">
                <a:solidFill>
                  <a:srgbClr val="B64046"/>
                </a:solidFill>
                <a:latin typeface="Arial" pitchFamily="34" charset="0"/>
                <a:ea typeface="Arial" pitchFamily="34" charset="-122"/>
                <a:cs typeface="Arial" pitchFamily="34" charset="-120"/>
              </a:rPr>
              <a:t>Bridge to the next slides:</a:t>
            </a:r>
            <a:r>
              <a:rPr lang="en-US" sz="1400" dirty="0">
                <a:solidFill>
                  <a:srgbClr val="FFFFFF"/>
                </a:solidFill>
                <a:latin typeface="Arial" pitchFamily="34" charset="0"/>
                <a:ea typeface="Arial" pitchFamily="34" charset="-122"/>
                <a:cs typeface="Arial" pitchFamily="34" charset="-120"/>
              </a:rPr>
              <a:t> Objectives define the four customer outcomes; Tactics then deliver them through Discover → Imagine → Verify → Visit → Order → Return.</a:t>
            </a:r>
            <a:endParaRPr lang="en-US" sz="1333" dirty="0"/>
          </a:p>
        </p:txBody>
      </p:sp>
      <p:sp>
        <p:nvSpPr>
          <p:cNvPr id="23" name="Text 19"/>
          <p:cNvSpPr/>
          <p:nvPr/>
        </p:nvSpPr>
        <p:spPr>
          <a:xfrm>
            <a:off x="571500" y="5601444"/>
            <a:ext cx="6981078" cy="102016"/>
          </a:xfrm>
          <a:prstGeom prst="rect">
            <a:avLst/>
          </a:prstGeom>
          <a:noFill/>
          <a:ln/>
        </p:spPr>
        <p:txBody>
          <a:bodyPr wrap="none" lIns="0" tIns="0" rIns="0" bIns="0" rtlCol="0" anchor="t">
            <a:spAutoFit/>
          </a:bodyPr>
          <a:lstStyle/>
          <a:p>
            <a:pPr>
              <a:lnSpc>
                <a:spcPct val="104000"/>
              </a:lnSpc>
            </a:pPr>
            <a:r>
              <a:rPr lang="en-US" sz="667" dirty="0">
                <a:solidFill>
                  <a:srgbClr val="777777"/>
                </a:solidFill>
                <a:latin typeface="Arial" pitchFamily="34" charset="0"/>
                <a:ea typeface="Arial" pitchFamily="34" charset="-122"/>
                <a:cs typeface="Arial" pitchFamily="34" charset="-120"/>
              </a:rPr>
              <a:t>Sources: Qaim Facebook page + Qaim official website, accessed 21 August 2026. Public facts are separated from performance data that requires Meta Insights and website analytics.</a:t>
            </a:r>
            <a:endParaRPr lang="en-US" sz="667" dirty="0"/>
          </a:p>
        </p:txBody>
      </p:sp>
    </p:spTree>
    <p:extLst>
      <p:ext uri="{BB962C8B-B14F-4D97-AF65-F5344CB8AC3E}">
        <p14:creationId xmlns:p14="http://schemas.microsoft.com/office/powerpoint/2010/main" val="40526659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23875" y="342901"/>
            <a:ext cx="438151" cy="438151"/>
          </a:xfrm>
          <a:prstGeom prst="rect">
            <a:avLst/>
          </a:prstGeom>
        </p:spPr>
      </p:pic>
      <p:sp>
        <p:nvSpPr>
          <p:cNvPr id="4" name="Text 0"/>
          <p:cNvSpPr/>
          <p:nvPr/>
        </p:nvSpPr>
        <p:spPr>
          <a:xfrm>
            <a:off x="1076326" y="442913"/>
            <a:ext cx="493661" cy="225767"/>
          </a:xfrm>
          <a:prstGeom prst="rect">
            <a:avLst/>
          </a:prstGeom>
          <a:noFill/>
          <a:ln/>
        </p:spPr>
        <p:txBody>
          <a:bodyPr wrap="none" lIns="0" tIns="0" rIns="0" bIns="0" rtlCol="0" anchor="t">
            <a:spAutoFit/>
          </a:bodyPr>
          <a:lstStyle/>
          <a:p>
            <a:r>
              <a:rPr lang="en-US" sz="1467" b="1" kern="0" spc="3" dirty="0">
                <a:solidFill>
                  <a:srgbClr val="FFFFFF"/>
                </a:solidFill>
                <a:latin typeface="Arial" pitchFamily="34" charset="0"/>
                <a:ea typeface="Arial" pitchFamily="34" charset="-122"/>
                <a:cs typeface="Arial" pitchFamily="34" charset="-120"/>
              </a:rPr>
              <a:t>QAIM</a:t>
            </a:r>
            <a:endParaRPr lang="en-US" sz="1467" dirty="0"/>
          </a:p>
        </p:txBody>
      </p:sp>
      <p:sp>
        <p:nvSpPr>
          <p:cNvPr id="5" name="Text 1"/>
          <p:cNvSpPr/>
          <p:nvPr/>
        </p:nvSpPr>
        <p:spPr>
          <a:xfrm>
            <a:off x="523875" y="885825"/>
            <a:ext cx="11144251" cy="153888"/>
          </a:xfrm>
          <a:prstGeom prst="rect">
            <a:avLst/>
          </a:prstGeom>
          <a:noFill/>
          <a:ln/>
        </p:spPr>
        <p:txBody>
          <a:bodyPr wrap="square" lIns="0" tIns="0" rIns="0" bIns="0" rtlCol="0" anchor="t">
            <a:spAutoFit/>
          </a:bodyPr>
          <a:lstStyle/>
          <a:p>
            <a:r>
              <a:rPr lang="en-US" sz="1000" b="1" kern="0" spc="3" dirty="0">
                <a:solidFill>
                  <a:srgbClr val="B64046"/>
                </a:solidFill>
                <a:latin typeface="Arial" pitchFamily="34" charset="0"/>
                <a:ea typeface="Arial" pitchFamily="34" charset="-122"/>
                <a:cs typeface="Arial" pitchFamily="34" charset="-120"/>
              </a:rPr>
              <a:t>04 / MARKETING OBJECTIVES</a:t>
            </a:r>
            <a:endParaRPr lang="en-US" sz="1000" dirty="0"/>
          </a:p>
        </p:txBody>
      </p:sp>
      <p:sp>
        <p:nvSpPr>
          <p:cNvPr id="6" name="Text 2"/>
          <p:cNvSpPr/>
          <p:nvPr/>
        </p:nvSpPr>
        <p:spPr>
          <a:xfrm>
            <a:off x="523875" y="1123951"/>
            <a:ext cx="8724120" cy="363497"/>
          </a:xfrm>
          <a:prstGeom prst="rect">
            <a:avLst/>
          </a:prstGeom>
          <a:noFill/>
          <a:ln/>
        </p:spPr>
        <p:txBody>
          <a:bodyPr wrap="none" lIns="0" tIns="0" rIns="0" bIns="0" rtlCol="0" anchor="t">
            <a:spAutoFit/>
          </a:bodyPr>
          <a:lstStyle/>
          <a:p>
            <a:pPr>
              <a:lnSpc>
                <a:spcPct val="84000"/>
              </a:lnSpc>
            </a:pPr>
            <a:r>
              <a:rPr lang="en-US" sz="2800" b="1" dirty="0">
                <a:solidFill>
                  <a:srgbClr val="FFFFFF"/>
                </a:solidFill>
                <a:latin typeface="Arial" pitchFamily="34" charset="0"/>
                <a:ea typeface="Arial" pitchFamily="34" charset="-122"/>
                <a:cs typeface="Arial" pitchFamily="34" charset="-120"/>
              </a:rPr>
              <a:t>Every Tactic Has One Job in the Customer Journey</a:t>
            </a:r>
            <a:endParaRPr lang="en-US" sz="2800" dirty="0"/>
          </a:p>
        </p:txBody>
      </p:sp>
      <p:sp>
        <p:nvSpPr>
          <p:cNvPr id="7" name="Text 3"/>
          <p:cNvSpPr/>
          <p:nvPr/>
        </p:nvSpPr>
        <p:spPr>
          <a:xfrm>
            <a:off x="523875" y="1629669"/>
            <a:ext cx="10668000" cy="424347"/>
          </a:xfrm>
          <a:prstGeom prst="rect">
            <a:avLst/>
          </a:prstGeom>
          <a:noFill/>
          <a:ln/>
        </p:spPr>
        <p:txBody>
          <a:bodyPr wrap="square" lIns="0" tIns="0" rIns="0" bIns="0" rtlCol="0" anchor="t">
            <a:spAutoFit/>
          </a:bodyPr>
          <a:lstStyle/>
          <a:p>
            <a:pPr>
              <a:lnSpc>
                <a:spcPct val="105600"/>
              </a:lnSpc>
            </a:pPr>
            <a:r>
              <a:rPr lang="en-US" sz="1333" dirty="0">
                <a:solidFill>
                  <a:srgbClr val="D4D4D4"/>
                </a:solidFill>
                <a:latin typeface="Arial" pitchFamily="34" charset="0"/>
                <a:ea typeface="Arial" pitchFamily="34" charset="-122"/>
                <a:cs typeface="Arial" pitchFamily="34" charset="-120"/>
              </a:rPr>
              <a:t>The objectives translate Qaim's public social-and-ecommerce presence into a measurable funnel. Numerical targets should be set only after reviewing Meta Insights and website analytics baselines.</a:t>
            </a:r>
            <a:endParaRPr lang="en-US" sz="1333" dirty="0"/>
          </a:p>
        </p:txBody>
      </p:sp>
      <p:sp>
        <p:nvSpPr>
          <p:cNvPr id="8" name="Text 4"/>
          <p:cNvSpPr/>
          <p:nvPr/>
        </p:nvSpPr>
        <p:spPr>
          <a:xfrm>
            <a:off x="523875" y="2431256"/>
            <a:ext cx="5462588" cy="164212"/>
          </a:xfrm>
          <a:prstGeom prst="rect">
            <a:avLst/>
          </a:prstGeom>
          <a:noFill/>
          <a:ln/>
        </p:spPr>
        <p:txBody>
          <a:bodyPr wrap="square" lIns="0" tIns="0" rIns="0" bIns="0" rtlCol="0" anchor="t">
            <a:spAutoFit/>
          </a:bodyPr>
          <a:lstStyle/>
          <a:p>
            <a:r>
              <a:rPr lang="en-US" sz="1067" b="1" kern="0" spc="3" dirty="0">
                <a:solidFill>
                  <a:srgbClr val="C34A51"/>
                </a:solidFill>
                <a:latin typeface="Arial" pitchFamily="34" charset="0"/>
                <a:ea typeface="Arial" pitchFamily="34" charset="-122"/>
                <a:cs typeface="Arial" pitchFamily="34" charset="-120"/>
              </a:rPr>
              <a:t>01 / DISCOVER</a:t>
            </a:r>
            <a:endParaRPr lang="en-US" sz="1067" dirty="0"/>
          </a:p>
        </p:txBody>
      </p:sp>
      <p:sp>
        <p:nvSpPr>
          <p:cNvPr id="9" name="Text 5"/>
          <p:cNvSpPr/>
          <p:nvPr/>
        </p:nvSpPr>
        <p:spPr>
          <a:xfrm>
            <a:off x="523875" y="2645570"/>
            <a:ext cx="5462588" cy="246221"/>
          </a:xfrm>
          <a:prstGeom prst="rect">
            <a:avLst/>
          </a:prstGeom>
          <a:noFill/>
          <a:ln/>
        </p:spPr>
        <p:txBody>
          <a:bodyPr wrap="square" lIns="0" tIns="0" rIns="0" bIns="0" rtlCol="0" anchor="t">
            <a:spAutoFit/>
          </a:bodyPr>
          <a:lstStyle/>
          <a:p>
            <a:r>
              <a:rPr lang="en-US" sz="1600" b="1" dirty="0">
                <a:solidFill>
                  <a:srgbClr val="FFFFFF"/>
                </a:solidFill>
                <a:latin typeface="Arial" pitchFamily="34" charset="0"/>
                <a:ea typeface="Arial" pitchFamily="34" charset="-122"/>
                <a:cs typeface="Arial" pitchFamily="34" charset="-120"/>
              </a:rPr>
              <a:t>Make Qaim's catalogue easier to notice.</a:t>
            </a:r>
            <a:endParaRPr lang="en-US" sz="1600" dirty="0"/>
          </a:p>
        </p:txBody>
      </p:sp>
      <p:sp>
        <p:nvSpPr>
          <p:cNvPr id="10" name="Text 6"/>
          <p:cNvSpPr/>
          <p:nvPr/>
        </p:nvSpPr>
        <p:spPr>
          <a:xfrm>
            <a:off x="523875" y="2974182"/>
            <a:ext cx="5462588" cy="567591"/>
          </a:xfrm>
          <a:prstGeom prst="rect">
            <a:avLst/>
          </a:prstGeom>
          <a:noFill/>
          <a:ln/>
        </p:spPr>
        <p:txBody>
          <a:bodyPr wrap="square" lIns="0" tIns="0" rIns="0" bIns="0" rtlCol="0" anchor="t">
            <a:spAutoFit/>
          </a:bodyPr>
          <a:lstStyle/>
          <a:p>
            <a:pPr>
              <a:lnSpc>
                <a:spcPct val="104000"/>
              </a:lnSpc>
            </a:pPr>
            <a:r>
              <a:rPr lang="en-US" sz="1200" dirty="0">
                <a:solidFill>
                  <a:srgbClr val="E3E3E3"/>
                </a:solidFill>
                <a:latin typeface="Arial" pitchFamily="34" charset="0"/>
                <a:ea typeface="Arial" pitchFamily="34" charset="-122"/>
                <a:cs typeface="Arial" pitchFamily="34" charset="-120"/>
              </a:rPr>
              <a:t>Show the real categories referenced by Qaim's public website—jeans, polo shirts, oversized T-shirts, sweatpants, cargo pants and shoes—in clear, short-form product content.</a:t>
            </a:r>
            <a:endParaRPr lang="en-US" sz="1200" dirty="0"/>
          </a:p>
        </p:txBody>
      </p:sp>
      <p:sp>
        <p:nvSpPr>
          <p:cNvPr id="11" name="Text 7"/>
          <p:cNvSpPr/>
          <p:nvPr/>
        </p:nvSpPr>
        <p:spPr>
          <a:xfrm>
            <a:off x="523875" y="3700760"/>
            <a:ext cx="5462588" cy="333938"/>
          </a:xfrm>
          <a:prstGeom prst="rect">
            <a:avLst/>
          </a:prstGeom>
          <a:noFill/>
          <a:ln/>
        </p:spPr>
        <p:txBody>
          <a:bodyPr wrap="square" lIns="0" tIns="0" rIns="0" bIns="0" rtlCol="0" anchor="t">
            <a:spAutoFit/>
          </a:bodyPr>
          <a:lstStyle/>
          <a:p>
            <a:pPr>
              <a:lnSpc>
                <a:spcPct val="104000"/>
              </a:lnSpc>
            </a:pPr>
            <a:r>
              <a:rPr lang="en-US" sz="1000" b="1" dirty="0">
                <a:solidFill>
                  <a:srgbClr val="FFFFFF"/>
                </a:solidFill>
                <a:latin typeface="Arial" pitchFamily="34" charset="0"/>
                <a:ea typeface="Arial" pitchFamily="34" charset="-122"/>
                <a:cs typeface="Arial" pitchFamily="34" charset="-120"/>
              </a:rPr>
              <a:t>Owner Tactic:</a:t>
            </a:r>
            <a:r>
              <a:rPr lang="en-US" sz="1067" dirty="0">
                <a:solidFill>
                  <a:srgbClr val="BDBDBD"/>
                </a:solidFill>
                <a:latin typeface="Arial" pitchFamily="34" charset="0"/>
                <a:ea typeface="Arial" pitchFamily="34" charset="-122"/>
                <a:cs typeface="Arial" pitchFamily="34" charset="-120"/>
              </a:rPr>
              <a:t> Product Discovery Reels
</a:t>
            </a:r>
            <a:r>
              <a:rPr lang="en-US" sz="1000" b="1" dirty="0">
                <a:solidFill>
                  <a:srgbClr val="FFFFFF"/>
                </a:solidFill>
                <a:latin typeface="Arial" pitchFamily="34" charset="0"/>
                <a:ea typeface="Arial" pitchFamily="34" charset="-122"/>
                <a:cs typeface="Arial" pitchFamily="34" charset="-120"/>
              </a:rPr>
              <a:t>KPIs:</a:t>
            </a:r>
            <a:r>
              <a:rPr lang="en-US" sz="1067" dirty="0">
                <a:solidFill>
                  <a:srgbClr val="BDBDBD"/>
                </a:solidFill>
                <a:latin typeface="Arial" pitchFamily="34" charset="0"/>
                <a:ea typeface="Arial" pitchFamily="34" charset="-122"/>
                <a:cs typeface="Arial" pitchFamily="34" charset="-120"/>
              </a:rPr>
              <a:t> Reach, video views, watch time and profile visits</a:t>
            </a:r>
            <a:endParaRPr lang="en-US" sz="1000" dirty="0"/>
          </a:p>
        </p:txBody>
      </p:sp>
      <p:sp>
        <p:nvSpPr>
          <p:cNvPr id="12" name="Text 8"/>
          <p:cNvSpPr/>
          <p:nvPr/>
        </p:nvSpPr>
        <p:spPr>
          <a:xfrm>
            <a:off x="6205538" y="2431256"/>
            <a:ext cx="5462588" cy="164212"/>
          </a:xfrm>
          <a:prstGeom prst="rect">
            <a:avLst/>
          </a:prstGeom>
          <a:noFill/>
          <a:ln/>
        </p:spPr>
        <p:txBody>
          <a:bodyPr wrap="square" lIns="0" tIns="0" rIns="0" bIns="0" rtlCol="0" anchor="t">
            <a:spAutoFit/>
          </a:bodyPr>
          <a:lstStyle/>
          <a:p>
            <a:r>
              <a:rPr lang="en-US" sz="1067" b="1" kern="0" spc="3" dirty="0">
                <a:solidFill>
                  <a:srgbClr val="C34A51"/>
                </a:solidFill>
                <a:latin typeface="Arial" pitchFamily="34" charset="0"/>
                <a:ea typeface="Arial" pitchFamily="34" charset="-122"/>
                <a:cs typeface="Arial" pitchFamily="34" charset="-120"/>
              </a:rPr>
              <a:t>02 / IMAGINE</a:t>
            </a:r>
            <a:endParaRPr lang="en-US" sz="1067" dirty="0"/>
          </a:p>
        </p:txBody>
      </p:sp>
      <p:sp>
        <p:nvSpPr>
          <p:cNvPr id="13" name="Text 9"/>
          <p:cNvSpPr/>
          <p:nvPr/>
        </p:nvSpPr>
        <p:spPr>
          <a:xfrm>
            <a:off x="6205538" y="2645570"/>
            <a:ext cx="5462588" cy="246221"/>
          </a:xfrm>
          <a:prstGeom prst="rect">
            <a:avLst/>
          </a:prstGeom>
          <a:noFill/>
          <a:ln/>
        </p:spPr>
        <p:txBody>
          <a:bodyPr wrap="square" lIns="0" tIns="0" rIns="0" bIns="0" rtlCol="0" anchor="t">
            <a:spAutoFit/>
          </a:bodyPr>
          <a:lstStyle/>
          <a:p>
            <a:r>
              <a:rPr lang="en-US" sz="1600" b="1" dirty="0">
                <a:solidFill>
                  <a:srgbClr val="FFFFFF"/>
                </a:solidFill>
                <a:latin typeface="Arial" pitchFamily="34" charset="0"/>
                <a:ea typeface="Arial" pitchFamily="34" charset="-122"/>
                <a:cs typeface="Arial" pitchFamily="34" charset="-120"/>
              </a:rPr>
              <a:t>Help customers see where the product fits.</a:t>
            </a:r>
            <a:endParaRPr lang="en-US" sz="1600" dirty="0"/>
          </a:p>
        </p:txBody>
      </p:sp>
      <p:sp>
        <p:nvSpPr>
          <p:cNvPr id="14" name="Text 10"/>
          <p:cNvSpPr/>
          <p:nvPr/>
        </p:nvSpPr>
        <p:spPr>
          <a:xfrm>
            <a:off x="6205538" y="2974181"/>
            <a:ext cx="5462588" cy="375552"/>
          </a:xfrm>
          <a:prstGeom prst="rect">
            <a:avLst/>
          </a:prstGeom>
          <a:noFill/>
          <a:ln/>
        </p:spPr>
        <p:txBody>
          <a:bodyPr wrap="square" lIns="0" tIns="0" rIns="0" bIns="0" rtlCol="0" anchor="t">
            <a:spAutoFit/>
          </a:bodyPr>
          <a:lstStyle/>
          <a:p>
            <a:pPr>
              <a:lnSpc>
                <a:spcPct val="104000"/>
              </a:lnSpc>
            </a:pPr>
            <a:r>
              <a:rPr lang="en-US" sz="1200" dirty="0">
                <a:solidFill>
                  <a:srgbClr val="E3E3E3"/>
                </a:solidFill>
                <a:latin typeface="Arial" pitchFamily="34" charset="0"/>
                <a:ea typeface="Arial" pitchFamily="34" charset="-122"/>
                <a:cs typeface="Arial" pitchFamily="34" charset="-120"/>
              </a:rPr>
              <a:t>Use styling and use-case content to turn a product into a relevant outfit for casual, sporty or streetwear occasions.</a:t>
            </a:r>
            <a:endParaRPr lang="en-US" sz="1200" dirty="0"/>
          </a:p>
        </p:txBody>
      </p:sp>
      <p:sp>
        <p:nvSpPr>
          <p:cNvPr id="15" name="Text 11"/>
          <p:cNvSpPr/>
          <p:nvPr/>
        </p:nvSpPr>
        <p:spPr>
          <a:xfrm>
            <a:off x="6205538" y="3490317"/>
            <a:ext cx="5462588" cy="333938"/>
          </a:xfrm>
          <a:prstGeom prst="rect">
            <a:avLst/>
          </a:prstGeom>
          <a:noFill/>
          <a:ln/>
        </p:spPr>
        <p:txBody>
          <a:bodyPr wrap="square" lIns="0" tIns="0" rIns="0" bIns="0" rtlCol="0" anchor="t">
            <a:spAutoFit/>
          </a:bodyPr>
          <a:lstStyle/>
          <a:p>
            <a:pPr>
              <a:lnSpc>
                <a:spcPct val="104000"/>
              </a:lnSpc>
            </a:pPr>
            <a:r>
              <a:rPr lang="en-US" sz="1000" b="1" dirty="0">
                <a:solidFill>
                  <a:srgbClr val="FFFFFF"/>
                </a:solidFill>
                <a:latin typeface="Arial" pitchFamily="34" charset="0"/>
                <a:ea typeface="Arial" pitchFamily="34" charset="-122"/>
                <a:cs typeface="Arial" pitchFamily="34" charset="-120"/>
              </a:rPr>
              <a:t>Owner Tactic:</a:t>
            </a:r>
            <a:r>
              <a:rPr lang="en-US" sz="1067" dirty="0">
                <a:solidFill>
                  <a:srgbClr val="BDBDBD"/>
                </a:solidFill>
                <a:latin typeface="Arial" pitchFamily="34" charset="0"/>
                <a:ea typeface="Arial" pitchFamily="34" charset="-122"/>
                <a:cs typeface="Arial" pitchFamily="34" charset="-120"/>
              </a:rPr>
              <a:t> Styling &amp; Use-Case Content
</a:t>
            </a:r>
            <a:r>
              <a:rPr lang="en-US" sz="1000" b="1" dirty="0">
                <a:solidFill>
                  <a:srgbClr val="FFFFFF"/>
                </a:solidFill>
                <a:latin typeface="Arial" pitchFamily="34" charset="0"/>
                <a:ea typeface="Arial" pitchFamily="34" charset="-122"/>
                <a:cs typeface="Arial" pitchFamily="34" charset="-120"/>
              </a:rPr>
              <a:t>KPIs:</a:t>
            </a:r>
            <a:r>
              <a:rPr lang="en-US" sz="1067" dirty="0">
                <a:solidFill>
                  <a:srgbClr val="BDBDBD"/>
                </a:solidFill>
                <a:latin typeface="Arial" pitchFamily="34" charset="0"/>
                <a:ea typeface="Arial" pitchFamily="34" charset="-122"/>
                <a:cs typeface="Arial" pitchFamily="34" charset="-120"/>
              </a:rPr>
              <a:t> Saves, shares, comments and product-page views</a:t>
            </a:r>
            <a:endParaRPr lang="en-US" sz="1000" dirty="0"/>
          </a:p>
        </p:txBody>
      </p:sp>
      <p:sp>
        <p:nvSpPr>
          <p:cNvPr id="16" name="Text 12"/>
          <p:cNvSpPr/>
          <p:nvPr/>
        </p:nvSpPr>
        <p:spPr>
          <a:xfrm>
            <a:off x="523875" y="4386560"/>
            <a:ext cx="5462588" cy="164212"/>
          </a:xfrm>
          <a:prstGeom prst="rect">
            <a:avLst/>
          </a:prstGeom>
          <a:noFill/>
          <a:ln/>
        </p:spPr>
        <p:txBody>
          <a:bodyPr wrap="square" lIns="0" tIns="0" rIns="0" bIns="0" rtlCol="0" anchor="t">
            <a:spAutoFit/>
          </a:bodyPr>
          <a:lstStyle/>
          <a:p>
            <a:r>
              <a:rPr lang="en-US" sz="1067" b="1" kern="0" spc="3" dirty="0">
                <a:solidFill>
                  <a:srgbClr val="C34A51"/>
                </a:solidFill>
                <a:latin typeface="Arial" pitchFamily="34" charset="0"/>
                <a:ea typeface="Arial" pitchFamily="34" charset="-122"/>
                <a:cs typeface="Arial" pitchFamily="34" charset="-120"/>
              </a:rPr>
              <a:t>03 / VERIFY</a:t>
            </a:r>
            <a:endParaRPr lang="en-US" sz="1067" dirty="0"/>
          </a:p>
        </p:txBody>
      </p:sp>
      <p:sp>
        <p:nvSpPr>
          <p:cNvPr id="17" name="Text 13"/>
          <p:cNvSpPr/>
          <p:nvPr/>
        </p:nvSpPr>
        <p:spPr>
          <a:xfrm>
            <a:off x="523875" y="4600873"/>
            <a:ext cx="5462588" cy="246221"/>
          </a:xfrm>
          <a:prstGeom prst="rect">
            <a:avLst/>
          </a:prstGeom>
          <a:noFill/>
          <a:ln/>
        </p:spPr>
        <p:txBody>
          <a:bodyPr wrap="square" lIns="0" tIns="0" rIns="0" bIns="0" rtlCol="0" anchor="t">
            <a:spAutoFit/>
          </a:bodyPr>
          <a:lstStyle/>
          <a:p>
            <a:r>
              <a:rPr lang="en-US" sz="1600" b="1" dirty="0">
                <a:solidFill>
                  <a:srgbClr val="FFFFFF"/>
                </a:solidFill>
                <a:latin typeface="Arial" pitchFamily="34" charset="0"/>
                <a:ea typeface="Arial" pitchFamily="34" charset="-122"/>
                <a:cs typeface="Arial" pitchFamily="34" charset="-120"/>
              </a:rPr>
              <a:t>Reduce uncertainty before an online order.</a:t>
            </a:r>
            <a:endParaRPr lang="en-US" sz="1600" dirty="0"/>
          </a:p>
        </p:txBody>
      </p:sp>
      <p:sp>
        <p:nvSpPr>
          <p:cNvPr id="18" name="Text 14"/>
          <p:cNvSpPr/>
          <p:nvPr/>
        </p:nvSpPr>
        <p:spPr>
          <a:xfrm>
            <a:off x="523875" y="4929485"/>
            <a:ext cx="5462588" cy="567591"/>
          </a:xfrm>
          <a:prstGeom prst="rect">
            <a:avLst/>
          </a:prstGeom>
          <a:noFill/>
          <a:ln/>
        </p:spPr>
        <p:txBody>
          <a:bodyPr wrap="square" lIns="0" tIns="0" rIns="0" bIns="0" rtlCol="0" anchor="t">
            <a:spAutoFit/>
          </a:bodyPr>
          <a:lstStyle/>
          <a:p>
            <a:pPr>
              <a:lnSpc>
                <a:spcPct val="104000"/>
              </a:lnSpc>
            </a:pPr>
            <a:r>
              <a:rPr lang="en-US" sz="1200" dirty="0">
                <a:solidFill>
                  <a:srgbClr val="E3E3E3"/>
                </a:solidFill>
                <a:latin typeface="Arial" pitchFamily="34" charset="0"/>
                <a:ea typeface="Arial" pitchFamily="34" charset="-122"/>
                <a:cs typeface="Arial" pitchFamily="34" charset="-120"/>
              </a:rPr>
              <a:t>Guide customers to the information they need: size guidance, product details and confirmed delivery or exchange information. Do not publish a policy claim until Qaim confirms it.</a:t>
            </a:r>
            <a:endParaRPr lang="en-US" sz="1200" dirty="0"/>
          </a:p>
        </p:txBody>
      </p:sp>
      <p:sp>
        <p:nvSpPr>
          <p:cNvPr id="19" name="Text 15"/>
          <p:cNvSpPr/>
          <p:nvPr/>
        </p:nvSpPr>
        <p:spPr>
          <a:xfrm>
            <a:off x="523875" y="5656064"/>
            <a:ext cx="5462588" cy="333938"/>
          </a:xfrm>
          <a:prstGeom prst="rect">
            <a:avLst/>
          </a:prstGeom>
          <a:noFill/>
          <a:ln/>
        </p:spPr>
        <p:txBody>
          <a:bodyPr wrap="square" lIns="0" tIns="0" rIns="0" bIns="0" rtlCol="0" anchor="t">
            <a:spAutoFit/>
          </a:bodyPr>
          <a:lstStyle/>
          <a:p>
            <a:pPr>
              <a:lnSpc>
                <a:spcPct val="104000"/>
              </a:lnSpc>
            </a:pPr>
            <a:r>
              <a:rPr lang="en-US" sz="1000" b="1" dirty="0">
                <a:solidFill>
                  <a:srgbClr val="FFFFFF"/>
                </a:solidFill>
                <a:latin typeface="Arial" pitchFamily="34" charset="0"/>
                <a:ea typeface="Arial" pitchFamily="34" charset="-122"/>
                <a:cs typeface="Arial" pitchFamily="34" charset="-120"/>
              </a:rPr>
              <a:t>Owner Tactic:</a:t>
            </a:r>
            <a:r>
              <a:rPr lang="en-US" sz="1067" dirty="0">
                <a:solidFill>
                  <a:srgbClr val="BDBDBD"/>
                </a:solidFill>
                <a:latin typeface="Arial" pitchFamily="34" charset="0"/>
                <a:ea typeface="Arial" pitchFamily="34" charset="-122"/>
                <a:cs typeface="Arial" pitchFamily="34" charset="-120"/>
              </a:rPr>
              <a:t> Shopping Guidance &amp; Trust
</a:t>
            </a:r>
            <a:r>
              <a:rPr lang="en-US" sz="1000" b="1" dirty="0">
                <a:solidFill>
                  <a:srgbClr val="FFFFFF"/>
                </a:solidFill>
                <a:latin typeface="Arial" pitchFamily="34" charset="0"/>
                <a:ea typeface="Arial" pitchFamily="34" charset="-122"/>
                <a:cs typeface="Arial" pitchFamily="34" charset="-120"/>
              </a:rPr>
              <a:t>KPIs:</a:t>
            </a:r>
            <a:r>
              <a:rPr lang="en-US" sz="1067" dirty="0">
                <a:solidFill>
                  <a:srgbClr val="BDBDBD"/>
                </a:solidFill>
                <a:latin typeface="Arial" pitchFamily="34" charset="0"/>
                <a:ea typeface="Arial" pitchFamily="34" charset="-122"/>
                <a:cs typeface="Arial" pitchFamily="34" charset="-120"/>
              </a:rPr>
              <a:t> Website clicks, product views, enquiries and add-to-cart</a:t>
            </a:r>
            <a:endParaRPr lang="en-US" sz="1000" dirty="0"/>
          </a:p>
        </p:txBody>
      </p:sp>
      <p:sp>
        <p:nvSpPr>
          <p:cNvPr id="20" name="Text 16"/>
          <p:cNvSpPr/>
          <p:nvPr/>
        </p:nvSpPr>
        <p:spPr>
          <a:xfrm>
            <a:off x="6205538" y="4386560"/>
            <a:ext cx="5462588" cy="164212"/>
          </a:xfrm>
          <a:prstGeom prst="rect">
            <a:avLst/>
          </a:prstGeom>
          <a:noFill/>
          <a:ln/>
        </p:spPr>
        <p:txBody>
          <a:bodyPr wrap="square" lIns="0" tIns="0" rIns="0" bIns="0" rtlCol="0" anchor="t">
            <a:spAutoFit/>
          </a:bodyPr>
          <a:lstStyle/>
          <a:p>
            <a:r>
              <a:rPr lang="en-US" sz="1067" b="1" kern="0" spc="3" dirty="0">
                <a:solidFill>
                  <a:srgbClr val="C34A51"/>
                </a:solidFill>
                <a:latin typeface="Arial" pitchFamily="34" charset="0"/>
                <a:ea typeface="Arial" pitchFamily="34" charset="-122"/>
                <a:cs typeface="Arial" pitchFamily="34" charset="-120"/>
              </a:rPr>
              <a:t>04 / ORDER + LEARN</a:t>
            </a:r>
            <a:endParaRPr lang="en-US" sz="1067" dirty="0"/>
          </a:p>
        </p:txBody>
      </p:sp>
      <p:sp>
        <p:nvSpPr>
          <p:cNvPr id="21" name="Text 17"/>
          <p:cNvSpPr/>
          <p:nvPr/>
        </p:nvSpPr>
        <p:spPr>
          <a:xfrm>
            <a:off x="6205538" y="4600873"/>
            <a:ext cx="5462588" cy="246221"/>
          </a:xfrm>
          <a:prstGeom prst="rect">
            <a:avLst/>
          </a:prstGeom>
          <a:noFill/>
          <a:ln/>
        </p:spPr>
        <p:txBody>
          <a:bodyPr wrap="square" lIns="0" tIns="0" rIns="0" bIns="0" rtlCol="0" anchor="t">
            <a:spAutoFit/>
          </a:bodyPr>
          <a:lstStyle/>
          <a:p>
            <a:r>
              <a:rPr lang="en-US" sz="1600" b="1" dirty="0">
                <a:solidFill>
                  <a:srgbClr val="FFFFFF"/>
                </a:solidFill>
                <a:latin typeface="Arial" pitchFamily="34" charset="0"/>
                <a:ea typeface="Arial" pitchFamily="34" charset="-122"/>
                <a:cs typeface="Arial" pitchFamily="34" charset="-120"/>
              </a:rPr>
              <a:t>Turn qualified attention into action and improvement.</a:t>
            </a:r>
            <a:endParaRPr lang="en-US" sz="1600" dirty="0"/>
          </a:p>
        </p:txBody>
      </p:sp>
      <p:sp>
        <p:nvSpPr>
          <p:cNvPr id="22" name="Text 18"/>
          <p:cNvSpPr/>
          <p:nvPr/>
        </p:nvSpPr>
        <p:spPr>
          <a:xfrm>
            <a:off x="6205538" y="5191423"/>
            <a:ext cx="5462588" cy="375552"/>
          </a:xfrm>
          <a:prstGeom prst="rect">
            <a:avLst/>
          </a:prstGeom>
          <a:noFill/>
          <a:ln/>
        </p:spPr>
        <p:txBody>
          <a:bodyPr wrap="square" lIns="0" tIns="0" rIns="0" bIns="0" rtlCol="0" anchor="t">
            <a:spAutoFit/>
          </a:bodyPr>
          <a:lstStyle/>
          <a:p>
            <a:pPr>
              <a:lnSpc>
                <a:spcPct val="104000"/>
              </a:lnSpc>
            </a:pPr>
            <a:r>
              <a:rPr lang="en-US" sz="1200" dirty="0">
                <a:solidFill>
                  <a:srgbClr val="E3E3E3"/>
                </a:solidFill>
                <a:latin typeface="Arial" pitchFamily="34" charset="0"/>
                <a:ea typeface="Arial" pitchFamily="34" charset="-122"/>
                <a:cs typeface="Arial" pitchFamily="34" charset="-120"/>
              </a:rPr>
              <a:t>Connect social content to Qaim.shop, separate organic from paid results and scale the creative ideas that produce meaningful commercial signals.</a:t>
            </a:r>
            <a:endParaRPr lang="en-US" sz="1200" dirty="0"/>
          </a:p>
        </p:txBody>
      </p:sp>
      <p:sp>
        <p:nvSpPr>
          <p:cNvPr id="23" name="Text 19"/>
          <p:cNvSpPr/>
          <p:nvPr/>
        </p:nvSpPr>
        <p:spPr>
          <a:xfrm>
            <a:off x="6205538" y="5707559"/>
            <a:ext cx="5462588" cy="333938"/>
          </a:xfrm>
          <a:prstGeom prst="rect">
            <a:avLst/>
          </a:prstGeom>
          <a:noFill/>
          <a:ln/>
        </p:spPr>
        <p:txBody>
          <a:bodyPr wrap="square" lIns="0" tIns="0" rIns="0" bIns="0" rtlCol="0" anchor="t">
            <a:spAutoFit/>
          </a:bodyPr>
          <a:lstStyle/>
          <a:p>
            <a:pPr>
              <a:lnSpc>
                <a:spcPct val="104000"/>
              </a:lnSpc>
            </a:pPr>
            <a:r>
              <a:rPr lang="en-US" sz="1000" b="1" dirty="0">
                <a:solidFill>
                  <a:srgbClr val="FFFFFF"/>
                </a:solidFill>
                <a:latin typeface="Arial" pitchFamily="34" charset="0"/>
                <a:ea typeface="Arial" pitchFamily="34" charset="-122"/>
                <a:cs typeface="Arial" pitchFamily="34" charset="-120"/>
              </a:rPr>
              <a:t>Owner Tactic:</a:t>
            </a:r>
            <a:r>
              <a:rPr lang="en-US" sz="1067" dirty="0">
                <a:solidFill>
                  <a:srgbClr val="BDBDBD"/>
                </a:solidFill>
                <a:latin typeface="Arial" pitchFamily="34" charset="0"/>
                <a:ea typeface="Arial" pitchFamily="34" charset="-122"/>
                <a:cs typeface="Arial" pitchFamily="34" charset="-120"/>
              </a:rPr>
              <a:t> Community + Responsible Amplification
</a:t>
            </a:r>
            <a:r>
              <a:rPr lang="en-US" sz="1000" b="1" dirty="0">
                <a:solidFill>
                  <a:srgbClr val="FFFFFF"/>
                </a:solidFill>
                <a:latin typeface="Arial" pitchFamily="34" charset="0"/>
                <a:ea typeface="Arial" pitchFamily="34" charset="-122"/>
                <a:cs typeface="Arial" pitchFamily="34" charset="-120"/>
              </a:rPr>
              <a:t>KPIs:</a:t>
            </a:r>
            <a:r>
              <a:rPr lang="en-US" sz="1067" dirty="0">
                <a:solidFill>
                  <a:srgbClr val="BDBDBD"/>
                </a:solidFill>
                <a:latin typeface="Arial" pitchFamily="34" charset="0"/>
                <a:ea typeface="Arial" pitchFamily="34" charset="-122"/>
                <a:cs typeface="Arial" pitchFamily="34" charset="-120"/>
              </a:rPr>
              <a:t> Orders, conversion rate, revenue, ROAS and repeatable winning formats</a:t>
            </a:r>
            <a:endParaRPr lang="en-US" sz="1000" dirty="0"/>
          </a:p>
        </p:txBody>
      </p:sp>
      <p:sp>
        <p:nvSpPr>
          <p:cNvPr id="24" name="Shape 20"/>
          <p:cNvSpPr/>
          <p:nvPr/>
        </p:nvSpPr>
        <p:spPr>
          <a:xfrm>
            <a:off x="523875" y="6212384"/>
            <a:ext cx="11144251" cy="494853"/>
          </a:xfrm>
          <a:prstGeom prst="rect">
            <a:avLst/>
          </a:prstGeom>
          <a:solidFill>
            <a:srgbClr val="000000">
              <a:alpha val="0"/>
            </a:srgbClr>
          </a:solidFill>
          <a:ln/>
        </p:spPr>
      </p:sp>
      <p:sp>
        <p:nvSpPr>
          <p:cNvPr id="25" name="Shape 21"/>
          <p:cNvSpPr/>
          <p:nvPr/>
        </p:nvSpPr>
        <p:spPr>
          <a:xfrm>
            <a:off x="523875" y="6212384"/>
            <a:ext cx="11144251" cy="9525"/>
          </a:xfrm>
          <a:prstGeom prst="rect">
            <a:avLst/>
          </a:prstGeom>
          <a:solidFill>
            <a:srgbClr val="555555"/>
          </a:solidFill>
          <a:ln/>
        </p:spPr>
      </p:sp>
      <p:sp>
        <p:nvSpPr>
          <p:cNvPr id="26" name="Text 22"/>
          <p:cNvSpPr/>
          <p:nvPr/>
        </p:nvSpPr>
        <p:spPr>
          <a:xfrm>
            <a:off x="523875" y="6212384"/>
            <a:ext cx="11144251" cy="462926"/>
          </a:xfrm>
          <a:prstGeom prst="rect">
            <a:avLst/>
          </a:prstGeom>
          <a:noFill/>
          <a:ln/>
        </p:spPr>
        <p:txBody>
          <a:bodyPr wrap="square" lIns="0" tIns="113453" rIns="0" bIns="0" rtlCol="0" anchor="t">
            <a:spAutoFit/>
          </a:bodyPr>
          <a:lstStyle/>
          <a:p>
            <a:pPr>
              <a:lnSpc>
                <a:spcPct val="102400"/>
              </a:lnSpc>
            </a:pPr>
            <a:r>
              <a:rPr lang="en-US" sz="1067" b="1" dirty="0">
                <a:solidFill>
                  <a:srgbClr val="FFFFFF"/>
                </a:solidFill>
                <a:latin typeface="Arial" pitchFamily="34" charset="0"/>
                <a:ea typeface="Arial" pitchFamily="34" charset="-122"/>
                <a:cs typeface="Arial" pitchFamily="34" charset="-120"/>
              </a:rPr>
              <a:t>Strategic chain:</a:t>
            </a:r>
            <a:r>
              <a:rPr lang="en-US" sz="1133" dirty="0">
                <a:solidFill>
                  <a:srgbClr val="C7C7C7"/>
                </a:solidFill>
                <a:latin typeface="Arial" pitchFamily="34" charset="0"/>
                <a:ea typeface="Arial" pitchFamily="34" charset="-122"/>
                <a:cs typeface="Arial" pitchFamily="34" charset="-120"/>
              </a:rPr>
              <a:t> Discover → Imagine → Verify → Visit Qaim.shop → Order → Return. </a:t>
            </a:r>
            <a:r>
              <a:rPr lang="en-US" sz="1067" b="1" dirty="0">
                <a:solidFill>
                  <a:srgbClr val="FFFFFF"/>
                </a:solidFill>
                <a:latin typeface="Arial" pitchFamily="34" charset="0"/>
                <a:ea typeface="Arial" pitchFamily="34" charset="-122"/>
                <a:cs typeface="Arial" pitchFamily="34" charset="-120"/>
              </a:rPr>
              <a:t>Source logic:</a:t>
            </a:r>
            <a:r>
              <a:rPr lang="en-US" sz="1133" dirty="0">
                <a:solidFill>
                  <a:srgbClr val="C7C7C7"/>
                </a:solidFill>
                <a:latin typeface="Arial" pitchFamily="34" charset="0"/>
                <a:ea typeface="Arial" pitchFamily="34" charset="-122"/>
                <a:cs typeface="Arial" pitchFamily="34" charset="-120"/>
              </a:rPr>
              <a:t> Facebook creates attention and confidence; the official website supports evaluation and ordering.</a:t>
            </a:r>
            <a:endParaRPr lang="en-US" sz="1067" dirty="0"/>
          </a:p>
        </p:txBody>
      </p:sp>
      <p:sp>
        <p:nvSpPr>
          <p:cNvPr id="27" name="Text 23"/>
          <p:cNvSpPr/>
          <p:nvPr/>
        </p:nvSpPr>
        <p:spPr>
          <a:xfrm>
            <a:off x="523875" y="6716763"/>
            <a:ext cx="11144251" cy="112788"/>
          </a:xfrm>
          <a:prstGeom prst="rect">
            <a:avLst/>
          </a:prstGeom>
          <a:noFill/>
          <a:ln/>
        </p:spPr>
        <p:txBody>
          <a:bodyPr wrap="square" lIns="0" tIns="0" rIns="0" bIns="0" rtlCol="0" anchor="t">
            <a:spAutoFit/>
          </a:bodyPr>
          <a:lstStyle/>
          <a:p>
            <a:r>
              <a:rPr lang="en-US" sz="733" dirty="0">
                <a:solidFill>
                  <a:srgbClr val="888888"/>
                </a:solidFill>
                <a:latin typeface="Arial" pitchFamily="34" charset="0"/>
                <a:ea typeface="Arial" pitchFamily="34" charset="-122"/>
                <a:cs typeface="Arial" pitchFamily="34" charset="-120"/>
              </a:rPr>
              <a:t>Sources: Qaim public Facebook page + Qaim official website | Public facts verified 21 August 2026</a:t>
            </a:r>
            <a:endParaRPr lang="en-US" sz="733" dirty="0"/>
          </a:p>
        </p:txBody>
      </p:sp>
    </p:spTree>
    <p:extLst>
      <p:ext uri="{BB962C8B-B14F-4D97-AF65-F5344CB8AC3E}">
        <p14:creationId xmlns:p14="http://schemas.microsoft.com/office/powerpoint/2010/main" val="1217338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495301" y="323851"/>
            <a:ext cx="419100" cy="419100"/>
          </a:xfrm>
          <a:prstGeom prst="rect">
            <a:avLst/>
          </a:prstGeom>
        </p:spPr>
      </p:pic>
      <p:sp>
        <p:nvSpPr>
          <p:cNvPr id="4" name="Text 0"/>
          <p:cNvSpPr/>
          <p:nvPr/>
        </p:nvSpPr>
        <p:spPr>
          <a:xfrm>
            <a:off x="1019175" y="419100"/>
            <a:ext cx="469616" cy="215444"/>
          </a:xfrm>
          <a:prstGeom prst="rect">
            <a:avLst/>
          </a:prstGeom>
          <a:noFill/>
          <a:ln/>
        </p:spPr>
        <p:txBody>
          <a:bodyPr wrap="none" lIns="0" tIns="0" rIns="0" bIns="0" rtlCol="0" anchor="t">
            <a:spAutoFit/>
          </a:bodyPr>
          <a:lstStyle/>
          <a:p>
            <a:r>
              <a:rPr lang="en-US" sz="1400" b="1" kern="0" spc="3" dirty="0">
                <a:solidFill>
                  <a:srgbClr val="FFFFFF"/>
                </a:solidFill>
                <a:latin typeface="Arial" pitchFamily="34" charset="0"/>
                <a:ea typeface="Arial" pitchFamily="34" charset="-122"/>
                <a:cs typeface="Arial" pitchFamily="34" charset="-120"/>
              </a:rPr>
              <a:t>QAIM</a:t>
            </a:r>
            <a:endParaRPr lang="en-US" sz="1400" dirty="0"/>
          </a:p>
        </p:txBody>
      </p:sp>
      <p:sp>
        <p:nvSpPr>
          <p:cNvPr id="5" name="Text 1"/>
          <p:cNvSpPr/>
          <p:nvPr/>
        </p:nvSpPr>
        <p:spPr>
          <a:xfrm>
            <a:off x="495300" y="828675"/>
            <a:ext cx="11201400"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05 / SECTION 1 — TACTICS</a:t>
            </a:r>
            <a:endParaRPr lang="en-US" sz="933" dirty="0"/>
          </a:p>
        </p:txBody>
      </p:sp>
      <p:sp>
        <p:nvSpPr>
          <p:cNvPr id="6" name="Text 2"/>
          <p:cNvSpPr/>
          <p:nvPr/>
        </p:nvSpPr>
        <p:spPr>
          <a:xfrm>
            <a:off x="495300" y="1047751"/>
            <a:ext cx="11201400" cy="410433"/>
          </a:xfrm>
          <a:prstGeom prst="rect">
            <a:avLst/>
          </a:prstGeom>
          <a:noFill/>
          <a:ln/>
        </p:spPr>
        <p:txBody>
          <a:bodyPr wrap="square" lIns="0" tIns="0" rIns="0" bIns="0" rtlCol="0" anchor="t">
            <a:spAutoFit/>
          </a:bodyPr>
          <a:lstStyle/>
          <a:p>
            <a:r>
              <a:rPr lang="en-US" sz="2667" b="1" dirty="0">
                <a:solidFill>
                  <a:srgbClr val="FFFFFF"/>
                </a:solidFill>
                <a:latin typeface="Arial" pitchFamily="34" charset="0"/>
                <a:ea typeface="Arial" pitchFamily="34" charset="-122"/>
                <a:cs typeface="Arial" pitchFamily="34" charset="-120"/>
              </a:rPr>
              <a:t>Four Tactics Derived from the Objectives</a:t>
            </a:r>
            <a:endParaRPr lang="en-US" sz="2667" dirty="0"/>
          </a:p>
        </p:txBody>
      </p:sp>
      <p:sp>
        <p:nvSpPr>
          <p:cNvPr id="7" name="Text 3"/>
          <p:cNvSpPr/>
          <p:nvPr/>
        </p:nvSpPr>
        <p:spPr>
          <a:xfrm>
            <a:off x="495301" y="1552575"/>
            <a:ext cx="10858500" cy="190821"/>
          </a:xfrm>
          <a:prstGeom prst="rect">
            <a:avLst/>
          </a:prstGeom>
          <a:noFill/>
          <a:ln/>
        </p:spPr>
        <p:txBody>
          <a:bodyPr wrap="square" lIns="0" tIns="0" rIns="0" bIns="0" rtlCol="0" anchor="t">
            <a:spAutoFit/>
          </a:bodyPr>
          <a:lstStyle/>
          <a:p>
            <a:pPr>
              <a:lnSpc>
                <a:spcPct val="102400"/>
              </a:lnSpc>
            </a:pPr>
            <a:r>
              <a:rPr lang="en-US" sz="1267" dirty="0">
                <a:solidFill>
                  <a:srgbClr val="D3D3D3"/>
                </a:solidFill>
                <a:latin typeface="Arial" pitchFamily="34" charset="0"/>
                <a:ea typeface="Arial" pitchFamily="34" charset="-122"/>
                <a:cs typeface="Arial" pitchFamily="34" charset="-120"/>
              </a:rPr>
              <a:t>The plan contains four core tactics. Measurement and paid amplification are execution layers inside Tactic 4, not additional disconnected tactics.</a:t>
            </a:r>
            <a:endParaRPr lang="en-US" sz="1267" dirty="0"/>
          </a:p>
        </p:txBody>
      </p:sp>
      <p:sp>
        <p:nvSpPr>
          <p:cNvPr id="8" name="Text 4"/>
          <p:cNvSpPr/>
          <p:nvPr/>
        </p:nvSpPr>
        <p:spPr>
          <a:xfrm>
            <a:off x="495300" y="2172445"/>
            <a:ext cx="2736056" cy="225767"/>
          </a:xfrm>
          <a:prstGeom prst="rect">
            <a:avLst/>
          </a:prstGeom>
          <a:noFill/>
          <a:ln/>
        </p:spPr>
        <p:txBody>
          <a:bodyPr wrap="square" lIns="0" tIns="0" rIns="0" bIns="0" rtlCol="0" anchor="t">
            <a:spAutoFit/>
          </a:bodyPr>
          <a:lstStyle/>
          <a:p>
            <a:r>
              <a:rPr lang="en-US" sz="1467" b="1" dirty="0">
                <a:solidFill>
                  <a:srgbClr val="FFFFFF"/>
                </a:solidFill>
                <a:latin typeface="Arial" pitchFamily="34" charset="0"/>
                <a:ea typeface="Arial" pitchFamily="34" charset="-122"/>
                <a:cs typeface="Arial" pitchFamily="34" charset="-120"/>
              </a:rPr>
              <a:t>~62K</a:t>
            </a:r>
            <a:endParaRPr lang="en-US" sz="1467" dirty="0"/>
          </a:p>
        </p:txBody>
      </p:sp>
      <p:sp>
        <p:nvSpPr>
          <p:cNvPr id="9" name="Text 5"/>
          <p:cNvSpPr/>
          <p:nvPr/>
        </p:nvSpPr>
        <p:spPr>
          <a:xfrm>
            <a:off x="495300" y="2429619"/>
            <a:ext cx="1186222" cy="113236"/>
          </a:xfrm>
          <a:prstGeom prst="rect">
            <a:avLst/>
          </a:prstGeom>
          <a:noFill/>
          <a:ln/>
        </p:spPr>
        <p:txBody>
          <a:bodyPr wrap="none" lIns="0" tIns="0" rIns="0" bIns="0" rtlCol="0" anchor="t">
            <a:spAutoFit/>
          </a:bodyPr>
          <a:lstStyle/>
          <a:p>
            <a:pPr>
              <a:lnSpc>
                <a:spcPct val="92000"/>
              </a:lnSpc>
            </a:pPr>
            <a:r>
              <a:rPr lang="en-US" sz="800" dirty="0">
                <a:solidFill>
                  <a:srgbClr val="AAAAAA"/>
                </a:solidFill>
                <a:latin typeface="Arial" pitchFamily="34" charset="0"/>
                <a:ea typeface="Arial" pitchFamily="34" charset="-122"/>
                <a:cs typeface="Arial" pitchFamily="34" charset="-120"/>
              </a:rPr>
              <a:t>public Facebook followers</a:t>
            </a:r>
            <a:endParaRPr lang="en-US" sz="800" dirty="0"/>
          </a:p>
        </p:txBody>
      </p:sp>
      <p:sp>
        <p:nvSpPr>
          <p:cNvPr id="10" name="Text 6"/>
          <p:cNvSpPr/>
          <p:nvPr/>
        </p:nvSpPr>
        <p:spPr>
          <a:xfrm>
            <a:off x="3317081" y="2172445"/>
            <a:ext cx="2736056" cy="225767"/>
          </a:xfrm>
          <a:prstGeom prst="rect">
            <a:avLst/>
          </a:prstGeom>
          <a:noFill/>
          <a:ln/>
        </p:spPr>
        <p:txBody>
          <a:bodyPr wrap="square" lIns="0" tIns="0" rIns="0" bIns="0" rtlCol="0" anchor="t">
            <a:spAutoFit/>
          </a:bodyPr>
          <a:lstStyle/>
          <a:p>
            <a:r>
              <a:rPr lang="en-US" sz="1467" b="1" dirty="0">
                <a:solidFill>
                  <a:srgbClr val="FFFFFF"/>
                </a:solidFill>
                <a:latin typeface="Arial" pitchFamily="34" charset="0"/>
                <a:ea typeface="Arial" pitchFamily="34" charset="-122"/>
                <a:cs typeface="Arial" pitchFamily="34" charset="-120"/>
              </a:rPr>
              <a:t>94%</a:t>
            </a:r>
            <a:endParaRPr lang="en-US" sz="1467" dirty="0"/>
          </a:p>
        </p:txBody>
      </p:sp>
      <p:sp>
        <p:nvSpPr>
          <p:cNvPr id="11" name="Text 7"/>
          <p:cNvSpPr/>
          <p:nvPr/>
        </p:nvSpPr>
        <p:spPr>
          <a:xfrm>
            <a:off x="3317081" y="2429619"/>
            <a:ext cx="2176878" cy="113236"/>
          </a:xfrm>
          <a:prstGeom prst="rect">
            <a:avLst/>
          </a:prstGeom>
          <a:noFill/>
          <a:ln/>
        </p:spPr>
        <p:txBody>
          <a:bodyPr wrap="none" lIns="0" tIns="0" rIns="0" bIns="0" rtlCol="0" anchor="t">
            <a:spAutoFit/>
          </a:bodyPr>
          <a:lstStyle/>
          <a:p>
            <a:pPr>
              <a:lnSpc>
                <a:spcPct val="92000"/>
              </a:lnSpc>
            </a:pPr>
            <a:r>
              <a:rPr lang="en-US" sz="800" dirty="0">
                <a:solidFill>
                  <a:srgbClr val="AAAAAA"/>
                </a:solidFill>
                <a:latin typeface="Arial" pitchFamily="34" charset="0"/>
                <a:ea typeface="Arial" pitchFamily="34" charset="-122"/>
                <a:cs typeface="Arial" pitchFamily="34" charset="-120"/>
              </a:rPr>
              <a:t>recommendation signal from 362 public reviews</a:t>
            </a:r>
            <a:endParaRPr lang="en-US" sz="800" dirty="0"/>
          </a:p>
        </p:txBody>
      </p:sp>
      <p:sp>
        <p:nvSpPr>
          <p:cNvPr id="12" name="Text 8"/>
          <p:cNvSpPr/>
          <p:nvPr/>
        </p:nvSpPr>
        <p:spPr>
          <a:xfrm>
            <a:off x="6138863" y="2172445"/>
            <a:ext cx="2736056" cy="225767"/>
          </a:xfrm>
          <a:prstGeom prst="rect">
            <a:avLst/>
          </a:prstGeom>
          <a:noFill/>
          <a:ln/>
        </p:spPr>
        <p:txBody>
          <a:bodyPr wrap="square" lIns="0" tIns="0" rIns="0" bIns="0" rtlCol="0" anchor="t">
            <a:spAutoFit/>
          </a:bodyPr>
          <a:lstStyle/>
          <a:p>
            <a:r>
              <a:rPr lang="en-US" sz="1467" b="1" dirty="0">
                <a:solidFill>
                  <a:srgbClr val="FFFFFF"/>
                </a:solidFill>
                <a:latin typeface="Arial" pitchFamily="34" charset="0"/>
                <a:ea typeface="Arial" pitchFamily="34" charset="-122"/>
                <a:cs typeface="Arial" pitchFamily="34" charset="-120"/>
              </a:rPr>
              <a:t>6+</a:t>
            </a:r>
            <a:endParaRPr lang="en-US" sz="1467" dirty="0"/>
          </a:p>
        </p:txBody>
      </p:sp>
      <p:sp>
        <p:nvSpPr>
          <p:cNvPr id="13" name="Text 9"/>
          <p:cNvSpPr/>
          <p:nvPr/>
        </p:nvSpPr>
        <p:spPr>
          <a:xfrm>
            <a:off x="6138864" y="2429619"/>
            <a:ext cx="2140009" cy="113236"/>
          </a:xfrm>
          <a:prstGeom prst="rect">
            <a:avLst/>
          </a:prstGeom>
          <a:noFill/>
          <a:ln/>
        </p:spPr>
        <p:txBody>
          <a:bodyPr wrap="none" lIns="0" tIns="0" rIns="0" bIns="0" rtlCol="0" anchor="t">
            <a:spAutoFit/>
          </a:bodyPr>
          <a:lstStyle/>
          <a:p>
            <a:pPr>
              <a:lnSpc>
                <a:spcPct val="92000"/>
              </a:lnSpc>
            </a:pPr>
            <a:r>
              <a:rPr lang="en-US" sz="800" dirty="0">
                <a:solidFill>
                  <a:srgbClr val="AAAAAA"/>
                </a:solidFill>
                <a:latin typeface="Arial" pitchFamily="34" charset="0"/>
                <a:ea typeface="Arial" pitchFamily="34" charset="-122"/>
                <a:cs typeface="Arial" pitchFamily="34" charset="-120"/>
              </a:rPr>
              <a:t>product-category references in the website title</a:t>
            </a:r>
            <a:endParaRPr lang="en-US" sz="800" dirty="0"/>
          </a:p>
        </p:txBody>
      </p:sp>
      <p:sp>
        <p:nvSpPr>
          <p:cNvPr id="14" name="Text 10"/>
          <p:cNvSpPr/>
          <p:nvPr/>
        </p:nvSpPr>
        <p:spPr>
          <a:xfrm>
            <a:off x="8960644" y="2172445"/>
            <a:ext cx="2736056" cy="225767"/>
          </a:xfrm>
          <a:prstGeom prst="rect">
            <a:avLst/>
          </a:prstGeom>
          <a:noFill/>
          <a:ln/>
        </p:spPr>
        <p:txBody>
          <a:bodyPr wrap="square" lIns="0" tIns="0" rIns="0" bIns="0" rtlCol="0" anchor="t">
            <a:spAutoFit/>
          </a:bodyPr>
          <a:lstStyle/>
          <a:p>
            <a:r>
              <a:rPr lang="en-US" sz="1467" b="1" dirty="0">
                <a:solidFill>
                  <a:srgbClr val="FFFFFF"/>
                </a:solidFill>
                <a:latin typeface="Arial" pitchFamily="34" charset="0"/>
                <a:ea typeface="Arial" pitchFamily="34" charset="-122"/>
                <a:cs typeface="Arial" pitchFamily="34" charset="-120"/>
              </a:rPr>
              <a:t>Search + Cart</a:t>
            </a:r>
            <a:endParaRPr lang="en-US" sz="1467" dirty="0"/>
          </a:p>
        </p:txBody>
      </p:sp>
      <p:sp>
        <p:nvSpPr>
          <p:cNvPr id="15" name="Text 11"/>
          <p:cNvSpPr/>
          <p:nvPr/>
        </p:nvSpPr>
        <p:spPr>
          <a:xfrm>
            <a:off x="8960644" y="2429619"/>
            <a:ext cx="1965282" cy="113236"/>
          </a:xfrm>
          <a:prstGeom prst="rect">
            <a:avLst/>
          </a:prstGeom>
          <a:noFill/>
          <a:ln/>
        </p:spPr>
        <p:txBody>
          <a:bodyPr wrap="none" lIns="0" tIns="0" rIns="0" bIns="0" rtlCol="0" anchor="t">
            <a:spAutoFit/>
          </a:bodyPr>
          <a:lstStyle/>
          <a:p>
            <a:pPr>
              <a:lnSpc>
                <a:spcPct val="92000"/>
              </a:lnSpc>
            </a:pPr>
            <a:r>
              <a:rPr lang="en-US" sz="800" dirty="0">
                <a:solidFill>
                  <a:srgbClr val="AAAAAA"/>
                </a:solidFill>
                <a:latin typeface="Arial" pitchFamily="34" charset="0"/>
                <a:ea typeface="Arial" pitchFamily="34" charset="-122"/>
                <a:cs typeface="Arial" pitchFamily="34" charset="-120"/>
              </a:rPr>
              <a:t>ecommerce functions visible on Qaim.shop</a:t>
            </a:r>
            <a:endParaRPr lang="en-US" sz="800" dirty="0"/>
          </a:p>
        </p:txBody>
      </p:sp>
      <p:sp>
        <p:nvSpPr>
          <p:cNvPr id="16" name="Shape 12"/>
          <p:cNvSpPr/>
          <p:nvPr/>
        </p:nvSpPr>
        <p:spPr>
          <a:xfrm>
            <a:off x="495300" y="2665810"/>
            <a:ext cx="11201400" cy="2169319"/>
          </a:xfrm>
          <a:prstGeom prst="rect">
            <a:avLst/>
          </a:prstGeom>
          <a:solidFill>
            <a:srgbClr val="000000">
              <a:alpha val="0"/>
            </a:srgbClr>
          </a:solidFill>
          <a:ln/>
        </p:spPr>
      </p:sp>
      <p:sp>
        <p:nvSpPr>
          <p:cNvPr id="17" name="Shape 13"/>
          <p:cNvSpPr/>
          <p:nvPr/>
        </p:nvSpPr>
        <p:spPr>
          <a:xfrm>
            <a:off x="495300" y="2665810"/>
            <a:ext cx="11201400" cy="47625"/>
          </a:xfrm>
          <a:prstGeom prst="rect">
            <a:avLst/>
          </a:prstGeom>
          <a:solidFill>
            <a:srgbClr val="A83B42"/>
          </a:solidFill>
          <a:ln/>
        </p:spPr>
      </p:sp>
      <p:sp>
        <p:nvSpPr>
          <p:cNvPr id="18" name="Text 14"/>
          <p:cNvSpPr/>
          <p:nvPr/>
        </p:nvSpPr>
        <p:spPr>
          <a:xfrm>
            <a:off x="495300" y="2665809"/>
            <a:ext cx="1197024" cy="284801"/>
          </a:xfrm>
          <a:prstGeom prst="rect">
            <a:avLst/>
          </a:prstGeom>
          <a:noFill/>
          <a:ln/>
        </p:spPr>
        <p:txBody>
          <a:bodyPr wrap="square" lIns="102108" tIns="90763" rIns="102108" bIns="90763" rtlCol="0" anchor="t">
            <a:spAutoFit/>
          </a:bodyPr>
          <a:lstStyle/>
          <a:p>
            <a:pPr>
              <a:lnSpc>
                <a:spcPct val="89600"/>
              </a:lnSpc>
            </a:pPr>
            <a:r>
              <a:rPr lang="en-US" sz="733" b="1" kern="0" spc="1" dirty="0">
                <a:solidFill>
                  <a:srgbClr val="C34A51"/>
                </a:solidFill>
                <a:latin typeface="Arial" pitchFamily="34" charset="0"/>
                <a:ea typeface="Arial" pitchFamily="34" charset="-122"/>
                <a:cs typeface="Arial" pitchFamily="34" charset="-120"/>
              </a:rPr>
              <a:t>ORDER</a:t>
            </a:r>
            <a:endParaRPr lang="en-US" sz="733" dirty="0"/>
          </a:p>
        </p:txBody>
      </p:sp>
      <p:sp>
        <p:nvSpPr>
          <p:cNvPr id="19" name="Text 15"/>
          <p:cNvSpPr/>
          <p:nvPr/>
        </p:nvSpPr>
        <p:spPr>
          <a:xfrm>
            <a:off x="1692324" y="2665809"/>
            <a:ext cx="2137693" cy="284801"/>
          </a:xfrm>
          <a:prstGeom prst="rect">
            <a:avLst/>
          </a:prstGeom>
          <a:noFill/>
          <a:ln/>
        </p:spPr>
        <p:txBody>
          <a:bodyPr wrap="square" lIns="102108" tIns="90763" rIns="102108" bIns="90763" rtlCol="0" anchor="t">
            <a:spAutoFit/>
          </a:bodyPr>
          <a:lstStyle/>
          <a:p>
            <a:pPr>
              <a:lnSpc>
                <a:spcPct val="89600"/>
              </a:lnSpc>
            </a:pPr>
            <a:r>
              <a:rPr lang="en-US" sz="733" b="1" kern="0" spc="1" dirty="0">
                <a:solidFill>
                  <a:srgbClr val="C34A51"/>
                </a:solidFill>
                <a:latin typeface="Arial" pitchFamily="34" charset="0"/>
                <a:ea typeface="Arial" pitchFamily="34" charset="-122"/>
                <a:cs typeface="Arial" pitchFamily="34" charset="-120"/>
              </a:rPr>
              <a:t>TACTIC</a:t>
            </a:r>
            <a:endParaRPr lang="en-US" sz="733" dirty="0"/>
          </a:p>
        </p:txBody>
      </p:sp>
      <p:sp>
        <p:nvSpPr>
          <p:cNvPr id="20" name="Text 16"/>
          <p:cNvSpPr/>
          <p:nvPr/>
        </p:nvSpPr>
        <p:spPr>
          <a:xfrm>
            <a:off x="3830018" y="2665809"/>
            <a:ext cx="2565201" cy="284801"/>
          </a:xfrm>
          <a:prstGeom prst="rect">
            <a:avLst/>
          </a:prstGeom>
          <a:noFill/>
          <a:ln/>
        </p:spPr>
        <p:txBody>
          <a:bodyPr wrap="square" lIns="102108" tIns="90763" rIns="102108" bIns="90763" rtlCol="0" anchor="t">
            <a:spAutoFit/>
          </a:bodyPr>
          <a:lstStyle/>
          <a:p>
            <a:pPr>
              <a:lnSpc>
                <a:spcPct val="89600"/>
              </a:lnSpc>
            </a:pPr>
            <a:r>
              <a:rPr lang="en-US" sz="733" b="1" kern="0" spc="1" dirty="0">
                <a:solidFill>
                  <a:srgbClr val="C34A51"/>
                </a:solidFill>
                <a:latin typeface="Arial" pitchFamily="34" charset="0"/>
                <a:ea typeface="Arial" pitchFamily="34" charset="-122"/>
                <a:cs typeface="Arial" pitchFamily="34" charset="-120"/>
              </a:rPr>
              <a:t>OBJECTIVE / QUESTION</a:t>
            </a:r>
            <a:endParaRPr lang="en-US" sz="733" dirty="0"/>
          </a:p>
        </p:txBody>
      </p:sp>
      <p:sp>
        <p:nvSpPr>
          <p:cNvPr id="21" name="Text 17"/>
          <p:cNvSpPr/>
          <p:nvPr/>
        </p:nvSpPr>
        <p:spPr>
          <a:xfrm>
            <a:off x="6395219" y="2665809"/>
            <a:ext cx="3163788" cy="284801"/>
          </a:xfrm>
          <a:prstGeom prst="rect">
            <a:avLst/>
          </a:prstGeom>
          <a:noFill/>
          <a:ln/>
        </p:spPr>
        <p:txBody>
          <a:bodyPr wrap="square" lIns="102108" tIns="90763" rIns="102108" bIns="90763" rtlCol="0" anchor="t">
            <a:spAutoFit/>
          </a:bodyPr>
          <a:lstStyle/>
          <a:p>
            <a:pPr>
              <a:lnSpc>
                <a:spcPct val="89600"/>
              </a:lnSpc>
            </a:pPr>
            <a:r>
              <a:rPr lang="en-US" sz="733" b="1" kern="0" spc="1" dirty="0">
                <a:solidFill>
                  <a:srgbClr val="C34A51"/>
                </a:solidFill>
                <a:latin typeface="Arial" pitchFamily="34" charset="0"/>
                <a:ea typeface="Arial" pitchFamily="34" charset="-122"/>
                <a:cs typeface="Arial" pitchFamily="34" charset="-120"/>
              </a:rPr>
              <a:t>CONTENT + CHANNEL → CTA</a:t>
            </a:r>
            <a:endParaRPr lang="en-US" sz="733" dirty="0"/>
          </a:p>
        </p:txBody>
      </p:sp>
      <p:sp>
        <p:nvSpPr>
          <p:cNvPr id="22" name="Text 18"/>
          <p:cNvSpPr/>
          <p:nvPr/>
        </p:nvSpPr>
        <p:spPr>
          <a:xfrm>
            <a:off x="9559007" y="2665809"/>
            <a:ext cx="2137619" cy="284801"/>
          </a:xfrm>
          <a:prstGeom prst="rect">
            <a:avLst/>
          </a:prstGeom>
          <a:noFill/>
          <a:ln/>
        </p:spPr>
        <p:txBody>
          <a:bodyPr wrap="square" lIns="102108" tIns="90763" rIns="102108" bIns="90763" rtlCol="0" anchor="t">
            <a:spAutoFit/>
          </a:bodyPr>
          <a:lstStyle/>
          <a:p>
            <a:pPr>
              <a:lnSpc>
                <a:spcPct val="89600"/>
              </a:lnSpc>
            </a:pPr>
            <a:r>
              <a:rPr lang="en-US" sz="733" b="1" kern="0" spc="1" dirty="0">
                <a:solidFill>
                  <a:srgbClr val="C34A51"/>
                </a:solidFill>
                <a:latin typeface="Arial" pitchFamily="34" charset="0"/>
                <a:ea typeface="Arial" pitchFamily="34" charset="-122"/>
                <a:cs typeface="Arial" pitchFamily="34" charset="-120"/>
              </a:rPr>
              <a:t>KPI</a:t>
            </a:r>
            <a:endParaRPr lang="en-US" sz="733" dirty="0"/>
          </a:p>
        </p:txBody>
      </p:sp>
      <p:sp>
        <p:nvSpPr>
          <p:cNvPr id="23" name="Text 19"/>
          <p:cNvSpPr/>
          <p:nvPr/>
        </p:nvSpPr>
        <p:spPr>
          <a:xfrm>
            <a:off x="495300" y="2945012"/>
            <a:ext cx="1197024" cy="349498"/>
          </a:xfrm>
          <a:prstGeom prst="rect">
            <a:avLst/>
          </a:prstGeom>
          <a:noFill/>
          <a:ln/>
        </p:spPr>
        <p:txBody>
          <a:bodyPr wrap="square" lIns="102108" tIns="90763" rIns="102108" bIns="90763" rtlCol="0" anchor="t">
            <a:spAutoFit/>
          </a:bodyPr>
          <a:lstStyle/>
          <a:p>
            <a:pPr>
              <a:lnSpc>
                <a:spcPct val="89600"/>
              </a:lnSpc>
            </a:pPr>
            <a:r>
              <a:rPr lang="en-US" sz="1200" b="1" dirty="0">
                <a:solidFill>
                  <a:srgbClr val="FFFFFF"/>
                </a:solidFill>
                <a:latin typeface="Arial" pitchFamily="34" charset="0"/>
                <a:ea typeface="Arial" pitchFamily="34" charset="-122"/>
                <a:cs typeface="Arial" pitchFamily="34" charset="-120"/>
              </a:rPr>
              <a:t>01</a:t>
            </a:r>
            <a:endParaRPr lang="en-US" sz="1200" dirty="0"/>
          </a:p>
        </p:txBody>
      </p:sp>
      <p:sp>
        <p:nvSpPr>
          <p:cNvPr id="24" name="Text 20"/>
          <p:cNvSpPr/>
          <p:nvPr/>
        </p:nvSpPr>
        <p:spPr>
          <a:xfrm>
            <a:off x="1778049" y="3021211"/>
            <a:ext cx="1421864" cy="129203"/>
          </a:xfrm>
          <a:prstGeom prst="rect">
            <a:avLst/>
          </a:prstGeom>
          <a:noFill/>
          <a:ln/>
        </p:spPr>
        <p:txBody>
          <a:bodyPr wrap="none" lIns="0" tIns="0" rIns="0" bIns="0" rtlCol="0" anchor="t">
            <a:spAutoFit/>
          </a:bodyPr>
          <a:lstStyle/>
          <a:p>
            <a:pPr>
              <a:lnSpc>
                <a:spcPct val="89600"/>
              </a:lnSpc>
            </a:pPr>
            <a:r>
              <a:rPr lang="en-US" sz="933" b="1" dirty="0">
                <a:solidFill>
                  <a:srgbClr val="DDDDDD"/>
                </a:solidFill>
                <a:latin typeface="Arial" pitchFamily="34" charset="0"/>
                <a:ea typeface="Arial" pitchFamily="34" charset="-122"/>
                <a:cs typeface="Arial" pitchFamily="34" charset="-120"/>
              </a:rPr>
              <a:t>Product Discovery Reels</a:t>
            </a:r>
            <a:endParaRPr lang="en-US" sz="933" dirty="0"/>
          </a:p>
        </p:txBody>
      </p:sp>
      <p:sp>
        <p:nvSpPr>
          <p:cNvPr id="25" name="Text 21"/>
          <p:cNvSpPr/>
          <p:nvPr/>
        </p:nvSpPr>
        <p:spPr>
          <a:xfrm>
            <a:off x="3830018" y="2945011"/>
            <a:ext cx="2565201" cy="3217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Awareness: What does Qaim sell?</a:t>
            </a:r>
            <a:endParaRPr lang="en-US" sz="1000" dirty="0"/>
          </a:p>
        </p:txBody>
      </p:sp>
      <p:sp>
        <p:nvSpPr>
          <p:cNvPr id="26" name="Text 22"/>
          <p:cNvSpPr/>
          <p:nvPr/>
        </p:nvSpPr>
        <p:spPr>
          <a:xfrm>
            <a:off x="6395219" y="2945011"/>
            <a:ext cx="3163788"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One category or product per Reel on FB + IG → View profile / details</a:t>
            </a:r>
            <a:endParaRPr lang="en-US" sz="1000" dirty="0"/>
          </a:p>
        </p:txBody>
      </p:sp>
      <p:sp>
        <p:nvSpPr>
          <p:cNvPr id="27" name="Text 23"/>
          <p:cNvSpPr/>
          <p:nvPr/>
        </p:nvSpPr>
        <p:spPr>
          <a:xfrm>
            <a:off x="9559007" y="2945011"/>
            <a:ext cx="2137619"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Reach, views, watch time, profile visits</a:t>
            </a:r>
            <a:endParaRPr lang="en-US" sz="1000" dirty="0"/>
          </a:p>
        </p:txBody>
      </p:sp>
      <p:sp>
        <p:nvSpPr>
          <p:cNvPr id="28" name="Text 24"/>
          <p:cNvSpPr/>
          <p:nvPr/>
        </p:nvSpPr>
        <p:spPr>
          <a:xfrm>
            <a:off x="495300" y="3405634"/>
            <a:ext cx="1197024" cy="349498"/>
          </a:xfrm>
          <a:prstGeom prst="rect">
            <a:avLst/>
          </a:prstGeom>
          <a:noFill/>
          <a:ln/>
        </p:spPr>
        <p:txBody>
          <a:bodyPr wrap="square" lIns="102108" tIns="90763" rIns="102108" bIns="90763" rtlCol="0" anchor="t">
            <a:spAutoFit/>
          </a:bodyPr>
          <a:lstStyle/>
          <a:p>
            <a:pPr>
              <a:lnSpc>
                <a:spcPct val="89600"/>
              </a:lnSpc>
            </a:pPr>
            <a:r>
              <a:rPr lang="en-US" sz="1200" b="1" dirty="0">
                <a:solidFill>
                  <a:srgbClr val="FFFFFF"/>
                </a:solidFill>
                <a:latin typeface="Arial" pitchFamily="34" charset="0"/>
                <a:ea typeface="Arial" pitchFamily="34" charset="-122"/>
                <a:cs typeface="Arial" pitchFamily="34" charset="-120"/>
              </a:rPr>
              <a:t>02</a:t>
            </a:r>
            <a:endParaRPr lang="en-US" sz="1200" dirty="0"/>
          </a:p>
        </p:txBody>
      </p:sp>
      <p:sp>
        <p:nvSpPr>
          <p:cNvPr id="29" name="Text 25"/>
          <p:cNvSpPr/>
          <p:nvPr/>
        </p:nvSpPr>
        <p:spPr>
          <a:xfrm>
            <a:off x="1778049" y="3481834"/>
            <a:ext cx="1106072" cy="129203"/>
          </a:xfrm>
          <a:prstGeom prst="rect">
            <a:avLst/>
          </a:prstGeom>
          <a:noFill/>
          <a:ln/>
        </p:spPr>
        <p:txBody>
          <a:bodyPr wrap="none" lIns="0" tIns="0" rIns="0" bIns="0" rtlCol="0" anchor="t">
            <a:spAutoFit/>
          </a:bodyPr>
          <a:lstStyle/>
          <a:p>
            <a:pPr>
              <a:lnSpc>
                <a:spcPct val="89600"/>
              </a:lnSpc>
            </a:pPr>
            <a:r>
              <a:rPr lang="en-US" sz="933" b="1" dirty="0">
                <a:solidFill>
                  <a:srgbClr val="DDDDDD"/>
                </a:solidFill>
                <a:latin typeface="Arial" pitchFamily="34" charset="0"/>
                <a:ea typeface="Arial" pitchFamily="34" charset="-122"/>
                <a:cs typeface="Arial" pitchFamily="34" charset="-120"/>
              </a:rPr>
              <a:t>Styling &amp; Use-Case</a:t>
            </a:r>
            <a:endParaRPr lang="en-US" sz="933" dirty="0"/>
          </a:p>
        </p:txBody>
      </p:sp>
      <p:sp>
        <p:nvSpPr>
          <p:cNvPr id="30" name="Text 26"/>
          <p:cNvSpPr/>
          <p:nvPr/>
        </p:nvSpPr>
        <p:spPr>
          <a:xfrm>
            <a:off x="3830018" y="3405634"/>
            <a:ext cx="2565201" cy="3217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Consideration: How can I wear it?</a:t>
            </a:r>
            <a:endParaRPr lang="en-US" sz="1000" dirty="0"/>
          </a:p>
        </p:txBody>
      </p:sp>
      <p:sp>
        <p:nvSpPr>
          <p:cNvPr id="31" name="Text 27"/>
          <p:cNvSpPr/>
          <p:nvPr/>
        </p:nvSpPr>
        <p:spPr>
          <a:xfrm>
            <a:off x="6395219" y="3405634"/>
            <a:ext cx="3163788"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One item, three looks through Reels + Carousels → Save, share, comment</a:t>
            </a:r>
            <a:endParaRPr lang="en-US" sz="1000" dirty="0"/>
          </a:p>
        </p:txBody>
      </p:sp>
      <p:sp>
        <p:nvSpPr>
          <p:cNvPr id="32" name="Text 28"/>
          <p:cNvSpPr/>
          <p:nvPr/>
        </p:nvSpPr>
        <p:spPr>
          <a:xfrm>
            <a:off x="9559007" y="3405634"/>
            <a:ext cx="2137619"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Saves, shares, comments, product views</a:t>
            </a:r>
            <a:endParaRPr lang="en-US" sz="1000" dirty="0"/>
          </a:p>
        </p:txBody>
      </p:sp>
      <p:sp>
        <p:nvSpPr>
          <p:cNvPr id="33" name="Text 29"/>
          <p:cNvSpPr/>
          <p:nvPr/>
        </p:nvSpPr>
        <p:spPr>
          <a:xfrm>
            <a:off x="495300" y="3866258"/>
            <a:ext cx="1197024" cy="349498"/>
          </a:xfrm>
          <a:prstGeom prst="rect">
            <a:avLst/>
          </a:prstGeom>
          <a:noFill/>
          <a:ln/>
        </p:spPr>
        <p:txBody>
          <a:bodyPr wrap="square" lIns="102108" tIns="90763" rIns="102108" bIns="90763" rtlCol="0" anchor="t">
            <a:spAutoFit/>
          </a:bodyPr>
          <a:lstStyle/>
          <a:p>
            <a:pPr>
              <a:lnSpc>
                <a:spcPct val="89600"/>
              </a:lnSpc>
            </a:pPr>
            <a:r>
              <a:rPr lang="en-US" sz="1200" b="1" dirty="0">
                <a:solidFill>
                  <a:srgbClr val="FFFFFF"/>
                </a:solidFill>
                <a:latin typeface="Arial" pitchFamily="34" charset="0"/>
                <a:ea typeface="Arial" pitchFamily="34" charset="-122"/>
                <a:cs typeface="Arial" pitchFamily="34" charset="-120"/>
              </a:rPr>
              <a:t>03</a:t>
            </a:r>
            <a:endParaRPr lang="en-US" sz="1200" dirty="0"/>
          </a:p>
        </p:txBody>
      </p:sp>
      <p:sp>
        <p:nvSpPr>
          <p:cNvPr id="34" name="Text 30"/>
          <p:cNvSpPr/>
          <p:nvPr/>
        </p:nvSpPr>
        <p:spPr>
          <a:xfrm>
            <a:off x="1778049" y="3942458"/>
            <a:ext cx="1594988" cy="129203"/>
          </a:xfrm>
          <a:prstGeom prst="rect">
            <a:avLst/>
          </a:prstGeom>
          <a:noFill/>
          <a:ln/>
        </p:spPr>
        <p:txBody>
          <a:bodyPr wrap="none" lIns="0" tIns="0" rIns="0" bIns="0" rtlCol="0" anchor="t">
            <a:spAutoFit/>
          </a:bodyPr>
          <a:lstStyle/>
          <a:p>
            <a:pPr>
              <a:lnSpc>
                <a:spcPct val="89600"/>
              </a:lnSpc>
            </a:pPr>
            <a:r>
              <a:rPr lang="en-US" sz="933" b="1" dirty="0">
                <a:solidFill>
                  <a:srgbClr val="DDDDDD"/>
                </a:solidFill>
                <a:latin typeface="Arial" pitchFamily="34" charset="0"/>
                <a:ea typeface="Arial" pitchFamily="34" charset="-122"/>
                <a:cs typeface="Arial" pitchFamily="34" charset="-120"/>
              </a:rPr>
              <a:t>Shopping Guidance &amp; Trust</a:t>
            </a:r>
            <a:endParaRPr lang="en-US" sz="933" dirty="0"/>
          </a:p>
        </p:txBody>
      </p:sp>
      <p:sp>
        <p:nvSpPr>
          <p:cNvPr id="35" name="Text 31"/>
          <p:cNvSpPr/>
          <p:nvPr/>
        </p:nvSpPr>
        <p:spPr>
          <a:xfrm>
            <a:off x="3830018" y="3866258"/>
            <a:ext cx="2565201" cy="3217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Confidence: Is it suitable for me?</a:t>
            </a:r>
            <a:endParaRPr lang="en-US" sz="1000" dirty="0"/>
          </a:p>
        </p:txBody>
      </p:sp>
      <p:sp>
        <p:nvSpPr>
          <p:cNvPr id="36" name="Text 32"/>
          <p:cNvSpPr/>
          <p:nvPr/>
        </p:nvSpPr>
        <p:spPr>
          <a:xfrm>
            <a:off x="6395219" y="3866258"/>
            <a:ext cx="3163788"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Size, product details and confirmed policy guidance → Check details / ask</a:t>
            </a:r>
            <a:endParaRPr lang="en-US" sz="1000" dirty="0"/>
          </a:p>
        </p:txBody>
      </p:sp>
      <p:sp>
        <p:nvSpPr>
          <p:cNvPr id="37" name="Text 33"/>
          <p:cNvSpPr/>
          <p:nvPr/>
        </p:nvSpPr>
        <p:spPr>
          <a:xfrm>
            <a:off x="9559007" y="3866258"/>
            <a:ext cx="2137619" cy="3217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Clicks, enquiries, add-to-cart</a:t>
            </a:r>
            <a:endParaRPr lang="en-US" sz="1000" dirty="0"/>
          </a:p>
        </p:txBody>
      </p:sp>
      <p:sp>
        <p:nvSpPr>
          <p:cNvPr id="38" name="Text 34"/>
          <p:cNvSpPr/>
          <p:nvPr/>
        </p:nvSpPr>
        <p:spPr>
          <a:xfrm>
            <a:off x="495300" y="4326881"/>
            <a:ext cx="1197024" cy="349498"/>
          </a:xfrm>
          <a:prstGeom prst="rect">
            <a:avLst/>
          </a:prstGeom>
          <a:noFill/>
          <a:ln/>
        </p:spPr>
        <p:txBody>
          <a:bodyPr wrap="square" lIns="102108" tIns="90763" rIns="102108" bIns="90763" rtlCol="0" anchor="t">
            <a:spAutoFit/>
          </a:bodyPr>
          <a:lstStyle/>
          <a:p>
            <a:pPr>
              <a:lnSpc>
                <a:spcPct val="89600"/>
              </a:lnSpc>
            </a:pPr>
            <a:r>
              <a:rPr lang="en-US" sz="1200" b="1" dirty="0">
                <a:solidFill>
                  <a:srgbClr val="FFFFFF"/>
                </a:solidFill>
                <a:latin typeface="Arial" pitchFamily="34" charset="0"/>
                <a:ea typeface="Arial" pitchFamily="34" charset="-122"/>
                <a:cs typeface="Arial" pitchFamily="34" charset="-120"/>
              </a:rPr>
              <a:t>04</a:t>
            </a:r>
            <a:endParaRPr lang="en-US" sz="1200" dirty="0"/>
          </a:p>
        </p:txBody>
      </p:sp>
      <p:sp>
        <p:nvSpPr>
          <p:cNvPr id="39" name="Text 35"/>
          <p:cNvSpPr/>
          <p:nvPr/>
        </p:nvSpPr>
        <p:spPr>
          <a:xfrm>
            <a:off x="1778050" y="4403081"/>
            <a:ext cx="1461939" cy="129203"/>
          </a:xfrm>
          <a:prstGeom prst="rect">
            <a:avLst/>
          </a:prstGeom>
          <a:noFill/>
          <a:ln/>
        </p:spPr>
        <p:txBody>
          <a:bodyPr wrap="none" lIns="0" tIns="0" rIns="0" bIns="0" rtlCol="0" anchor="t">
            <a:spAutoFit/>
          </a:bodyPr>
          <a:lstStyle/>
          <a:p>
            <a:pPr>
              <a:lnSpc>
                <a:spcPct val="89600"/>
              </a:lnSpc>
            </a:pPr>
            <a:r>
              <a:rPr lang="en-US" sz="933" b="1" dirty="0">
                <a:solidFill>
                  <a:srgbClr val="DDDDDD"/>
                </a:solidFill>
                <a:latin typeface="Arial" pitchFamily="34" charset="0"/>
                <a:ea typeface="Arial" pitchFamily="34" charset="-122"/>
                <a:cs typeface="Arial" pitchFamily="34" charset="-120"/>
              </a:rPr>
              <a:t>Community + Conversion</a:t>
            </a:r>
            <a:endParaRPr lang="en-US" sz="933" dirty="0"/>
          </a:p>
        </p:txBody>
      </p:sp>
      <p:sp>
        <p:nvSpPr>
          <p:cNvPr id="40" name="Text 36"/>
          <p:cNvSpPr/>
          <p:nvPr/>
        </p:nvSpPr>
        <p:spPr>
          <a:xfrm>
            <a:off x="3830018" y="4326880"/>
            <a:ext cx="2565201"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Action: Where do I order and what should repeat?</a:t>
            </a:r>
            <a:endParaRPr lang="en-US" sz="1000" dirty="0"/>
          </a:p>
        </p:txBody>
      </p:sp>
      <p:sp>
        <p:nvSpPr>
          <p:cNvPr id="41" name="Text 37"/>
          <p:cNvSpPr/>
          <p:nvPr/>
        </p:nvSpPr>
        <p:spPr>
          <a:xfrm>
            <a:off x="6395219" y="4326880"/>
            <a:ext cx="3163788"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UGC, polls, website links, organic testing and paid amplification → Shop Qaim</a:t>
            </a:r>
            <a:endParaRPr lang="en-US" sz="1000" dirty="0"/>
          </a:p>
        </p:txBody>
      </p:sp>
      <p:sp>
        <p:nvSpPr>
          <p:cNvPr id="42" name="Text 38"/>
          <p:cNvSpPr/>
          <p:nvPr/>
        </p:nvSpPr>
        <p:spPr>
          <a:xfrm>
            <a:off x="9559007" y="4326880"/>
            <a:ext cx="2137619" cy="460298"/>
          </a:xfrm>
          <a:prstGeom prst="rect">
            <a:avLst/>
          </a:prstGeom>
          <a:noFill/>
          <a:ln/>
        </p:spPr>
        <p:txBody>
          <a:bodyPr wrap="square" lIns="102108" tIns="90763" rIns="102108" bIns="90763" rtlCol="0" anchor="t">
            <a:spAutoFit/>
          </a:bodyPr>
          <a:lstStyle/>
          <a:p>
            <a:pPr>
              <a:lnSpc>
                <a:spcPct val="89600"/>
              </a:lnSpc>
            </a:pPr>
            <a:r>
              <a:rPr lang="en-US" sz="1000" dirty="0">
                <a:solidFill>
                  <a:srgbClr val="DDDDDD"/>
                </a:solidFill>
                <a:latin typeface="Arial" pitchFamily="34" charset="0"/>
                <a:ea typeface="Arial" pitchFamily="34" charset="-122"/>
                <a:cs typeface="Arial" pitchFamily="34" charset="-120"/>
              </a:rPr>
              <a:t>Product views, orders, conversion, ROAS</a:t>
            </a:r>
            <a:endParaRPr lang="en-US" sz="1000" dirty="0"/>
          </a:p>
        </p:txBody>
      </p:sp>
      <p:sp>
        <p:nvSpPr>
          <p:cNvPr id="43" name="Shape 39"/>
          <p:cNvSpPr/>
          <p:nvPr/>
        </p:nvSpPr>
        <p:spPr>
          <a:xfrm>
            <a:off x="495300" y="4882753"/>
            <a:ext cx="11201400" cy="268560"/>
          </a:xfrm>
          <a:prstGeom prst="rect">
            <a:avLst/>
          </a:prstGeom>
          <a:solidFill>
            <a:srgbClr val="000000">
              <a:alpha val="0"/>
            </a:srgbClr>
          </a:solidFill>
          <a:ln/>
        </p:spPr>
      </p:sp>
      <p:sp>
        <p:nvSpPr>
          <p:cNvPr id="44" name="Shape 40"/>
          <p:cNvSpPr/>
          <p:nvPr/>
        </p:nvSpPr>
        <p:spPr>
          <a:xfrm>
            <a:off x="495300" y="4882754"/>
            <a:ext cx="11201400" cy="9525"/>
          </a:xfrm>
          <a:prstGeom prst="rect">
            <a:avLst/>
          </a:prstGeom>
          <a:solidFill>
            <a:srgbClr val="555555"/>
          </a:solidFill>
          <a:ln/>
        </p:spPr>
      </p:sp>
      <p:sp>
        <p:nvSpPr>
          <p:cNvPr id="45" name="Text 41"/>
          <p:cNvSpPr/>
          <p:nvPr/>
        </p:nvSpPr>
        <p:spPr>
          <a:xfrm>
            <a:off x="495300" y="4882754"/>
            <a:ext cx="7981352" cy="249321"/>
          </a:xfrm>
          <a:prstGeom prst="rect">
            <a:avLst/>
          </a:prstGeom>
          <a:noFill/>
          <a:ln/>
        </p:spPr>
        <p:txBody>
          <a:bodyPr wrap="none" lIns="0" tIns="90763" rIns="0" bIns="0" rtlCol="0" anchor="t">
            <a:spAutoFit/>
          </a:bodyPr>
          <a:lstStyle/>
          <a:p>
            <a:pPr>
              <a:lnSpc>
                <a:spcPct val="96000"/>
              </a:lnSpc>
            </a:pPr>
            <a:r>
              <a:rPr lang="en-US" sz="1067" b="1" dirty="0">
                <a:solidFill>
                  <a:srgbClr val="B64046"/>
                </a:solidFill>
                <a:latin typeface="Arial" pitchFamily="34" charset="0"/>
                <a:ea typeface="Arial" pitchFamily="34" charset="-122"/>
                <a:cs typeface="Arial" pitchFamily="34" charset="-120"/>
              </a:rPr>
              <a:t>Discover → Imagine → Verify → Visit Qaim.shop → Order → Return</a:t>
            </a:r>
            <a:r>
              <a:rPr lang="en-US" sz="1067" b="1" dirty="0">
                <a:solidFill>
                  <a:srgbClr val="FFFFFF"/>
                </a:solidFill>
                <a:latin typeface="Arial" pitchFamily="34" charset="0"/>
                <a:ea typeface="Arial" pitchFamily="34" charset="-122"/>
                <a:cs typeface="Arial" pitchFamily="34" charset="-120"/>
              </a:rPr>
              <a:t> — each tactic hands the customer to the next decision.</a:t>
            </a:r>
            <a:endParaRPr lang="en-US" sz="1067" dirty="0"/>
          </a:p>
        </p:txBody>
      </p:sp>
      <p:sp>
        <p:nvSpPr>
          <p:cNvPr id="46" name="Text 42"/>
          <p:cNvSpPr/>
          <p:nvPr/>
        </p:nvSpPr>
        <p:spPr>
          <a:xfrm>
            <a:off x="495300" y="5189414"/>
            <a:ext cx="11201400" cy="102657"/>
          </a:xfrm>
          <a:prstGeom prst="rect">
            <a:avLst/>
          </a:prstGeom>
          <a:noFill/>
          <a:ln/>
        </p:spPr>
        <p:txBody>
          <a:bodyPr wrap="square" lIns="0" tIns="0" rIns="0" bIns="0" rtlCol="0" anchor="t">
            <a:spAutoFit/>
          </a:bodyPr>
          <a:lstStyle/>
          <a:p>
            <a:r>
              <a:rPr lang="en-US" sz="667" dirty="0">
                <a:solidFill>
                  <a:srgbClr val="777777"/>
                </a:solidFill>
                <a:latin typeface="Arial" pitchFamily="34" charset="0"/>
                <a:ea typeface="Arial" pitchFamily="34" charset="-122"/>
                <a:cs typeface="Arial" pitchFamily="34" charset="-120"/>
              </a:rPr>
              <a:t>Sources: Qaim Facebook page + Qaim.shop, accessed 21 August 2026. Public facts are separated from performance data requiring Meta Insights and website analytics.</a:t>
            </a:r>
            <a:endParaRPr lang="en-US" sz="667" dirty="0"/>
          </a:p>
        </p:txBody>
      </p:sp>
    </p:spTree>
    <p:extLst>
      <p:ext uri="{BB962C8B-B14F-4D97-AF65-F5344CB8AC3E}">
        <p14:creationId xmlns:p14="http://schemas.microsoft.com/office/powerpoint/2010/main" val="444308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876455"/>
          </a:xfrm>
          <a:prstGeom prst="rect">
            <a:avLst/>
          </a:prstGeom>
        </p:spPr>
      </p:pic>
      <p:pic>
        <p:nvPicPr>
          <p:cNvPr id="3" name="Image 1" descr="preencoded.png"/>
          <p:cNvPicPr>
            <a:picLocks noChangeAspect="1"/>
          </p:cNvPicPr>
          <p:nvPr/>
        </p:nvPicPr>
        <p:blipFill>
          <a:blip r:embed="rId4"/>
          <a:stretch>
            <a:fillRect/>
          </a:stretch>
        </p:blipFill>
        <p:spPr>
          <a:xfrm>
            <a:off x="571500" y="400051"/>
            <a:ext cx="381000" cy="381000"/>
          </a:xfrm>
          <a:prstGeom prst="rect">
            <a:avLst/>
          </a:prstGeom>
        </p:spPr>
      </p:pic>
      <p:sp>
        <p:nvSpPr>
          <p:cNvPr id="4" name="Text 0"/>
          <p:cNvSpPr/>
          <p:nvPr/>
        </p:nvSpPr>
        <p:spPr>
          <a:xfrm>
            <a:off x="1047751" y="488156"/>
            <a:ext cx="424732" cy="194990"/>
          </a:xfrm>
          <a:prstGeom prst="rect">
            <a:avLst/>
          </a:prstGeom>
          <a:noFill/>
          <a:ln/>
        </p:spPr>
        <p:txBody>
          <a:bodyPr wrap="none" lIns="0" tIns="0" rIns="0" bIns="0" rtlCol="0" anchor="t">
            <a:spAutoFit/>
          </a:bodyPr>
          <a:lstStyle/>
          <a:p>
            <a:r>
              <a:rPr lang="en-US" sz="1267" b="1" kern="0" spc="3" dirty="0">
                <a:solidFill>
                  <a:srgbClr val="FFFFFF"/>
                </a:solidFill>
                <a:latin typeface="Arial" pitchFamily="34" charset="0"/>
                <a:ea typeface="Arial" pitchFamily="34" charset="-122"/>
                <a:cs typeface="Arial" pitchFamily="34" charset="-120"/>
              </a:rPr>
              <a:t>QAIM</a:t>
            </a:r>
            <a:endParaRPr lang="en-US" sz="1267" dirty="0"/>
          </a:p>
        </p:txBody>
      </p:sp>
      <p:sp>
        <p:nvSpPr>
          <p:cNvPr id="5" name="Text 1"/>
          <p:cNvSpPr/>
          <p:nvPr/>
        </p:nvSpPr>
        <p:spPr>
          <a:xfrm>
            <a:off x="571500" y="876300"/>
            <a:ext cx="11049000" cy="133434"/>
          </a:xfrm>
          <a:prstGeom prst="rect">
            <a:avLst/>
          </a:prstGeom>
          <a:noFill/>
          <a:ln/>
        </p:spPr>
        <p:txBody>
          <a:bodyPr wrap="square" lIns="0" tIns="0" rIns="0" bIns="0" rtlCol="0" anchor="t">
            <a:spAutoFit/>
          </a:bodyPr>
          <a:lstStyle/>
          <a:p>
            <a:r>
              <a:rPr lang="en-US" sz="867" b="1" kern="0" spc="3" dirty="0">
                <a:solidFill>
                  <a:srgbClr val="B64046"/>
                </a:solidFill>
                <a:latin typeface="Arial" pitchFamily="34" charset="0"/>
                <a:ea typeface="Arial" pitchFamily="34" charset="-122"/>
                <a:cs typeface="Arial" pitchFamily="34" charset="-120"/>
              </a:rPr>
              <a:t>06 / TACTIC 1 — DISCOVER</a:t>
            </a:r>
            <a:endParaRPr lang="en-US" sz="867" dirty="0"/>
          </a:p>
        </p:txBody>
      </p:sp>
      <p:sp>
        <p:nvSpPr>
          <p:cNvPr id="6" name="Text 2"/>
          <p:cNvSpPr/>
          <p:nvPr/>
        </p:nvSpPr>
        <p:spPr>
          <a:xfrm>
            <a:off x="571501" y="1100137"/>
            <a:ext cx="9680535" cy="308802"/>
          </a:xfrm>
          <a:prstGeom prst="rect">
            <a:avLst/>
          </a:prstGeom>
          <a:noFill/>
          <a:ln/>
        </p:spPr>
        <p:txBody>
          <a:bodyPr wrap="none" lIns="0" tIns="0" rIns="0" bIns="0" rtlCol="0" anchor="t">
            <a:spAutoFit/>
          </a:bodyPr>
          <a:lstStyle/>
          <a:p>
            <a:pPr>
              <a:lnSpc>
                <a:spcPct val="83200"/>
              </a:lnSpc>
            </a:pPr>
            <a:r>
              <a:rPr lang="en-US" sz="2400" b="1" dirty="0">
                <a:solidFill>
                  <a:srgbClr val="FFFFFF"/>
                </a:solidFill>
                <a:latin typeface="Arial" pitchFamily="34" charset="0"/>
                <a:ea typeface="Arial" pitchFamily="34" charset="-122"/>
                <a:cs typeface="Arial" pitchFamily="34" charset="-120"/>
              </a:rPr>
              <a:t>Product Discovery Reels: Make the Catalogue Easy to Understand</a:t>
            </a:r>
            <a:endParaRPr lang="en-US" sz="2400" dirty="0"/>
          </a:p>
        </p:txBody>
      </p:sp>
      <p:sp>
        <p:nvSpPr>
          <p:cNvPr id="7" name="Text 3"/>
          <p:cNvSpPr/>
          <p:nvPr/>
        </p:nvSpPr>
        <p:spPr>
          <a:xfrm>
            <a:off x="571501" y="1732955"/>
            <a:ext cx="5250359"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STRATEGIC BRIEF</a:t>
            </a:r>
            <a:endParaRPr lang="en-US" sz="800" dirty="0"/>
          </a:p>
        </p:txBody>
      </p:sp>
      <p:sp>
        <p:nvSpPr>
          <p:cNvPr id="8" name="Text 4"/>
          <p:cNvSpPr/>
          <p:nvPr/>
        </p:nvSpPr>
        <p:spPr>
          <a:xfrm>
            <a:off x="571501" y="1942506"/>
            <a:ext cx="5250359" cy="1284582"/>
          </a:xfrm>
          <a:prstGeom prst="rect">
            <a:avLst/>
          </a:prstGeom>
          <a:noFill/>
          <a:ln/>
        </p:spPr>
        <p:txBody>
          <a:bodyPr wrap="square" lIns="0" tIns="0" rIns="0" bIns="0" rtlCol="0" anchor="t">
            <a:spAutoFit/>
          </a:bodyPr>
          <a:lstStyle/>
          <a:p>
            <a:pPr>
              <a:lnSpc>
                <a:spcPct val="106400"/>
              </a:lnSpc>
            </a:pPr>
            <a:r>
              <a:rPr lang="en-US" sz="1067" b="1" dirty="0">
                <a:solidFill>
                  <a:srgbClr val="FFFFFF"/>
                </a:solidFill>
                <a:latin typeface="Arial" pitchFamily="34" charset="0"/>
                <a:ea typeface="Arial" pitchFamily="34" charset="-122"/>
                <a:cs typeface="Arial" pitchFamily="34" charset="-120"/>
              </a:rPr>
              <a:t>Audience:</a:t>
            </a:r>
            <a:r>
              <a:rPr lang="en-US" sz="1133" dirty="0">
                <a:solidFill>
                  <a:srgbClr val="DDDDDD"/>
                </a:solidFill>
                <a:latin typeface="Arial" pitchFamily="34" charset="0"/>
                <a:ea typeface="Arial" pitchFamily="34" charset="-122"/>
                <a:cs typeface="Arial" pitchFamily="34" charset="-120"/>
              </a:rPr>
              <a:t> Egyptian men interested in practical men's fashion and online shopping.
</a:t>
            </a:r>
            <a:r>
              <a:rPr lang="en-US" sz="1067" b="1" dirty="0">
                <a:solidFill>
                  <a:srgbClr val="FFFFFF"/>
                </a:solidFill>
                <a:latin typeface="Arial" pitchFamily="34" charset="0"/>
                <a:ea typeface="Arial" pitchFamily="34" charset="-122"/>
                <a:cs typeface="Arial" pitchFamily="34" charset="-120"/>
              </a:rPr>
              <a:t>Objective:</a:t>
            </a:r>
            <a:r>
              <a:rPr lang="en-US" sz="1133" dirty="0">
                <a:solidFill>
                  <a:srgbClr val="DDDDDD"/>
                </a:solidFill>
                <a:latin typeface="Arial" pitchFamily="34" charset="0"/>
                <a:ea typeface="Arial" pitchFamily="34" charset="-122"/>
                <a:cs typeface="Arial" pitchFamily="34" charset="-120"/>
              </a:rPr>
              <a:t> move from social discovery to profile visit and product-page view.
</a:t>
            </a:r>
            <a:r>
              <a:rPr lang="en-US" sz="1067" b="1" dirty="0">
                <a:solidFill>
                  <a:srgbClr val="FFFFFF"/>
                </a:solidFill>
                <a:latin typeface="Arial" pitchFamily="34" charset="0"/>
                <a:ea typeface="Arial" pitchFamily="34" charset="-122"/>
                <a:cs typeface="Arial" pitchFamily="34" charset="-120"/>
              </a:rPr>
              <a:t>Product reference:</a:t>
            </a:r>
            <a:r>
              <a:rPr lang="en-US" sz="1133" dirty="0">
                <a:solidFill>
                  <a:srgbClr val="DDDDDD"/>
                </a:solidFill>
                <a:latin typeface="Arial" pitchFamily="34" charset="0"/>
                <a:ea typeface="Arial" pitchFamily="34" charset="-122"/>
                <a:cs typeface="Arial" pitchFamily="34" charset="-120"/>
              </a:rPr>
              <a:t> Qaim's public Facebook campaign shows a navy polo styled with light ice-blue jeans and navy shoes. The creative below preserves that product look in a new scene.
</a:t>
            </a:r>
            <a:r>
              <a:rPr lang="en-US" sz="1067" b="1" dirty="0">
                <a:solidFill>
                  <a:srgbClr val="FFFFFF"/>
                </a:solidFill>
                <a:latin typeface="Arial" pitchFamily="34" charset="0"/>
                <a:ea typeface="Arial" pitchFamily="34" charset="-122"/>
                <a:cs typeface="Arial" pitchFamily="34" charset="-120"/>
              </a:rPr>
              <a:t>Format:</a:t>
            </a:r>
            <a:r>
              <a:rPr lang="en-US" sz="1133" dirty="0">
                <a:solidFill>
                  <a:srgbClr val="DDDDDD"/>
                </a:solidFill>
                <a:latin typeface="Arial" pitchFamily="34" charset="0"/>
                <a:ea typeface="Arial" pitchFamily="34" charset="-122"/>
                <a:cs typeface="Arial" pitchFamily="34" charset="-120"/>
              </a:rPr>
              <a:t> 9:16 Reel for Facebook and Instagram.
</a:t>
            </a:r>
            <a:r>
              <a:rPr lang="en-US" sz="1067" b="1" dirty="0">
                <a:solidFill>
                  <a:srgbClr val="FFFFFF"/>
                </a:solidFill>
                <a:latin typeface="Arial" pitchFamily="34" charset="0"/>
                <a:ea typeface="Arial" pitchFamily="34" charset="-122"/>
                <a:cs typeface="Arial" pitchFamily="34" charset="-120"/>
              </a:rPr>
              <a:t>CTA:</a:t>
            </a:r>
            <a:r>
              <a:rPr lang="en-US" sz="1133" dirty="0">
                <a:solidFill>
                  <a:srgbClr val="DDDDDD"/>
                </a:solidFill>
                <a:latin typeface="Arial" pitchFamily="34" charset="0"/>
                <a:ea typeface="Arial" pitchFamily="34" charset="-122"/>
                <a:cs typeface="Arial" pitchFamily="34" charset="-120"/>
              </a:rPr>
              <a:t> “شوف التفاصيل والمقاسات على Qaim.shop.”</a:t>
            </a:r>
            <a:endParaRPr lang="en-US" sz="1067" dirty="0"/>
          </a:p>
        </p:txBody>
      </p:sp>
      <p:sp>
        <p:nvSpPr>
          <p:cNvPr id="9" name="Text 5"/>
          <p:cNvSpPr/>
          <p:nvPr/>
        </p:nvSpPr>
        <p:spPr>
          <a:xfrm>
            <a:off x="571501" y="4516934"/>
            <a:ext cx="5250359"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TREND-AWARE HOOK</a:t>
            </a:r>
            <a:endParaRPr lang="en-US" sz="800" dirty="0"/>
          </a:p>
        </p:txBody>
      </p:sp>
      <p:sp>
        <p:nvSpPr>
          <p:cNvPr id="10" name="Text 6"/>
          <p:cNvSpPr/>
          <p:nvPr/>
        </p:nvSpPr>
        <p:spPr>
          <a:xfrm>
            <a:off x="571501" y="4726484"/>
            <a:ext cx="5250359" cy="360612"/>
          </a:xfrm>
          <a:prstGeom prst="rect">
            <a:avLst/>
          </a:prstGeom>
          <a:noFill/>
          <a:ln/>
        </p:spPr>
        <p:txBody>
          <a:bodyPr wrap="square" lIns="0" tIns="0" rIns="0" bIns="0" rtlCol="0" anchor="t">
            <a:spAutoFit/>
          </a:bodyPr>
          <a:lstStyle/>
          <a:p>
            <a:pPr>
              <a:lnSpc>
                <a:spcPct val="106400"/>
              </a:lnSpc>
            </a:pPr>
            <a:r>
              <a:rPr lang="en-US" sz="1067" b="1" dirty="0">
                <a:solidFill>
                  <a:srgbClr val="FFFFFF"/>
                </a:solidFill>
                <a:latin typeface="Arial" pitchFamily="34" charset="0"/>
                <a:ea typeface="Arial" pitchFamily="34" charset="-122"/>
                <a:cs typeface="Arial" pitchFamily="34" charset="-120"/>
              </a:rPr>
              <a:t>POV:</a:t>
            </a:r>
            <a:r>
              <a:rPr lang="en-US" sz="1133" dirty="0">
                <a:solidFill>
                  <a:srgbClr val="DDDDDD"/>
                </a:solidFill>
                <a:latin typeface="Arial" pitchFamily="34" charset="0"/>
                <a:ea typeface="Arial" pitchFamily="34" charset="-122"/>
                <a:cs typeface="Arial" pitchFamily="34" charset="-120"/>
              </a:rPr>
              <a:t> خارج من الجيم وداخل على مشوار — followed by a quick product reveal and a comment question.</a:t>
            </a:r>
            <a:endParaRPr lang="en-US" sz="1067" dirty="0"/>
          </a:p>
        </p:txBody>
      </p:sp>
      <p:pic>
        <p:nvPicPr>
          <p:cNvPr id="11" name="Image 2" descr="preencoded.png"/>
          <p:cNvPicPr>
            <a:picLocks noChangeAspect="1"/>
          </p:cNvPicPr>
          <p:nvPr/>
        </p:nvPicPr>
        <p:blipFill>
          <a:blip r:embed="rId5"/>
          <a:stretch>
            <a:fillRect/>
          </a:stretch>
        </p:blipFill>
        <p:spPr>
          <a:xfrm>
            <a:off x="6107608" y="1732955"/>
            <a:ext cx="5334000" cy="3000375"/>
          </a:xfrm>
          <a:prstGeom prst="rect">
            <a:avLst/>
          </a:prstGeom>
        </p:spPr>
      </p:pic>
      <p:sp>
        <p:nvSpPr>
          <p:cNvPr id="12" name="Text 7"/>
          <p:cNvSpPr/>
          <p:nvPr/>
        </p:nvSpPr>
        <p:spPr>
          <a:xfrm>
            <a:off x="6107609" y="4828581"/>
            <a:ext cx="5512892" cy="112788"/>
          </a:xfrm>
          <a:prstGeom prst="rect">
            <a:avLst/>
          </a:prstGeom>
          <a:noFill/>
          <a:ln/>
        </p:spPr>
        <p:txBody>
          <a:bodyPr wrap="square" lIns="0" tIns="0" rIns="0" bIns="0" rtlCol="0" anchor="t">
            <a:spAutoFit/>
          </a:bodyPr>
          <a:lstStyle/>
          <a:p>
            <a:r>
              <a:rPr lang="en-US" sz="733" dirty="0">
                <a:solidFill>
                  <a:srgbClr val="777777"/>
                </a:solidFill>
                <a:latin typeface="Arial" pitchFamily="34" charset="0"/>
                <a:ea typeface="Arial" pitchFamily="34" charset="-122"/>
                <a:cs typeface="Arial" pitchFamily="34" charset="-120"/>
              </a:rPr>
              <a:t>Creative recomposition based on Qaim's official public polo + ice-blue jeans look; use approved brand assets for final publishing.</a:t>
            </a:r>
            <a:endParaRPr lang="en-US" sz="733" dirty="0"/>
          </a:p>
        </p:txBody>
      </p:sp>
      <p:sp>
        <p:nvSpPr>
          <p:cNvPr id="13" name="Text 8"/>
          <p:cNvSpPr/>
          <p:nvPr/>
        </p:nvSpPr>
        <p:spPr>
          <a:xfrm>
            <a:off x="6107609" y="5200055"/>
            <a:ext cx="5512892"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FIVE-BEAT REEL</a:t>
            </a:r>
            <a:endParaRPr lang="en-US" sz="800" dirty="0"/>
          </a:p>
        </p:txBody>
      </p:sp>
      <p:sp>
        <p:nvSpPr>
          <p:cNvPr id="14" name="Text 9"/>
          <p:cNvSpPr/>
          <p:nvPr/>
        </p:nvSpPr>
        <p:spPr>
          <a:xfrm>
            <a:off x="6107608" y="5562006"/>
            <a:ext cx="189154" cy="205121"/>
          </a:xfrm>
          <a:prstGeom prst="rect">
            <a:avLst/>
          </a:prstGeom>
          <a:noFill/>
          <a:ln/>
        </p:spPr>
        <p:txBody>
          <a:bodyPr wrap="none" lIns="0" tIns="0" rIns="0" bIns="0" rtlCol="0" anchor="t">
            <a:spAutoFit/>
          </a:bodyPr>
          <a:lstStyle/>
          <a:p>
            <a:r>
              <a:rPr lang="en-US" sz="1333" b="1" dirty="0">
                <a:solidFill>
                  <a:srgbClr val="B64046"/>
                </a:solidFill>
                <a:latin typeface="Arial" pitchFamily="34" charset="0"/>
                <a:ea typeface="Arial" pitchFamily="34" charset="-122"/>
                <a:cs typeface="Arial" pitchFamily="34" charset="-120"/>
              </a:rPr>
              <a:t>01</a:t>
            </a:r>
            <a:endParaRPr lang="en-US" sz="1333" dirty="0"/>
          </a:p>
        </p:txBody>
      </p:sp>
      <p:sp>
        <p:nvSpPr>
          <p:cNvPr id="15" name="Text 10"/>
          <p:cNvSpPr/>
          <p:nvPr/>
        </p:nvSpPr>
        <p:spPr>
          <a:xfrm>
            <a:off x="6107609" y="5795367"/>
            <a:ext cx="307777" cy="123111"/>
          </a:xfrm>
          <a:prstGeom prst="rect">
            <a:avLst/>
          </a:prstGeom>
          <a:noFill/>
          <a:ln/>
        </p:spPr>
        <p:txBody>
          <a:bodyPr wrap="none" lIns="0" tIns="0" rIns="0" bIns="0" rtlCol="0" anchor="t">
            <a:spAutoFit/>
          </a:bodyPr>
          <a:lstStyle/>
          <a:p>
            <a:r>
              <a:rPr lang="en-US" sz="800" b="1" dirty="0">
                <a:solidFill>
                  <a:srgbClr val="FFFFFF"/>
                </a:solidFill>
                <a:latin typeface="Arial" pitchFamily="34" charset="0"/>
                <a:ea typeface="Arial" pitchFamily="34" charset="-122"/>
                <a:cs typeface="Arial" pitchFamily="34" charset="-120"/>
              </a:rPr>
              <a:t>HOOK</a:t>
            </a:r>
            <a:endParaRPr lang="en-US" sz="800" dirty="0"/>
          </a:p>
        </p:txBody>
      </p:sp>
      <p:sp>
        <p:nvSpPr>
          <p:cNvPr id="16" name="Text 11"/>
          <p:cNvSpPr/>
          <p:nvPr/>
        </p:nvSpPr>
        <p:spPr>
          <a:xfrm>
            <a:off x="6107609" y="5976343"/>
            <a:ext cx="1049239" cy="216598"/>
          </a:xfrm>
          <a:prstGeom prst="rect">
            <a:avLst/>
          </a:prstGeom>
          <a:noFill/>
          <a:ln/>
        </p:spPr>
        <p:txBody>
          <a:bodyPr wrap="square" lIns="0" tIns="0" rIns="0" bIns="0" rtlCol="0" anchor="t">
            <a:spAutoFit/>
          </a:bodyPr>
          <a:lstStyle/>
          <a:p>
            <a:pPr>
              <a:lnSpc>
                <a:spcPct val="96000"/>
              </a:lnSpc>
            </a:pPr>
            <a:r>
              <a:rPr lang="en-US" sz="733" dirty="0">
                <a:solidFill>
                  <a:srgbClr val="CCCCCC"/>
                </a:solidFill>
                <a:latin typeface="Arial" pitchFamily="34" charset="0"/>
                <a:ea typeface="Arial" pitchFamily="34" charset="-122"/>
                <a:cs typeface="Arial" pitchFamily="34" charset="-120"/>
              </a:rPr>
              <a:t>خارج من الجيم وداخل على مشوار.</a:t>
            </a:r>
            <a:endParaRPr lang="en-US" sz="733" dirty="0"/>
          </a:p>
        </p:txBody>
      </p:sp>
      <p:sp>
        <p:nvSpPr>
          <p:cNvPr id="17" name="Text 12"/>
          <p:cNvSpPr/>
          <p:nvPr/>
        </p:nvSpPr>
        <p:spPr>
          <a:xfrm>
            <a:off x="7223522" y="5562006"/>
            <a:ext cx="189154" cy="205121"/>
          </a:xfrm>
          <a:prstGeom prst="rect">
            <a:avLst/>
          </a:prstGeom>
          <a:noFill/>
          <a:ln/>
        </p:spPr>
        <p:txBody>
          <a:bodyPr wrap="none" lIns="0" tIns="0" rIns="0" bIns="0" rtlCol="0" anchor="t">
            <a:spAutoFit/>
          </a:bodyPr>
          <a:lstStyle/>
          <a:p>
            <a:r>
              <a:rPr lang="en-US" sz="1333" b="1" dirty="0">
                <a:solidFill>
                  <a:srgbClr val="B64046"/>
                </a:solidFill>
                <a:latin typeface="Arial" pitchFamily="34" charset="0"/>
                <a:ea typeface="Arial" pitchFamily="34" charset="-122"/>
                <a:cs typeface="Arial" pitchFamily="34" charset="-120"/>
              </a:rPr>
              <a:t>02</a:t>
            </a:r>
            <a:endParaRPr lang="en-US" sz="1333" dirty="0"/>
          </a:p>
        </p:txBody>
      </p:sp>
      <p:sp>
        <p:nvSpPr>
          <p:cNvPr id="18" name="Text 13"/>
          <p:cNvSpPr/>
          <p:nvPr/>
        </p:nvSpPr>
        <p:spPr>
          <a:xfrm>
            <a:off x="7223522" y="5795367"/>
            <a:ext cx="416781" cy="123111"/>
          </a:xfrm>
          <a:prstGeom prst="rect">
            <a:avLst/>
          </a:prstGeom>
          <a:noFill/>
          <a:ln/>
        </p:spPr>
        <p:txBody>
          <a:bodyPr wrap="none" lIns="0" tIns="0" rIns="0" bIns="0" rtlCol="0" anchor="t">
            <a:spAutoFit/>
          </a:bodyPr>
          <a:lstStyle/>
          <a:p>
            <a:r>
              <a:rPr lang="en-US" sz="800" b="1" dirty="0">
                <a:solidFill>
                  <a:srgbClr val="FFFFFF"/>
                </a:solidFill>
                <a:latin typeface="Arial" pitchFamily="34" charset="0"/>
                <a:ea typeface="Arial" pitchFamily="34" charset="-122"/>
                <a:cs typeface="Arial" pitchFamily="34" charset="-120"/>
              </a:rPr>
              <a:t>REVEAL</a:t>
            </a:r>
            <a:endParaRPr lang="en-US" sz="800" dirty="0"/>
          </a:p>
        </p:txBody>
      </p:sp>
      <p:sp>
        <p:nvSpPr>
          <p:cNvPr id="19" name="Text 14"/>
          <p:cNvSpPr/>
          <p:nvPr/>
        </p:nvSpPr>
        <p:spPr>
          <a:xfrm>
            <a:off x="7223522" y="5976343"/>
            <a:ext cx="1049239" cy="216598"/>
          </a:xfrm>
          <a:prstGeom prst="rect">
            <a:avLst/>
          </a:prstGeom>
          <a:noFill/>
          <a:ln/>
        </p:spPr>
        <p:txBody>
          <a:bodyPr wrap="square" lIns="0" tIns="0" rIns="0" bIns="0" rtlCol="0" anchor="t">
            <a:spAutoFit/>
          </a:bodyPr>
          <a:lstStyle/>
          <a:p>
            <a:pPr>
              <a:lnSpc>
                <a:spcPct val="96000"/>
              </a:lnSpc>
            </a:pPr>
            <a:r>
              <a:rPr lang="en-US" sz="733" dirty="0">
                <a:solidFill>
                  <a:srgbClr val="CCCCCC"/>
                </a:solidFill>
                <a:latin typeface="Arial" pitchFamily="34" charset="0"/>
                <a:ea typeface="Arial" pitchFamily="34" charset="-122"/>
                <a:cs typeface="Arial" pitchFamily="34" charset="-120"/>
              </a:rPr>
              <a:t>Show the actual Qaim look.</a:t>
            </a:r>
            <a:endParaRPr lang="en-US" sz="733" dirty="0"/>
          </a:p>
        </p:txBody>
      </p:sp>
      <p:sp>
        <p:nvSpPr>
          <p:cNvPr id="20" name="Text 15"/>
          <p:cNvSpPr/>
          <p:nvPr/>
        </p:nvSpPr>
        <p:spPr>
          <a:xfrm>
            <a:off x="8339435" y="5562006"/>
            <a:ext cx="189154" cy="205121"/>
          </a:xfrm>
          <a:prstGeom prst="rect">
            <a:avLst/>
          </a:prstGeom>
          <a:noFill/>
          <a:ln/>
        </p:spPr>
        <p:txBody>
          <a:bodyPr wrap="none" lIns="0" tIns="0" rIns="0" bIns="0" rtlCol="0" anchor="t">
            <a:spAutoFit/>
          </a:bodyPr>
          <a:lstStyle/>
          <a:p>
            <a:r>
              <a:rPr lang="en-US" sz="1333" b="1" dirty="0">
                <a:solidFill>
                  <a:srgbClr val="B64046"/>
                </a:solidFill>
                <a:latin typeface="Arial" pitchFamily="34" charset="0"/>
                <a:ea typeface="Arial" pitchFamily="34" charset="-122"/>
                <a:cs typeface="Arial" pitchFamily="34" charset="-120"/>
              </a:rPr>
              <a:t>03</a:t>
            </a:r>
            <a:endParaRPr lang="en-US" sz="1333" dirty="0"/>
          </a:p>
        </p:txBody>
      </p:sp>
      <p:sp>
        <p:nvSpPr>
          <p:cNvPr id="21" name="Text 16"/>
          <p:cNvSpPr/>
          <p:nvPr/>
        </p:nvSpPr>
        <p:spPr>
          <a:xfrm>
            <a:off x="8339435" y="5795367"/>
            <a:ext cx="370294" cy="123111"/>
          </a:xfrm>
          <a:prstGeom prst="rect">
            <a:avLst/>
          </a:prstGeom>
          <a:noFill/>
          <a:ln/>
        </p:spPr>
        <p:txBody>
          <a:bodyPr wrap="none" lIns="0" tIns="0" rIns="0" bIns="0" rtlCol="0" anchor="t">
            <a:spAutoFit/>
          </a:bodyPr>
          <a:lstStyle/>
          <a:p>
            <a:r>
              <a:rPr lang="en-US" sz="800" b="1" dirty="0">
                <a:solidFill>
                  <a:srgbClr val="FFFFFF"/>
                </a:solidFill>
                <a:latin typeface="Arial" pitchFamily="34" charset="0"/>
                <a:ea typeface="Arial" pitchFamily="34" charset="-122"/>
                <a:cs typeface="Arial" pitchFamily="34" charset="-120"/>
              </a:rPr>
              <a:t>DETAIL</a:t>
            </a:r>
            <a:endParaRPr lang="en-US" sz="800" dirty="0"/>
          </a:p>
        </p:txBody>
      </p:sp>
      <p:sp>
        <p:nvSpPr>
          <p:cNvPr id="22" name="Text 17"/>
          <p:cNvSpPr/>
          <p:nvPr/>
        </p:nvSpPr>
        <p:spPr>
          <a:xfrm>
            <a:off x="8339435" y="5976343"/>
            <a:ext cx="1049239" cy="108299"/>
          </a:xfrm>
          <a:prstGeom prst="rect">
            <a:avLst/>
          </a:prstGeom>
          <a:noFill/>
          <a:ln/>
        </p:spPr>
        <p:txBody>
          <a:bodyPr wrap="square" lIns="0" tIns="0" rIns="0" bIns="0" rtlCol="0" anchor="t">
            <a:spAutoFit/>
          </a:bodyPr>
          <a:lstStyle/>
          <a:p>
            <a:pPr>
              <a:lnSpc>
                <a:spcPct val="96000"/>
              </a:lnSpc>
            </a:pPr>
            <a:r>
              <a:rPr lang="en-US" sz="733" dirty="0">
                <a:solidFill>
                  <a:srgbClr val="CCCCCC"/>
                </a:solidFill>
                <a:latin typeface="Arial" pitchFamily="34" charset="0"/>
                <a:ea typeface="Arial" pitchFamily="34" charset="-122"/>
                <a:cs typeface="Arial" pitchFamily="34" charset="-120"/>
              </a:rPr>
              <a:t>Polo, jeans and shoes.</a:t>
            </a:r>
            <a:endParaRPr lang="en-US" sz="733" dirty="0"/>
          </a:p>
        </p:txBody>
      </p:sp>
      <p:sp>
        <p:nvSpPr>
          <p:cNvPr id="23" name="Text 18"/>
          <p:cNvSpPr/>
          <p:nvPr/>
        </p:nvSpPr>
        <p:spPr>
          <a:xfrm>
            <a:off x="9455348" y="5562006"/>
            <a:ext cx="189154" cy="205121"/>
          </a:xfrm>
          <a:prstGeom prst="rect">
            <a:avLst/>
          </a:prstGeom>
          <a:noFill/>
          <a:ln/>
        </p:spPr>
        <p:txBody>
          <a:bodyPr wrap="none" lIns="0" tIns="0" rIns="0" bIns="0" rtlCol="0" anchor="t">
            <a:spAutoFit/>
          </a:bodyPr>
          <a:lstStyle/>
          <a:p>
            <a:r>
              <a:rPr lang="en-US" sz="1333" b="1" dirty="0">
                <a:solidFill>
                  <a:srgbClr val="B64046"/>
                </a:solidFill>
                <a:latin typeface="Arial" pitchFamily="34" charset="0"/>
                <a:ea typeface="Arial" pitchFamily="34" charset="-122"/>
                <a:cs typeface="Arial" pitchFamily="34" charset="-120"/>
              </a:rPr>
              <a:t>04</a:t>
            </a:r>
            <a:endParaRPr lang="en-US" sz="1333" dirty="0"/>
          </a:p>
        </p:txBody>
      </p:sp>
      <p:sp>
        <p:nvSpPr>
          <p:cNvPr id="24" name="Text 19"/>
          <p:cNvSpPr/>
          <p:nvPr/>
        </p:nvSpPr>
        <p:spPr>
          <a:xfrm>
            <a:off x="9455349" y="5795367"/>
            <a:ext cx="626775" cy="123111"/>
          </a:xfrm>
          <a:prstGeom prst="rect">
            <a:avLst/>
          </a:prstGeom>
          <a:noFill/>
          <a:ln/>
        </p:spPr>
        <p:txBody>
          <a:bodyPr wrap="none" lIns="0" tIns="0" rIns="0" bIns="0" rtlCol="0" anchor="t">
            <a:spAutoFit/>
          </a:bodyPr>
          <a:lstStyle/>
          <a:p>
            <a:r>
              <a:rPr lang="en-US" sz="800" b="1" dirty="0">
                <a:solidFill>
                  <a:srgbClr val="FFFFFF"/>
                </a:solidFill>
                <a:latin typeface="Arial" pitchFamily="34" charset="0"/>
                <a:ea typeface="Arial" pitchFamily="34" charset="-122"/>
                <a:cs typeface="Arial" pitchFamily="34" charset="-120"/>
              </a:rPr>
              <a:t>TRANSITION</a:t>
            </a:r>
            <a:endParaRPr lang="en-US" sz="800" dirty="0"/>
          </a:p>
        </p:txBody>
      </p:sp>
      <p:sp>
        <p:nvSpPr>
          <p:cNvPr id="25" name="Text 20"/>
          <p:cNvSpPr/>
          <p:nvPr/>
        </p:nvSpPr>
        <p:spPr>
          <a:xfrm>
            <a:off x="9455349" y="5976343"/>
            <a:ext cx="1049239" cy="108299"/>
          </a:xfrm>
          <a:prstGeom prst="rect">
            <a:avLst/>
          </a:prstGeom>
          <a:noFill/>
          <a:ln/>
        </p:spPr>
        <p:txBody>
          <a:bodyPr wrap="square" lIns="0" tIns="0" rIns="0" bIns="0" rtlCol="0" anchor="t">
            <a:spAutoFit/>
          </a:bodyPr>
          <a:lstStyle/>
          <a:p>
            <a:pPr>
              <a:lnSpc>
                <a:spcPct val="96000"/>
              </a:lnSpc>
            </a:pPr>
            <a:r>
              <a:rPr lang="en-US" sz="733" dirty="0">
                <a:solidFill>
                  <a:srgbClr val="CCCCCC"/>
                </a:solidFill>
                <a:latin typeface="Arial" pitchFamily="34" charset="0"/>
                <a:ea typeface="Arial" pitchFamily="34" charset="-122"/>
                <a:cs typeface="Arial" pitchFamily="34" charset="-120"/>
              </a:rPr>
              <a:t>Gym to street beat cut.</a:t>
            </a:r>
            <a:endParaRPr lang="en-US" sz="733" dirty="0"/>
          </a:p>
        </p:txBody>
      </p:sp>
      <p:sp>
        <p:nvSpPr>
          <p:cNvPr id="26" name="Text 21"/>
          <p:cNvSpPr/>
          <p:nvPr/>
        </p:nvSpPr>
        <p:spPr>
          <a:xfrm>
            <a:off x="10571262" y="5562006"/>
            <a:ext cx="189154" cy="205121"/>
          </a:xfrm>
          <a:prstGeom prst="rect">
            <a:avLst/>
          </a:prstGeom>
          <a:noFill/>
          <a:ln/>
        </p:spPr>
        <p:txBody>
          <a:bodyPr wrap="none" lIns="0" tIns="0" rIns="0" bIns="0" rtlCol="0" anchor="t">
            <a:spAutoFit/>
          </a:bodyPr>
          <a:lstStyle/>
          <a:p>
            <a:r>
              <a:rPr lang="en-US" sz="1333" b="1" dirty="0">
                <a:solidFill>
                  <a:srgbClr val="B64046"/>
                </a:solidFill>
                <a:latin typeface="Arial" pitchFamily="34" charset="0"/>
                <a:ea typeface="Arial" pitchFamily="34" charset="-122"/>
                <a:cs typeface="Arial" pitchFamily="34" charset="-120"/>
              </a:rPr>
              <a:t>05</a:t>
            </a:r>
            <a:endParaRPr lang="en-US" sz="1333" dirty="0"/>
          </a:p>
        </p:txBody>
      </p:sp>
      <p:sp>
        <p:nvSpPr>
          <p:cNvPr id="27" name="Text 22"/>
          <p:cNvSpPr/>
          <p:nvPr/>
        </p:nvSpPr>
        <p:spPr>
          <a:xfrm>
            <a:off x="10571261" y="5795367"/>
            <a:ext cx="209994" cy="123111"/>
          </a:xfrm>
          <a:prstGeom prst="rect">
            <a:avLst/>
          </a:prstGeom>
          <a:noFill/>
          <a:ln/>
        </p:spPr>
        <p:txBody>
          <a:bodyPr wrap="none" lIns="0" tIns="0" rIns="0" bIns="0" rtlCol="0" anchor="t">
            <a:spAutoFit/>
          </a:bodyPr>
          <a:lstStyle/>
          <a:p>
            <a:r>
              <a:rPr lang="en-US" sz="800" b="1" dirty="0">
                <a:solidFill>
                  <a:srgbClr val="FFFFFF"/>
                </a:solidFill>
                <a:latin typeface="Arial" pitchFamily="34" charset="0"/>
                <a:ea typeface="Arial" pitchFamily="34" charset="-122"/>
                <a:cs typeface="Arial" pitchFamily="34" charset="-120"/>
              </a:rPr>
              <a:t>CTA</a:t>
            </a:r>
            <a:endParaRPr lang="en-US" sz="800" dirty="0"/>
          </a:p>
        </p:txBody>
      </p:sp>
      <p:sp>
        <p:nvSpPr>
          <p:cNvPr id="28" name="Text 23"/>
          <p:cNvSpPr/>
          <p:nvPr/>
        </p:nvSpPr>
        <p:spPr>
          <a:xfrm>
            <a:off x="10571262" y="5976343"/>
            <a:ext cx="809517" cy="108299"/>
          </a:xfrm>
          <a:prstGeom prst="rect">
            <a:avLst/>
          </a:prstGeom>
          <a:noFill/>
          <a:ln/>
        </p:spPr>
        <p:txBody>
          <a:bodyPr wrap="none" lIns="0" tIns="0" rIns="0" bIns="0" rtlCol="0" anchor="t">
            <a:spAutoFit/>
          </a:bodyPr>
          <a:lstStyle/>
          <a:p>
            <a:pPr>
              <a:lnSpc>
                <a:spcPct val="96000"/>
              </a:lnSpc>
            </a:pPr>
            <a:r>
              <a:rPr lang="en-US" sz="733" dirty="0">
                <a:solidFill>
                  <a:srgbClr val="CCCCCC"/>
                </a:solidFill>
                <a:latin typeface="Arial" pitchFamily="34" charset="0"/>
                <a:ea typeface="Arial" pitchFamily="34" charset="-122"/>
                <a:cs typeface="Arial" pitchFamily="34" charset="-120"/>
              </a:rPr>
              <a:t>شوفه على Qaim.shop.</a:t>
            </a:r>
            <a:endParaRPr lang="en-US" sz="733" dirty="0"/>
          </a:p>
        </p:txBody>
      </p:sp>
      <p:sp>
        <p:nvSpPr>
          <p:cNvPr id="29" name="Shape 24"/>
          <p:cNvSpPr/>
          <p:nvPr/>
        </p:nvSpPr>
        <p:spPr>
          <a:xfrm>
            <a:off x="571500" y="6466881"/>
            <a:ext cx="11049000" cy="261937"/>
          </a:xfrm>
          <a:prstGeom prst="rect">
            <a:avLst/>
          </a:prstGeom>
          <a:solidFill>
            <a:srgbClr val="000000">
              <a:alpha val="0"/>
            </a:srgbClr>
          </a:solidFill>
          <a:ln/>
        </p:spPr>
      </p:sp>
      <p:sp>
        <p:nvSpPr>
          <p:cNvPr id="30" name="Shape 25"/>
          <p:cNvSpPr/>
          <p:nvPr/>
        </p:nvSpPr>
        <p:spPr>
          <a:xfrm>
            <a:off x="571500" y="6466880"/>
            <a:ext cx="11049000" cy="9525"/>
          </a:xfrm>
          <a:prstGeom prst="rect">
            <a:avLst/>
          </a:prstGeom>
          <a:solidFill>
            <a:srgbClr val="555555"/>
          </a:solidFill>
          <a:ln/>
        </p:spPr>
      </p:sp>
      <p:sp>
        <p:nvSpPr>
          <p:cNvPr id="31" name="Text 26"/>
          <p:cNvSpPr/>
          <p:nvPr/>
        </p:nvSpPr>
        <p:spPr>
          <a:xfrm>
            <a:off x="571500" y="6466881"/>
            <a:ext cx="11049000" cy="256993"/>
          </a:xfrm>
          <a:prstGeom prst="rect">
            <a:avLst/>
          </a:prstGeom>
          <a:noFill/>
          <a:ln/>
        </p:spPr>
        <p:txBody>
          <a:bodyPr wrap="square" lIns="0" tIns="102108" rIns="0" bIns="0" rtlCol="0" anchor="t">
            <a:spAutoFit/>
          </a:bodyPr>
          <a:lstStyle/>
          <a:p>
            <a:r>
              <a:rPr lang="en-US" sz="933" b="1" dirty="0">
                <a:solidFill>
                  <a:srgbClr val="FFFFFF"/>
                </a:solidFill>
                <a:latin typeface="Arial" pitchFamily="34" charset="0"/>
                <a:ea typeface="Arial" pitchFamily="34" charset="-122"/>
                <a:cs typeface="Arial" pitchFamily="34" charset="-120"/>
              </a:rPr>
              <a:t>KPIs:</a:t>
            </a:r>
            <a:r>
              <a:rPr lang="en-US" sz="1000" dirty="0">
                <a:solidFill>
                  <a:srgbClr val="BBBBBB"/>
                </a:solidFill>
                <a:latin typeface="Arial" pitchFamily="34" charset="0"/>
                <a:ea typeface="Arial" pitchFamily="34" charset="-122"/>
                <a:cs typeface="Arial" pitchFamily="34" charset="-120"/>
              </a:rPr>
              <a:t> reach, watch time, profile visits, website clicks and product-page views. Test hook, product combination and context separately.</a:t>
            </a:r>
            <a:endParaRPr lang="en-US" sz="933" dirty="0"/>
          </a:p>
        </p:txBody>
      </p:sp>
      <p:sp>
        <p:nvSpPr>
          <p:cNvPr id="32" name="Text 27"/>
          <p:cNvSpPr/>
          <p:nvPr/>
        </p:nvSpPr>
        <p:spPr>
          <a:xfrm>
            <a:off x="571500" y="6757393"/>
            <a:ext cx="11049000" cy="102657"/>
          </a:xfrm>
          <a:prstGeom prst="rect">
            <a:avLst/>
          </a:prstGeom>
          <a:noFill/>
          <a:ln/>
        </p:spPr>
        <p:txBody>
          <a:bodyPr wrap="square" lIns="0" tIns="0" rIns="0" bIns="0" rtlCol="0" anchor="t">
            <a:spAutoFit/>
          </a:bodyPr>
          <a:lstStyle/>
          <a:p>
            <a:r>
              <a:rPr lang="en-US" sz="667" dirty="0">
                <a:solidFill>
                  <a:srgbClr val="777777"/>
                </a:solidFill>
                <a:latin typeface="Arial" pitchFamily="34" charset="0"/>
                <a:ea typeface="Arial" pitchFamily="34" charset="-122"/>
                <a:cs typeface="Arial" pitchFamily="34" charset="-120"/>
              </a:rPr>
              <a:t>BRAND ROLE: DISCOVER THE PRODUCT → CONNECT TO QAIM.SHOP | Source: Qaim public Facebook page + official website</a:t>
            </a:r>
            <a:endParaRPr lang="en-US" sz="667" dirty="0"/>
          </a:p>
        </p:txBody>
      </p:sp>
    </p:spTree>
    <p:extLst>
      <p:ext uri="{BB962C8B-B14F-4D97-AF65-F5344CB8AC3E}">
        <p14:creationId xmlns:p14="http://schemas.microsoft.com/office/powerpoint/2010/main" val="3100044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71500" y="400051"/>
            <a:ext cx="381000" cy="381000"/>
          </a:xfrm>
          <a:prstGeom prst="rect">
            <a:avLst/>
          </a:prstGeom>
        </p:spPr>
      </p:pic>
      <p:sp>
        <p:nvSpPr>
          <p:cNvPr id="4" name="Text 0"/>
          <p:cNvSpPr/>
          <p:nvPr/>
        </p:nvSpPr>
        <p:spPr>
          <a:xfrm>
            <a:off x="1047751" y="488156"/>
            <a:ext cx="424732" cy="194990"/>
          </a:xfrm>
          <a:prstGeom prst="rect">
            <a:avLst/>
          </a:prstGeom>
          <a:noFill/>
          <a:ln/>
        </p:spPr>
        <p:txBody>
          <a:bodyPr wrap="none" lIns="0" tIns="0" rIns="0" bIns="0" rtlCol="0" anchor="t">
            <a:spAutoFit/>
          </a:bodyPr>
          <a:lstStyle/>
          <a:p>
            <a:r>
              <a:rPr lang="en-US" sz="1267" b="1" kern="0" spc="3" dirty="0">
                <a:solidFill>
                  <a:srgbClr val="FFFFFF"/>
                </a:solidFill>
                <a:latin typeface="Arial" pitchFamily="34" charset="0"/>
                <a:ea typeface="Arial" pitchFamily="34" charset="-122"/>
                <a:cs typeface="Arial" pitchFamily="34" charset="-120"/>
              </a:rPr>
              <a:t>QAIM</a:t>
            </a:r>
            <a:endParaRPr lang="en-US" sz="1267" dirty="0"/>
          </a:p>
        </p:txBody>
      </p:sp>
      <p:sp>
        <p:nvSpPr>
          <p:cNvPr id="5" name="Text 1"/>
          <p:cNvSpPr/>
          <p:nvPr/>
        </p:nvSpPr>
        <p:spPr>
          <a:xfrm>
            <a:off x="571500" y="876300"/>
            <a:ext cx="11049000" cy="133434"/>
          </a:xfrm>
          <a:prstGeom prst="rect">
            <a:avLst/>
          </a:prstGeom>
          <a:noFill/>
          <a:ln/>
        </p:spPr>
        <p:txBody>
          <a:bodyPr wrap="square" lIns="0" tIns="0" rIns="0" bIns="0" rtlCol="0" anchor="t">
            <a:spAutoFit/>
          </a:bodyPr>
          <a:lstStyle/>
          <a:p>
            <a:r>
              <a:rPr lang="en-US" sz="867" b="1" kern="0" spc="3" dirty="0">
                <a:solidFill>
                  <a:srgbClr val="B64046"/>
                </a:solidFill>
                <a:latin typeface="Arial" pitchFamily="34" charset="0"/>
                <a:ea typeface="Arial" pitchFamily="34" charset="-122"/>
                <a:cs typeface="Arial" pitchFamily="34" charset="-120"/>
              </a:rPr>
              <a:t>07 / TACTIC 2 — IMAGINE</a:t>
            </a:r>
            <a:endParaRPr lang="en-US" sz="867" dirty="0"/>
          </a:p>
        </p:txBody>
      </p:sp>
      <p:sp>
        <p:nvSpPr>
          <p:cNvPr id="6" name="Text 2"/>
          <p:cNvSpPr/>
          <p:nvPr/>
        </p:nvSpPr>
        <p:spPr>
          <a:xfrm>
            <a:off x="571500" y="1100137"/>
            <a:ext cx="7902804" cy="300210"/>
          </a:xfrm>
          <a:prstGeom prst="rect">
            <a:avLst/>
          </a:prstGeom>
          <a:noFill/>
          <a:ln/>
        </p:spPr>
        <p:txBody>
          <a:bodyPr wrap="none" lIns="0" tIns="0" rIns="0" bIns="0" rtlCol="0" anchor="t">
            <a:spAutoFit/>
          </a:bodyPr>
          <a:lstStyle/>
          <a:p>
            <a:pPr>
              <a:lnSpc>
                <a:spcPct val="83200"/>
              </a:lnSpc>
            </a:pPr>
            <a:r>
              <a:rPr lang="en-US" sz="2333" b="1" dirty="0">
                <a:solidFill>
                  <a:srgbClr val="FFFFFF"/>
                </a:solidFill>
                <a:latin typeface="Arial" pitchFamily="34" charset="0"/>
                <a:ea typeface="Arial" pitchFamily="34" charset="-122"/>
                <a:cs typeface="Arial" pitchFamily="34" charset="-120"/>
              </a:rPr>
              <a:t>Styling &amp; Use-Case: Let the Customer Choose the Look</a:t>
            </a:r>
            <a:endParaRPr lang="en-US" sz="2333" dirty="0"/>
          </a:p>
        </p:txBody>
      </p:sp>
      <p:sp>
        <p:nvSpPr>
          <p:cNvPr id="7" name="Text 3"/>
          <p:cNvSpPr/>
          <p:nvPr/>
        </p:nvSpPr>
        <p:spPr>
          <a:xfrm>
            <a:off x="571500" y="1551608"/>
            <a:ext cx="9905404" cy="183512"/>
          </a:xfrm>
          <a:prstGeom prst="rect">
            <a:avLst/>
          </a:prstGeom>
          <a:noFill/>
          <a:ln/>
        </p:spPr>
        <p:txBody>
          <a:bodyPr wrap="none" lIns="0" tIns="0" rIns="0" bIns="0" rtlCol="0" anchor="t">
            <a:spAutoFit/>
          </a:bodyPr>
          <a:lstStyle/>
          <a:p>
            <a:pPr>
              <a:lnSpc>
                <a:spcPct val="104000"/>
              </a:lnSpc>
            </a:pPr>
            <a:r>
              <a:rPr lang="en-US" sz="1200" dirty="0">
                <a:solidFill>
                  <a:srgbClr val="CCCCCC"/>
                </a:solidFill>
                <a:latin typeface="Arial" pitchFamily="34" charset="0"/>
                <a:ea typeface="Arial" pitchFamily="34" charset="-122"/>
                <a:cs typeface="Arial" pitchFamily="34" charset="-120"/>
              </a:rPr>
              <a:t>A product becomes easier to consider when the customer can see how it fits different occasions. This tactic turns styling into an interactive choice.</a:t>
            </a:r>
            <a:endParaRPr lang="en-US" sz="1200" dirty="0"/>
          </a:p>
        </p:txBody>
      </p:sp>
      <p:sp>
        <p:nvSpPr>
          <p:cNvPr id="8" name="Text 4"/>
          <p:cNvSpPr/>
          <p:nvPr/>
        </p:nvSpPr>
        <p:spPr>
          <a:xfrm>
            <a:off x="571501" y="2066851"/>
            <a:ext cx="5512817" cy="545406"/>
          </a:xfrm>
          <a:prstGeom prst="rect">
            <a:avLst/>
          </a:prstGeom>
          <a:noFill/>
          <a:ln/>
        </p:spPr>
        <p:txBody>
          <a:bodyPr wrap="square" lIns="0" tIns="0" rIns="0" bIns="0" rtlCol="0" anchor="t">
            <a:spAutoFit/>
          </a:bodyPr>
          <a:lstStyle/>
          <a:p>
            <a:pPr>
              <a:lnSpc>
                <a:spcPct val="105600"/>
              </a:lnSpc>
            </a:pPr>
            <a:r>
              <a:rPr lang="en-US" sz="1067" b="1" dirty="0">
                <a:solidFill>
                  <a:srgbClr val="FFFFFF"/>
                </a:solidFill>
                <a:latin typeface="Arial" pitchFamily="34" charset="0"/>
                <a:ea typeface="Arial" pitchFamily="34" charset="-122"/>
                <a:cs typeface="Arial" pitchFamily="34" charset="-120"/>
              </a:rPr>
              <a:t>Creative concept:</a:t>
            </a:r>
            <a:r>
              <a:rPr lang="en-US" sz="1133" dirty="0">
                <a:solidFill>
                  <a:srgbClr val="DDDDDD"/>
                </a:solidFill>
                <a:latin typeface="Arial" pitchFamily="34" charset="0"/>
                <a:ea typeface="Arial" pitchFamily="34" charset="-122"/>
                <a:cs typeface="Arial" pitchFamily="34" charset="-120"/>
              </a:rPr>
              <a:t> “نفس القطعة… 3 ستايلات مختلفة.” Use a quick-change or split-screen transition, then invite the viewer to choose a look. The product reference is Qaim's public polo + ice-blue jeans campaign; the scene below is a creative recomposition.</a:t>
            </a:r>
            <a:endParaRPr lang="en-US" sz="1067" dirty="0"/>
          </a:p>
        </p:txBody>
      </p:sp>
      <p:sp>
        <p:nvSpPr>
          <p:cNvPr id="9" name="Text 5"/>
          <p:cNvSpPr/>
          <p:nvPr/>
        </p:nvSpPr>
        <p:spPr>
          <a:xfrm>
            <a:off x="571501" y="3100017"/>
            <a:ext cx="1774105" cy="246221"/>
          </a:xfrm>
          <a:prstGeom prst="rect">
            <a:avLst/>
          </a:prstGeom>
          <a:noFill/>
          <a:ln/>
        </p:spPr>
        <p:txBody>
          <a:bodyPr wrap="square" lIns="0" tIns="0" rIns="0" bIns="0" rtlCol="0" anchor="t">
            <a:spAutoFit/>
          </a:bodyPr>
          <a:lstStyle/>
          <a:p>
            <a:r>
              <a:rPr lang="en-US" sz="1600" b="1" dirty="0">
                <a:solidFill>
                  <a:srgbClr val="B64046"/>
                </a:solidFill>
                <a:latin typeface="Arial" pitchFamily="34" charset="0"/>
                <a:ea typeface="Arial" pitchFamily="34" charset="-122"/>
                <a:cs typeface="Arial" pitchFamily="34" charset="-120"/>
              </a:rPr>
              <a:t>01</a:t>
            </a:r>
            <a:endParaRPr lang="en-US" sz="1600" dirty="0"/>
          </a:p>
        </p:txBody>
      </p:sp>
      <p:sp>
        <p:nvSpPr>
          <p:cNvPr id="10" name="Text 6"/>
          <p:cNvSpPr/>
          <p:nvPr/>
        </p:nvSpPr>
        <p:spPr>
          <a:xfrm>
            <a:off x="571501" y="3381004"/>
            <a:ext cx="1774105" cy="174343"/>
          </a:xfrm>
          <a:prstGeom prst="rect">
            <a:avLst/>
          </a:prstGeom>
          <a:noFill/>
          <a:ln/>
        </p:spPr>
        <p:txBody>
          <a:bodyPr wrap="square" lIns="0" tIns="0" rIns="0" bIns="0" rtlCol="0" anchor="t">
            <a:spAutoFit/>
          </a:bodyPr>
          <a:lstStyle/>
          <a:p>
            <a:r>
              <a:rPr lang="en-US" sz="1133" b="1" dirty="0">
                <a:solidFill>
                  <a:srgbClr val="FFFFFF"/>
                </a:solidFill>
                <a:latin typeface="Arial" pitchFamily="34" charset="0"/>
                <a:ea typeface="Arial" pitchFamily="34" charset="-122"/>
                <a:cs typeface="Arial" pitchFamily="34" charset="-120"/>
              </a:rPr>
              <a:t>CASUAL</a:t>
            </a:r>
            <a:endParaRPr lang="en-US" sz="1133" dirty="0"/>
          </a:p>
        </p:txBody>
      </p:sp>
      <p:sp>
        <p:nvSpPr>
          <p:cNvPr id="11" name="Text 7"/>
          <p:cNvSpPr/>
          <p:nvPr/>
        </p:nvSpPr>
        <p:spPr>
          <a:xfrm>
            <a:off x="571501" y="3623891"/>
            <a:ext cx="1774105" cy="266740"/>
          </a:xfrm>
          <a:prstGeom prst="rect">
            <a:avLst/>
          </a:prstGeom>
          <a:noFill/>
          <a:ln/>
        </p:spPr>
        <p:txBody>
          <a:bodyPr wrap="square" lIns="0" tIns="0" rIns="0" bIns="0" rtlCol="0" anchor="t">
            <a:spAutoFit/>
          </a:bodyPr>
          <a:lstStyle/>
          <a:p>
            <a:pPr>
              <a:lnSpc>
                <a:spcPct val="102400"/>
              </a:lnSpc>
            </a:pPr>
            <a:r>
              <a:rPr lang="en-US" sz="867" dirty="0">
                <a:solidFill>
                  <a:srgbClr val="CCCCCC"/>
                </a:solidFill>
                <a:latin typeface="Arial" pitchFamily="34" charset="0"/>
                <a:ea typeface="Arial" pitchFamily="34" charset="-122"/>
                <a:cs typeface="Arial" pitchFamily="34" charset="-120"/>
              </a:rPr>
              <a:t>Polo + ice-blue jeans + navy shoes.
Everyday outing.</a:t>
            </a:r>
            <a:endParaRPr lang="en-US" sz="867" dirty="0"/>
          </a:p>
        </p:txBody>
      </p:sp>
      <p:sp>
        <p:nvSpPr>
          <p:cNvPr id="12" name="Text 8"/>
          <p:cNvSpPr/>
          <p:nvPr/>
        </p:nvSpPr>
        <p:spPr>
          <a:xfrm>
            <a:off x="2440857" y="3100017"/>
            <a:ext cx="1774105" cy="246221"/>
          </a:xfrm>
          <a:prstGeom prst="rect">
            <a:avLst/>
          </a:prstGeom>
          <a:noFill/>
          <a:ln/>
        </p:spPr>
        <p:txBody>
          <a:bodyPr wrap="square" lIns="0" tIns="0" rIns="0" bIns="0" rtlCol="0" anchor="t">
            <a:spAutoFit/>
          </a:bodyPr>
          <a:lstStyle/>
          <a:p>
            <a:r>
              <a:rPr lang="en-US" sz="1600" b="1" dirty="0">
                <a:solidFill>
                  <a:srgbClr val="B64046"/>
                </a:solidFill>
                <a:latin typeface="Arial" pitchFamily="34" charset="0"/>
                <a:ea typeface="Arial" pitchFamily="34" charset="-122"/>
                <a:cs typeface="Arial" pitchFamily="34" charset="-120"/>
              </a:rPr>
              <a:t>02</a:t>
            </a:r>
            <a:endParaRPr lang="en-US" sz="1600" dirty="0"/>
          </a:p>
        </p:txBody>
      </p:sp>
      <p:sp>
        <p:nvSpPr>
          <p:cNvPr id="13" name="Text 9"/>
          <p:cNvSpPr/>
          <p:nvPr/>
        </p:nvSpPr>
        <p:spPr>
          <a:xfrm>
            <a:off x="2440857" y="3381004"/>
            <a:ext cx="1774105" cy="174343"/>
          </a:xfrm>
          <a:prstGeom prst="rect">
            <a:avLst/>
          </a:prstGeom>
          <a:noFill/>
          <a:ln/>
        </p:spPr>
        <p:txBody>
          <a:bodyPr wrap="square" lIns="0" tIns="0" rIns="0" bIns="0" rtlCol="0" anchor="t">
            <a:spAutoFit/>
          </a:bodyPr>
          <a:lstStyle/>
          <a:p>
            <a:r>
              <a:rPr lang="en-US" sz="1133" b="1" dirty="0">
                <a:solidFill>
                  <a:srgbClr val="FFFFFF"/>
                </a:solidFill>
                <a:latin typeface="Arial" pitchFamily="34" charset="0"/>
                <a:ea typeface="Arial" pitchFamily="34" charset="-122"/>
                <a:cs typeface="Arial" pitchFamily="34" charset="-120"/>
              </a:rPr>
              <a:t>SPORTY</a:t>
            </a:r>
            <a:endParaRPr lang="en-US" sz="1133" dirty="0"/>
          </a:p>
        </p:txBody>
      </p:sp>
      <p:sp>
        <p:nvSpPr>
          <p:cNvPr id="14" name="Text 10"/>
          <p:cNvSpPr/>
          <p:nvPr/>
        </p:nvSpPr>
        <p:spPr>
          <a:xfrm>
            <a:off x="2440857" y="3623891"/>
            <a:ext cx="1774105" cy="402867"/>
          </a:xfrm>
          <a:prstGeom prst="rect">
            <a:avLst/>
          </a:prstGeom>
          <a:noFill/>
          <a:ln/>
        </p:spPr>
        <p:txBody>
          <a:bodyPr wrap="square" lIns="0" tIns="0" rIns="0" bIns="0" rtlCol="0" anchor="t">
            <a:spAutoFit/>
          </a:bodyPr>
          <a:lstStyle/>
          <a:p>
            <a:pPr>
              <a:lnSpc>
                <a:spcPct val="102400"/>
              </a:lnSpc>
            </a:pPr>
            <a:r>
              <a:rPr lang="en-US" sz="867" dirty="0">
                <a:solidFill>
                  <a:srgbClr val="CCCCCC"/>
                </a:solidFill>
                <a:latin typeface="Arial" pitchFamily="34" charset="0"/>
                <a:ea typeface="Arial" pitchFamily="34" charset="-122"/>
                <a:cs typeface="Arial" pitchFamily="34" charset="-120"/>
              </a:rPr>
              <a:t>Same product base + active transition.
Relaxed movement.</a:t>
            </a:r>
            <a:endParaRPr lang="en-US" sz="867" dirty="0"/>
          </a:p>
        </p:txBody>
      </p:sp>
      <p:sp>
        <p:nvSpPr>
          <p:cNvPr id="15" name="Text 11"/>
          <p:cNvSpPr/>
          <p:nvPr/>
        </p:nvSpPr>
        <p:spPr>
          <a:xfrm>
            <a:off x="4310212" y="3100017"/>
            <a:ext cx="1774105" cy="246221"/>
          </a:xfrm>
          <a:prstGeom prst="rect">
            <a:avLst/>
          </a:prstGeom>
          <a:noFill/>
          <a:ln/>
        </p:spPr>
        <p:txBody>
          <a:bodyPr wrap="square" lIns="0" tIns="0" rIns="0" bIns="0" rtlCol="0" anchor="t">
            <a:spAutoFit/>
          </a:bodyPr>
          <a:lstStyle/>
          <a:p>
            <a:r>
              <a:rPr lang="en-US" sz="1600" b="1" dirty="0">
                <a:solidFill>
                  <a:srgbClr val="B64046"/>
                </a:solidFill>
                <a:latin typeface="Arial" pitchFamily="34" charset="0"/>
                <a:ea typeface="Arial" pitchFamily="34" charset="-122"/>
                <a:cs typeface="Arial" pitchFamily="34" charset="-120"/>
              </a:rPr>
              <a:t>03</a:t>
            </a:r>
            <a:endParaRPr lang="en-US" sz="1600" dirty="0"/>
          </a:p>
        </p:txBody>
      </p:sp>
      <p:sp>
        <p:nvSpPr>
          <p:cNvPr id="16" name="Text 12"/>
          <p:cNvSpPr/>
          <p:nvPr/>
        </p:nvSpPr>
        <p:spPr>
          <a:xfrm>
            <a:off x="4310212" y="3381004"/>
            <a:ext cx="1774105" cy="174343"/>
          </a:xfrm>
          <a:prstGeom prst="rect">
            <a:avLst/>
          </a:prstGeom>
          <a:noFill/>
          <a:ln/>
        </p:spPr>
        <p:txBody>
          <a:bodyPr wrap="square" lIns="0" tIns="0" rIns="0" bIns="0" rtlCol="0" anchor="t">
            <a:spAutoFit/>
          </a:bodyPr>
          <a:lstStyle/>
          <a:p>
            <a:r>
              <a:rPr lang="en-US" sz="1133" b="1" dirty="0">
                <a:solidFill>
                  <a:srgbClr val="FFFFFF"/>
                </a:solidFill>
                <a:latin typeface="Arial" pitchFamily="34" charset="0"/>
                <a:ea typeface="Arial" pitchFamily="34" charset="-122"/>
                <a:cs typeface="Arial" pitchFamily="34" charset="-120"/>
              </a:rPr>
              <a:t>STREETWEAR</a:t>
            </a:r>
            <a:endParaRPr lang="en-US" sz="1133" dirty="0"/>
          </a:p>
        </p:txBody>
      </p:sp>
      <p:sp>
        <p:nvSpPr>
          <p:cNvPr id="17" name="Text 13"/>
          <p:cNvSpPr/>
          <p:nvPr/>
        </p:nvSpPr>
        <p:spPr>
          <a:xfrm>
            <a:off x="4310212" y="3623891"/>
            <a:ext cx="1774105" cy="266740"/>
          </a:xfrm>
          <a:prstGeom prst="rect">
            <a:avLst/>
          </a:prstGeom>
          <a:noFill/>
          <a:ln/>
        </p:spPr>
        <p:txBody>
          <a:bodyPr wrap="square" lIns="0" tIns="0" rIns="0" bIns="0" rtlCol="0" anchor="t">
            <a:spAutoFit/>
          </a:bodyPr>
          <a:lstStyle/>
          <a:p>
            <a:pPr>
              <a:lnSpc>
                <a:spcPct val="102400"/>
              </a:lnSpc>
            </a:pPr>
            <a:r>
              <a:rPr lang="en-US" sz="867" dirty="0">
                <a:solidFill>
                  <a:srgbClr val="CCCCCC"/>
                </a:solidFill>
                <a:latin typeface="Arial" pitchFamily="34" charset="0"/>
                <a:ea typeface="Arial" pitchFamily="34" charset="-122"/>
                <a:cs typeface="Arial" pitchFamily="34" charset="-120"/>
              </a:rPr>
              <a:t>Same jeans + outer layer.
Weekend outing.</a:t>
            </a:r>
            <a:endParaRPr lang="en-US" sz="867" dirty="0"/>
          </a:p>
        </p:txBody>
      </p:sp>
      <p:sp>
        <p:nvSpPr>
          <p:cNvPr id="18" name="Text 14"/>
          <p:cNvSpPr/>
          <p:nvPr/>
        </p:nvSpPr>
        <p:spPr>
          <a:xfrm>
            <a:off x="571501" y="4262066"/>
            <a:ext cx="5512817"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ON-SCREEN PROMPT</a:t>
            </a:r>
            <a:endParaRPr lang="en-US" sz="800" dirty="0"/>
          </a:p>
        </p:txBody>
      </p:sp>
      <p:sp>
        <p:nvSpPr>
          <p:cNvPr id="19" name="Text 15"/>
          <p:cNvSpPr/>
          <p:nvPr/>
        </p:nvSpPr>
        <p:spPr>
          <a:xfrm>
            <a:off x="571501" y="4443041"/>
            <a:ext cx="1774525" cy="175817"/>
          </a:xfrm>
          <a:prstGeom prst="rect">
            <a:avLst/>
          </a:prstGeom>
          <a:noFill/>
          <a:ln/>
        </p:spPr>
        <p:txBody>
          <a:bodyPr wrap="none" lIns="0" tIns="0" rIns="0" bIns="0" rtlCol="0" anchor="t">
            <a:spAutoFit/>
          </a:bodyPr>
          <a:lstStyle/>
          <a:p>
            <a:pPr>
              <a:lnSpc>
                <a:spcPct val="105600"/>
              </a:lnSpc>
            </a:pPr>
            <a:r>
              <a:rPr lang="en-US" sz="1133" dirty="0">
                <a:solidFill>
                  <a:srgbClr val="DDDDDD"/>
                </a:solidFill>
                <a:latin typeface="Arial" pitchFamily="34" charset="0"/>
                <a:ea typeface="Arial" pitchFamily="34" charset="-122"/>
                <a:cs typeface="Arial" pitchFamily="34" charset="-120"/>
              </a:rPr>
              <a:t>“أنهي Look تختار؟ 1 ولا 2 ولا 3؟”</a:t>
            </a:r>
            <a:endParaRPr lang="en-US" sz="1133" dirty="0"/>
          </a:p>
        </p:txBody>
      </p:sp>
      <p:pic>
        <p:nvPicPr>
          <p:cNvPr id="20" name="Image 2" descr="preencoded.png"/>
          <p:cNvPicPr>
            <a:picLocks noChangeAspect="1"/>
          </p:cNvPicPr>
          <p:nvPr/>
        </p:nvPicPr>
        <p:blipFill>
          <a:blip r:embed="rId5"/>
          <a:stretch>
            <a:fillRect/>
          </a:stretch>
        </p:blipFill>
        <p:spPr>
          <a:xfrm>
            <a:off x="6370067" y="2066852"/>
            <a:ext cx="5191125" cy="2714625"/>
          </a:xfrm>
          <a:prstGeom prst="rect">
            <a:avLst/>
          </a:prstGeom>
        </p:spPr>
      </p:pic>
      <p:sp>
        <p:nvSpPr>
          <p:cNvPr id="21" name="Text 16"/>
          <p:cNvSpPr/>
          <p:nvPr/>
        </p:nvSpPr>
        <p:spPr>
          <a:xfrm>
            <a:off x="6370068" y="4867201"/>
            <a:ext cx="5250433" cy="225575"/>
          </a:xfrm>
          <a:prstGeom prst="rect">
            <a:avLst/>
          </a:prstGeom>
          <a:noFill/>
          <a:ln/>
        </p:spPr>
        <p:txBody>
          <a:bodyPr wrap="square" lIns="0" tIns="0" rIns="0" bIns="0" rtlCol="0" anchor="t">
            <a:spAutoFit/>
          </a:bodyPr>
          <a:lstStyle/>
          <a:p>
            <a:r>
              <a:rPr lang="en-US" sz="733" dirty="0">
                <a:solidFill>
                  <a:srgbClr val="777777"/>
                </a:solidFill>
                <a:latin typeface="Arial" pitchFamily="34" charset="0"/>
                <a:ea typeface="Arial" pitchFamily="34" charset="-122"/>
                <a:cs typeface="Arial" pitchFamily="34" charset="-120"/>
              </a:rPr>
              <a:t>Creative recomposition based on Qaim's official public polo + ice-blue jeans look; use approved brand photography for final publishing.</a:t>
            </a:r>
            <a:endParaRPr lang="en-US" sz="733" dirty="0"/>
          </a:p>
        </p:txBody>
      </p:sp>
      <p:sp>
        <p:nvSpPr>
          <p:cNvPr id="22" name="Text 17"/>
          <p:cNvSpPr/>
          <p:nvPr/>
        </p:nvSpPr>
        <p:spPr>
          <a:xfrm>
            <a:off x="6370068" y="5248201"/>
            <a:ext cx="5250433"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TREND-AWARE EXECUTION</a:t>
            </a:r>
            <a:endParaRPr lang="en-US" sz="800" dirty="0"/>
          </a:p>
        </p:txBody>
      </p:sp>
      <p:sp>
        <p:nvSpPr>
          <p:cNvPr id="23" name="Text 18"/>
          <p:cNvSpPr/>
          <p:nvPr/>
        </p:nvSpPr>
        <p:spPr>
          <a:xfrm>
            <a:off x="6370068" y="5438700"/>
            <a:ext cx="5250433" cy="545406"/>
          </a:xfrm>
          <a:prstGeom prst="rect">
            <a:avLst/>
          </a:prstGeom>
          <a:noFill/>
          <a:ln/>
        </p:spPr>
        <p:txBody>
          <a:bodyPr wrap="square" lIns="0" tIns="0" rIns="0" bIns="0" rtlCol="0" anchor="t">
            <a:spAutoFit/>
          </a:bodyPr>
          <a:lstStyle/>
          <a:p>
            <a:pPr>
              <a:lnSpc>
                <a:spcPct val="105600"/>
              </a:lnSpc>
            </a:pPr>
            <a:r>
              <a:rPr lang="en-US" sz="1133" dirty="0">
                <a:solidFill>
                  <a:srgbClr val="DDDDDD"/>
                </a:solidFill>
                <a:latin typeface="Arial" pitchFamily="34" charset="0"/>
                <a:ea typeface="Arial" pitchFamily="34" charset="-122"/>
                <a:cs typeface="Arial" pitchFamily="34" charset="-120"/>
              </a:rPr>
              <a:t>Fast outfit transitions, “choose your look” language, concise captions and a final save prompt. Test each styling direction with the same product before scaling the strongest one.</a:t>
            </a:r>
            <a:endParaRPr lang="en-US" sz="1133" dirty="0"/>
          </a:p>
        </p:txBody>
      </p:sp>
      <p:sp>
        <p:nvSpPr>
          <p:cNvPr id="24" name="Shape 19"/>
          <p:cNvSpPr/>
          <p:nvPr/>
        </p:nvSpPr>
        <p:spPr>
          <a:xfrm>
            <a:off x="571500" y="6194524"/>
            <a:ext cx="11049000" cy="278085"/>
          </a:xfrm>
          <a:prstGeom prst="rect">
            <a:avLst/>
          </a:prstGeom>
          <a:solidFill>
            <a:srgbClr val="000000">
              <a:alpha val="0"/>
            </a:srgbClr>
          </a:solidFill>
          <a:ln/>
        </p:spPr>
      </p:sp>
      <p:sp>
        <p:nvSpPr>
          <p:cNvPr id="25" name="Shape 20"/>
          <p:cNvSpPr/>
          <p:nvPr/>
        </p:nvSpPr>
        <p:spPr>
          <a:xfrm>
            <a:off x="571500" y="6194524"/>
            <a:ext cx="11049000" cy="9525"/>
          </a:xfrm>
          <a:prstGeom prst="rect">
            <a:avLst/>
          </a:prstGeom>
          <a:solidFill>
            <a:srgbClr val="555555"/>
          </a:solidFill>
          <a:ln/>
        </p:spPr>
      </p:sp>
      <p:sp>
        <p:nvSpPr>
          <p:cNvPr id="26" name="Text 21"/>
          <p:cNvSpPr/>
          <p:nvPr/>
        </p:nvSpPr>
        <p:spPr>
          <a:xfrm>
            <a:off x="571501" y="6289775"/>
            <a:ext cx="5281895" cy="152862"/>
          </a:xfrm>
          <a:prstGeom prst="rect">
            <a:avLst/>
          </a:prstGeom>
          <a:noFill/>
          <a:ln/>
        </p:spPr>
        <p:txBody>
          <a:bodyPr wrap="none" lIns="0" tIns="0" rIns="0" bIns="0" rtlCol="0" anchor="t">
            <a:spAutoFit/>
          </a:bodyPr>
          <a:lstStyle/>
          <a:p>
            <a:pPr>
              <a:lnSpc>
                <a:spcPct val="104000"/>
              </a:lnSpc>
            </a:pPr>
            <a:r>
              <a:rPr lang="en-US" sz="933" b="1" dirty="0">
                <a:solidFill>
                  <a:srgbClr val="FFFFFF"/>
                </a:solidFill>
                <a:latin typeface="Arial" pitchFamily="34" charset="0"/>
                <a:ea typeface="Arial" pitchFamily="34" charset="-122"/>
                <a:cs typeface="Arial" pitchFamily="34" charset="-120"/>
              </a:rPr>
              <a:t>Brand role:</a:t>
            </a:r>
            <a:r>
              <a:rPr lang="en-US" sz="1000" dirty="0">
                <a:solidFill>
                  <a:srgbClr val="BBBBBB"/>
                </a:solidFill>
                <a:latin typeface="Arial" pitchFamily="34" charset="0"/>
                <a:ea typeface="Arial" pitchFamily="34" charset="-122"/>
                <a:cs typeface="Arial" pitchFamily="34" charset="-120"/>
              </a:rPr>
              <a:t> make the product relevant, invite participation and guide the viewer to Qaim.shop.</a:t>
            </a:r>
            <a:endParaRPr lang="en-US" sz="933" dirty="0"/>
          </a:p>
        </p:txBody>
      </p:sp>
      <p:sp>
        <p:nvSpPr>
          <p:cNvPr id="27" name="Text 22"/>
          <p:cNvSpPr/>
          <p:nvPr/>
        </p:nvSpPr>
        <p:spPr>
          <a:xfrm>
            <a:off x="6706420" y="6289775"/>
            <a:ext cx="3953005" cy="152862"/>
          </a:xfrm>
          <a:prstGeom prst="rect">
            <a:avLst/>
          </a:prstGeom>
          <a:noFill/>
          <a:ln/>
        </p:spPr>
        <p:txBody>
          <a:bodyPr wrap="none" lIns="0" tIns="0" rIns="0" bIns="0" rtlCol="0" anchor="t">
            <a:spAutoFit/>
          </a:bodyPr>
          <a:lstStyle/>
          <a:p>
            <a:pPr>
              <a:lnSpc>
                <a:spcPct val="104000"/>
              </a:lnSpc>
            </a:pPr>
            <a:r>
              <a:rPr lang="en-US" sz="933" b="1" dirty="0">
                <a:solidFill>
                  <a:srgbClr val="FFFFFF"/>
                </a:solidFill>
                <a:latin typeface="Arial" pitchFamily="34" charset="0"/>
                <a:ea typeface="Arial" pitchFamily="34" charset="-122"/>
                <a:cs typeface="Arial" pitchFamily="34" charset="-120"/>
              </a:rPr>
              <a:t>KPIs:</a:t>
            </a:r>
            <a:r>
              <a:rPr lang="en-US" sz="1000" dirty="0">
                <a:solidFill>
                  <a:srgbClr val="BBBBBB"/>
                </a:solidFill>
                <a:latin typeface="Arial" pitchFamily="34" charset="0"/>
                <a:ea typeface="Arial" pitchFamily="34" charset="-122"/>
                <a:cs typeface="Arial" pitchFamily="34" charset="-120"/>
              </a:rPr>
              <a:t> saves, shares, comments, profile visits and product-page views.</a:t>
            </a:r>
            <a:endParaRPr lang="en-US" sz="933" dirty="0"/>
          </a:p>
        </p:txBody>
      </p:sp>
      <p:sp>
        <p:nvSpPr>
          <p:cNvPr id="28" name="Text 23"/>
          <p:cNvSpPr/>
          <p:nvPr/>
        </p:nvSpPr>
        <p:spPr>
          <a:xfrm>
            <a:off x="571500" y="6577385"/>
            <a:ext cx="11049000" cy="102657"/>
          </a:xfrm>
          <a:prstGeom prst="rect">
            <a:avLst/>
          </a:prstGeom>
          <a:noFill/>
          <a:ln/>
        </p:spPr>
        <p:txBody>
          <a:bodyPr wrap="square" lIns="0" tIns="0" rIns="0" bIns="0" rtlCol="0" anchor="t">
            <a:spAutoFit/>
          </a:bodyPr>
          <a:lstStyle/>
          <a:p>
            <a:r>
              <a:rPr lang="en-US" sz="667" dirty="0">
                <a:solidFill>
                  <a:srgbClr val="777777"/>
                </a:solidFill>
                <a:latin typeface="Arial" pitchFamily="34" charset="0"/>
                <a:ea typeface="Arial" pitchFamily="34" charset="-122"/>
                <a:cs typeface="Arial" pitchFamily="34" charset="-120"/>
              </a:rPr>
              <a:t>STYLING CONTENT = IMAGINE THE PRODUCT → CHOOSE A LOOK → SAVE / COMMENT → VIEW PRODUCT | Source: Qaim public Facebook page</a:t>
            </a:r>
            <a:endParaRPr lang="en-US" sz="667" dirty="0"/>
          </a:p>
        </p:txBody>
      </p:sp>
    </p:spTree>
    <p:extLst>
      <p:ext uri="{BB962C8B-B14F-4D97-AF65-F5344CB8AC3E}">
        <p14:creationId xmlns:p14="http://schemas.microsoft.com/office/powerpoint/2010/main" val="1516481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52451" y="361951"/>
            <a:ext cx="419100" cy="419100"/>
          </a:xfrm>
          <a:prstGeom prst="rect">
            <a:avLst/>
          </a:prstGeom>
        </p:spPr>
      </p:pic>
      <p:sp>
        <p:nvSpPr>
          <p:cNvPr id="4" name="Text 0"/>
          <p:cNvSpPr/>
          <p:nvPr/>
        </p:nvSpPr>
        <p:spPr>
          <a:xfrm>
            <a:off x="1076325" y="457200"/>
            <a:ext cx="469616" cy="215444"/>
          </a:xfrm>
          <a:prstGeom prst="rect">
            <a:avLst/>
          </a:prstGeom>
          <a:noFill/>
          <a:ln/>
        </p:spPr>
        <p:txBody>
          <a:bodyPr wrap="none" lIns="0" tIns="0" rIns="0" bIns="0" rtlCol="0" anchor="t">
            <a:spAutoFit/>
          </a:bodyPr>
          <a:lstStyle/>
          <a:p>
            <a:r>
              <a:rPr lang="en-US" sz="1400" b="1" kern="0" spc="3" dirty="0">
                <a:solidFill>
                  <a:srgbClr val="FFFFFF"/>
                </a:solidFill>
                <a:latin typeface="Arial" pitchFamily="34" charset="0"/>
                <a:ea typeface="Arial" pitchFamily="34" charset="-122"/>
                <a:cs typeface="Arial" pitchFamily="34" charset="-120"/>
              </a:rPr>
              <a:t>QAIM</a:t>
            </a:r>
            <a:endParaRPr lang="en-US" sz="1400" dirty="0"/>
          </a:p>
        </p:txBody>
      </p:sp>
      <p:sp>
        <p:nvSpPr>
          <p:cNvPr id="5" name="Text 1"/>
          <p:cNvSpPr/>
          <p:nvPr/>
        </p:nvSpPr>
        <p:spPr>
          <a:xfrm>
            <a:off x="552451" y="876301"/>
            <a:ext cx="11087100"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08 / TACTIC 3 — VERIFY</a:t>
            </a:r>
            <a:endParaRPr lang="en-US" sz="933" dirty="0"/>
          </a:p>
        </p:txBody>
      </p:sp>
      <p:sp>
        <p:nvSpPr>
          <p:cNvPr id="6" name="Text 2"/>
          <p:cNvSpPr/>
          <p:nvPr/>
        </p:nvSpPr>
        <p:spPr>
          <a:xfrm>
            <a:off x="552451" y="1095375"/>
            <a:ext cx="11087100" cy="430887"/>
          </a:xfrm>
          <a:prstGeom prst="rect">
            <a:avLst/>
          </a:prstGeom>
          <a:noFill/>
          <a:ln/>
        </p:spPr>
        <p:txBody>
          <a:bodyPr wrap="square" lIns="0" tIns="0" rIns="0" bIns="0" rtlCol="0" anchor="t">
            <a:spAutoFit/>
          </a:bodyPr>
          <a:lstStyle/>
          <a:p>
            <a:r>
              <a:rPr lang="en-US" sz="2800" b="1" dirty="0">
                <a:solidFill>
                  <a:srgbClr val="FFFFFF"/>
                </a:solidFill>
                <a:latin typeface="Arial" pitchFamily="34" charset="0"/>
                <a:ea typeface="Arial" pitchFamily="34" charset="-122"/>
                <a:cs typeface="Arial" pitchFamily="34" charset="-120"/>
              </a:rPr>
              <a:t>Shopping Guidance &amp; Trust</a:t>
            </a:r>
            <a:endParaRPr lang="en-US" sz="2800" dirty="0"/>
          </a:p>
        </p:txBody>
      </p:sp>
      <p:sp>
        <p:nvSpPr>
          <p:cNvPr id="7" name="Text 3"/>
          <p:cNvSpPr/>
          <p:nvPr/>
        </p:nvSpPr>
        <p:spPr>
          <a:xfrm>
            <a:off x="552451" y="1652588"/>
            <a:ext cx="9324669" cy="203838"/>
          </a:xfrm>
          <a:prstGeom prst="rect">
            <a:avLst/>
          </a:prstGeom>
          <a:noFill/>
          <a:ln/>
        </p:spPr>
        <p:txBody>
          <a:bodyPr wrap="none" lIns="0" tIns="0" rIns="0" bIns="0" rtlCol="0" anchor="t">
            <a:spAutoFit/>
          </a:bodyPr>
          <a:lstStyle/>
          <a:p>
            <a:pPr>
              <a:lnSpc>
                <a:spcPct val="104000"/>
              </a:lnSpc>
            </a:pPr>
            <a:r>
              <a:rPr lang="en-US" sz="1333" dirty="0">
                <a:solidFill>
                  <a:srgbClr val="D3D3D3"/>
                </a:solidFill>
                <a:latin typeface="Arial" pitchFamily="34" charset="0"/>
                <a:ea typeface="Arial" pitchFamily="34" charset="-122"/>
                <a:cs typeface="Arial" pitchFamily="34" charset="-120"/>
              </a:rPr>
              <a:t>The purpose is to make online clothing shopping easier by answering the questions that can stop a customer from ordering.</a:t>
            </a:r>
            <a:endParaRPr lang="en-US" sz="1333" dirty="0"/>
          </a:p>
        </p:txBody>
      </p:sp>
      <p:sp>
        <p:nvSpPr>
          <p:cNvPr id="8" name="Text 4"/>
          <p:cNvSpPr/>
          <p:nvPr/>
        </p:nvSpPr>
        <p:spPr>
          <a:xfrm>
            <a:off x="552451" y="2230711"/>
            <a:ext cx="4870699" cy="143565"/>
          </a:xfrm>
          <a:prstGeom prst="rect">
            <a:avLst/>
          </a:prstGeom>
          <a:noFill/>
          <a:ln/>
        </p:spPr>
        <p:txBody>
          <a:bodyPr wrap="square" lIns="0" tIns="0" rIns="0" bIns="0" rtlCol="0" anchor="t">
            <a:spAutoFit/>
          </a:bodyPr>
          <a:lstStyle/>
          <a:p>
            <a:r>
              <a:rPr lang="en-US" sz="933" b="1" kern="0" spc="3" dirty="0">
                <a:solidFill>
                  <a:srgbClr val="AAAAAA"/>
                </a:solidFill>
                <a:latin typeface="Arial" pitchFamily="34" charset="0"/>
                <a:ea typeface="Arial" pitchFamily="34" charset="-122"/>
                <a:cs typeface="Arial" pitchFamily="34" charset="-120"/>
              </a:rPr>
              <a:t>THE CUSTOMER'S THREE QUESTIONS</a:t>
            </a:r>
            <a:endParaRPr lang="en-US" sz="933" dirty="0"/>
          </a:p>
        </p:txBody>
      </p:sp>
      <p:sp>
        <p:nvSpPr>
          <p:cNvPr id="9" name="Text 5"/>
          <p:cNvSpPr/>
          <p:nvPr/>
        </p:nvSpPr>
        <p:spPr>
          <a:xfrm>
            <a:off x="552451" y="2497412"/>
            <a:ext cx="4870699" cy="1865575"/>
          </a:xfrm>
          <a:prstGeom prst="rect">
            <a:avLst/>
          </a:prstGeom>
          <a:noFill/>
          <a:ln/>
        </p:spPr>
        <p:txBody>
          <a:bodyPr wrap="square" lIns="0" tIns="0" rIns="0" bIns="0" rtlCol="0" anchor="t">
            <a:spAutoFit/>
          </a:bodyPr>
          <a:lstStyle/>
          <a:p>
            <a:pPr>
              <a:lnSpc>
                <a:spcPct val="113600"/>
              </a:lnSpc>
            </a:pPr>
            <a:r>
              <a:rPr lang="en-US" sz="1467" b="1" dirty="0">
                <a:solidFill>
                  <a:srgbClr val="FFFFFF"/>
                </a:solidFill>
                <a:latin typeface="Arial" pitchFamily="34" charset="0"/>
                <a:ea typeface="Arial" pitchFamily="34" charset="-122"/>
                <a:cs typeface="Arial" pitchFamily="34" charset="-120"/>
              </a:rPr>
              <a:t>01 — SIZE</a:t>
            </a:r>
            <a:r>
              <a:rPr lang="en-US" sz="1533" dirty="0">
                <a:solidFill>
                  <a:srgbClr val="FFFFFF"/>
                </a:solidFill>
                <a:latin typeface="Arial" pitchFamily="34" charset="0"/>
                <a:ea typeface="Arial" pitchFamily="34" charset="-122"/>
                <a:cs typeface="Arial" pitchFamily="34" charset="-120"/>
              </a:rPr>
              <a:t>
Where can I find the correct size information?
</a:t>
            </a:r>
            <a:r>
              <a:rPr lang="en-US" sz="1467" b="1" dirty="0">
                <a:solidFill>
                  <a:srgbClr val="FFFFFF"/>
                </a:solidFill>
                <a:latin typeface="Arial" pitchFamily="34" charset="0"/>
                <a:ea typeface="Arial" pitchFamily="34" charset="-122"/>
                <a:cs typeface="Arial" pitchFamily="34" charset="-120"/>
              </a:rPr>
              <a:t>02 — PRODUCT</a:t>
            </a:r>
            <a:r>
              <a:rPr lang="en-US" sz="1533" dirty="0">
                <a:solidFill>
                  <a:srgbClr val="FFFFFF"/>
                </a:solidFill>
                <a:latin typeface="Arial" pitchFamily="34" charset="0"/>
                <a:ea typeface="Arial" pitchFamily="34" charset="-122"/>
                <a:cs typeface="Arial" pitchFamily="34" charset="-120"/>
              </a:rPr>
              <a:t>
What details and material information are available?
</a:t>
            </a:r>
            <a:r>
              <a:rPr lang="en-US" sz="1467" b="1" dirty="0">
                <a:solidFill>
                  <a:srgbClr val="FFFFFF"/>
                </a:solidFill>
                <a:latin typeface="Arial" pitchFamily="34" charset="0"/>
                <a:ea typeface="Arial" pitchFamily="34" charset="-122"/>
                <a:cs typeface="Arial" pitchFamily="34" charset="-120"/>
              </a:rPr>
              <a:t>03 — POLICY</a:t>
            </a:r>
            <a:r>
              <a:rPr lang="en-US" sz="1533" dirty="0">
                <a:solidFill>
                  <a:srgbClr val="FFFFFF"/>
                </a:solidFill>
                <a:latin typeface="Arial" pitchFamily="34" charset="0"/>
                <a:ea typeface="Arial" pitchFamily="34" charset="-122"/>
                <a:cs typeface="Arial" pitchFamily="34" charset="-120"/>
              </a:rPr>
              <a:t>
What are the confirmed delivery, inspection and exchange terms?</a:t>
            </a:r>
            <a:endParaRPr lang="en-US" sz="1467" dirty="0"/>
          </a:p>
        </p:txBody>
      </p:sp>
      <p:sp>
        <p:nvSpPr>
          <p:cNvPr id="10" name="Text 6"/>
          <p:cNvSpPr/>
          <p:nvPr/>
        </p:nvSpPr>
        <p:spPr>
          <a:xfrm>
            <a:off x="5794623" y="2230711"/>
            <a:ext cx="5844927" cy="143565"/>
          </a:xfrm>
          <a:prstGeom prst="rect">
            <a:avLst/>
          </a:prstGeom>
          <a:noFill/>
          <a:ln/>
        </p:spPr>
        <p:txBody>
          <a:bodyPr wrap="square" lIns="0" tIns="0" rIns="0" bIns="0" rtlCol="0" anchor="t">
            <a:spAutoFit/>
          </a:bodyPr>
          <a:lstStyle/>
          <a:p>
            <a:r>
              <a:rPr lang="en-US" sz="933" b="1" kern="0" spc="3" dirty="0">
                <a:solidFill>
                  <a:srgbClr val="AAAAAA"/>
                </a:solidFill>
                <a:latin typeface="Arial" pitchFamily="34" charset="0"/>
                <a:ea typeface="Arial" pitchFamily="34" charset="-122"/>
                <a:cs typeface="Arial" pitchFamily="34" charset="-120"/>
              </a:rPr>
              <a:t>SAFE CONTENT STRUCTURE</a:t>
            </a:r>
            <a:endParaRPr lang="en-US" sz="933" dirty="0"/>
          </a:p>
        </p:txBody>
      </p:sp>
      <p:sp>
        <p:nvSpPr>
          <p:cNvPr id="11" name="Text 7"/>
          <p:cNvSpPr/>
          <p:nvPr/>
        </p:nvSpPr>
        <p:spPr>
          <a:xfrm>
            <a:off x="5794623" y="2478361"/>
            <a:ext cx="5844927" cy="444845"/>
          </a:xfrm>
          <a:prstGeom prst="rect">
            <a:avLst/>
          </a:prstGeom>
          <a:noFill/>
          <a:ln/>
        </p:spPr>
        <p:txBody>
          <a:bodyPr wrap="square" lIns="0" tIns="124799" rIns="0" bIns="124799" rtlCol="0" anchor="t">
            <a:spAutoFit/>
          </a:bodyPr>
          <a:lstStyle/>
          <a:p>
            <a:pPr>
              <a:lnSpc>
                <a:spcPct val="93600"/>
              </a:lnSpc>
            </a:pPr>
            <a:r>
              <a:rPr lang="en-US" sz="1333" b="1" dirty="0">
                <a:solidFill>
                  <a:srgbClr val="C34A51"/>
                </a:solidFill>
                <a:latin typeface="Arial" pitchFamily="34" charset="0"/>
                <a:ea typeface="Arial" pitchFamily="34" charset="-122"/>
                <a:cs typeface="Arial" pitchFamily="34" charset="-120"/>
              </a:rPr>
              <a:t>SIZE:</a:t>
            </a:r>
            <a:r>
              <a:rPr lang="en-US" sz="1267" dirty="0">
                <a:solidFill>
                  <a:srgbClr val="E0E0E0"/>
                </a:solidFill>
                <a:latin typeface="Arial" pitchFamily="34" charset="0"/>
                <a:ea typeface="Arial" pitchFamily="34" charset="-122"/>
                <a:cs typeface="Arial" pitchFamily="34" charset="-120"/>
              </a:rPr>
              <a:t> direct the customer to the actual size information on the product page.</a:t>
            </a:r>
            <a:endParaRPr lang="en-US" sz="1333" dirty="0"/>
          </a:p>
        </p:txBody>
      </p:sp>
      <p:sp>
        <p:nvSpPr>
          <p:cNvPr id="12" name="Text 8"/>
          <p:cNvSpPr/>
          <p:nvPr/>
        </p:nvSpPr>
        <p:spPr>
          <a:xfrm>
            <a:off x="5794623" y="2945086"/>
            <a:ext cx="5844927" cy="444845"/>
          </a:xfrm>
          <a:prstGeom prst="rect">
            <a:avLst/>
          </a:prstGeom>
          <a:noFill/>
          <a:ln/>
        </p:spPr>
        <p:txBody>
          <a:bodyPr wrap="square" lIns="0" tIns="124799" rIns="0" bIns="124799" rtlCol="0" anchor="t">
            <a:spAutoFit/>
          </a:bodyPr>
          <a:lstStyle/>
          <a:p>
            <a:pPr>
              <a:lnSpc>
                <a:spcPct val="93600"/>
              </a:lnSpc>
            </a:pPr>
            <a:r>
              <a:rPr lang="en-US" sz="1333" b="1" dirty="0">
                <a:solidFill>
                  <a:srgbClr val="C34A51"/>
                </a:solidFill>
                <a:latin typeface="Arial" pitchFamily="34" charset="0"/>
                <a:ea typeface="Arial" pitchFamily="34" charset="-122"/>
                <a:cs typeface="Arial" pitchFamily="34" charset="-120"/>
              </a:rPr>
              <a:t>PRODUCT:</a:t>
            </a:r>
            <a:r>
              <a:rPr lang="en-US" sz="1267" dirty="0">
                <a:solidFill>
                  <a:srgbClr val="E0E0E0"/>
                </a:solidFill>
                <a:latin typeface="Arial" pitchFamily="34" charset="0"/>
                <a:ea typeface="Arial" pitchFamily="34" charset="-122"/>
                <a:cs typeface="Arial" pitchFamily="34" charset="-120"/>
              </a:rPr>
              <a:t> show the available images, descriptions and options.</a:t>
            </a:r>
            <a:endParaRPr lang="en-US" sz="1333" dirty="0"/>
          </a:p>
        </p:txBody>
      </p:sp>
      <p:sp>
        <p:nvSpPr>
          <p:cNvPr id="13" name="Text 9"/>
          <p:cNvSpPr/>
          <p:nvPr/>
        </p:nvSpPr>
        <p:spPr>
          <a:xfrm>
            <a:off x="5794623" y="3411811"/>
            <a:ext cx="5844927" cy="444845"/>
          </a:xfrm>
          <a:prstGeom prst="rect">
            <a:avLst/>
          </a:prstGeom>
          <a:noFill/>
          <a:ln/>
        </p:spPr>
        <p:txBody>
          <a:bodyPr wrap="square" lIns="0" tIns="124799" rIns="0" bIns="124799" rtlCol="0" anchor="t">
            <a:spAutoFit/>
          </a:bodyPr>
          <a:lstStyle/>
          <a:p>
            <a:pPr>
              <a:lnSpc>
                <a:spcPct val="93600"/>
              </a:lnSpc>
            </a:pPr>
            <a:r>
              <a:rPr lang="en-US" sz="1333" b="1" dirty="0">
                <a:solidFill>
                  <a:srgbClr val="C34A51"/>
                </a:solidFill>
                <a:latin typeface="Arial" pitchFamily="34" charset="0"/>
                <a:ea typeface="Arial" pitchFamily="34" charset="-122"/>
                <a:cs typeface="Arial" pitchFamily="34" charset="-120"/>
              </a:rPr>
              <a:t>POLICY:</a:t>
            </a:r>
            <a:r>
              <a:rPr lang="en-US" sz="1267" dirty="0">
                <a:solidFill>
                  <a:srgbClr val="E0E0E0"/>
                </a:solidFill>
                <a:latin typeface="Arial" pitchFamily="34" charset="0"/>
                <a:ea typeface="Arial" pitchFamily="34" charset="-122"/>
                <a:cs typeface="Arial" pitchFamily="34" charset="-120"/>
              </a:rPr>
              <a:t> direct the customer to Qaim's confirmed policy or customer service.</a:t>
            </a:r>
            <a:endParaRPr lang="en-US" sz="1333" dirty="0"/>
          </a:p>
        </p:txBody>
      </p:sp>
      <p:sp>
        <p:nvSpPr>
          <p:cNvPr id="14" name="Text 10"/>
          <p:cNvSpPr/>
          <p:nvPr/>
        </p:nvSpPr>
        <p:spPr>
          <a:xfrm>
            <a:off x="5794623" y="4272857"/>
            <a:ext cx="5844927" cy="438069"/>
          </a:xfrm>
          <a:prstGeom prst="rect">
            <a:avLst/>
          </a:prstGeom>
          <a:noFill/>
          <a:ln/>
        </p:spPr>
        <p:txBody>
          <a:bodyPr wrap="square" lIns="0" tIns="0" rIns="0" bIns="0" rtlCol="0" anchor="t">
            <a:spAutoFit/>
          </a:bodyPr>
          <a:lstStyle/>
          <a:p>
            <a:pPr>
              <a:lnSpc>
                <a:spcPct val="104000"/>
              </a:lnSpc>
            </a:pPr>
            <a:r>
              <a:rPr lang="en-US" sz="1400" b="1" dirty="0">
                <a:solidFill>
                  <a:srgbClr val="FFFFFF"/>
                </a:solidFill>
                <a:latin typeface="Arial" pitchFamily="34" charset="0"/>
                <a:ea typeface="Arial" pitchFamily="34" charset="-122"/>
                <a:cs typeface="Arial" pitchFamily="34" charset="-120"/>
              </a:rPr>
              <a:t>CTA: “راجع التفاصيل على Qaim.shop، ولو محتاج مساعدة تواصل على الرقم الظاهر في صفحة Qaim.”</a:t>
            </a:r>
            <a:endParaRPr lang="en-US" sz="1400" dirty="0"/>
          </a:p>
        </p:txBody>
      </p:sp>
      <p:sp>
        <p:nvSpPr>
          <p:cNvPr id="15" name="Shape 11"/>
          <p:cNvSpPr/>
          <p:nvPr/>
        </p:nvSpPr>
        <p:spPr>
          <a:xfrm>
            <a:off x="552451" y="5384527"/>
            <a:ext cx="11087100" cy="337543"/>
          </a:xfrm>
          <a:prstGeom prst="rect">
            <a:avLst/>
          </a:prstGeom>
          <a:solidFill>
            <a:srgbClr val="000000">
              <a:alpha val="0"/>
            </a:srgbClr>
          </a:solidFill>
          <a:ln/>
        </p:spPr>
      </p:sp>
      <p:sp>
        <p:nvSpPr>
          <p:cNvPr id="16" name="Shape 12"/>
          <p:cNvSpPr/>
          <p:nvPr/>
        </p:nvSpPr>
        <p:spPr>
          <a:xfrm>
            <a:off x="552451" y="5384527"/>
            <a:ext cx="11087100" cy="9525"/>
          </a:xfrm>
          <a:prstGeom prst="rect">
            <a:avLst/>
          </a:prstGeom>
          <a:solidFill>
            <a:srgbClr val="555555"/>
          </a:solidFill>
          <a:ln/>
        </p:spPr>
      </p:sp>
      <p:sp>
        <p:nvSpPr>
          <p:cNvPr id="17" name="Text 13"/>
          <p:cNvSpPr/>
          <p:nvPr/>
        </p:nvSpPr>
        <p:spPr>
          <a:xfrm>
            <a:off x="552451" y="5384527"/>
            <a:ext cx="11087100" cy="323743"/>
          </a:xfrm>
          <a:prstGeom prst="rect">
            <a:avLst/>
          </a:prstGeom>
          <a:noFill/>
          <a:ln/>
        </p:spPr>
        <p:txBody>
          <a:bodyPr wrap="square" lIns="0" tIns="136144" rIns="0" bIns="0" rtlCol="0" anchor="t">
            <a:spAutoFit/>
          </a:bodyPr>
          <a:lstStyle/>
          <a:p>
            <a:pPr>
              <a:lnSpc>
                <a:spcPct val="105600"/>
              </a:lnSpc>
            </a:pPr>
            <a:r>
              <a:rPr lang="en-US" sz="1133" b="1" dirty="0">
                <a:solidFill>
                  <a:srgbClr val="C8C8C8"/>
                </a:solidFill>
                <a:latin typeface="Arial" pitchFamily="34" charset="0"/>
                <a:ea typeface="Arial" pitchFamily="34" charset="-122"/>
                <a:cs typeface="Arial" pitchFamily="34" charset="-120"/>
              </a:rPr>
              <a:t>Accuracy rule:</a:t>
            </a:r>
            <a:r>
              <a:rPr lang="en-US" sz="1200" dirty="0">
                <a:solidFill>
                  <a:srgbClr val="C8C8C8"/>
                </a:solidFill>
                <a:latin typeface="Arial" pitchFamily="34" charset="0"/>
                <a:ea typeface="Arial" pitchFamily="34" charset="-122"/>
                <a:cs typeface="Arial" pitchFamily="34" charset="-120"/>
              </a:rPr>
              <a:t> never state an exchange period, delivery time, fabric claim or guarantee unless it is confirmed on the official product or policy page.</a:t>
            </a:r>
            <a:endParaRPr lang="en-US" sz="1133" dirty="0"/>
          </a:p>
        </p:txBody>
      </p:sp>
      <p:sp>
        <p:nvSpPr>
          <p:cNvPr id="18" name="Text 14"/>
          <p:cNvSpPr/>
          <p:nvPr/>
        </p:nvSpPr>
        <p:spPr>
          <a:xfrm>
            <a:off x="552451" y="5807795"/>
            <a:ext cx="11087100" cy="112788"/>
          </a:xfrm>
          <a:prstGeom prst="rect">
            <a:avLst/>
          </a:prstGeom>
          <a:noFill/>
          <a:ln/>
        </p:spPr>
        <p:txBody>
          <a:bodyPr wrap="square" lIns="0" tIns="0" rIns="0" bIns="0" rtlCol="0" anchor="t">
            <a:spAutoFit/>
          </a:bodyPr>
          <a:lstStyle/>
          <a:p>
            <a:r>
              <a:rPr lang="en-US" sz="733" dirty="0">
                <a:solidFill>
                  <a:srgbClr val="888888"/>
                </a:solidFill>
                <a:latin typeface="Arial" pitchFamily="34" charset="0"/>
                <a:ea typeface="Arial" pitchFamily="34" charset="-122"/>
                <a:cs typeface="Arial" pitchFamily="34" charset="-120"/>
              </a:rPr>
              <a:t>CONFIRMED PUBLIC ROUTES: QAIM.SHOP + FACEBOOK PAGE PHONE | KPI: PRODUCT VIEWS • CLICKS • ENQUIRIES • ORDERS</a:t>
            </a:r>
            <a:endParaRPr lang="en-US" sz="733" dirty="0"/>
          </a:p>
        </p:txBody>
      </p:sp>
    </p:spTree>
    <p:extLst>
      <p:ext uri="{BB962C8B-B14F-4D97-AF65-F5344CB8AC3E}">
        <p14:creationId xmlns:p14="http://schemas.microsoft.com/office/powerpoint/2010/main" val="7662291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19125" y="419100"/>
            <a:ext cx="381000" cy="381000"/>
          </a:xfrm>
          <a:prstGeom prst="rect">
            <a:avLst/>
          </a:prstGeom>
        </p:spPr>
      </p:pic>
      <p:sp>
        <p:nvSpPr>
          <p:cNvPr id="4" name="Text 0"/>
          <p:cNvSpPr/>
          <p:nvPr/>
        </p:nvSpPr>
        <p:spPr>
          <a:xfrm>
            <a:off x="1095375" y="507207"/>
            <a:ext cx="424732" cy="194990"/>
          </a:xfrm>
          <a:prstGeom prst="rect">
            <a:avLst/>
          </a:prstGeom>
          <a:noFill/>
          <a:ln/>
        </p:spPr>
        <p:txBody>
          <a:bodyPr wrap="none" lIns="0" tIns="0" rIns="0" bIns="0" rtlCol="0" anchor="t">
            <a:spAutoFit/>
          </a:bodyPr>
          <a:lstStyle/>
          <a:p>
            <a:r>
              <a:rPr lang="en-US" sz="1267" b="1" kern="0" spc="3" dirty="0">
                <a:solidFill>
                  <a:srgbClr val="FFFFFF"/>
                </a:solidFill>
                <a:latin typeface="Arial" pitchFamily="34" charset="0"/>
                <a:ea typeface="Arial" pitchFamily="34" charset="-122"/>
                <a:cs typeface="Arial" pitchFamily="34" charset="-120"/>
              </a:rPr>
              <a:t>QAIM</a:t>
            </a:r>
            <a:endParaRPr lang="en-US" sz="1267" dirty="0"/>
          </a:p>
        </p:txBody>
      </p:sp>
      <p:sp>
        <p:nvSpPr>
          <p:cNvPr id="5" name="Text 1"/>
          <p:cNvSpPr/>
          <p:nvPr/>
        </p:nvSpPr>
        <p:spPr>
          <a:xfrm>
            <a:off x="619126" y="895351"/>
            <a:ext cx="10953751" cy="133434"/>
          </a:xfrm>
          <a:prstGeom prst="rect">
            <a:avLst/>
          </a:prstGeom>
          <a:noFill/>
          <a:ln/>
        </p:spPr>
        <p:txBody>
          <a:bodyPr wrap="square" lIns="0" tIns="0" rIns="0" bIns="0" rtlCol="0" anchor="t">
            <a:spAutoFit/>
          </a:bodyPr>
          <a:lstStyle/>
          <a:p>
            <a:r>
              <a:rPr lang="en-US" sz="867" b="1" kern="0" spc="3" dirty="0">
                <a:solidFill>
                  <a:srgbClr val="B64046"/>
                </a:solidFill>
                <a:latin typeface="Arial" pitchFamily="34" charset="0"/>
                <a:ea typeface="Arial" pitchFamily="34" charset="-122"/>
                <a:cs typeface="Arial" pitchFamily="34" charset="-120"/>
              </a:rPr>
              <a:t>09 / TACTIC 4 — COMMUNITY + CONVERSION</a:t>
            </a:r>
            <a:endParaRPr lang="en-US" sz="867" dirty="0"/>
          </a:p>
        </p:txBody>
      </p:sp>
      <p:sp>
        <p:nvSpPr>
          <p:cNvPr id="6" name="Text 2"/>
          <p:cNvSpPr/>
          <p:nvPr/>
        </p:nvSpPr>
        <p:spPr>
          <a:xfrm>
            <a:off x="619126" y="1119188"/>
            <a:ext cx="10953751" cy="389787"/>
          </a:xfrm>
          <a:prstGeom prst="rect">
            <a:avLst/>
          </a:prstGeom>
          <a:noFill/>
          <a:ln/>
        </p:spPr>
        <p:txBody>
          <a:bodyPr wrap="square" lIns="0" tIns="0" rIns="0" bIns="0" rtlCol="0" anchor="t">
            <a:spAutoFit/>
          </a:bodyPr>
          <a:lstStyle/>
          <a:p>
            <a:r>
              <a:rPr lang="en-US" sz="2533" b="1" dirty="0">
                <a:solidFill>
                  <a:srgbClr val="FFFFFF"/>
                </a:solidFill>
                <a:latin typeface="Arial" pitchFamily="34" charset="0"/>
                <a:ea typeface="Arial" pitchFamily="34" charset="-122"/>
                <a:cs typeface="Arial" pitchFamily="34" charset="-120"/>
              </a:rPr>
              <a:t>Use the Audience to Listen, Prove and Move to Qaim.shop</a:t>
            </a:r>
            <a:endParaRPr lang="en-US" sz="2533" dirty="0"/>
          </a:p>
        </p:txBody>
      </p:sp>
      <p:sp>
        <p:nvSpPr>
          <p:cNvPr id="7" name="Text 3"/>
          <p:cNvSpPr/>
          <p:nvPr/>
        </p:nvSpPr>
        <p:spPr>
          <a:xfrm>
            <a:off x="619126" y="1638301"/>
            <a:ext cx="10953751" cy="396583"/>
          </a:xfrm>
          <a:prstGeom prst="rect">
            <a:avLst/>
          </a:prstGeom>
          <a:noFill/>
          <a:ln/>
        </p:spPr>
        <p:txBody>
          <a:bodyPr wrap="square" lIns="0" tIns="0" rIns="0" bIns="0" rtlCol="0" anchor="t">
            <a:spAutoFit/>
          </a:bodyPr>
          <a:lstStyle/>
          <a:p>
            <a:pPr>
              <a:lnSpc>
                <a:spcPct val="104000"/>
              </a:lnSpc>
            </a:pPr>
            <a:r>
              <a:rPr lang="en-US" sz="1267" dirty="0">
                <a:solidFill>
                  <a:srgbClr val="CCCCCC"/>
                </a:solidFill>
                <a:latin typeface="Arial" pitchFamily="34" charset="0"/>
                <a:ea typeface="Arial" pitchFamily="34" charset="-122"/>
                <a:cs typeface="Arial" pitchFamily="34" charset="-120"/>
              </a:rPr>
              <a:t>The fourth tactic turns Qaim's public Facebook audience into a two-way community and conversion channel. It supports the final objective: qualified action, repeat interaction and better creative decisions.</a:t>
            </a:r>
            <a:endParaRPr lang="en-US" sz="1267" dirty="0"/>
          </a:p>
        </p:txBody>
      </p:sp>
      <p:sp>
        <p:nvSpPr>
          <p:cNvPr id="8" name="Text 4"/>
          <p:cNvSpPr/>
          <p:nvPr/>
        </p:nvSpPr>
        <p:spPr>
          <a:xfrm>
            <a:off x="619125" y="2436466"/>
            <a:ext cx="3505200" cy="328231"/>
          </a:xfrm>
          <a:prstGeom prst="rect">
            <a:avLst/>
          </a:prstGeom>
          <a:noFill/>
          <a:ln/>
        </p:spPr>
        <p:txBody>
          <a:bodyPr wrap="square" lIns="0" tIns="0" rIns="0" bIns="0" rtlCol="0" anchor="t">
            <a:spAutoFit/>
          </a:bodyPr>
          <a:lstStyle/>
          <a:p>
            <a:r>
              <a:rPr lang="en-US" sz="2133" b="1" dirty="0">
                <a:solidFill>
                  <a:srgbClr val="B64046"/>
                </a:solidFill>
                <a:latin typeface="Arial" pitchFamily="34" charset="0"/>
                <a:ea typeface="Arial" pitchFamily="34" charset="-122"/>
                <a:cs typeface="Arial" pitchFamily="34" charset="-120"/>
              </a:rPr>
              <a:t>01</a:t>
            </a:r>
            <a:endParaRPr lang="en-US" sz="2133" dirty="0"/>
          </a:p>
        </p:txBody>
      </p:sp>
      <p:sp>
        <p:nvSpPr>
          <p:cNvPr id="9" name="Text 5"/>
          <p:cNvSpPr/>
          <p:nvPr/>
        </p:nvSpPr>
        <p:spPr>
          <a:xfrm>
            <a:off x="619125" y="2836515"/>
            <a:ext cx="3505200" cy="215444"/>
          </a:xfrm>
          <a:prstGeom prst="rect">
            <a:avLst/>
          </a:prstGeom>
          <a:noFill/>
          <a:ln/>
        </p:spPr>
        <p:txBody>
          <a:bodyPr wrap="square" lIns="0" tIns="0" rIns="0" bIns="0" rtlCol="0" anchor="t">
            <a:spAutoFit/>
          </a:bodyPr>
          <a:lstStyle/>
          <a:p>
            <a:r>
              <a:rPr lang="en-US" sz="1400" b="1" dirty="0">
                <a:solidFill>
                  <a:srgbClr val="FFFFFF"/>
                </a:solidFill>
                <a:latin typeface="Arial" pitchFamily="34" charset="0"/>
                <a:ea typeface="Arial" pitchFamily="34" charset="-122"/>
                <a:cs typeface="Arial" pitchFamily="34" charset="-120"/>
              </a:rPr>
              <a:t>LISTEN</a:t>
            </a:r>
            <a:endParaRPr lang="en-US" sz="1400" dirty="0"/>
          </a:p>
        </p:txBody>
      </p:sp>
      <p:sp>
        <p:nvSpPr>
          <p:cNvPr id="10" name="Text 6"/>
          <p:cNvSpPr/>
          <p:nvPr/>
        </p:nvSpPr>
        <p:spPr>
          <a:xfrm>
            <a:off x="619125" y="3160366"/>
            <a:ext cx="3505200" cy="587853"/>
          </a:xfrm>
          <a:prstGeom prst="rect">
            <a:avLst/>
          </a:prstGeom>
          <a:noFill/>
          <a:ln/>
        </p:spPr>
        <p:txBody>
          <a:bodyPr wrap="square" lIns="0" tIns="0" rIns="0" bIns="0" rtlCol="0" anchor="t">
            <a:spAutoFit/>
          </a:bodyPr>
          <a:lstStyle/>
          <a:p>
            <a:pPr>
              <a:lnSpc>
                <a:spcPct val="108000"/>
              </a:lnSpc>
            </a:pPr>
            <a:r>
              <a:rPr lang="en-US" sz="1200" dirty="0">
                <a:solidFill>
                  <a:srgbClr val="CCCCCC"/>
                </a:solidFill>
                <a:latin typeface="Arial" pitchFamily="34" charset="0"/>
                <a:ea typeface="Arial" pitchFamily="34" charset="-122"/>
                <a:cs typeface="Arial" pitchFamily="34" charset="-120"/>
              </a:rPr>
              <a:t>Use polls to compare Casual, Sporty and Streetwear. Use Question Boxes to discover real concerns about online clothing shopping.</a:t>
            </a:r>
            <a:endParaRPr lang="en-US" sz="1200" dirty="0"/>
          </a:p>
        </p:txBody>
      </p:sp>
      <p:sp>
        <p:nvSpPr>
          <p:cNvPr id="11" name="Text 7"/>
          <p:cNvSpPr/>
          <p:nvPr/>
        </p:nvSpPr>
        <p:spPr>
          <a:xfrm>
            <a:off x="4343400" y="2436466"/>
            <a:ext cx="3505200" cy="328231"/>
          </a:xfrm>
          <a:prstGeom prst="rect">
            <a:avLst/>
          </a:prstGeom>
          <a:noFill/>
          <a:ln/>
        </p:spPr>
        <p:txBody>
          <a:bodyPr wrap="square" lIns="0" tIns="0" rIns="0" bIns="0" rtlCol="0" anchor="t">
            <a:spAutoFit/>
          </a:bodyPr>
          <a:lstStyle/>
          <a:p>
            <a:r>
              <a:rPr lang="en-US" sz="2133" b="1" dirty="0">
                <a:solidFill>
                  <a:srgbClr val="B64046"/>
                </a:solidFill>
                <a:latin typeface="Arial" pitchFamily="34" charset="0"/>
                <a:ea typeface="Arial" pitchFamily="34" charset="-122"/>
                <a:cs typeface="Arial" pitchFamily="34" charset="-120"/>
              </a:rPr>
              <a:t>02</a:t>
            </a:r>
            <a:endParaRPr lang="en-US" sz="2133" dirty="0"/>
          </a:p>
        </p:txBody>
      </p:sp>
      <p:sp>
        <p:nvSpPr>
          <p:cNvPr id="12" name="Text 8"/>
          <p:cNvSpPr/>
          <p:nvPr/>
        </p:nvSpPr>
        <p:spPr>
          <a:xfrm>
            <a:off x="4343400" y="2836515"/>
            <a:ext cx="3505200" cy="215444"/>
          </a:xfrm>
          <a:prstGeom prst="rect">
            <a:avLst/>
          </a:prstGeom>
          <a:noFill/>
          <a:ln/>
        </p:spPr>
        <p:txBody>
          <a:bodyPr wrap="square" lIns="0" tIns="0" rIns="0" bIns="0" rtlCol="0" anchor="t">
            <a:spAutoFit/>
          </a:bodyPr>
          <a:lstStyle/>
          <a:p>
            <a:r>
              <a:rPr lang="en-US" sz="1400" b="1" dirty="0">
                <a:solidFill>
                  <a:srgbClr val="FFFFFF"/>
                </a:solidFill>
                <a:latin typeface="Arial" pitchFamily="34" charset="0"/>
                <a:ea typeface="Arial" pitchFamily="34" charset="-122"/>
                <a:cs typeface="Arial" pitchFamily="34" charset="-120"/>
              </a:rPr>
              <a:t>SHOW</a:t>
            </a:r>
            <a:endParaRPr lang="en-US" sz="1400" dirty="0"/>
          </a:p>
        </p:txBody>
      </p:sp>
      <p:sp>
        <p:nvSpPr>
          <p:cNvPr id="13" name="Text 9"/>
          <p:cNvSpPr/>
          <p:nvPr/>
        </p:nvSpPr>
        <p:spPr>
          <a:xfrm>
            <a:off x="4343400" y="3160366"/>
            <a:ext cx="3505200" cy="587853"/>
          </a:xfrm>
          <a:prstGeom prst="rect">
            <a:avLst/>
          </a:prstGeom>
          <a:noFill/>
          <a:ln/>
        </p:spPr>
        <p:txBody>
          <a:bodyPr wrap="square" lIns="0" tIns="0" rIns="0" bIns="0" rtlCol="0" anchor="t">
            <a:spAutoFit/>
          </a:bodyPr>
          <a:lstStyle/>
          <a:p>
            <a:pPr>
              <a:lnSpc>
                <a:spcPct val="108000"/>
              </a:lnSpc>
            </a:pPr>
            <a:r>
              <a:rPr lang="en-US" sz="1200" dirty="0">
                <a:solidFill>
                  <a:srgbClr val="CCCCCC"/>
                </a:solidFill>
                <a:latin typeface="Arial" pitchFamily="34" charset="0"/>
                <a:ea typeface="Arial" pitchFamily="34" charset="-122"/>
                <a:cs typeface="Arial" pitchFamily="34" charset="-120"/>
              </a:rPr>
              <a:t>Use Product Stories, new-arrival content and behind-the-scenes moments to make the catalogue and brand activity easier to understand.</a:t>
            </a:r>
            <a:endParaRPr lang="en-US" sz="1200" dirty="0"/>
          </a:p>
        </p:txBody>
      </p:sp>
      <p:sp>
        <p:nvSpPr>
          <p:cNvPr id="14" name="Text 10"/>
          <p:cNvSpPr/>
          <p:nvPr/>
        </p:nvSpPr>
        <p:spPr>
          <a:xfrm>
            <a:off x="8067675" y="2436466"/>
            <a:ext cx="3505200" cy="328231"/>
          </a:xfrm>
          <a:prstGeom prst="rect">
            <a:avLst/>
          </a:prstGeom>
          <a:noFill/>
          <a:ln/>
        </p:spPr>
        <p:txBody>
          <a:bodyPr wrap="square" lIns="0" tIns="0" rIns="0" bIns="0" rtlCol="0" anchor="t">
            <a:spAutoFit/>
          </a:bodyPr>
          <a:lstStyle/>
          <a:p>
            <a:r>
              <a:rPr lang="en-US" sz="2133" b="1" dirty="0">
                <a:solidFill>
                  <a:srgbClr val="B64046"/>
                </a:solidFill>
                <a:latin typeface="Arial" pitchFamily="34" charset="0"/>
                <a:ea typeface="Arial" pitchFamily="34" charset="-122"/>
                <a:cs typeface="Arial" pitchFamily="34" charset="-120"/>
              </a:rPr>
              <a:t>03</a:t>
            </a:r>
            <a:endParaRPr lang="en-US" sz="2133" dirty="0"/>
          </a:p>
        </p:txBody>
      </p:sp>
      <p:sp>
        <p:nvSpPr>
          <p:cNvPr id="15" name="Text 11"/>
          <p:cNvSpPr/>
          <p:nvPr/>
        </p:nvSpPr>
        <p:spPr>
          <a:xfrm>
            <a:off x="8067675" y="2836515"/>
            <a:ext cx="3505200" cy="215444"/>
          </a:xfrm>
          <a:prstGeom prst="rect">
            <a:avLst/>
          </a:prstGeom>
          <a:noFill/>
          <a:ln/>
        </p:spPr>
        <p:txBody>
          <a:bodyPr wrap="square" lIns="0" tIns="0" rIns="0" bIns="0" rtlCol="0" anchor="t">
            <a:spAutoFit/>
          </a:bodyPr>
          <a:lstStyle/>
          <a:p>
            <a:r>
              <a:rPr lang="en-US" sz="1400" b="1" dirty="0">
                <a:solidFill>
                  <a:srgbClr val="FFFFFF"/>
                </a:solidFill>
                <a:latin typeface="Arial" pitchFamily="34" charset="0"/>
                <a:ea typeface="Arial" pitchFamily="34" charset="-122"/>
                <a:cs typeface="Arial" pitchFamily="34" charset="-120"/>
              </a:rPr>
              <a:t>PROVE → GUIDE</a:t>
            </a:r>
            <a:endParaRPr lang="en-US" sz="1400" dirty="0"/>
          </a:p>
        </p:txBody>
      </p:sp>
      <p:sp>
        <p:nvSpPr>
          <p:cNvPr id="16" name="Text 12"/>
          <p:cNvSpPr/>
          <p:nvPr/>
        </p:nvSpPr>
        <p:spPr>
          <a:xfrm>
            <a:off x="8067675" y="3160366"/>
            <a:ext cx="3505200" cy="587853"/>
          </a:xfrm>
          <a:prstGeom prst="rect">
            <a:avLst/>
          </a:prstGeom>
          <a:noFill/>
          <a:ln/>
        </p:spPr>
        <p:txBody>
          <a:bodyPr wrap="square" lIns="0" tIns="0" rIns="0" bIns="0" rtlCol="0" anchor="t">
            <a:spAutoFit/>
          </a:bodyPr>
          <a:lstStyle/>
          <a:p>
            <a:pPr>
              <a:lnSpc>
                <a:spcPct val="108000"/>
              </a:lnSpc>
            </a:pPr>
            <a:r>
              <a:rPr lang="en-US" sz="1200" dirty="0">
                <a:solidFill>
                  <a:srgbClr val="CCCCCC"/>
                </a:solidFill>
                <a:latin typeface="Arial" pitchFamily="34" charset="0"/>
                <a:ea typeface="Arial" pitchFamily="34" charset="-122"/>
                <a:cs typeface="Arial" pitchFamily="34" charset="-120"/>
              </a:rPr>
              <a:t>Use real, permission-based reviews, unboxing and outfit photos. Then guide the interested viewer to the relevant Qaim.shop product route.</a:t>
            </a:r>
            <a:endParaRPr lang="en-US" sz="1200" dirty="0"/>
          </a:p>
        </p:txBody>
      </p:sp>
      <p:sp>
        <p:nvSpPr>
          <p:cNvPr id="17" name="Shape 13"/>
          <p:cNvSpPr/>
          <p:nvPr/>
        </p:nvSpPr>
        <p:spPr>
          <a:xfrm>
            <a:off x="619126" y="4341465"/>
            <a:ext cx="10953751" cy="750392"/>
          </a:xfrm>
          <a:prstGeom prst="rect">
            <a:avLst/>
          </a:prstGeom>
          <a:solidFill>
            <a:srgbClr val="000000">
              <a:alpha val="0"/>
            </a:srgbClr>
          </a:solidFill>
          <a:ln/>
        </p:spPr>
      </p:sp>
      <p:sp>
        <p:nvSpPr>
          <p:cNvPr id="18" name="Shape 14"/>
          <p:cNvSpPr/>
          <p:nvPr/>
        </p:nvSpPr>
        <p:spPr>
          <a:xfrm>
            <a:off x="619126" y="4341466"/>
            <a:ext cx="10953751" cy="9525"/>
          </a:xfrm>
          <a:prstGeom prst="rect">
            <a:avLst/>
          </a:prstGeom>
          <a:solidFill>
            <a:srgbClr val="555555"/>
          </a:solidFill>
          <a:ln/>
        </p:spPr>
      </p:sp>
      <p:sp>
        <p:nvSpPr>
          <p:cNvPr id="19" name="Text 15"/>
          <p:cNvSpPr/>
          <p:nvPr/>
        </p:nvSpPr>
        <p:spPr>
          <a:xfrm>
            <a:off x="619126" y="4465291"/>
            <a:ext cx="5310188" cy="555088"/>
          </a:xfrm>
          <a:prstGeom prst="rect">
            <a:avLst/>
          </a:prstGeom>
          <a:noFill/>
          <a:ln/>
        </p:spPr>
        <p:txBody>
          <a:bodyPr wrap="square" lIns="0" tIns="0" rIns="0" bIns="0" rtlCol="0" anchor="t">
            <a:spAutoFit/>
          </a:bodyPr>
          <a:lstStyle/>
          <a:p>
            <a:pPr>
              <a:lnSpc>
                <a:spcPct val="108000"/>
              </a:lnSpc>
            </a:pPr>
            <a:r>
              <a:rPr lang="en-US" sz="1067" b="1" dirty="0">
                <a:solidFill>
                  <a:srgbClr val="FFFFFF"/>
                </a:solidFill>
                <a:latin typeface="Arial" pitchFamily="34" charset="0"/>
                <a:ea typeface="Arial" pitchFamily="34" charset="-122"/>
                <a:cs typeface="Arial" pitchFamily="34" charset="-120"/>
              </a:rPr>
              <a:t>Verified context:</a:t>
            </a:r>
            <a:r>
              <a:rPr lang="en-US" sz="1133" dirty="0">
                <a:solidFill>
                  <a:srgbClr val="BBBBBB"/>
                </a:solidFill>
                <a:latin typeface="Arial" pitchFamily="34" charset="0"/>
                <a:ea typeface="Arial" pitchFamily="34" charset="-122"/>
                <a:cs typeface="Arial" pitchFamily="34" charset="-120"/>
              </a:rPr>
              <a:t> the public Facebook page shows approximately 62K followers and a 94% recommendation signal from 362 reviews. These are trust and audience signals—not proof that every post performs well.</a:t>
            </a:r>
            <a:endParaRPr lang="en-US" sz="1067" dirty="0"/>
          </a:p>
        </p:txBody>
      </p:sp>
      <p:sp>
        <p:nvSpPr>
          <p:cNvPr id="20" name="Text 16"/>
          <p:cNvSpPr/>
          <p:nvPr/>
        </p:nvSpPr>
        <p:spPr>
          <a:xfrm>
            <a:off x="6262689" y="4465291"/>
            <a:ext cx="5310188" cy="366767"/>
          </a:xfrm>
          <a:prstGeom prst="rect">
            <a:avLst/>
          </a:prstGeom>
          <a:noFill/>
          <a:ln/>
        </p:spPr>
        <p:txBody>
          <a:bodyPr wrap="square" lIns="0" tIns="0" rIns="0" bIns="0" rtlCol="0" anchor="t">
            <a:spAutoFit/>
          </a:bodyPr>
          <a:lstStyle/>
          <a:p>
            <a:pPr>
              <a:lnSpc>
                <a:spcPct val="108000"/>
              </a:lnSpc>
            </a:pPr>
            <a:r>
              <a:rPr lang="en-US" sz="1067" b="1" dirty="0">
                <a:solidFill>
                  <a:srgbClr val="FFFFFF"/>
                </a:solidFill>
                <a:latin typeface="Arial" pitchFamily="34" charset="0"/>
                <a:ea typeface="Arial" pitchFamily="34" charset="-122"/>
                <a:cs typeface="Arial" pitchFamily="34" charset="-120"/>
              </a:rPr>
              <a:t>Measurement:</a:t>
            </a:r>
            <a:r>
              <a:rPr lang="en-US" sz="1133" dirty="0">
                <a:solidFill>
                  <a:srgbClr val="BBBBBB"/>
                </a:solidFill>
                <a:latin typeface="Arial" pitchFamily="34" charset="0"/>
                <a:ea typeface="Arial" pitchFamily="34" charset="-122"/>
                <a:cs typeface="Arial" pitchFamily="34" charset="-120"/>
              </a:rPr>
              <a:t> Story replies, poll responses, saves, shares, qualified clicks, product views and orders. Separate organic from paid results.</a:t>
            </a:r>
            <a:endParaRPr lang="en-US" sz="1067" dirty="0"/>
          </a:p>
        </p:txBody>
      </p:sp>
      <p:sp>
        <p:nvSpPr>
          <p:cNvPr id="21" name="Text 17"/>
          <p:cNvSpPr/>
          <p:nvPr/>
        </p:nvSpPr>
        <p:spPr>
          <a:xfrm>
            <a:off x="619126" y="5225207"/>
            <a:ext cx="10953751" cy="102657"/>
          </a:xfrm>
          <a:prstGeom prst="rect">
            <a:avLst/>
          </a:prstGeom>
          <a:noFill/>
          <a:ln/>
        </p:spPr>
        <p:txBody>
          <a:bodyPr wrap="square" lIns="0" tIns="0" rIns="0" bIns="0" rtlCol="0" anchor="t">
            <a:spAutoFit/>
          </a:bodyPr>
          <a:lstStyle/>
          <a:p>
            <a:r>
              <a:rPr lang="en-US" sz="667" dirty="0">
                <a:solidFill>
                  <a:srgbClr val="777777"/>
                </a:solidFill>
                <a:latin typeface="Arial" pitchFamily="34" charset="0"/>
                <a:ea typeface="Arial" pitchFamily="34" charset="-122"/>
                <a:cs typeface="Arial" pitchFamily="34" charset="-120"/>
              </a:rPr>
              <a:t>COMMUNITY FLOW: ASK → LEARN → ANSWER → SHOW VERIFIED PROOF → GUIDE TO QAIM.SHOP | Source: Qaim public Facebook page</a:t>
            </a:r>
            <a:endParaRPr lang="en-US" sz="667" dirty="0"/>
          </a:p>
        </p:txBody>
      </p:sp>
    </p:spTree>
    <p:extLst>
      <p:ext uri="{BB962C8B-B14F-4D97-AF65-F5344CB8AC3E}">
        <p14:creationId xmlns:p14="http://schemas.microsoft.com/office/powerpoint/2010/main" val="219679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619125" y="419100"/>
            <a:ext cx="381000" cy="381000"/>
          </a:xfrm>
          <a:prstGeom prst="rect">
            <a:avLst/>
          </a:prstGeom>
        </p:spPr>
      </p:pic>
      <p:sp>
        <p:nvSpPr>
          <p:cNvPr id="4" name="Text 0"/>
          <p:cNvSpPr/>
          <p:nvPr/>
        </p:nvSpPr>
        <p:spPr>
          <a:xfrm>
            <a:off x="1095375" y="507207"/>
            <a:ext cx="424732" cy="194990"/>
          </a:xfrm>
          <a:prstGeom prst="rect">
            <a:avLst/>
          </a:prstGeom>
          <a:noFill/>
          <a:ln/>
        </p:spPr>
        <p:txBody>
          <a:bodyPr wrap="none" lIns="0" tIns="0" rIns="0" bIns="0" rtlCol="0" anchor="t">
            <a:spAutoFit/>
          </a:bodyPr>
          <a:lstStyle/>
          <a:p>
            <a:r>
              <a:rPr lang="en-US" sz="1267" b="1" kern="0" spc="3" dirty="0">
                <a:solidFill>
                  <a:srgbClr val="FFFFFF"/>
                </a:solidFill>
                <a:latin typeface="Arial" pitchFamily="34" charset="0"/>
                <a:ea typeface="Arial" pitchFamily="34" charset="-122"/>
                <a:cs typeface="Arial" pitchFamily="34" charset="-120"/>
              </a:rPr>
              <a:t>QAIM</a:t>
            </a:r>
            <a:endParaRPr lang="en-US" sz="1267" dirty="0"/>
          </a:p>
        </p:txBody>
      </p:sp>
      <p:sp>
        <p:nvSpPr>
          <p:cNvPr id="5" name="Text 1"/>
          <p:cNvSpPr/>
          <p:nvPr/>
        </p:nvSpPr>
        <p:spPr>
          <a:xfrm>
            <a:off x="619126" y="895351"/>
            <a:ext cx="10953751" cy="133434"/>
          </a:xfrm>
          <a:prstGeom prst="rect">
            <a:avLst/>
          </a:prstGeom>
          <a:noFill/>
          <a:ln/>
        </p:spPr>
        <p:txBody>
          <a:bodyPr wrap="square" lIns="0" tIns="0" rIns="0" bIns="0" rtlCol="0" anchor="t">
            <a:spAutoFit/>
          </a:bodyPr>
          <a:lstStyle/>
          <a:p>
            <a:r>
              <a:rPr lang="en-US" sz="867" b="1" kern="0" spc="3" dirty="0">
                <a:solidFill>
                  <a:srgbClr val="B64046"/>
                </a:solidFill>
                <a:latin typeface="Arial" pitchFamily="34" charset="0"/>
                <a:ea typeface="Arial" pitchFamily="34" charset="-122"/>
                <a:cs typeface="Arial" pitchFamily="34" charset="-120"/>
              </a:rPr>
              <a:t>10 / TACTIC 4 EXECUTION LAYER — AMPLIFICATION + LEARNING</a:t>
            </a:r>
            <a:endParaRPr lang="en-US" sz="867" dirty="0"/>
          </a:p>
        </p:txBody>
      </p:sp>
      <p:sp>
        <p:nvSpPr>
          <p:cNvPr id="6" name="Text 2"/>
          <p:cNvSpPr/>
          <p:nvPr/>
        </p:nvSpPr>
        <p:spPr>
          <a:xfrm>
            <a:off x="619126" y="1119189"/>
            <a:ext cx="10953751" cy="389787"/>
          </a:xfrm>
          <a:prstGeom prst="rect">
            <a:avLst/>
          </a:prstGeom>
          <a:noFill/>
          <a:ln/>
        </p:spPr>
        <p:txBody>
          <a:bodyPr wrap="square" lIns="0" tIns="0" rIns="0" bIns="0" rtlCol="0" anchor="t">
            <a:spAutoFit/>
          </a:bodyPr>
          <a:lstStyle/>
          <a:p>
            <a:r>
              <a:rPr lang="en-US" sz="2533" b="1" dirty="0">
                <a:solidFill>
                  <a:srgbClr val="FFFFFF"/>
                </a:solidFill>
                <a:latin typeface="Arial" pitchFamily="34" charset="0"/>
                <a:ea typeface="Arial" pitchFamily="34" charset="-122"/>
                <a:cs typeface="Arial" pitchFamily="34" charset="-120"/>
              </a:rPr>
              <a:t>Test First. Scale Only What the Data Supports.</a:t>
            </a:r>
            <a:endParaRPr lang="en-US" sz="2533" dirty="0"/>
          </a:p>
        </p:txBody>
      </p:sp>
      <p:sp>
        <p:nvSpPr>
          <p:cNvPr id="7" name="Text 3"/>
          <p:cNvSpPr/>
          <p:nvPr/>
        </p:nvSpPr>
        <p:spPr>
          <a:xfrm>
            <a:off x="619126" y="1676401"/>
            <a:ext cx="10953751" cy="396583"/>
          </a:xfrm>
          <a:prstGeom prst="rect">
            <a:avLst/>
          </a:prstGeom>
          <a:noFill/>
          <a:ln/>
        </p:spPr>
        <p:txBody>
          <a:bodyPr wrap="square" lIns="0" tIns="0" rIns="0" bIns="0" rtlCol="0" anchor="t">
            <a:spAutoFit/>
          </a:bodyPr>
          <a:lstStyle/>
          <a:p>
            <a:pPr>
              <a:lnSpc>
                <a:spcPct val="104000"/>
              </a:lnSpc>
            </a:pPr>
            <a:r>
              <a:rPr lang="en-US" sz="1267" dirty="0">
                <a:solidFill>
                  <a:srgbClr val="CCCCCC"/>
                </a:solidFill>
                <a:latin typeface="Arial" pitchFamily="34" charset="0"/>
                <a:ea typeface="Arial" pitchFamily="34" charset="-122"/>
                <a:cs typeface="Arial" pitchFamily="34" charset="-120"/>
              </a:rPr>
              <a:t>Paid distribution and measurement are not a separate fifth tactic. They help Tactic 4 move qualified community attention toward Qaim.shop and improve the next content cycle.</a:t>
            </a:r>
            <a:endParaRPr lang="en-US" sz="1267" dirty="0"/>
          </a:p>
        </p:txBody>
      </p:sp>
      <p:sp>
        <p:nvSpPr>
          <p:cNvPr id="8" name="Text 4"/>
          <p:cNvSpPr/>
          <p:nvPr/>
        </p:nvSpPr>
        <p:spPr>
          <a:xfrm>
            <a:off x="619126" y="2484091"/>
            <a:ext cx="2114551"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01</a:t>
            </a:r>
            <a:endParaRPr lang="en-US" sz="1667" dirty="0"/>
          </a:p>
        </p:txBody>
      </p:sp>
      <p:sp>
        <p:nvSpPr>
          <p:cNvPr id="9" name="Text 5"/>
          <p:cNvSpPr/>
          <p:nvPr/>
        </p:nvSpPr>
        <p:spPr>
          <a:xfrm>
            <a:off x="619126" y="2779365"/>
            <a:ext cx="416781" cy="194990"/>
          </a:xfrm>
          <a:prstGeom prst="rect">
            <a:avLst/>
          </a:prstGeom>
          <a:noFill/>
          <a:ln/>
        </p:spPr>
        <p:txBody>
          <a:bodyPr wrap="none" lIns="0" tIns="0" rIns="0" bIns="0" rtlCol="0" anchor="t">
            <a:spAutoFit/>
          </a:bodyPr>
          <a:lstStyle/>
          <a:p>
            <a:r>
              <a:rPr lang="en-US" sz="1267" b="1" dirty="0">
                <a:solidFill>
                  <a:srgbClr val="FFFFFF"/>
                </a:solidFill>
                <a:latin typeface="Arial" pitchFamily="34" charset="0"/>
                <a:ea typeface="Arial" pitchFamily="34" charset="-122"/>
                <a:cs typeface="Arial" pitchFamily="34" charset="-120"/>
              </a:rPr>
              <a:t>TEST</a:t>
            </a:r>
            <a:endParaRPr lang="en-US" sz="1267" dirty="0"/>
          </a:p>
        </p:txBody>
      </p:sp>
      <p:sp>
        <p:nvSpPr>
          <p:cNvPr id="10" name="Text 6"/>
          <p:cNvSpPr/>
          <p:nvPr/>
        </p:nvSpPr>
        <p:spPr>
          <a:xfrm>
            <a:off x="2828926" y="2484091"/>
            <a:ext cx="2114551"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02</a:t>
            </a:r>
            <a:endParaRPr lang="en-US" sz="1667" dirty="0"/>
          </a:p>
        </p:txBody>
      </p:sp>
      <p:sp>
        <p:nvSpPr>
          <p:cNvPr id="11" name="Text 7"/>
          <p:cNvSpPr/>
          <p:nvPr/>
        </p:nvSpPr>
        <p:spPr>
          <a:xfrm>
            <a:off x="2828926" y="2779365"/>
            <a:ext cx="812723" cy="194990"/>
          </a:xfrm>
          <a:prstGeom prst="rect">
            <a:avLst/>
          </a:prstGeom>
          <a:noFill/>
          <a:ln/>
        </p:spPr>
        <p:txBody>
          <a:bodyPr wrap="none" lIns="0" tIns="0" rIns="0" bIns="0" rtlCol="0" anchor="t">
            <a:spAutoFit/>
          </a:bodyPr>
          <a:lstStyle/>
          <a:p>
            <a:r>
              <a:rPr lang="en-US" sz="1267" b="1" dirty="0">
                <a:solidFill>
                  <a:srgbClr val="FFFFFF"/>
                </a:solidFill>
                <a:latin typeface="Arial" pitchFamily="34" charset="0"/>
                <a:ea typeface="Arial" pitchFamily="34" charset="-122"/>
                <a:cs typeface="Arial" pitchFamily="34" charset="-120"/>
              </a:rPr>
              <a:t>MEASURE</a:t>
            </a:r>
            <a:endParaRPr lang="en-US" sz="1267" dirty="0"/>
          </a:p>
        </p:txBody>
      </p:sp>
      <p:sp>
        <p:nvSpPr>
          <p:cNvPr id="12" name="Text 8"/>
          <p:cNvSpPr/>
          <p:nvPr/>
        </p:nvSpPr>
        <p:spPr>
          <a:xfrm>
            <a:off x="5038726" y="2484091"/>
            <a:ext cx="2114551"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03</a:t>
            </a:r>
            <a:endParaRPr lang="en-US" sz="1667" dirty="0"/>
          </a:p>
        </p:txBody>
      </p:sp>
      <p:sp>
        <p:nvSpPr>
          <p:cNvPr id="13" name="Text 9"/>
          <p:cNvSpPr/>
          <p:nvPr/>
        </p:nvSpPr>
        <p:spPr>
          <a:xfrm>
            <a:off x="5038726" y="2779365"/>
            <a:ext cx="559449" cy="194990"/>
          </a:xfrm>
          <a:prstGeom prst="rect">
            <a:avLst/>
          </a:prstGeom>
          <a:noFill/>
          <a:ln/>
        </p:spPr>
        <p:txBody>
          <a:bodyPr wrap="none" lIns="0" tIns="0" rIns="0" bIns="0" rtlCol="0" anchor="t">
            <a:spAutoFit/>
          </a:bodyPr>
          <a:lstStyle/>
          <a:p>
            <a:r>
              <a:rPr lang="en-US" sz="1267" b="1" dirty="0">
                <a:solidFill>
                  <a:srgbClr val="FFFFFF"/>
                </a:solidFill>
                <a:latin typeface="Arial" pitchFamily="34" charset="0"/>
                <a:ea typeface="Arial" pitchFamily="34" charset="-122"/>
                <a:cs typeface="Arial" pitchFamily="34" charset="-120"/>
              </a:rPr>
              <a:t>LEARN</a:t>
            </a:r>
            <a:endParaRPr lang="en-US" sz="1267" dirty="0"/>
          </a:p>
        </p:txBody>
      </p:sp>
      <p:sp>
        <p:nvSpPr>
          <p:cNvPr id="14" name="Text 10"/>
          <p:cNvSpPr/>
          <p:nvPr/>
        </p:nvSpPr>
        <p:spPr>
          <a:xfrm>
            <a:off x="7248526" y="2484091"/>
            <a:ext cx="2114551"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04</a:t>
            </a:r>
            <a:endParaRPr lang="en-US" sz="1667" dirty="0"/>
          </a:p>
        </p:txBody>
      </p:sp>
      <p:sp>
        <p:nvSpPr>
          <p:cNvPr id="15" name="Text 11"/>
          <p:cNvSpPr/>
          <p:nvPr/>
        </p:nvSpPr>
        <p:spPr>
          <a:xfrm>
            <a:off x="7248526" y="2779365"/>
            <a:ext cx="767839" cy="194990"/>
          </a:xfrm>
          <a:prstGeom prst="rect">
            <a:avLst/>
          </a:prstGeom>
          <a:noFill/>
          <a:ln/>
        </p:spPr>
        <p:txBody>
          <a:bodyPr wrap="none" lIns="0" tIns="0" rIns="0" bIns="0" rtlCol="0" anchor="t">
            <a:spAutoFit/>
          </a:bodyPr>
          <a:lstStyle/>
          <a:p>
            <a:r>
              <a:rPr lang="en-US" sz="1267" b="1" dirty="0">
                <a:solidFill>
                  <a:srgbClr val="FFFFFF"/>
                </a:solidFill>
                <a:latin typeface="Arial" pitchFamily="34" charset="0"/>
                <a:ea typeface="Arial" pitchFamily="34" charset="-122"/>
                <a:cs typeface="Arial" pitchFamily="34" charset="-120"/>
              </a:rPr>
              <a:t>OPTIMIZE</a:t>
            </a:r>
            <a:endParaRPr lang="en-US" sz="1267" dirty="0"/>
          </a:p>
        </p:txBody>
      </p:sp>
      <p:sp>
        <p:nvSpPr>
          <p:cNvPr id="16" name="Text 12"/>
          <p:cNvSpPr/>
          <p:nvPr/>
        </p:nvSpPr>
        <p:spPr>
          <a:xfrm>
            <a:off x="9458326" y="2484091"/>
            <a:ext cx="2114551" cy="256545"/>
          </a:xfrm>
          <a:prstGeom prst="rect">
            <a:avLst/>
          </a:prstGeom>
          <a:noFill/>
          <a:ln/>
        </p:spPr>
        <p:txBody>
          <a:bodyPr wrap="square" lIns="0" tIns="0" rIns="0" bIns="0" rtlCol="0" anchor="t">
            <a:spAutoFit/>
          </a:bodyPr>
          <a:lstStyle/>
          <a:p>
            <a:r>
              <a:rPr lang="en-US" sz="1667" b="1" dirty="0">
                <a:solidFill>
                  <a:srgbClr val="B64046"/>
                </a:solidFill>
                <a:latin typeface="Arial" pitchFamily="34" charset="0"/>
                <a:ea typeface="Arial" pitchFamily="34" charset="-122"/>
                <a:cs typeface="Arial" pitchFamily="34" charset="-120"/>
              </a:rPr>
              <a:t>05</a:t>
            </a:r>
            <a:endParaRPr lang="en-US" sz="1667" dirty="0"/>
          </a:p>
        </p:txBody>
      </p:sp>
      <p:sp>
        <p:nvSpPr>
          <p:cNvPr id="17" name="Text 13"/>
          <p:cNvSpPr/>
          <p:nvPr/>
        </p:nvSpPr>
        <p:spPr>
          <a:xfrm>
            <a:off x="9458326" y="2779365"/>
            <a:ext cx="551433" cy="194990"/>
          </a:xfrm>
          <a:prstGeom prst="rect">
            <a:avLst/>
          </a:prstGeom>
          <a:noFill/>
          <a:ln/>
        </p:spPr>
        <p:txBody>
          <a:bodyPr wrap="none" lIns="0" tIns="0" rIns="0" bIns="0" rtlCol="0" anchor="t">
            <a:spAutoFit/>
          </a:bodyPr>
          <a:lstStyle/>
          <a:p>
            <a:r>
              <a:rPr lang="en-US" sz="1267" b="1" dirty="0">
                <a:solidFill>
                  <a:srgbClr val="FFFFFF"/>
                </a:solidFill>
                <a:latin typeface="Arial" pitchFamily="34" charset="0"/>
                <a:ea typeface="Arial" pitchFamily="34" charset="-122"/>
                <a:cs typeface="Arial" pitchFamily="34" charset="-120"/>
              </a:rPr>
              <a:t>SCALE</a:t>
            </a:r>
            <a:endParaRPr lang="en-US" sz="1267" dirty="0"/>
          </a:p>
        </p:txBody>
      </p:sp>
      <p:sp>
        <p:nvSpPr>
          <p:cNvPr id="18" name="Text 14"/>
          <p:cNvSpPr/>
          <p:nvPr/>
        </p:nvSpPr>
        <p:spPr>
          <a:xfrm>
            <a:off x="619125" y="3355629"/>
            <a:ext cx="5276851"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ORGANIC TESTING</a:t>
            </a:r>
            <a:endParaRPr lang="en-US" sz="800" dirty="0"/>
          </a:p>
        </p:txBody>
      </p:sp>
      <p:sp>
        <p:nvSpPr>
          <p:cNvPr id="19" name="Text 15"/>
          <p:cNvSpPr/>
          <p:nvPr/>
        </p:nvSpPr>
        <p:spPr>
          <a:xfrm>
            <a:off x="619125" y="3574703"/>
            <a:ext cx="5276851" cy="801181"/>
          </a:xfrm>
          <a:prstGeom prst="rect">
            <a:avLst/>
          </a:prstGeom>
          <a:noFill/>
          <a:ln/>
        </p:spPr>
        <p:txBody>
          <a:bodyPr wrap="square" lIns="0" tIns="0" rIns="0" bIns="0" rtlCol="0" anchor="t">
            <a:spAutoFit/>
          </a:bodyPr>
          <a:lstStyle/>
          <a:p>
            <a:pPr>
              <a:lnSpc>
                <a:spcPct val="110400"/>
              </a:lnSpc>
            </a:pPr>
            <a:r>
              <a:rPr lang="en-US" sz="1200" dirty="0">
                <a:solidFill>
                  <a:srgbClr val="DDDDDD"/>
                </a:solidFill>
                <a:latin typeface="Arial" pitchFamily="34" charset="0"/>
                <a:ea typeface="Arial" pitchFamily="34" charset="-122"/>
                <a:cs typeface="Arial" pitchFamily="34" charset="-120"/>
              </a:rPr>
              <a:t>Test different hooks, Qaim product categories, styling angles, formats and CTAs. Change one meaningful variable at a time so the result can be interpreted. Use the public Facebook and Instagram content to identify which ideas earn relevant attention.</a:t>
            </a:r>
            <a:endParaRPr lang="en-US" sz="1200" dirty="0"/>
          </a:p>
        </p:txBody>
      </p:sp>
      <p:sp>
        <p:nvSpPr>
          <p:cNvPr id="20" name="Text 16"/>
          <p:cNvSpPr/>
          <p:nvPr/>
        </p:nvSpPr>
        <p:spPr>
          <a:xfrm>
            <a:off x="6296025" y="3355629"/>
            <a:ext cx="5276851" cy="123111"/>
          </a:xfrm>
          <a:prstGeom prst="rect">
            <a:avLst/>
          </a:prstGeom>
          <a:noFill/>
          <a:ln/>
        </p:spPr>
        <p:txBody>
          <a:bodyPr wrap="square" lIns="0" tIns="0" rIns="0" bIns="0" rtlCol="0" anchor="t">
            <a:spAutoFit/>
          </a:bodyPr>
          <a:lstStyle/>
          <a:p>
            <a:r>
              <a:rPr lang="en-US" sz="800" b="1" kern="0" spc="3" dirty="0">
                <a:solidFill>
                  <a:srgbClr val="AAAAAA"/>
                </a:solidFill>
                <a:latin typeface="Arial" pitchFamily="34" charset="0"/>
                <a:ea typeface="Arial" pitchFamily="34" charset="-122"/>
                <a:cs typeface="Arial" pitchFamily="34" charset="-120"/>
              </a:rPr>
              <a:t>PAID AMPLIFICATION</a:t>
            </a:r>
            <a:endParaRPr lang="en-US" sz="800" dirty="0"/>
          </a:p>
        </p:txBody>
      </p:sp>
      <p:sp>
        <p:nvSpPr>
          <p:cNvPr id="21" name="Text 17"/>
          <p:cNvSpPr/>
          <p:nvPr/>
        </p:nvSpPr>
        <p:spPr>
          <a:xfrm>
            <a:off x="6296025" y="3574703"/>
            <a:ext cx="5276851" cy="801181"/>
          </a:xfrm>
          <a:prstGeom prst="rect">
            <a:avLst/>
          </a:prstGeom>
          <a:noFill/>
          <a:ln/>
        </p:spPr>
        <p:txBody>
          <a:bodyPr wrap="square" lIns="0" tIns="0" rIns="0" bIns="0" rtlCol="0" anchor="t">
            <a:spAutoFit/>
          </a:bodyPr>
          <a:lstStyle/>
          <a:p>
            <a:pPr>
              <a:lnSpc>
                <a:spcPct val="110400"/>
              </a:lnSpc>
            </a:pPr>
            <a:r>
              <a:rPr lang="en-US" sz="1200" dirty="0">
                <a:solidFill>
                  <a:srgbClr val="DDDDDD"/>
                </a:solidFill>
                <a:latin typeface="Arial" pitchFamily="34" charset="0"/>
                <a:ea typeface="Arial" pitchFamily="34" charset="-122"/>
                <a:cs typeface="Arial" pitchFamily="34" charset="-120"/>
              </a:rPr>
              <a:t>Amplify creative only after it shows relevant signals such as qualified website clicks, product views, saves, enquiries or completed actions. Retarget engaged users or website visitors where tracking is available. Never describe a creative as a winner before reviewing the actual data.</a:t>
            </a:r>
            <a:endParaRPr lang="en-US" sz="1200" dirty="0"/>
          </a:p>
        </p:txBody>
      </p:sp>
      <p:sp>
        <p:nvSpPr>
          <p:cNvPr id="22" name="Shape 18"/>
          <p:cNvSpPr/>
          <p:nvPr/>
        </p:nvSpPr>
        <p:spPr>
          <a:xfrm>
            <a:off x="619126" y="4706393"/>
            <a:ext cx="10953751" cy="504825"/>
          </a:xfrm>
          <a:prstGeom prst="rect">
            <a:avLst/>
          </a:prstGeom>
          <a:solidFill>
            <a:srgbClr val="000000">
              <a:alpha val="0"/>
            </a:srgbClr>
          </a:solidFill>
          <a:ln/>
        </p:spPr>
      </p:sp>
      <p:sp>
        <p:nvSpPr>
          <p:cNvPr id="23" name="Shape 19"/>
          <p:cNvSpPr/>
          <p:nvPr/>
        </p:nvSpPr>
        <p:spPr>
          <a:xfrm>
            <a:off x="619126" y="4706392"/>
            <a:ext cx="10953751" cy="9525"/>
          </a:xfrm>
          <a:prstGeom prst="rect">
            <a:avLst/>
          </a:prstGeom>
          <a:solidFill>
            <a:srgbClr val="555555"/>
          </a:solidFill>
          <a:ln/>
        </p:spPr>
      </p:sp>
      <p:sp>
        <p:nvSpPr>
          <p:cNvPr id="24" name="Text 20"/>
          <p:cNvSpPr/>
          <p:nvPr/>
        </p:nvSpPr>
        <p:spPr>
          <a:xfrm>
            <a:off x="619126" y="4706393"/>
            <a:ext cx="10953751" cy="482867"/>
          </a:xfrm>
          <a:prstGeom prst="rect">
            <a:avLst/>
          </a:prstGeom>
          <a:noFill/>
          <a:ln/>
        </p:spPr>
        <p:txBody>
          <a:bodyPr wrap="square" lIns="0" tIns="147489" rIns="0" bIns="0" rtlCol="0" anchor="t">
            <a:spAutoFit/>
          </a:bodyPr>
          <a:lstStyle/>
          <a:p>
            <a:pPr>
              <a:lnSpc>
                <a:spcPct val="104000"/>
              </a:lnSpc>
            </a:pPr>
            <a:r>
              <a:rPr lang="en-US" sz="1000" b="1" dirty="0">
                <a:solidFill>
                  <a:srgbClr val="FFFFFF"/>
                </a:solidFill>
                <a:latin typeface="Arial" pitchFamily="34" charset="0"/>
                <a:ea typeface="Arial" pitchFamily="34" charset="-122"/>
                <a:cs typeface="Arial" pitchFamily="34" charset="-120"/>
              </a:rPr>
              <a:t>KPIs:</a:t>
            </a:r>
            <a:r>
              <a:rPr lang="en-US" sz="1067" dirty="0">
                <a:solidFill>
                  <a:srgbClr val="AAAAAA"/>
                </a:solidFill>
                <a:latin typeface="Arial" pitchFamily="34" charset="0"/>
                <a:ea typeface="Arial" pitchFamily="34" charset="-122"/>
                <a:cs typeface="Arial" pitchFamily="34" charset="-120"/>
              </a:rPr>
              <a:t> reach, watch time, saves, shares, link clicks, product views, add-to-cart, purchases and ROAS. </a:t>
            </a:r>
            <a:r>
              <a:rPr lang="en-US" sz="1000" b="1" dirty="0">
                <a:solidFill>
                  <a:srgbClr val="FFFFFF"/>
                </a:solidFill>
                <a:latin typeface="Arial" pitchFamily="34" charset="0"/>
                <a:ea typeface="Arial" pitchFamily="34" charset="-122"/>
                <a:cs typeface="Arial" pitchFamily="34" charset="-120"/>
              </a:rPr>
              <a:t>Source logic:</a:t>
            </a:r>
            <a:r>
              <a:rPr lang="en-US" sz="1067" dirty="0">
                <a:solidFill>
                  <a:srgbClr val="AAAAAA"/>
                </a:solidFill>
                <a:latin typeface="Arial" pitchFamily="34" charset="0"/>
                <a:ea typeface="Arial" pitchFamily="34" charset="-122"/>
                <a:cs typeface="Arial" pitchFamily="34" charset="-120"/>
              </a:rPr>
              <a:t> Qaim's public page shows an audience, website link and recommendation signal; current creative performance must come from Meta Insights and website analytics.</a:t>
            </a:r>
            <a:endParaRPr lang="en-US" sz="1000" dirty="0"/>
          </a:p>
        </p:txBody>
      </p:sp>
    </p:spTree>
    <p:extLst>
      <p:ext uri="{BB962C8B-B14F-4D97-AF65-F5344CB8AC3E}">
        <p14:creationId xmlns:p14="http://schemas.microsoft.com/office/powerpoint/2010/main" val="3450167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52451" y="361951"/>
            <a:ext cx="419100" cy="419100"/>
          </a:xfrm>
          <a:prstGeom prst="rect">
            <a:avLst/>
          </a:prstGeom>
        </p:spPr>
      </p:pic>
      <p:sp>
        <p:nvSpPr>
          <p:cNvPr id="4" name="Text 0"/>
          <p:cNvSpPr/>
          <p:nvPr/>
        </p:nvSpPr>
        <p:spPr>
          <a:xfrm>
            <a:off x="1076325" y="457200"/>
            <a:ext cx="469616" cy="215444"/>
          </a:xfrm>
          <a:prstGeom prst="rect">
            <a:avLst/>
          </a:prstGeom>
          <a:noFill/>
          <a:ln/>
        </p:spPr>
        <p:txBody>
          <a:bodyPr wrap="none" lIns="0" tIns="0" rIns="0" bIns="0" rtlCol="0" anchor="t">
            <a:spAutoFit/>
          </a:bodyPr>
          <a:lstStyle/>
          <a:p>
            <a:r>
              <a:rPr lang="en-US" sz="1400" b="1" kern="0" spc="3" dirty="0">
                <a:solidFill>
                  <a:srgbClr val="FFFFFF"/>
                </a:solidFill>
                <a:latin typeface="Arial" pitchFamily="34" charset="0"/>
                <a:ea typeface="Arial" pitchFamily="34" charset="-122"/>
                <a:cs typeface="Arial" pitchFamily="34" charset="-120"/>
              </a:rPr>
              <a:t>QAIM</a:t>
            </a:r>
            <a:endParaRPr lang="en-US" sz="1400" dirty="0"/>
          </a:p>
        </p:txBody>
      </p:sp>
      <p:sp>
        <p:nvSpPr>
          <p:cNvPr id="5" name="Text 1"/>
          <p:cNvSpPr/>
          <p:nvPr/>
        </p:nvSpPr>
        <p:spPr>
          <a:xfrm>
            <a:off x="552451" y="876301"/>
            <a:ext cx="11087100"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11 / EXECUTION SYSTEM</a:t>
            </a:r>
            <a:endParaRPr lang="en-US" sz="933" dirty="0"/>
          </a:p>
        </p:txBody>
      </p:sp>
      <p:sp>
        <p:nvSpPr>
          <p:cNvPr id="6" name="Text 2"/>
          <p:cNvSpPr/>
          <p:nvPr/>
        </p:nvSpPr>
        <p:spPr>
          <a:xfrm>
            <a:off x="552451" y="1095375"/>
            <a:ext cx="11087100" cy="430887"/>
          </a:xfrm>
          <a:prstGeom prst="rect">
            <a:avLst/>
          </a:prstGeom>
          <a:noFill/>
          <a:ln/>
        </p:spPr>
        <p:txBody>
          <a:bodyPr wrap="square" lIns="0" tIns="0" rIns="0" bIns="0" rtlCol="0" anchor="t">
            <a:spAutoFit/>
          </a:bodyPr>
          <a:lstStyle/>
          <a:p>
            <a:r>
              <a:rPr lang="en-US" sz="2800" b="1" dirty="0">
                <a:solidFill>
                  <a:srgbClr val="FFFFFF"/>
                </a:solidFill>
                <a:latin typeface="Arial" pitchFamily="34" charset="0"/>
                <a:ea typeface="Arial" pitchFamily="34" charset="-122"/>
                <a:cs typeface="Arial" pitchFamily="34" charset="-120"/>
              </a:rPr>
              <a:t>A Weekly Plan That Follows the Four Tactics</a:t>
            </a:r>
            <a:endParaRPr lang="en-US" sz="2800" dirty="0"/>
          </a:p>
        </p:txBody>
      </p:sp>
      <p:sp>
        <p:nvSpPr>
          <p:cNvPr id="7" name="Text 3"/>
          <p:cNvSpPr/>
          <p:nvPr/>
        </p:nvSpPr>
        <p:spPr>
          <a:xfrm>
            <a:off x="552451" y="1652589"/>
            <a:ext cx="11087100" cy="193771"/>
          </a:xfrm>
          <a:prstGeom prst="rect">
            <a:avLst/>
          </a:prstGeom>
          <a:noFill/>
          <a:ln/>
        </p:spPr>
        <p:txBody>
          <a:bodyPr wrap="square" lIns="0" tIns="0" rIns="0" bIns="0" rtlCol="0" anchor="t">
            <a:spAutoFit/>
          </a:bodyPr>
          <a:lstStyle/>
          <a:p>
            <a:pPr>
              <a:lnSpc>
                <a:spcPct val="104000"/>
              </a:lnSpc>
            </a:pPr>
            <a:r>
              <a:rPr lang="en-US" sz="1267" dirty="0">
                <a:solidFill>
                  <a:srgbClr val="D3D3D3"/>
                </a:solidFill>
                <a:latin typeface="Arial" pitchFamily="34" charset="0"/>
                <a:ea typeface="Arial" pitchFamily="34" charset="-122"/>
                <a:cs typeface="Arial" pitchFamily="34" charset="-120"/>
              </a:rPr>
              <a:t>The plan repeats the strategic journey every week: make the product visible, make it relevant, answer concerns and guide the customer to Qaim.shop.</a:t>
            </a:r>
            <a:endParaRPr lang="en-US" sz="1267" dirty="0"/>
          </a:p>
        </p:txBody>
      </p:sp>
      <p:sp>
        <p:nvSpPr>
          <p:cNvPr id="8" name="Text 4"/>
          <p:cNvSpPr/>
          <p:nvPr/>
        </p:nvSpPr>
        <p:spPr>
          <a:xfrm>
            <a:off x="552451" y="2222153"/>
            <a:ext cx="1449288" cy="307372"/>
          </a:xfrm>
          <a:prstGeom prst="rect">
            <a:avLst/>
          </a:prstGeom>
          <a:noFill/>
          <a:ln/>
        </p:spPr>
        <p:txBody>
          <a:bodyPr wrap="square" lIns="113453" tIns="90763" rIns="113453" bIns="90763" rtlCol="0" anchor="t">
            <a:spAutoFit/>
          </a:bodyPr>
          <a:lstStyle/>
          <a:p>
            <a:pPr>
              <a:lnSpc>
                <a:spcPct val="92800"/>
              </a:lnSpc>
            </a:pPr>
            <a:r>
              <a:rPr lang="en-US" sz="867" b="1" kern="0" spc="1" dirty="0">
                <a:solidFill>
                  <a:srgbClr val="C34A51"/>
                </a:solidFill>
                <a:latin typeface="Arial" pitchFamily="34" charset="0"/>
                <a:ea typeface="Arial" pitchFamily="34" charset="-122"/>
                <a:cs typeface="Arial" pitchFamily="34" charset="-120"/>
              </a:rPr>
              <a:t>DAY</a:t>
            </a:r>
            <a:endParaRPr lang="en-US" sz="867" dirty="0"/>
          </a:p>
        </p:txBody>
      </p:sp>
      <p:sp>
        <p:nvSpPr>
          <p:cNvPr id="9" name="Text 5"/>
          <p:cNvSpPr/>
          <p:nvPr/>
        </p:nvSpPr>
        <p:spPr>
          <a:xfrm>
            <a:off x="2001739" y="2222153"/>
            <a:ext cx="2391296" cy="307372"/>
          </a:xfrm>
          <a:prstGeom prst="rect">
            <a:avLst/>
          </a:prstGeom>
          <a:noFill/>
          <a:ln/>
        </p:spPr>
        <p:txBody>
          <a:bodyPr wrap="square" lIns="113453" tIns="90763" rIns="113453" bIns="90763" rtlCol="0" anchor="t">
            <a:spAutoFit/>
          </a:bodyPr>
          <a:lstStyle/>
          <a:p>
            <a:pPr>
              <a:lnSpc>
                <a:spcPct val="92800"/>
              </a:lnSpc>
            </a:pPr>
            <a:r>
              <a:rPr lang="en-US" sz="867" b="1" kern="0" spc="1" dirty="0">
                <a:solidFill>
                  <a:srgbClr val="C34A51"/>
                </a:solidFill>
                <a:latin typeface="Arial" pitchFamily="34" charset="0"/>
                <a:ea typeface="Arial" pitchFamily="34" charset="-122"/>
                <a:cs typeface="Arial" pitchFamily="34" charset="-120"/>
              </a:rPr>
              <a:t>TACTIC ROLE</a:t>
            </a:r>
            <a:endParaRPr lang="en-US" sz="867" dirty="0"/>
          </a:p>
        </p:txBody>
      </p:sp>
      <p:sp>
        <p:nvSpPr>
          <p:cNvPr id="10" name="Text 6"/>
          <p:cNvSpPr/>
          <p:nvPr/>
        </p:nvSpPr>
        <p:spPr>
          <a:xfrm>
            <a:off x="4393035" y="2222153"/>
            <a:ext cx="3116015" cy="307372"/>
          </a:xfrm>
          <a:prstGeom prst="rect">
            <a:avLst/>
          </a:prstGeom>
          <a:noFill/>
          <a:ln/>
        </p:spPr>
        <p:txBody>
          <a:bodyPr wrap="square" lIns="113453" tIns="90763" rIns="113453" bIns="90763" rtlCol="0" anchor="t">
            <a:spAutoFit/>
          </a:bodyPr>
          <a:lstStyle/>
          <a:p>
            <a:pPr>
              <a:lnSpc>
                <a:spcPct val="92800"/>
              </a:lnSpc>
            </a:pPr>
            <a:r>
              <a:rPr lang="en-US" sz="867" b="1" kern="0" spc="1" dirty="0">
                <a:solidFill>
                  <a:srgbClr val="C34A51"/>
                </a:solidFill>
                <a:latin typeface="Arial" pitchFamily="34" charset="0"/>
                <a:ea typeface="Arial" pitchFamily="34" charset="-122"/>
                <a:cs typeface="Arial" pitchFamily="34" charset="-120"/>
              </a:rPr>
              <a:t>CONTENT ACTION</a:t>
            </a:r>
            <a:endParaRPr lang="en-US" sz="867" dirty="0"/>
          </a:p>
        </p:txBody>
      </p:sp>
      <p:sp>
        <p:nvSpPr>
          <p:cNvPr id="11" name="Text 7"/>
          <p:cNvSpPr/>
          <p:nvPr/>
        </p:nvSpPr>
        <p:spPr>
          <a:xfrm>
            <a:off x="7509048" y="2222153"/>
            <a:ext cx="2391296" cy="307372"/>
          </a:xfrm>
          <a:prstGeom prst="rect">
            <a:avLst/>
          </a:prstGeom>
          <a:noFill/>
          <a:ln/>
        </p:spPr>
        <p:txBody>
          <a:bodyPr wrap="square" lIns="113453" tIns="90763" rIns="113453" bIns="90763" rtlCol="0" anchor="t">
            <a:spAutoFit/>
          </a:bodyPr>
          <a:lstStyle/>
          <a:p>
            <a:pPr>
              <a:lnSpc>
                <a:spcPct val="92800"/>
              </a:lnSpc>
            </a:pPr>
            <a:r>
              <a:rPr lang="en-US" sz="867" b="1" kern="0" spc="1" dirty="0">
                <a:solidFill>
                  <a:srgbClr val="C34A51"/>
                </a:solidFill>
                <a:latin typeface="Arial" pitchFamily="34" charset="0"/>
                <a:ea typeface="Arial" pitchFamily="34" charset="-122"/>
                <a:cs typeface="Arial" pitchFamily="34" charset="-120"/>
              </a:rPr>
              <a:t>CTA</a:t>
            </a:r>
            <a:endParaRPr lang="en-US" sz="867" dirty="0"/>
          </a:p>
        </p:txBody>
      </p:sp>
      <p:sp>
        <p:nvSpPr>
          <p:cNvPr id="12" name="Text 8"/>
          <p:cNvSpPr/>
          <p:nvPr/>
        </p:nvSpPr>
        <p:spPr>
          <a:xfrm>
            <a:off x="9900344" y="2222153"/>
            <a:ext cx="1739131" cy="307372"/>
          </a:xfrm>
          <a:prstGeom prst="rect">
            <a:avLst/>
          </a:prstGeom>
          <a:noFill/>
          <a:ln/>
        </p:spPr>
        <p:txBody>
          <a:bodyPr wrap="square" lIns="113453" tIns="90763" rIns="113453" bIns="90763" rtlCol="0" anchor="t">
            <a:spAutoFit/>
          </a:bodyPr>
          <a:lstStyle/>
          <a:p>
            <a:pPr>
              <a:lnSpc>
                <a:spcPct val="92800"/>
              </a:lnSpc>
            </a:pPr>
            <a:r>
              <a:rPr lang="en-US" sz="867" b="1" kern="0" spc="1" dirty="0">
                <a:solidFill>
                  <a:srgbClr val="C34A51"/>
                </a:solidFill>
                <a:latin typeface="Arial" pitchFamily="34" charset="0"/>
                <a:ea typeface="Arial" pitchFamily="34" charset="-122"/>
                <a:cs typeface="Arial" pitchFamily="34" charset="-120"/>
              </a:rPr>
              <a:t>MEASURE</a:t>
            </a:r>
            <a:endParaRPr lang="en-US" sz="867" dirty="0"/>
          </a:p>
        </p:txBody>
      </p:sp>
      <p:sp>
        <p:nvSpPr>
          <p:cNvPr id="13" name="Text 9"/>
          <p:cNvSpPr/>
          <p:nvPr/>
        </p:nvSpPr>
        <p:spPr>
          <a:xfrm>
            <a:off x="552451" y="2584847"/>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Saturday</a:t>
            </a:r>
            <a:endParaRPr lang="en-US" sz="1133" dirty="0"/>
          </a:p>
        </p:txBody>
      </p:sp>
      <p:sp>
        <p:nvSpPr>
          <p:cNvPr id="14" name="Text 10"/>
          <p:cNvSpPr/>
          <p:nvPr/>
        </p:nvSpPr>
        <p:spPr>
          <a:xfrm>
            <a:off x="2001739" y="2584847"/>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1 — Discover</a:t>
            </a:r>
            <a:endParaRPr lang="en-US" sz="1133" dirty="0"/>
          </a:p>
        </p:txBody>
      </p:sp>
      <p:sp>
        <p:nvSpPr>
          <p:cNvPr id="15" name="Text 11"/>
          <p:cNvSpPr/>
          <p:nvPr/>
        </p:nvSpPr>
        <p:spPr>
          <a:xfrm>
            <a:off x="4393035" y="2584847"/>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Product Discovery Reel</a:t>
            </a:r>
            <a:endParaRPr lang="en-US" sz="1133" dirty="0"/>
          </a:p>
        </p:txBody>
      </p:sp>
      <p:sp>
        <p:nvSpPr>
          <p:cNvPr id="16" name="Text 12"/>
          <p:cNvSpPr/>
          <p:nvPr/>
        </p:nvSpPr>
        <p:spPr>
          <a:xfrm>
            <a:off x="7509048" y="2584847"/>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View details</a:t>
            </a:r>
            <a:endParaRPr lang="en-US" sz="1133" dirty="0"/>
          </a:p>
        </p:txBody>
      </p:sp>
      <p:sp>
        <p:nvSpPr>
          <p:cNvPr id="17" name="Text 13"/>
          <p:cNvSpPr/>
          <p:nvPr/>
        </p:nvSpPr>
        <p:spPr>
          <a:xfrm>
            <a:off x="9900344" y="2584847"/>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Views</a:t>
            </a:r>
            <a:endParaRPr lang="en-US" sz="1133" dirty="0"/>
          </a:p>
        </p:txBody>
      </p:sp>
      <p:sp>
        <p:nvSpPr>
          <p:cNvPr id="18" name="Text 14"/>
          <p:cNvSpPr/>
          <p:nvPr/>
        </p:nvSpPr>
        <p:spPr>
          <a:xfrm>
            <a:off x="552451" y="2923505"/>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Sunday</a:t>
            </a:r>
            <a:endParaRPr lang="en-US" sz="1133" dirty="0"/>
          </a:p>
        </p:txBody>
      </p:sp>
      <p:sp>
        <p:nvSpPr>
          <p:cNvPr id="19" name="Text 15"/>
          <p:cNvSpPr/>
          <p:nvPr/>
        </p:nvSpPr>
        <p:spPr>
          <a:xfrm>
            <a:off x="2001739" y="2923505"/>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4 — Community</a:t>
            </a:r>
            <a:endParaRPr lang="en-US" sz="1133" dirty="0"/>
          </a:p>
        </p:txBody>
      </p:sp>
      <p:sp>
        <p:nvSpPr>
          <p:cNvPr id="20" name="Text 16"/>
          <p:cNvSpPr/>
          <p:nvPr/>
        </p:nvSpPr>
        <p:spPr>
          <a:xfrm>
            <a:off x="4393035" y="2923505"/>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Story Poll</a:t>
            </a:r>
            <a:endParaRPr lang="en-US" sz="1133" dirty="0"/>
          </a:p>
        </p:txBody>
      </p:sp>
      <p:sp>
        <p:nvSpPr>
          <p:cNvPr id="21" name="Text 17"/>
          <p:cNvSpPr/>
          <p:nvPr/>
        </p:nvSpPr>
        <p:spPr>
          <a:xfrm>
            <a:off x="7509048" y="2923505"/>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Vote / reply</a:t>
            </a:r>
            <a:endParaRPr lang="en-US" sz="1133" dirty="0"/>
          </a:p>
        </p:txBody>
      </p:sp>
      <p:sp>
        <p:nvSpPr>
          <p:cNvPr id="22" name="Text 18"/>
          <p:cNvSpPr/>
          <p:nvPr/>
        </p:nvSpPr>
        <p:spPr>
          <a:xfrm>
            <a:off x="9900344" y="2923505"/>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Responses</a:t>
            </a:r>
            <a:endParaRPr lang="en-US" sz="1133" dirty="0"/>
          </a:p>
        </p:txBody>
      </p:sp>
      <p:sp>
        <p:nvSpPr>
          <p:cNvPr id="23" name="Text 19"/>
          <p:cNvSpPr/>
          <p:nvPr/>
        </p:nvSpPr>
        <p:spPr>
          <a:xfrm>
            <a:off x="552451" y="3262164"/>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Monday</a:t>
            </a:r>
            <a:endParaRPr lang="en-US" sz="1133" dirty="0"/>
          </a:p>
        </p:txBody>
      </p:sp>
      <p:sp>
        <p:nvSpPr>
          <p:cNvPr id="24" name="Text 20"/>
          <p:cNvSpPr/>
          <p:nvPr/>
        </p:nvSpPr>
        <p:spPr>
          <a:xfrm>
            <a:off x="2001739" y="3262164"/>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2 — Imagine</a:t>
            </a:r>
            <a:endParaRPr lang="en-US" sz="1133" dirty="0"/>
          </a:p>
        </p:txBody>
      </p:sp>
      <p:sp>
        <p:nvSpPr>
          <p:cNvPr id="25" name="Text 21"/>
          <p:cNvSpPr/>
          <p:nvPr/>
        </p:nvSpPr>
        <p:spPr>
          <a:xfrm>
            <a:off x="4393035" y="3262165"/>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One Product — Three Looks Carousel</a:t>
            </a:r>
            <a:endParaRPr lang="en-US" sz="1133" dirty="0"/>
          </a:p>
        </p:txBody>
      </p:sp>
      <p:sp>
        <p:nvSpPr>
          <p:cNvPr id="26" name="Text 22"/>
          <p:cNvSpPr/>
          <p:nvPr/>
        </p:nvSpPr>
        <p:spPr>
          <a:xfrm>
            <a:off x="7509048" y="3262164"/>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Save / comment</a:t>
            </a:r>
            <a:endParaRPr lang="en-US" sz="1133" dirty="0"/>
          </a:p>
        </p:txBody>
      </p:sp>
      <p:sp>
        <p:nvSpPr>
          <p:cNvPr id="27" name="Text 23"/>
          <p:cNvSpPr/>
          <p:nvPr/>
        </p:nvSpPr>
        <p:spPr>
          <a:xfrm>
            <a:off x="9900344" y="3262164"/>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Saves</a:t>
            </a:r>
            <a:endParaRPr lang="en-US" sz="1133" dirty="0"/>
          </a:p>
        </p:txBody>
      </p:sp>
      <p:sp>
        <p:nvSpPr>
          <p:cNvPr id="28" name="Text 24"/>
          <p:cNvSpPr/>
          <p:nvPr/>
        </p:nvSpPr>
        <p:spPr>
          <a:xfrm>
            <a:off x="552451" y="3600823"/>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Tuesday</a:t>
            </a:r>
            <a:endParaRPr lang="en-US" sz="1133" dirty="0"/>
          </a:p>
        </p:txBody>
      </p:sp>
      <p:sp>
        <p:nvSpPr>
          <p:cNvPr id="29" name="Text 25"/>
          <p:cNvSpPr/>
          <p:nvPr/>
        </p:nvSpPr>
        <p:spPr>
          <a:xfrm>
            <a:off x="2001739" y="3600823"/>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3 — Verify</a:t>
            </a:r>
            <a:endParaRPr lang="en-US" sz="1133" dirty="0"/>
          </a:p>
        </p:txBody>
      </p:sp>
      <p:sp>
        <p:nvSpPr>
          <p:cNvPr id="30" name="Text 26"/>
          <p:cNvSpPr/>
          <p:nvPr/>
        </p:nvSpPr>
        <p:spPr>
          <a:xfrm>
            <a:off x="4393035" y="3600823"/>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Size and product-details Story</a:t>
            </a:r>
            <a:endParaRPr lang="en-US" sz="1133" dirty="0"/>
          </a:p>
        </p:txBody>
      </p:sp>
      <p:sp>
        <p:nvSpPr>
          <p:cNvPr id="31" name="Text 27"/>
          <p:cNvSpPr/>
          <p:nvPr/>
        </p:nvSpPr>
        <p:spPr>
          <a:xfrm>
            <a:off x="7509048" y="3600823"/>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Check page</a:t>
            </a:r>
            <a:endParaRPr lang="en-US" sz="1133" dirty="0"/>
          </a:p>
        </p:txBody>
      </p:sp>
      <p:sp>
        <p:nvSpPr>
          <p:cNvPr id="32" name="Text 28"/>
          <p:cNvSpPr/>
          <p:nvPr/>
        </p:nvSpPr>
        <p:spPr>
          <a:xfrm>
            <a:off x="9900344" y="3600823"/>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Clicks</a:t>
            </a:r>
            <a:endParaRPr lang="en-US" sz="1133" dirty="0"/>
          </a:p>
        </p:txBody>
      </p:sp>
      <p:sp>
        <p:nvSpPr>
          <p:cNvPr id="33" name="Text 29"/>
          <p:cNvSpPr/>
          <p:nvPr/>
        </p:nvSpPr>
        <p:spPr>
          <a:xfrm>
            <a:off x="552451" y="3939480"/>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Wednesday</a:t>
            </a:r>
            <a:endParaRPr lang="en-US" sz="1133" dirty="0"/>
          </a:p>
        </p:txBody>
      </p:sp>
      <p:sp>
        <p:nvSpPr>
          <p:cNvPr id="34" name="Text 30"/>
          <p:cNvSpPr/>
          <p:nvPr/>
        </p:nvSpPr>
        <p:spPr>
          <a:xfrm>
            <a:off x="2001739" y="3939480"/>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1 — Discover</a:t>
            </a:r>
            <a:endParaRPr lang="en-US" sz="1133" dirty="0"/>
          </a:p>
        </p:txBody>
      </p:sp>
      <p:sp>
        <p:nvSpPr>
          <p:cNvPr id="35" name="Text 31"/>
          <p:cNvSpPr/>
          <p:nvPr/>
        </p:nvSpPr>
        <p:spPr>
          <a:xfrm>
            <a:off x="4393035" y="3939480"/>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Second Product Reel</a:t>
            </a:r>
            <a:endParaRPr lang="en-US" sz="1133" dirty="0"/>
          </a:p>
        </p:txBody>
      </p:sp>
      <p:sp>
        <p:nvSpPr>
          <p:cNvPr id="36" name="Text 32"/>
          <p:cNvSpPr/>
          <p:nvPr/>
        </p:nvSpPr>
        <p:spPr>
          <a:xfrm>
            <a:off x="7509048" y="3939480"/>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Visit Qaim.shop</a:t>
            </a:r>
            <a:endParaRPr lang="en-US" sz="1133" dirty="0"/>
          </a:p>
        </p:txBody>
      </p:sp>
      <p:sp>
        <p:nvSpPr>
          <p:cNvPr id="37" name="Text 33"/>
          <p:cNvSpPr/>
          <p:nvPr/>
        </p:nvSpPr>
        <p:spPr>
          <a:xfrm>
            <a:off x="9900344" y="3939480"/>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CTR</a:t>
            </a:r>
            <a:endParaRPr lang="en-US" sz="1133" dirty="0"/>
          </a:p>
        </p:txBody>
      </p:sp>
      <p:sp>
        <p:nvSpPr>
          <p:cNvPr id="38" name="Text 34"/>
          <p:cNvSpPr/>
          <p:nvPr/>
        </p:nvSpPr>
        <p:spPr>
          <a:xfrm>
            <a:off x="552451" y="4278139"/>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Thursday</a:t>
            </a:r>
            <a:endParaRPr lang="en-US" sz="1133" dirty="0"/>
          </a:p>
        </p:txBody>
      </p:sp>
      <p:sp>
        <p:nvSpPr>
          <p:cNvPr id="39" name="Text 35"/>
          <p:cNvSpPr/>
          <p:nvPr/>
        </p:nvSpPr>
        <p:spPr>
          <a:xfrm>
            <a:off x="2001739" y="4278139"/>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4 — Community</a:t>
            </a:r>
            <a:endParaRPr lang="en-US" sz="1133" dirty="0"/>
          </a:p>
        </p:txBody>
      </p:sp>
      <p:sp>
        <p:nvSpPr>
          <p:cNvPr id="40" name="Text 36"/>
          <p:cNvSpPr/>
          <p:nvPr/>
        </p:nvSpPr>
        <p:spPr>
          <a:xfrm>
            <a:off x="4393035" y="4278139"/>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Verified UGC or review</a:t>
            </a:r>
            <a:endParaRPr lang="en-US" sz="1133" dirty="0"/>
          </a:p>
        </p:txBody>
      </p:sp>
      <p:sp>
        <p:nvSpPr>
          <p:cNvPr id="41" name="Text 37"/>
          <p:cNvSpPr/>
          <p:nvPr/>
        </p:nvSpPr>
        <p:spPr>
          <a:xfrm>
            <a:off x="7509048" y="4278139"/>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Ask / view</a:t>
            </a:r>
            <a:endParaRPr lang="en-US" sz="1133" dirty="0"/>
          </a:p>
        </p:txBody>
      </p:sp>
      <p:sp>
        <p:nvSpPr>
          <p:cNvPr id="42" name="Text 38"/>
          <p:cNvSpPr/>
          <p:nvPr/>
        </p:nvSpPr>
        <p:spPr>
          <a:xfrm>
            <a:off x="9900344" y="4278139"/>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Replies</a:t>
            </a:r>
            <a:endParaRPr lang="en-US" sz="1133" dirty="0"/>
          </a:p>
        </p:txBody>
      </p:sp>
      <p:sp>
        <p:nvSpPr>
          <p:cNvPr id="43" name="Text 39"/>
          <p:cNvSpPr/>
          <p:nvPr/>
        </p:nvSpPr>
        <p:spPr>
          <a:xfrm>
            <a:off x="552451" y="4616797"/>
            <a:ext cx="1449288"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Friday</a:t>
            </a:r>
            <a:endParaRPr lang="en-US" sz="1133" dirty="0"/>
          </a:p>
        </p:txBody>
      </p:sp>
      <p:sp>
        <p:nvSpPr>
          <p:cNvPr id="44" name="Text 40"/>
          <p:cNvSpPr/>
          <p:nvPr/>
        </p:nvSpPr>
        <p:spPr>
          <a:xfrm>
            <a:off x="2001739" y="4616797"/>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Tactic 4 — Conversion</a:t>
            </a:r>
            <a:endParaRPr lang="en-US" sz="1133" dirty="0"/>
          </a:p>
        </p:txBody>
      </p:sp>
      <p:sp>
        <p:nvSpPr>
          <p:cNvPr id="45" name="Text 41"/>
          <p:cNvSpPr/>
          <p:nvPr/>
        </p:nvSpPr>
        <p:spPr>
          <a:xfrm>
            <a:off x="4393035" y="4616797"/>
            <a:ext cx="3116015"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Website-linked Product Story</a:t>
            </a:r>
            <a:endParaRPr lang="en-US" sz="1133" dirty="0"/>
          </a:p>
        </p:txBody>
      </p:sp>
      <p:sp>
        <p:nvSpPr>
          <p:cNvPr id="46" name="Text 42"/>
          <p:cNvSpPr/>
          <p:nvPr/>
        </p:nvSpPr>
        <p:spPr>
          <a:xfrm>
            <a:off x="7509048" y="4616797"/>
            <a:ext cx="2391296"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Shop now</a:t>
            </a:r>
            <a:endParaRPr lang="en-US" sz="1133" dirty="0"/>
          </a:p>
        </p:txBody>
      </p:sp>
      <p:sp>
        <p:nvSpPr>
          <p:cNvPr id="47" name="Text 43"/>
          <p:cNvSpPr/>
          <p:nvPr/>
        </p:nvSpPr>
        <p:spPr>
          <a:xfrm>
            <a:off x="9900344" y="4616797"/>
            <a:ext cx="1739131" cy="345459"/>
          </a:xfrm>
          <a:prstGeom prst="rect">
            <a:avLst/>
          </a:prstGeom>
          <a:noFill/>
          <a:ln/>
        </p:spPr>
        <p:txBody>
          <a:bodyPr wrap="square" lIns="113453" tIns="90763" rIns="113453" bIns="90763" rtlCol="0" anchor="t">
            <a:spAutoFit/>
          </a:bodyPr>
          <a:lstStyle/>
          <a:p>
            <a:pPr>
              <a:lnSpc>
                <a:spcPct val="92800"/>
              </a:lnSpc>
            </a:pPr>
            <a:r>
              <a:rPr lang="en-US" sz="1133" dirty="0">
                <a:solidFill>
                  <a:srgbClr val="E0E0E0"/>
                </a:solidFill>
                <a:latin typeface="Arial" pitchFamily="34" charset="0"/>
                <a:ea typeface="Arial" pitchFamily="34" charset="-122"/>
                <a:cs typeface="Arial" pitchFamily="34" charset="-120"/>
              </a:rPr>
              <a:t>Carts / orders</a:t>
            </a:r>
            <a:endParaRPr lang="en-US" sz="1133" dirty="0"/>
          </a:p>
        </p:txBody>
      </p:sp>
      <p:sp>
        <p:nvSpPr>
          <p:cNvPr id="48" name="Shape 44"/>
          <p:cNvSpPr/>
          <p:nvPr/>
        </p:nvSpPr>
        <p:spPr>
          <a:xfrm>
            <a:off x="552451" y="5098331"/>
            <a:ext cx="11087100" cy="494853"/>
          </a:xfrm>
          <a:prstGeom prst="rect">
            <a:avLst/>
          </a:prstGeom>
          <a:solidFill>
            <a:srgbClr val="000000">
              <a:alpha val="0"/>
            </a:srgbClr>
          </a:solidFill>
          <a:ln/>
        </p:spPr>
      </p:sp>
      <p:sp>
        <p:nvSpPr>
          <p:cNvPr id="49" name="Shape 45"/>
          <p:cNvSpPr/>
          <p:nvPr/>
        </p:nvSpPr>
        <p:spPr>
          <a:xfrm>
            <a:off x="552451" y="5098331"/>
            <a:ext cx="11087100" cy="9525"/>
          </a:xfrm>
          <a:prstGeom prst="rect">
            <a:avLst/>
          </a:prstGeom>
          <a:solidFill>
            <a:srgbClr val="555555"/>
          </a:solidFill>
          <a:ln/>
        </p:spPr>
      </p:sp>
      <p:sp>
        <p:nvSpPr>
          <p:cNvPr id="50" name="Text 46"/>
          <p:cNvSpPr/>
          <p:nvPr/>
        </p:nvSpPr>
        <p:spPr>
          <a:xfrm>
            <a:off x="552451" y="5193580"/>
            <a:ext cx="5410200" cy="348365"/>
          </a:xfrm>
          <a:prstGeom prst="rect">
            <a:avLst/>
          </a:prstGeom>
          <a:noFill/>
          <a:ln/>
        </p:spPr>
        <p:txBody>
          <a:bodyPr wrap="square" lIns="0" tIns="0" rIns="0" bIns="0" rtlCol="0" anchor="t">
            <a:spAutoFit/>
          </a:bodyPr>
          <a:lstStyle/>
          <a:p>
            <a:pPr>
              <a:lnSpc>
                <a:spcPct val="102400"/>
              </a:lnSpc>
            </a:pPr>
            <a:r>
              <a:rPr lang="en-US" sz="1067" b="1" dirty="0">
                <a:solidFill>
                  <a:srgbClr val="FFFFFF"/>
                </a:solidFill>
                <a:latin typeface="Arial" pitchFamily="34" charset="0"/>
                <a:ea typeface="Arial" pitchFamily="34" charset="-122"/>
                <a:cs typeface="Arial" pitchFamily="34" charset="-120"/>
              </a:rPr>
              <a:t>Timing:</a:t>
            </a:r>
            <a:r>
              <a:rPr lang="en-US" sz="1133" dirty="0">
                <a:solidFill>
                  <a:srgbClr val="C8C8C8"/>
                </a:solidFill>
                <a:latin typeface="Arial" pitchFamily="34" charset="0"/>
                <a:ea typeface="Arial" pitchFamily="34" charset="-122"/>
                <a:cs typeface="Arial" pitchFamily="34" charset="-120"/>
              </a:rPr>
              <a:t> choose the initial posting window from Qaim's own Meta Insights. Any time in this draft calendar is a test hypothesis, not a verified best time.</a:t>
            </a:r>
            <a:endParaRPr lang="en-US" sz="1067" dirty="0"/>
          </a:p>
        </p:txBody>
      </p:sp>
      <p:sp>
        <p:nvSpPr>
          <p:cNvPr id="51" name="Text 47"/>
          <p:cNvSpPr/>
          <p:nvPr/>
        </p:nvSpPr>
        <p:spPr>
          <a:xfrm>
            <a:off x="6229351" y="5193581"/>
            <a:ext cx="5410200" cy="348365"/>
          </a:xfrm>
          <a:prstGeom prst="rect">
            <a:avLst/>
          </a:prstGeom>
          <a:noFill/>
          <a:ln/>
        </p:spPr>
        <p:txBody>
          <a:bodyPr wrap="square" lIns="0" tIns="0" rIns="0" bIns="0" rtlCol="0" anchor="t">
            <a:spAutoFit/>
          </a:bodyPr>
          <a:lstStyle/>
          <a:p>
            <a:pPr>
              <a:lnSpc>
                <a:spcPct val="102400"/>
              </a:lnSpc>
            </a:pPr>
            <a:r>
              <a:rPr lang="en-US" sz="1067" b="1" dirty="0">
                <a:solidFill>
                  <a:srgbClr val="FFFFFF"/>
                </a:solidFill>
                <a:latin typeface="Arial" pitchFamily="34" charset="0"/>
                <a:ea typeface="Arial" pitchFamily="34" charset="-122"/>
                <a:cs typeface="Arial" pitchFamily="34" charset="-120"/>
              </a:rPr>
              <a:t>Optimization:</a:t>
            </a:r>
            <a:r>
              <a:rPr lang="en-US" sz="1133" dirty="0">
                <a:solidFill>
                  <a:srgbClr val="C8C8C8"/>
                </a:solidFill>
                <a:latin typeface="Arial" pitchFamily="34" charset="0"/>
                <a:ea typeface="Arial" pitchFamily="34" charset="-122"/>
                <a:cs typeface="Arial" pitchFamily="34" charset="-120"/>
              </a:rPr>
              <a:t> compare content by tactic role and action, then use paid distribution only for the strongest relevant signals.</a:t>
            </a:r>
            <a:endParaRPr lang="en-US" sz="1067" dirty="0"/>
          </a:p>
        </p:txBody>
      </p:sp>
      <p:sp>
        <p:nvSpPr>
          <p:cNvPr id="52" name="Text 48"/>
          <p:cNvSpPr/>
          <p:nvPr/>
        </p:nvSpPr>
        <p:spPr>
          <a:xfrm>
            <a:off x="552451" y="5650335"/>
            <a:ext cx="11087100" cy="112788"/>
          </a:xfrm>
          <a:prstGeom prst="rect">
            <a:avLst/>
          </a:prstGeom>
          <a:noFill/>
          <a:ln/>
        </p:spPr>
        <p:txBody>
          <a:bodyPr wrap="square" lIns="0" tIns="0" rIns="0" bIns="0" rtlCol="0" anchor="t">
            <a:spAutoFit/>
          </a:bodyPr>
          <a:lstStyle/>
          <a:p>
            <a:r>
              <a:rPr lang="en-US" sz="733" dirty="0">
                <a:solidFill>
                  <a:srgbClr val="888888"/>
                </a:solidFill>
                <a:latin typeface="Arial" pitchFamily="34" charset="0"/>
                <a:ea typeface="Arial" pitchFamily="34" charset="-122"/>
                <a:cs typeface="Arial" pitchFamily="34" charset="-120"/>
              </a:rPr>
              <a:t>SYSTEM: DISCOVER → IMAGINE → VERIFY → VISIT → ORDER → RETURN | Qaim public Facebook page + Qaim.shop</a:t>
            </a:r>
            <a:endParaRPr lang="en-US" sz="733" dirty="0"/>
          </a:p>
        </p:txBody>
      </p:sp>
    </p:spTree>
    <p:extLst>
      <p:ext uri="{BB962C8B-B14F-4D97-AF65-F5344CB8AC3E}">
        <p14:creationId xmlns:p14="http://schemas.microsoft.com/office/powerpoint/2010/main" val="2700997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6941343"/>
            <a:ext cx="5685532" cy="1009650"/>
          </a:xfrm>
          <a:prstGeom prst="rect">
            <a:avLst/>
          </a:prstGeom>
        </p:spPr>
      </p:pic>
      <p:sp>
        <p:nvSpPr>
          <p:cNvPr id="3" name="TextBox 2"/>
          <p:cNvSpPr txBox="1"/>
          <p:nvPr/>
        </p:nvSpPr>
        <p:spPr>
          <a:xfrm>
            <a:off x="581025" y="295275"/>
            <a:ext cx="3276600"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13</a:t>
            </a:r>
            <a:r>
              <a:rPr sz="1050" b="0" i="0" u="none">
                <a:solidFill>
                  <a:srgbClr val="888888"/>
                </a:solidFill>
                <a:latin typeface="Montserrat SemiBold"/>
              </a:rPr>
              <a:t>/</a:t>
            </a:r>
            <a:r>
              <a:rPr sz="1050" b="0" i="0" u="none">
                <a:solidFill>
                  <a:srgbClr val="AAAAAA"/>
                </a:solidFill>
                <a:latin typeface="Montserrat SemiBold"/>
              </a:rPr>
              <a:t>AI CONTENT STRATEGY</a:t>
            </a:r>
          </a:p>
        </p:txBody>
      </p:sp>
      <p:sp>
        <p:nvSpPr>
          <p:cNvPr id="4" name="TextBox 3"/>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Real Qaim Products Become Four Measurable Content Actions</a:t>
            </a:r>
          </a:p>
        </p:txBody>
      </p:sp>
      <p:sp>
        <p:nvSpPr>
          <p:cNvPr id="5" name="Rectangle 4"/>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81025" y="640556"/>
            <a:ext cx="5685532" cy="9144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AI accelerates production; product truth, Qaim identity and Egyptian context control the message.</a:t>
            </a:r>
            <a:r>
              <a:t>
</a:t>
            </a:r>
            <a:r>
              <a:rPr sz="1125" b="0" i="0" u="none">
                <a:solidFill>
                  <a:srgbClr val="CCCCCC"/>
                </a:solidFill>
                <a:latin typeface="Montserrat"/>
              </a:rPr>
              <a:t> Qaim turns everyday menswear into a clear, confident style choice.</a:t>
            </a:r>
            <a:r>
              <a:t>
</a:t>
            </a:r>
            <a:r>
              <a:rPr sz="1125" b="0" i="0" u="none">
                <a:solidFill>
                  <a:srgbClr val="CCCCCC"/>
                </a:solidFill>
                <a:latin typeface="Montserrat"/>
              </a:rPr>
              <a:t> AI accelerates the idea; Qaim products and Egyptian insight make it credible.</a:t>
            </a:r>
          </a:p>
        </p:txBody>
      </p:sp>
      <p:sp>
        <p:nvSpPr>
          <p:cNvPr id="7" name="TextBox 6"/>
          <p:cNvSpPr txBox="1"/>
          <p:nvPr/>
        </p:nvSpPr>
        <p:spPr>
          <a:xfrm>
            <a:off x="581025" y="1669256"/>
            <a:ext cx="5685532" cy="457200"/>
          </a:xfrm>
          <a:prstGeom prst="rect">
            <a:avLst/>
          </a:prstGeom>
          <a:noFill/>
        </p:spPr>
        <p:txBody>
          <a:bodyPr wrap="square" lIns="0" tIns="0" rIns="0" bIns="0" anchor="t">
            <a:spAutoFit/>
          </a:bodyPr>
          <a:lstStyle/>
          <a:p>
            <a:pPr algn="l">
              <a:lnSpc>
                <a:spcPts val="1800"/>
              </a:lnSpc>
            </a:pPr>
            <a:r>
              <a:rPr sz="1125" b="1" i="0" u="none">
                <a:solidFill>
                  <a:srgbClr val="CCCCCC"/>
                </a:solidFill>
                <a:latin typeface="Montserrat"/>
              </a:rPr>
              <a:t>Content rule:</a:t>
            </a:r>
            <a:r>
              <a:rPr sz="1125" b="0" i="0" u="none">
                <a:solidFill>
                  <a:srgbClr val="CCCCCC"/>
                </a:solidFill>
                <a:latin typeface="Montserrat"/>
              </a:rPr>
              <a:t> every visual must support one action — discover, style, choose or convert — while product names and live availability remain accurate.</a:t>
            </a:r>
          </a:p>
        </p:txBody>
      </p:sp>
      <p:sp>
        <p:nvSpPr>
          <p:cNvPr id="8" name="TextBox 7"/>
          <p:cNvSpPr txBox="1"/>
          <p:nvPr/>
        </p:nvSpPr>
        <p:spPr>
          <a:xfrm>
            <a:off x="581025" y="2383631"/>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DISCOVER</a:t>
            </a:r>
          </a:p>
        </p:txBody>
      </p:sp>
      <p:sp>
        <p:nvSpPr>
          <p:cNvPr id="9" name="TextBox 8"/>
          <p:cNvSpPr txBox="1"/>
          <p:nvPr/>
        </p:nvSpPr>
        <p:spPr>
          <a:xfrm>
            <a:off x="581025" y="2669381"/>
            <a:ext cx="5685532" cy="700087"/>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Product Discovery tactic. Voice Over 1 starts with "عايز بنطلون ينفع طول اليوم؟" then reveals a Qaim product route from gym to street and everyday use. KPI: reach, views and profile visits.</a:t>
            </a:r>
          </a:p>
        </p:txBody>
      </p:sp>
      <p:sp>
        <p:nvSpPr>
          <p:cNvPr id="10" name="TextBox 9"/>
          <p:cNvSpPr txBox="1"/>
          <p:nvPr/>
        </p:nvSpPr>
        <p:spPr>
          <a:xfrm>
            <a:off x="581025" y="3626643"/>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IMAGINE</a:t>
            </a:r>
          </a:p>
        </p:txBody>
      </p:sp>
      <p:sp>
        <p:nvSpPr>
          <p:cNvPr id="11" name="TextBox 10"/>
          <p:cNvSpPr txBox="1"/>
          <p:nvPr/>
        </p:nvSpPr>
        <p:spPr>
          <a:xfrm>
            <a:off x="581025" y="3912393"/>
            <a:ext cx="5685532" cy="4572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Styling tactic. Carousel 1 turns a complete look into six saveable frames: product, use case, comment question and Qaim.shop CTA. KPI: saves and shares.</a:t>
            </a:r>
          </a:p>
        </p:txBody>
      </p:sp>
      <p:sp>
        <p:nvSpPr>
          <p:cNvPr id="12" name="TextBox 11"/>
          <p:cNvSpPr txBox="1"/>
          <p:nvPr/>
        </p:nvSpPr>
        <p:spPr>
          <a:xfrm>
            <a:off x="581025" y="4626768"/>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CHOOSE</a:t>
            </a:r>
          </a:p>
        </p:txBody>
      </p:sp>
      <p:sp>
        <p:nvSpPr>
          <p:cNvPr id="13" name="TextBox 12"/>
          <p:cNvSpPr txBox="1"/>
          <p:nvPr/>
        </p:nvSpPr>
        <p:spPr>
          <a:xfrm>
            <a:off x="581025" y="4912518"/>
            <a:ext cx="5685532"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Guidance tactic. Voice Over 2 uses the "one day, three occasions" idea to help the viewer choose Daily Denim, Weekend Comfort or a finishing shoe. KPI: product views and website clicks.</a:t>
            </a:r>
          </a:p>
        </p:txBody>
      </p:sp>
      <p:sp>
        <p:nvSpPr>
          <p:cNvPr id="14" name="TextBox 13"/>
          <p:cNvSpPr txBox="1"/>
          <p:nvPr/>
        </p:nvSpPr>
        <p:spPr>
          <a:xfrm>
            <a:off x="581025" y="5855493"/>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CONVERT</a:t>
            </a:r>
          </a:p>
        </p:txBody>
      </p:sp>
      <p:sp>
        <p:nvSpPr>
          <p:cNvPr id="15" name="TextBox 14"/>
          <p:cNvSpPr txBox="1"/>
          <p:nvPr/>
        </p:nvSpPr>
        <p:spPr>
          <a:xfrm>
            <a:off x="581025" y="6141243"/>
            <a:ext cx="5685532"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Community and conversion tactic. Carousel 2 asks the audience to choose an occasion, comment, save and visit the store. KPI: comments, saves and Qaim.shop clicks.</a:t>
            </a:r>
          </a:p>
        </p:txBody>
      </p:sp>
      <p:pic>
        <p:nvPicPr>
          <p:cNvPr id="16" name="Picture 15" descr="image.png"/>
          <p:cNvPicPr>
            <a:picLocks noChangeAspect="1"/>
          </p:cNvPicPr>
          <p:nvPr/>
        </p:nvPicPr>
        <p:blipFill>
          <a:blip r:embed="rId3"/>
          <a:stretch>
            <a:fillRect/>
          </a:stretch>
        </p:blipFill>
        <p:spPr>
          <a:xfrm>
            <a:off x="6647557" y="1400175"/>
            <a:ext cx="4963417" cy="5791200"/>
          </a:xfrm>
          <a:prstGeom prst="rect">
            <a:avLst/>
          </a:prstGeom>
        </p:spPr>
      </p:pic>
      <p:sp>
        <p:nvSpPr>
          <p:cNvPr id="17" name="TextBox 16"/>
          <p:cNvSpPr txBox="1"/>
          <p:nvPr/>
        </p:nvSpPr>
        <p:spPr>
          <a:xfrm>
            <a:off x="581025" y="7093743"/>
            <a:ext cx="2981325" cy="0"/>
          </a:xfrm>
          <a:prstGeom prst="rect">
            <a:avLst/>
          </a:prstGeom>
          <a:noFill/>
        </p:spPr>
        <p:txBody>
          <a:bodyPr wrap="square" lIns="0" tIns="0" rIns="0" bIns="0" anchor="t">
            <a:spAutoFit/>
          </a:bodyPr>
          <a:lstStyle/>
          <a:p>
            <a:pPr algn="l"/>
            <a:r>
              <a:rPr sz="900" b="1" i="0" u="none">
                <a:solidFill>
                  <a:srgbClr val="777777"/>
                </a:solidFill>
                <a:latin typeface="Montserrat"/>
              </a:rPr>
              <a:t>LIVE PUBLIC SNAPSHOT — CHECKED 22 AUG 2026</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552451" y="361951"/>
            <a:ext cx="419100" cy="419100"/>
          </a:xfrm>
          <a:prstGeom prst="rect">
            <a:avLst/>
          </a:prstGeom>
        </p:spPr>
      </p:pic>
      <p:sp>
        <p:nvSpPr>
          <p:cNvPr id="4" name="Text 0"/>
          <p:cNvSpPr/>
          <p:nvPr/>
        </p:nvSpPr>
        <p:spPr>
          <a:xfrm>
            <a:off x="1076325" y="457200"/>
            <a:ext cx="469616" cy="215444"/>
          </a:xfrm>
          <a:prstGeom prst="rect">
            <a:avLst/>
          </a:prstGeom>
          <a:noFill/>
          <a:ln/>
        </p:spPr>
        <p:txBody>
          <a:bodyPr wrap="none" lIns="0" tIns="0" rIns="0" bIns="0" rtlCol="0" anchor="t">
            <a:spAutoFit/>
          </a:bodyPr>
          <a:lstStyle/>
          <a:p>
            <a:r>
              <a:rPr lang="en-US" sz="1400" b="1" kern="0" spc="3" dirty="0">
                <a:solidFill>
                  <a:srgbClr val="FFFFFF"/>
                </a:solidFill>
                <a:latin typeface="Arial" pitchFamily="34" charset="0"/>
                <a:ea typeface="Arial" pitchFamily="34" charset="-122"/>
                <a:cs typeface="Arial" pitchFamily="34" charset="-120"/>
              </a:rPr>
              <a:t>QAIM</a:t>
            </a:r>
            <a:endParaRPr lang="en-US" sz="1400" dirty="0"/>
          </a:p>
        </p:txBody>
      </p:sp>
      <p:sp>
        <p:nvSpPr>
          <p:cNvPr id="5" name="Text 1"/>
          <p:cNvSpPr/>
          <p:nvPr/>
        </p:nvSpPr>
        <p:spPr>
          <a:xfrm>
            <a:off x="552451" y="876301"/>
            <a:ext cx="11087100" cy="143565"/>
          </a:xfrm>
          <a:prstGeom prst="rect">
            <a:avLst/>
          </a:prstGeom>
          <a:noFill/>
          <a:ln/>
        </p:spPr>
        <p:txBody>
          <a:bodyPr wrap="square" lIns="0" tIns="0" rIns="0" bIns="0" rtlCol="0" anchor="t">
            <a:spAutoFit/>
          </a:bodyPr>
          <a:lstStyle/>
          <a:p>
            <a:r>
              <a:rPr lang="en-US" sz="933" b="1" kern="0" spc="3" dirty="0">
                <a:solidFill>
                  <a:srgbClr val="B64046"/>
                </a:solidFill>
                <a:latin typeface="Arial" pitchFamily="34" charset="0"/>
                <a:ea typeface="Arial" pitchFamily="34" charset="-122"/>
                <a:cs typeface="Arial" pitchFamily="34" charset="-120"/>
              </a:rPr>
              <a:t>12 / CUSTOMER JOURNEY &amp; KPIs</a:t>
            </a:r>
            <a:endParaRPr lang="en-US" sz="933" dirty="0"/>
          </a:p>
        </p:txBody>
      </p:sp>
      <p:sp>
        <p:nvSpPr>
          <p:cNvPr id="6" name="Text 2"/>
          <p:cNvSpPr/>
          <p:nvPr/>
        </p:nvSpPr>
        <p:spPr>
          <a:xfrm>
            <a:off x="552451" y="1095375"/>
            <a:ext cx="11087100" cy="430887"/>
          </a:xfrm>
          <a:prstGeom prst="rect">
            <a:avLst/>
          </a:prstGeom>
          <a:noFill/>
          <a:ln/>
        </p:spPr>
        <p:txBody>
          <a:bodyPr wrap="square" lIns="0" tIns="0" rIns="0" bIns="0" rtlCol="0" anchor="t">
            <a:spAutoFit/>
          </a:bodyPr>
          <a:lstStyle/>
          <a:p>
            <a:r>
              <a:rPr lang="en-US" sz="2800" b="1" dirty="0">
                <a:solidFill>
                  <a:srgbClr val="FFFFFF"/>
                </a:solidFill>
                <a:latin typeface="Arial" pitchFamily="34" charset="0"/>
                <a:ea typeface="Arial" pitchFamily="34" charset="-122"/>
                <a:cs typeface="Arial" pitchFamily="34" charset="-120"/>
              </a:rPr>
              <a:t>From Attention to Retention</a:t>
            </a:r>
            <a:endParaRPr lang="en-US" sz="2800" dirty="0"/>
          </a:p>
        </p:txBody>
      </p:sp>
      <p:sp>
        <p:nvSpPr>
          <p:cNvPr id="7" name="Text 3"/>
          <p:cNvSpPr/>
          <p:nvPr/>
        </p:nvSpPr>
        <p:spPr>
          <a:xfrm>
            <a:off x="552451" y="1881188"/>
            <a:ext cx="981744"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AWARENESS</a:t>
            </a:r>
            <a:endParaRPr lang="en-US" sz="1200" dirty="0"/>
          </a:p>
        </p:txBody>
      </p:sp>
      <p:sp>
        <p:nvSpPr>
          <p:cNvPr id="8" name="Text 4"/>
          <p:cNvSpPr/>
          <p:nvPr/>
        </p:nvSpPr>
        <p:spPr>
          <a:xfrm>
            <a:off x="552451" y="2162175"/>
            <a:ext cx="1760488" cy="643959"/>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Tactic 1:</a:t>
            </a:r>
            <a:r>
              <a:rPr lang="en-US" sz="1133" dirty="0">
                <a:solidFill>
                  <a:srgbClr val="D2D2D2"/>
                </a:solidFill>
                <a:latin typeface="Arial" pitchFamily="34" charset="0"/>
                <a:ea typeface="Arial" pitchFamily="34" charset="-122"/>
                <a:cs typeface="Arial" pitchFamily="34" charset="-120"/>
              </a:rPr>
              <a:t> Product Discovery Reels create reach and introduce Qaim's categories.</a:t>
            </a:r>
            <a:endParaRPr lang="en-US" sz="1200" dirty="0"/>
          </a:p>
        </p:txBody>
      </p:sp>
      <p:sp>
        <p:nvSpPr>
          <p:cNvPr id="9" name="Text 5"/>
          <p:cNvSpPr/>
          <p:nvPr/>
        </p:nvSpPr>
        <p:spPr>
          <a:xfrm>
            <a:off x="2417714" y="1881188"/>
            <a:ext cx="761427"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INTEREST</a:t>
            </a:r>
            <a:endParaRPr lang="en-US" sz="1200" dirty="0"/>
          </a:p>
        </p:txBody>
      </p:sp>
      <p:sp>
        <p:nvSpPr>
          <p:cNvPr id="10" name="Text 6"/>
          <p:cNvSpPr/>
          <p:nvPr/>
        </p:nvSpPr>
        <p:spPr>
          <a:xfrm>
            <a:off x="2417713" y="2162175"/>
            <a:ext cx="1760563" cy="485326"/>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Tactic 2:</a:t>
            </a:r>
            <a:r>
              <a:rPr lang="en-US" sz="1133" dirty="0">
                <a:solidFill>
                  <a:srgbClr val="D2D2D2"/>
                </a:solidFill>
                <a:latin typeface="Arial" pitchFamily="34" charset="0"/>
                <a:ea typeface="Arial" pitchFamily="34" charset="-122"/>
                <a:cs typeface="Arial" pitchFamily="34" charset="-120"/>
              </a:rPr>
              <a:t> Styling Content shows how products fit real-life outfits.</a:t>
            </a:r>
            <a:endParaRPr lang="en-US" sz="1200" dirty="0"/>
          </a:p>
        </p:txBody>
      </p:sp>
      <p:sp>
        <p:nvSpPr>
          <p:cNvPr id="11" name="Text 7"/>
          <p:cNvSpPr/>
          <p:nvPr/>
        </p:nvSpPr>
        <p:spPr>
          <a:xfrm>
            <a:off x="4283051" y="1881188"/>
            <a:ext cx="512961"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TRUST</a:t>
            </a:r>
            <a:endParaRPr lang="en-US" sz="1200" dirty="0"/>
          </a:p>
        </p:txBody>
      </p:sp>
      <p:sp>
        <p:nvSpPr>
          <p:cNvPr id="12" name="Text 8"/>
          <p:cNvSpPr/>
          <p:nvPr/>
        </p:nvSpPr>
        <p:spPr>
          <a:xfrm>
            <a:off x="4283051" y="2162175"/>
            <a:ext cx="1760488" cy="485326"/>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Tactic 3 + 4:</a:t>
            </a:r>
            <a:r>
              <a:rPr lang="en-US" sz="1133" dirty="0">
                <a:solidFill>
                  <a:srgbClr val="D2D2D2"/>
                </a:solidFill>
                <a:latin typeface="Arial" pitchFamily="34" charset="0"/>
                <a:ea typeface="Arial" pitchFamily="34" charset="-122"/>
                <a:cs typeface="Arial" pitchFamily="34" charset="-120"/>
              </a:rPr>
              <a:t> Guidance, UGC and verified proof reduce hesitation.</a:t>
            </a:r>
            <a:endParaRPr lang="en-US" sz="1200" dirty="0"/>
          </a:p>
        </p:txBody>
      </p:sp>
      <p:sp>
        <p:nvSpPr>
          <p:cNvPr id="13" name="Text 9"/>
          <p:cNvSpPr/>
          <p:nvPr/>
        </p:nvSpPr>
        <p:spPr>
          <a:xfrm>
            <a:off x="6148313" y="1881188"/>
            <a:ext cx="1279004"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CONSIDERATION</a:t>
            </a:r>
            <a:endParaRPr lang="en-US" sz="1200" dirty="0"/>
          </a:p>
        </p:txBody>
      </p:sp>
      <p:sp>
        <p:nvSpPr>
          <p:cNvPr id="14" name="Text 10"/>
          <p:cNvSpPr/>
          <p:nvPr/>
        </p:nvSpPr>
        <p:spPr>
          <a:xfrm>
            <a:off x="6148313" y="2162175"/>
            <a:ext cx="1760563" cy="485326"/>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Qaim.shop:</a:t>
            </a:r>
            <a:r>
              <a:rPr lang="en-US" sz="1133" dirty="0">
                <a:solidFill>
                  <a:srgbClr val="D2D2D2"/>
                </a:solidFill>
                <a:latin typeface="Arial" pitchFamily="34" charset="0"/>
                <a:ea typeface="Arial" pitchFamily="34" charset="-122"/>
                <a:cs typeface="Arial" pitchFamily="34" charset="-120"/>
              </a:rPr>
              <a:t> Search, product information and cart support evaluation.</a:t>
            </a:r>
            <a:endParaRPr lang="en-US" sz="1200" dirty="0"/>
          </a:p>
        </p:txBody>
      </p:sp>
      <p:sp>
        <p:nvSpPr>
          <p:cNvPr id="15" name="Text 11"/>
          <p:cNvSpPr/>
          <p:nvPr/>
        </p:nvSpPr>
        <p:spPr>
          <a:xfrm>
            <a:off x="8013651" y="1881188"/>
            <a:ext cx="1033937"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CONVERSION</a:t>
            </a:r>
            <a:endParaRPr lang="en-US" sz="1200" dirty="0"/>
          </a:p>
        </p:txBody>
      </p:sp>
      <p:sp>
        <p:nvSpPr>
          <p:cNvPr id="16" name="Text 12"/>
          <p:cNvSpPr/>
          <p:nvPr/>
        </p:nvSpPr>
        <p:spPr>
          <a:xfrm>
            <a:off x="8013651" y="2162175"/>
            <a:ext cx="1760563" cy="643959"/>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Tactic 4:</a:t>
            </a:r>
            <a:r>
              <a:rPr lang="en-US" sz="1133" dirty="0">
                <a:solidFill>
                  <a:srgbClr val="D2D2D2"/>
                </a:solidFill>
                <a:latin typeface="Arial" pitchFamily="34" charset="0"/>
                <a:ea typeface="Arial" pitchFamily="34" charset="-122"/>
                <a:cs typeface="Arial" pitchFamily="34" charset="-120"/>
              </a:rPr>
              <a:t> Website-linked content guides the customer to order or contact Qaim.</a:t>
            </a:r>
            <a:endParaRPr lang="en-US" sz="1200" dirty="0"/>
          </a:p>
        </p:txBody>
      </p:sp>
      <p:sp>
        <p:nvSpPr>
          <p:cNvPr id="17" name="Text 13"/>
          <p:cNvSpPr/>
          <p:nvPr/>
        </p:nvSpPr>
        <p:spPr>
          <a:xfrm>
            <a:off x="9878989" y="1881188"/>
            <a:ext cx="889667" cy="155812"/>
          </a:xfrm>
          <a:prstGeom prst="rect">
            <a:avLst/>
          </a:prstGeom>
          <a:noFill/>
          <a:ln/>
        </p:spPr>
        <p:txBody>
          <a:bodyPr wrap="none" lIns="0" tIns="0" rIns="0" bIns="0" rtlCol="0" anchor="t">
            <a:spAutoFit/>
          </a:bodyPr>
          <a:lstStyle/>
          <a:p>
            <a:pPr>
              <a:lnSpc>
                <a:spcPct val="84000"/>
              </a:lnSpc>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18" name="Text 14"/>
          <p:cNvSpPr/>
          <p:nvPr/>
        </p:nvSpPr>
        <p:spPr>
          <a:xfrm>
            <a:off x="9878988" y="2162176"/>
            <a:ext cx="1760488" cy="643959"/>
          </a:xfrm>
          <a:prstGeom prst="rect">
            <a:avLst/>
          </a:prstGeom>
          <a:noFill/>
          <a:ln/>
        </p:spPr>
        <p:txBody>
          <a:bodyPr wrap="square" lIns="0" tIns="0" rIns="0" bIns="0" rtlCol="0" anchor="t">
            <a:spAutoFit/>
          </a:bodyPr>
          <a:lstStyle/>
          <a:p>
            <a:pPr>
              <a:lnSpc>
                <a:spcPct val="91022"/>
              </a:lnSpc>
            </a:pPr>
            <a:r>
              <a:rPr lang="en-US" sz="1200" b="1" dirty="0">
                <a:solidFill>
                  <a:srgbClr val="D2D2D2"/>
                </a:solidFill>
                <a:latin typeface="Arial" pitchFamily="34" charset="0"/>
                <a:ea typeface="Arial" pitchFamily="34" charset="-122"/>
                <a:cs typeface="Arial" pitchFamily="34" charset="-120"/>
              </a:rPr>
              <a:t>Tactic 4:</a:t>
            </a:r>
            <a:r>
              <a:rPr lang="en-US" sz="1133" dirty="0">
                <a:solidFill>
                  <a:srgbClr val="D2D2D2"/>
                </a:solidFill>
                <a:latin typeface="Arial" pitchFamily="34" charset="0"/>
                <a:ea typeface="Arial" pitchFamily="34" charset="-122"/>
                <a:cs typeface="Arial" pitchFamily="34" charset="-120"/>
              </a:rPr>
              <a:t> Community, permission-based UGC and new products encourage return.</a:t>
            </a:r>
            <a:endParaRPr lang="en-US" sz="1200" dirty="0"/>
          </a:p>
        </p:txBody>
      </p:sp>
      <p:sp>
        <p:nvSpPr>
          <p:cNvPr id="19" name="Shape 15"/>
          <p:cNvSpPr/>
          <p:nvPr/>
        </p:nvSpPr>
        <p:spPr>
          <a:xfrm>
            <a:off x="552451" y="3323332"/>
            <a:ext cx="11087100" cy="1072456"/>
          </a:xfrm>
          <a:prstGeom prst="rect">
            <a:avLst/>
          </a:prstGeom>
          <a:solidFill>
            <a:srgbClr val="000000">
              <a:alpha val="0"/>
            </a:srgbClr>
          </a:solidFill>
          <a:ln/>
        </p:spPr>
      </p:sp>
      <p:sp>
        <p:nvSpPr>
          <p:cNvPr id="20" name="Shape 16"/>
          <p:cNvSpPr/>
          <p:nvPr/>
        </p:nvSpPr>
        <p:spPr>
          <a:xfrm>
            <a:off x="552451" y="3323332"/>
            <a:ext cx="11087100" cy="9525"/>
          </a:xfrm>
          <a:prstGeom prst="rect">
            <a:avLst/>
          </a:prstGeom>
          <a:solidFill>
            <a:srgbClr val="555555"/>
          </a:solidFill>
          <a:ln/>
        </p:spPr>
      </p:sp>
      <p:sp>
        <p:nvSpPr>
          <p:cNvPr id="21" name="Text 17"/>
          <p:cNvSpPr/>
          <p:nvPr/>
        </p:nvSpPr>
        <p:spPr>
          <a:xfrm>
            <a:off x="552451" y="3456683"/>
            <a:ext cx="1366464" cy="184666"/>
          </a:xfrm>
          <a:prstGeom prst="rect">
            <a:avLst/>
          </a:prstGeom>
          <a:noFill/>
          <a:ln/>
        </p:spPr>
        <p:txBody>
          <a:bodyPr wrap="none" lIns="0" tIns="0" rIns="0" bIns="0" rtlCol="0" anchor="t">
            <a:spAutoFit/>
          </a:bodyPr>
          <a:lstStyle/>
          <a:p>
            <a:r>
              <a:rPr lang="en-US" sz="1200" b="1" dirty="0">
                <a:solidFill>
                  <a:srgbClr val="FFFFFF"/>
                </a:solidFill>
                <a:latin typeface="Arial" pitchFamily="34" charset="0"/>
                <a:ea typeface="Arial" pitchFamily="34" charset="-122"/>
                <a:cs typeface="Arial" pitchFamily="34" charset="-120"/>
              </a:rPr>
              <a:t>AWARENESS KPIs</a:t>
            </a:r>
            <a:endParaRPr lang="en-US" sz="1200" dirty="0"/>
          </a:p>
        </p:txBody>
      </p:sp>
      <p:sp>
        <p:nvSpPr>
          <p:cNvPr id="22" name="Text 18"/>
          <p:cNvSpPr/>
          <p:nvPr/>
        </p:nvSpPr>
        <p:spPr>
          <a:xfrm>
            <a:off x="552451" y="3723383"/>
            <a:ext cx="2628900" cy="354521"/>
          </a:xfrm>
          <a:prstGeom prst="rect">
            <a:avLst/>
          </a:prstGeom>
          <a:noFill/>
          <a:ln/>
        </p:spPr>
        <p:txBody>
          <a:bodyPr wrap="square" lIns="0" tIns="0" rIns="0" bIns="0" rtlCol="0" anchor="t">
            <a:spAutoFit/>
          </a:bodyPr>
          <a:lstStyle/>
          <a:p>
            <a:pPr>
              <a:lnSpc>
                <a:spcPct val="104000"/>
              </a:lnSpc>
            </a:pPr>
            <a:r>
              <a:rPr lang="en-US" sz="1133" dirty="0">
                <a:solidFill>
                  <a:srgbClr val="C6C6C6"/>
                </a:solidFill>
                <a:latin typeface="Arial" pitchFamily="34" charset="0"/>
                <a:ea typeface="Arial" pitchFamily="34" charset="-122"/>
                <a:cs typeface="Arial" pitchFamily="34" charset="-120"/>
              </a:rPr>
              <a:t>Reach • Impressions • Video Views • Watch Time</a:t>
            </a:r>
            <a:endParaRPr lang="en-US" sz="1133" dirty="0"/>
          </a:p>
        </p:txBody>
      </p:sp>
      <p:sp>
        <p:nvSpPr>
          <p:cNvPr id="23" name="Text 19"/>
          <p:cNvSpPr/>
          <p:nvPr/>
        </p:nvSpPr>
        <p:spPr>
          <a:xfrm>
            <a:off x="3371852" y="3456683"/>
            <a:ext cx="1487587" cy="184666"/>
          </a:xfrm>
          <a:prstGeom prst="rect">
            <a:avLst/>
          </a:prstGeom>
          <a:noFill/>
          <a:ln/>
        </p:spPr>
        <p:txBody>
          <a:bodyPr wrap="none" lIns="0" tIns="0" rIns="0" bIns="0" rtlCol="0" anchor="t">
            <a:spAutoFit/>
          </a:bodyPr>
          <a:lstStyle/>
          <a:p>
            <a:r>
              <a:rPr lang="en-US" sz="1200" b="1" dirty="0">
                <a:solidFill>
                  <a:srgbClr val="FFFFFF"/>
                </a:solidFill>
                <a:latin typeface="Arial" pitchFamily="34" charset="0"/>
                <a:ea typeface="Arial" pitchFamily="34" charset="-122"/>
                <a:cs typeface="Arial" pitchFamily="34" charset="-120"/>
              </a:rPr>
              <a:t>ENGAGEMENT KPIs</a:t>
            </a:r>
            <a:endParaRPr lang="en-US" sz="1200" dirty="0"/>
          </a:p>
        </p:txBody>
      </p:sp>
      <p:sp>
        <p:nvSpPr>
          <p:cNvPr id="24" name="Text 20"/>
          <p:cNvSpPr/>
          <p:nvPr/>
        </p:nvSpPr>
        <p:spPr>
          <a:xfrm>
            <a:off x="3371851" y="3723383"/>
            <a:ext cx="2628900" cy="354521"/>
          </a:xfrm>
          <a:prstGeom prst="rect">
            <a:avLst/>
          </a:prstGeom>
          <a:noFill/>
          <a:ln/>
        </p:spPr>
        <p:txBody>
          <a:bodyPr wrap="square" lIns="0" tIns="0" rIns="0" bIns="0" rtlCol="0" anchor="t">
            <a:spAutoFit/>
          </a:bodyPr>
          <a:lstStyle/>
          <a:p>
            <a:pPr>
              <a:lnSpc>
                <a:spcPct val="104000"/>
              </a:lnSpc>
            </a:pPr>
            <a:r>
              <a:rPr lang="en-US" sz="1133" dirty="0">
                <a:solidFill>
                  <a:srgbClr val="C6C6C6"/>
                </a:solidFill>
                <a:latin typeface="Arial" pitchFamily="34" charset="0"/>
                <a:ea typeface="Arial" pitchFamily="34" charset="-122"/>
                <a:cs typeface="Arial" pitchFamily="34" charset="-120"/>
              </a:rPr>
              <a:t>Comments • Shares • Saves • Poll Responses</a:t>
            </a:r>
            <a:endParaRPr lang="en-US" sz="1133" dirty="0"/>
          </a:p>
        </p:txBody>
      </p:sp>
      <p:sp>
        <p:nvSpPr>
          <p:cNvPr id="25" name="Text 21"/>
          <p:cNvSpPr/>
          <p:nvPr/>
        </p:nvSpPr>
        <p:spPr>
          <a:xfrm>
            <a:off x="6191251" y="3456683"/>
            <a:ext cx="1854399" cy="184666"/>
          </a:xfrm>
          <a:prstGeom prst="rect">
            <a:avLst/>
          </a:prstGeom>
          <a:noFill/>
          <a:ln/>
        </p:spPr>
        <p:txBody>
          <a:bodyPr wrap="square" lIns="0" tIns="0" rIns="0" bIns="0" rtlCol="0" anchor="t">
            <a:spAutoFit/>
          </a:bodyPr>
          <a:lstStyle/>
          <a:p>
            <a:r>
              <a:rPr lang="en-US" sz="1200" b="1" dirty="0">
                <a:solidFill>
                  <a:srgbClr val="FFFFFF"/>
                </a:solidFill>
                <a:latin typeface="Arial" pitchFamily="34" charset="0"/>
                <a:ea typeface="Arial" pitchFamily="34" charset="-122"/>
                <a:cs typeface="Arial" pitchFamily="34" charset="-120"/>
              </a:rPr>
              <a:t>CONSIDERATION KPIs</a:t>
            </a:r>
            <a:endParaRPr lang="en-US" sz="1200" dirty="0"/>
          </a:p>
        </p:txBody>
      </p:sp>
      <p:sp>
        <p:nvSpPr>
          <p:cNvPr id="26" name="Text 22"/>
          <p:cNvSpPr/>
          <p:nvPr/>
        </p:nvSpPr>
        <p:spPr>
          <a:xfrm>
            <a:off x="6191251" y="3723383"/>
            <a:ext cx="2628900" cy="354521"/>
          </a:xfrm>
          <a:prstGeom prst="rect">
            <a:avLst/>
          </a:prstGeom>
          <a:noFill/>
          <a:ln/>
        </p:spPr>
        <p:txBody>
          <a:bodyPr wrap="square" lIns="0" tIns="0" rIns="0" bIns="0" rtlCol="0" anchor="t">
            <a:spAutoFit/>
          </a:bodyPr>
          <a:lstStyle/>
          <a:p>
            <a:pPr>
              <a:lnSpc>
                <a:spcPct val="104000"/>
              </a:lnSpc>
            </a:pPr>
            <a:r>
              <a:rPr lang="en-US" sz="1133" dirty="0">
                <a:solidFill>
                  <a:srgbClr val="C6C6C6"/>
                </a:solidFill>
                <a:latin typeface="Arial" pitchFamily="34" charset="0"/>
                <a:ea typeface="Arial" pitchFamily="34" charset="-122"/>
                <a:cs typeface="Arial" pitchFamily="34" charset="-120"/>
              </a:rPr>
              <a:t>Profile Visits • Website Clicks • Product Views • Enquiries</a:t>
            </a:r>
            <a:endParaRPr lang="en-US" sz="1133" dirty="0"/>
          </a:p>
        </p:txBody>
      </p:sp>
      <p:sp>
        <p:nvSpPr>
          <p:cNvPr id="27" name="Text 23"/>
          <p:cNvSpPr/>
          <p:nvPr/>
        </p:nvSpPr>
        <p:spPr>
          <a:xfrm>
            <a:off x="9010651" y="3456683"/>
            <a:ext cx="1418658" cy="184666"/>
          </a:xfrm>
          <a:prstGeom prst="rect">
            <a:avLst/>
          </a:prstGeom>
          <a:noFill/>
          <a:ln/>
        </p:spPr>
        <p:txBody>
          <a:bodyPr wrap="none" lIns="0" tIns="0" rIns="0" bIns="0" rtlCol="0" anchor="t">
            <a:spAutoFit/>
          </a:bodyPr>
          <a:lstStyle/>
          <a:p>
            <a:r>
              <a:rPr lang="en-US" sz="1200" b="1" dirty="0">
                <a:solidFill>
                  <a:srgbClr val="FFFFFF"/>
                </a:solidFill>
                <a:latin typeface="Arial" pitchFamily="34" charset="0"/>
                <a:ea typeface="Arial" pitchFamily="34" charset="-122"/>
                <a:cs typeface="Arial" pitchFamily="34" charset="-120"/>
              </a:rPr>
              <a:t>CONVERSION KPIs</a:t>
            </a:r>
            <a:endParaRPr lang="en-US" sz="1200" dirty="0"/>
          </a:p>
        </p:txBody>
      </p:sp>
      <p:sp>
        <p:nvSpPr>
          <p:cNvPr id="28" name="Text 24"/>
          <p:cNvSpPr/>
          <p:nvPr/>
        </p:nvSpPr>
        <p:spPr>
          <a:xfrm>
            <a:off x="9010651" y="3723383"/>
            <a:ext cx="2628900" cy="354521"/>
          </a:xfrm>
          <a:prstGeom prst="rect">
            <a:avLst/>
          </a:prstGeom>
          <a:noFill/>
          <a:ln/>
        </p:spPr>
        <p:txBody>
          <a:bodyPr wrap="square" lIns="0" tIns="0" rIns="0" bIns="0" rtlCol="0" anchor="t">
            <a:spAutoFit/>
          </a:bodyPr>
          <a:lstStyle/>
          <a:p>
            <a:pPr>
              <a:lnSpc>
                <a:spcPct val="104000"/>
              </a:lnSpc>
            </a:pPr>
            <a:r>
              <a:rPr lang="en-US" sz="1133" dirty="0">
                <a:solidFill>
                  <a:srgbClr val="C6C6C6"/>
                </a:solidFill>
                <a:latin typeface="Arial" pitchFamily="34" charset="0"/>
                <a:ea typeface="Arial" pitchFamily="34" charset="-122"/>
                <a:cs typeface="Arial" pitchFamily="34" charset="-120"/>
              </a:rPr>
              <a:t>Add-to-Cart • Orders • Conversion Rate • Revenue • ROAS</a:t>
            </a:r>
            <a:endParaRPr lang="en-US" sz="1133" dirty="0"/>
          </a:p>
        </p:txBody>
      </p:sp>
      <p:sp>
        <p:nvSpPr>
          <p:cNvPr id="29" name="Text 25"/>
          <p:cNvSpPr/>
          <p:nvPr/>
        </p:nvSpPr>
        <p:spPr>
          <a:xfrm>
            <a:off x="552451" y="4557713"/>
            <a:ext cx="11087100" cy="123111"/>
          </a:xfrm>
          <a:prstGeom prst="rect">
            <a:avLst/>
          </a:prstGeom>
          <a:noFill/>
          <a:ln/>
        </p:spPr>
        <p:txBody>
          <a:bodyPr wrap="square" lIns="0" tIns="0" rIns="0" bIns="0" rtlCol="0" anchor="t">
            <a:spAutoFit/>
          </a:bodyPr>
          <a:lstStyle/>
          <a:p>
            <a:r>
              <a:rPr lang="en-US" sz="800" kern="0" spc="1" dirty="0">
                <a:solidFill>
                  <a:srgbClr val="888888"/>
                </a:solidFill>
                <a:latin typeface="Arial" pitchFamily="34" charset="0"/>
                <a:ea typeface="Arial" pitchFamily="34" charset="-122"/>
                <a:cs typeface="Arial" pitchFamily="34" charset="-120"/>
              </a:rPr>
              <a:t>STRATEGIC LOGIC: WATCH → ENGAGE → TRUST → VISIT QAIM.SHOP → BUY → RETURN | Baselines require Meta Insights and website analytics.</a:t>
            </a:r>
            <a:endParaRPr lang="en-US" sz="800" dirty="0"/>
          </a:p>
        </p:txBody>
      </p:sp>
    </p:spTree>
    <p:extLst>
      <p:ext uri="{BB962C8B-B14F-4D97-AF65-F5344CB8AC3E}">
        <p14:creationId xmlns:p14="http://schemas.microsoft.com/office/powerpoint/2010/main" val="2920294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400175"/>
            <a:ext cx="5324475" cy="5067300"/>
          </a:xfrm>
          <a:prstGeom prst="rect">
            <a:avLst/>
          </a:prstGeom>
        </p:spPr>
      </p:pic>
      <p:pic>
        <p:nvPicPr>
          <p:cNvPr id="3" name="Picture 2" descr="image.png"/>
          <p:cNvPicPr>
            <a:picLocks noChangeAspect="1"/>
          </p:cNvPicPr>
          <p:nvPr/>
        </p:nvPicPr>
        <p:blipFill>
          <a:blip r:embed="rId2"/>
          <a:stretch>
            <a:fillRect/>
          </a:stretch>
        </p:blipFill>
        <p:spPr>
          <a:xfrm>
            <a:off x="6286500" y="1400175"/>
            <a:ext cx="5324475" cy="5067300"/>
          </a:xfrm>
          <a:prstGeom prst="rect">
            <a:avLst/>
          </a:prstGeom>
        </p:spPr>
      </p:pic>
      <p:sp>
        <p:nvSpPr>
          <p:cNvPr id="4" name="TextBox 3"/>
          <p:cNvSpPr txBox="1"/>
          <p:nvPr/>
        </p:nvSpPr>
        <p:spPr>
          <a:xfrm>
            <a:off x="581025" y="295275"/>
            <a:ext cx="3609975"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14</a:t>
            </a:r>
            <a:r>
              <a:rPr sz="1050" b="0" i="0" u="none">
                <a:solidFill>
                  <a:srgbClr val="888888"/>
                </a:solidFill>
                <a:latin typeface="Montserrat SemiBold"/>
              </a:rPr>
              <a:t>/</a:t>
            </a:r>
            <a:r>
              <a:rPr sz="1050" b="0" i="0" u="none">
                <a:solidFill>
                  <a:srgbClr val="AAAAAA"/>
                </a:solidFill>
                <a:latin typeface="Montserrat SemiBold"/>
              </a:rPr>
              <a:t>TASK 2 — AI VOICE OVER 1</a:t>
            </a:r>
          </a:p>
        </p:txBody>
      </p:sp>
      <p:sp>
        <p:nvSpPr>
          <p:cNvPr id="5" name="TextBox 4"/>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Complete Look from Qaim: Product Discovery Reel</a:t>
            </a:r>
          </a:p>
        </p:txBody>
      </p:sp>
      <p:sp>
        <p:nvSpPr>
          <p:cNvPr id="6" name="Rectangle 5"/>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9150" y="166687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PERSONA</a:t>
            </a:r>
          </a:p>
        </p:txBody>
      </p:sp>
      <p:sp>
        <p:nvSpPr>
          <p:cNvPr id="8" name="TextBox 7"/>
          <p:cNvSpPr txBox="1"/>
          <p:nvPr/>
        </p:nvSpPr>
        <p:spPr>
          <a:xfrm>
            <a:off x="819150" y="1952625"/>
            <a:ext cx="4848225"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Egyptian men aged 18–35 who want a coordinated outfit for an outing, café visit or weekend without spending too much time choosing pieces.</a:t>
            </a:r>
          </a:p>
        </p:txBody>
      </p:sp>
      <p:sp>
        <p:nvSpPr>
          <p:cNvPr id="9" name="TextBox 8"/>
          <p:cNvSpPr txBox="1"/>
          <p:nvPr/>
        </p:nvSpPr>
        <p:spPr>
          <a:xfrm>
            <a:off x="819150" y="2781300"/>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BRIEF</a:t>
            </a:r>
          </a:p>
        </p:txBody>
      </p:sp>
      <p:sp>
        <p:nvSpPr>
          <p:cNvPr id="10" name="TextBox 9"/>
          <p:cNvSpPr txBox="1"/>
          <p:nvPr/>
        </p:nvSpPr>
        <p:spPr>
          <a:xfrm>
            <a:off x="819150" y="3067050"/>
            <a:ext cx="4848225"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A fast Reel starts with the problem "I do not know how to coordinate my outfit." The pieces then appear one by one: a navy polo, ice-blue jeans and navy sneakers, followed by the complete look.</a:t>
            </a:r>
          </a:p>
        </p:txBody>
      </p:sp>
      <p:sp>
        <p:nvSpPr>
          <p:cNvPr id="11" name="TextBox 10"/>
          <p:cNvSpPr txBox="1"/>
          <p:nvPr/>
        </p:nvSpPr>
        <p:spPr>
          <a:xfrm>
            <a:off x="819150" y="389572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النص الصوتي الكامل / FULL SCRIPT</a:t>
            </a:r>
          </a:p>
        </p:txBody>
      </p:sp>
      <p:sp>
        <p:nvSpPr>
          <p:cNvPr id="12" name="TextBox 11"/>
          <p:cNvSpPr txBox="1"/>
          <p:nvPr/>
        </p:nvSpPr>
        <p:spPr>
          <a:xfrm>
            <a:off x="819150" y="4181475"/>
            <a:ext cx="4848225" cy="1651099"/>
          </a:xfrm>
          <a:prstGeom prst="rect">
            <a:avLst/>
          </a:prstGeom>
          <a:noFill/>
        </p:spPr>
        <p:txBody>
          <a:bodyPr wrap="square" lIns="0" tIns="0" rIns="0" bIns="0" anchor="t">
            <a:spAutoFit/>
          </a:bodyPr>
          <a:lstStyle/>
          <a:p>
            <a:pPr algn="r">
              <a:lnSpc>
                <a:spcPts val="2167"/>
              </a:lnSpc>
            </a:pPr>
            <a:r>
              <a:rPr sz="1275" b="0" i="0" u="none">
                <a:solidFill>
                  <a:srgbClr val="E0E0E0"/>
                </a:solidFill>
                <a:latin typeface="Cairo"/>
              </a:rPr>
              <a:t>عايز طقم كامل من غير ما تحتار في التنسيق؟</a:t>
            </a:r>
            <a:r>
              <a:t>
</a:t>
            </a:r>
            <a:r>
              <a:rPr sz="1275" b="0" i="0" u="none">
                <a:solidFill>
                  <a:srgbClr val="E0E0E0"/>
                </a:solidFill>
                <a:latin typeface="Cairo"/>
              </a:rPr>
              <a:t> بولو كحلي، جينز Ice Blue، وكوتشي كحلي… كلهم في لوك واحد.</a:t>
            </a:r>
            <a:r>
              <a:t>
</a:t>
            </a:r>
            <a:r>
              <a:rPr sz="1275" b="0" i="0" u="none">
                <a:solidFill>
                  <a:srgbClr val="E0E0E0"/>
                </a:solidFill>
                <a:latin typeface="Cairo"/>
              </a:rPr>
              <a:t> ستايل جاهز للمشوار، الخروجة، وقعدة الويك إند.</a:t>
            </a:r>
            <a:r>
              <a:t>
</a:t>
            </a:r>
            <a:r>
              <a:rPr sz="1275" b="0" i="0" u="none">
                <a:solidFill>
                  <a:srgbClr val="E0E0E0"/>
                </a:solidFill>
                <a:latin typeface="Cairo"/>
              </a:rPr>
              <a:t> اختار القطع اللي تناسبك من قِيَمٌ، وشوف التفاصيل والمقاسات المتاحة على Qaim.shop.</a:t>
            </a:r>
            <a:r>
              <a:t>
</a:t>
            </a:r>
            <a:r>
              <a:rPr sz="1275" b="0" i="0" u="none">
                <a:solidFill>
                  <a:srgbClr val="E0E0E0"/>
                </a:solidFill>
                <a:latin typeface="Cairo"/>
              </a:rPr>
              <a:t> قِيَمٌ — طقمك الكامل في مكان واحد.</a:t>
            </a:r>
          </a:p>
        </p:txBody>
      </p:sp>
      <p:sp>
        <p:nvSpPr>
          <p:cNvPr id="13" name="TextBox 12"/>
          <p:cNvSpPr txBox="1"/>
          <p:nvPr/>
        </p:nvSpPr>
        <p:spPr>
          <a:xfrm>
            <a:off x="6524625" y="166687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TEXT ON VISUAL</a:t>
            </a:r>
          </a:p>
        </p:txBody>
      </p:sp>
      <p:sp>
        <p:nvSpPr>
          <p:cNvPr id="14" name="TextBox 13"/>
          <p:cNvSpPr txBox="1"/>
          <p:nvPr/>
        </p:nvSpPr>
        <p:spPr>
          <a:xfrm>
            <a:off x="6524625" y="1952625"/>
            <a:ext cx="4848225" cy="825549"/>
          </a:xfrm>
          <a:prstGeom prst="rect">
            <a:avLst/>
          </a:prstGeom>
          <a:noFill/>
        </p:spPr>
        <p:txBody>
          <a:bodyPr wrap="square" lIns="0" tIns="0" rIns="0" bIns="0" anchor="t">
            <a:spAutoFit/>
          </a:bodyPr>
          <a:lstStyle/>
          <a:p>
            <a:pPr algn="l">
              <a:lnSpc>
                <a:spcPts val="2167"/>
              </a:lnSpc>
            </a:pPr>
            <a:r>
              <a:rPr sz="1275" b="0" i="0" u="none">
                <a:solidFill>
                  <a:srgbClr val="CCCCCC"/>
                </a:solidFill>
                <a:latin typeface="Cairo"/>
              </a:rPr>
              <a:t>طقم كامل من غير حيرة؟ → 01 بولو كحلي → 02 جينز Ice Blue → 03 كوتشي كحلي → لوك واحد… 3 مناسبات → قِيَمٌ — طقمك الكامل في مكان واحد.</a:t>
            </a:r>
          </a:p>
        </p:txBody>
      </p:sp>
      <p:sp>
        <p:nvSpPr>
          <p:cNvPr id="15" name="TextBox 14"/>
          <p:cNvSpPr txBox="1"/>
          <p:nvPr/>
        </p:nvSpPr>
        <p:spPr>
          <a:xfrm>
            <a:off x="6524625" y="2921049"/>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EXECUTION + CTA</a:t>
            </a:r>
          </a:p>
        </p:txBody>
      </p:sp>
      <p:sp>
        <p:nvSpPr>
          <p:cNvPr id="16" name="TextBox 15"/>
          <p:cNvSpPr txBox="1"/>
          <p:nvPr/>
        </p:nvSpPr>
        <p:spPr>
          <a:xfrm>
            <a:off x="6524625" y="3206799"/>
            <a:ext cx="4848225"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Format: Instagram/Facebook Reel, 9:16, 20–25 seconds, Egyptian Arabic male AI voice.</a:t>
            </a:r>
            <a:r>
              <a:t>
</a:t>
            </a:r>
            <a:r>
              <a:rPr sz="1125" b="0" i="0" u="none">
                <a:solidFill>
                  <a:srgbClr val="CCCCCC"/>
                </a:solidFill>
                <a:latin typeface="Montserrat"/>
              </a:rPr>
              <a:t> CTA: Explore the available pieces and product details on Qaim.shop.</a:t>
            </a:r>
          </a:p>
        </p:txBody>
      </p:sp>
      <p:sp>
        <p:nvSpPr>
          <p:cNvPr id="17" name="TextBox 16"/>
          <p:cNvSpPr txBox="1"/>
          <p:nvPr/>
        </p:nvSpPr>
        <p:spPr>
          <a:xfrm>
            <a:off x="6524625" y="4035474"/>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VOICE OVER 1 — CLICK TO OPEN OR COPY</a:t>
            </a:r>
          </a:p>
        </p:txBody>
      </p:sp>
      <p:sp>
        <p:nvSpPr>
          <p:cNvPr id="18" name="TextBox 17"/>
          <p:cNvSpPr txBox="1"/>
          <p:nvPr/>
        </p:nvSpPr>
        <p:spPr>
          <a:xfrm>
            <a:off x="6524625" y="4978449"/>
            <a:ext cx="4848225" cy="1000125"/>
          </a:xfrm>
          <a:prstGeom prst="rect">
            <a:avLst/>
          </a:prstGeom>
          <a:noFill/>
        </p:spPr>
        <p:txBody>
          <a:bodyPr wrap="square" lIns="0" tIns="0" rIns="0" bIns="0" anchor="t">
            <a:spAutoFit/>
          </a:bodyPr>
          <a:lstStyle/>
          <a:p>
            <a:pPr algn="l"/>
            <a:r>
              <a:rPr sz="900" b="0" i="0" u="none">
                <a:solidFill>
                  <a:srgbClr val="777777"/>
                </a:solidFill>
                <a:latin typeface="Montserrat"/>
              </a:rPr>
              <a:t>One coordinated Qaim look — ready for the Egyptian day.</a:t>
            </a:r>
            <a:r>
              <a:t>
</a:t>
            </a:r>
            <a:r>
              <a:rPr sz="900" b="0" i="0" u="none">
                <a:solidFill>
                  <a:srgbClr val="777777"/>
                </a:solidFill>
                <a:latin typeface="Montserrat"/>
              </a:rPr>
              <a:t> From Gym to Street: comfort becomes a confident everyday style.</a:t>
            </a:r>
            <a:r>
              <a:t>
</a:t>
            </a:r>
            <a:r>
              <a:rPr sz="900" b="0" i="0" u="none">
                <a:solidFill>
                  <a:srgbClr val="777777"/>
                </a:solidFill>
                <a:latin typeface="Montserrat"/>
              </a:rPr>
              <a:t> Creative route: show the same Qaim look moving from gym to street, then connect the product reveal to the website CTA.</a:t>
            </a:r>
            <a:r>
              <a:t>
</a:t>
            </a:r>
            <a:r>
              <a:rPr sz="900" b="0" i="0" u="none">
                <a:solidFill>
                  <a:srgbClr val="777777"/>
                </a:solidFill>
                <a:latin typeface="Montserrat"/>
              </a:rPr>
              <a:t> Strategic link: Product Discovery tactic → product views and website clicks. Brand pronunciation: قِيَمٌ / Qiyam. KPI: reach, watch time, profile visits and Qaim.shop clicks.</a:t>
            </a:r>
          </a:p>
        </p:txBody>
      </p:sp>
      <p:pic>
        <p:nvPicPr>
          <p:cNvPr id="19" name="Picture 18" descr="image.png"/>
          <p:cNvPicPr>
            <a:picLocks noChangeAspect="1"/>
          </p:cNvPicPr>
          <p:nvPr/>
        </p:nvPicPr>
        <p:blipFill>
          <a:blip r:embed="rId3"/>
          <a:stretch>
            <a:fillRect/>
          </a:stretch>
        </p:blipFill>
        <p:spPr>
          <a:xfrm>
            <a:off x="6724650" y="4559349"/>
            <a:ext cx="104775" cy="133350"/>
          </a:xfrm>
          <a:prstGeom prst="rect">
            <a:avLst/>
          </a:prstGeom>
        </p:spPr>
      </p:pic>
      <p:sp>
        <p:nvSpPr>
          <p:cNvPr id="20" name="Rounded Rectangle 19">
            <a:hlinkClick r:id="rId4"/>
          </p:cNvPr>
          <p:cNvSpPr/>
          <p:nvPr/>
        </p:nvSpPr>
        <p:spPr>
          <a:xfrm>
            <a:off x="6524625" y="4416474"/>
            <a:ext cx="4752975" cy="419100"/>
          </a:xfrm>
          <a:prstGeom prst="roundRect">
            <a:avLst>
              <a:gd name="adj" fmla="val 13636"/>
            </a:avLst>
          </a:prstGeom>
          <a:solidFill>
            <a:srgbClr val="D32F2F"/>
          </a:solidFill>
          <a:ln w="9525">
            <a:solidFill>
              <a:srgbClr val="FF4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915150" y="4545232"/>
            <a:ext cx="4171950" cy="161583"/>
          </a:xfrm>
          <a:prstGeom prst="rect">
            <a:avLst/>
          </a:prstGeom>
          <a:noFill/>
        </p:spPr>
        <p:txBody>
          <a:bodyPr wrap="square" lIns="0" tIns="0" rIns="0" bIns="0" anchor="ctr">
            <a:spAutoFit/>
          </a:bodyPr>
          <a:lstStyle/>
          <a:p>
            <a:pPr algn="l"/>
            <a:r>
              <a:rPr sz="1050" b="0" i="0" u="none" dirty="0">
                <a:solidFill>
                  <a:srgbClr val="FFFFFF"/>
                </a:solidFill>
                <a:latin typeface="Montserrat SemiBold"/>
                <a:hlinkClick r:id="rId4"/>
              </a:rPr>
              <a:t>Open / download voice_over_1_product_aligned_qiyam.wav</a:t>
            </a:r>
            <a:endParaRPr sz="1050" b="0" i="0" u="none" dirty="0">
              <a:solidFill>
                <a:srgbClr val="FFFFFF"/>
              </a:solidFill>
              <a:latin typeface="Montserrat SemiBo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81025" y="295275"/>
            <a:ext cx="3743325"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15</a:t>
            </a:r>
            <a:r>
              <a:rPr sz="1050" b="0" i="0" u="none">
                <a:solidFill>
                  <a:srgbClr val="888888"/>
                </a:solidFill>
                <a:latin typeface="Montserrat SemiBold"/>
              </a:rPr>
              <a:t>/</a:t>
            </a:r>
            <a:r>
              <a:rPr sz="1050" b="0" i="0" u="none">
                <a:solidFill>
                  <a:srgbClr val="AAAAAA"/>
                </a:solidFill>
                <a:latin typeface="Montserrat SemiBold"/>
              </a:rPr>
              <a:t>VOICE OVER 1 STORYBOARD</a:t>
            </a:r>
          </a:p>
        </p:txBody>
      </p:sp>
      <p:sp>
        <p:nvSpPr>
          <p:cNvPr id="3" name="TextBox 2"/>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Production Plan: Problem → Product Reveal → Full-Look Payoff</a:t>
            </a:r>
          </a:p>
        </p:txBody>
      </p:sp>
      <p:sp>
        <p:nvSpPr>
          <p:cNvPr id="4" name="Rectangle 3"/>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1025" y="1400175"/>
            <a:ext cx="7239000"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Goal: make the complete Qaim look easy to understand in 25 seconds, without unsupported promises.</a:t>
            </a:r>
          </a:p>
        </p:txBody>
      </p:sp>
      <p:graphicFrame>
        <p:nvGraphicFramePr>
          <p:cNvPr id="6" name="Table 5"/>
          <p:cNvGraphicFramePr>
            <a:graphicFrameLocks noGrp="1"/>
          </p:cNvGraphicFramePr>
          <p:nvPr/>
        </p:nvGraphicFramePr>
        <p:xfrm>
          <a:off x="581025" y="1914525"/>
          <a:ext cx="11029948" cy="4038600"/>
        </p:xfrm>
        <a:graphic>
          <a:graphicData uri="http://schemas.openxmlformats.org/drawingml/2006/table">
            <a:tbl>
              <a:tblPr firstRow="1" bandRow="1">
                <a:tableStyleId>{5C22544A-7EE6-4342-B048-85BDC9FD1C3A}</a:tableStyleId>
              </a:tblPr>
              <a:tblGrid>
                <a:gridCol w="1102965">
                  <a:extLst>
                    <a:ext uri="{9D8B030D-6E8A-4147-A177-3AD203B41FA5}">
                      <a16:colId xmlns:a16="http://schemas.microsoft.com/office/drawing/2014/main" val="20000"/>
                    </a:ext>
                  </a:extLst>
                </a:gridCol>
                <a:gridCol w="3860452">
                  <a:extLst>
                    <a:ext uri="{9D8B030D-6E8A-4147-A177-3AD203B41FA5}">
                      <a16:colId xmlns:a16="http://schemas.microsoft.com/office/drawing/2014/main" val="20001"/>
                    </a:ext>
                  </a:extLst>
                </a:gridCol>
                <a:gridCol w="2757487">
                  <a:extLst>
                    <a:ext uri="{9D8B030D-6E8A-4147-A177-3AD203B41FA5}">
                      <a16:colId xmlns:a16="http://schemas.microsoft.com/office/drawing/2014/main" val="20002"/>
                    </a:ext>
                  </a:extLst>
                </a:gridCol>
                <a:gridCol w="3309044">
                  <a:extLst>
                    <a:ext uri="{9D8B030D-6E8A-4147-A177-3AD203B41FA5}">
                      <a16:colId xmlns:a16="http://schemas.microsoft.com/office/drawing/2014/main" val="20003"/>
                    </a:ext>
                  </a:extLst>
                </a:gridCol>
              </a:tblGrid>
              <a:tr h="576942">
                <a:tc>
                  <a:txBody>
                    <a:bodyPr/>
                    <a:lstStyle/>
                    <a:p>
                      <a:pPr algn="l"/>
                      <a:r>
                        <a:rPr sz="975" b="1" i="0" u="none">
                          <a:solidFill>
                            <a:srgbClr val="FFFFFF"/>
                          </a:solidFill>
                          <a:latin typeface="Montserrat"/>
                        </a:rPr>
                        <a:t>TIME</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SHOT</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ON-SCREEN COPY</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VOICE / EDITOR NOTE</a:t>
                      </a:r>
                    </a:p>
                  </a:txBody>
                  <a:tcPr marL="63500" marR="63500" marT="25400" marB="25400" anchor="ctr">
                    <a:lnL>
                      <a:noFill/>
                    </a:lnL>
                    <a:lnR>
                      <a:noFill/>
                    </a:lnR>
                    <a:lnT>
                      <a:noFill/>
                    </a:lnT>
                    <a:lnB>
                      <a:noFill/>
                    </a:lnB>
                    <a:solidFill>
                      <a:srgbClr val="D32F2F"/>
                    </a:solidFill>
                  </a:tcPr>
                </a:tc>
                <a:extLst>
                  <a:ext uri="{0D108BD9-81ED-4DB2-BD59-A6C34878D82A}">
                    <a16:rowId xmlns:a16="http://schemas.microsoft.com/office/drawing/2014/main" val="10000"/>
                  </a:ext>
                </a:extLst>
              </a:tr>
              <a:tr h="576942">
                <a:tc>
                  <a:txBody>
                    <a:bodyPr/>
                    <a:lstStyle/>
                    <a:p>
                      <a:pPr algn="l"/>
                      <a:r>
                        <a:rPr sz="1050" b="0" i="0" u="none">
                          <a:solidFill>
                            <a:srgbClr val="CCCCCC"/>
                          </a:solidFill>
                          <a:latin typeface="Montserrat"/>
                        </a:rPr>
                        <a:t>0:00–0:03</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Hook: man looks at three unworn pieces, then faces camera.</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طقم كامل من غير حيرة؟</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Open with the question; cut on the beat. Avoid using a celebrity face or borrowed meme template.</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1"/>
                  </a:ext>
                </a:extLst>
              </a:tr>
              <a:tr h="576942">
                <a:tc>
                  <a:txBody>
                    <a:bodyPr/>
                    <a:lstStyle/>
                    <a:p>
                      <a:pPr algn="l"/>
                      <a:r>
                        <a:rPr sz="1050" b="0" i="0" u="none">
                          <a:solidFill>
                            <a:srgbClr val="CCCCCC"/>
                          </a:solidFill>
                          <a:latin typeface="Montserrat"/>
                        </a:rPr>
                        <a:t>0:03–0:07</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Reveal 01: navy polo close-up; collar and colour.</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01 / بولو كحلي</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عايز طقم كامل… Keep the brand pronunciation for the end.</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2"/>
                  </a:ext>
                </a:extLst>
              </a:tr>
              <a:tr h="576942">
                <a:tc>
                  <a:txBody>
                    <a:bodyPr/>
                    <a:lstStyle/>
                    <a:p>
                      <a:pPr algn="l"/>
                      <a:r>
                        <a:rPr sz="1050" b="0" i="0" u="none">
                          <a:solidFill>
                            <a:srgbClr val="CCCCCC"/>
                          </a:solidFill>
                          <a:latin typeface="Montserrat"/>
                        </a:rPr>
                        <a:t>0:07–0:11</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Reveal 02: ice-blue jeans; waist-to-shoe match cut.</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02 / جينز Ice Blue</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بولو كحلي، جينز Ice Blue… Show fit faithfully; do not invent fabric claims.</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3"/>
                  </a:ext>
                </a:extLst>
              </a:tr>
              <a:tr h="576942">
                <a:tc>
                  <a:txBody>
                    <a:bodyPr/>
                    <a:lstStyle/>
                    <a:p>
                      <a:pPr algn="l"/>
                      <a:r>
                        <a:rPr sz="1050" b="0" i="0" u="none">
                          <a:solidFill>
                            <a:srgbClr val="CCCCCC"/>
                          </a:solidFill>
                          <a:latin typeface="Montserrat"/>
                        </a:rPr>
                        <a:t>0:11–0:15</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Reveal 03: navy sneaker step; clean lower-body frame.</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03 / كوتشي كحلي</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وكوتشي كحلي… Use a single impact sound, then let the product remain visible.</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4"/>
                  </a:ext>
                </a:extLst>
              </a:tr>
              <a:tr h="576942">
                <a:tc>
                  <a:txBody>
                    <a:bodyPr/>
                    <a:lstStyle/>
                    <a:p>
                      <a:pPr algn="l"/>
                      <a:r>
                        <a:rPr sz="1050" b="0" i="0" u="none">
                          <a:solidFill>
                            <a:srgbClr val="CCCCCC"/>
                          </a:solidFill>
                          <a:latin typeface="Montserrat"/>
                        </a:rPr>
                        <a:t>0:15–0:21</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Payoff: full look in a street / café / weekend setting.</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لوك واحد… 3 مناسبات</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ستايل جاهز للمشوار… Add readable Egyptian Arabic subtitles.</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5"/>
                  </a:ext>
                </a:extLst>
              </a:tr>
              <a:tr h="576948">
                <a:tc>
                  <a:txBody>
                    <a:bodyPr/>
                    <a:lstStyle/>
                    <a:p>
                      <a:pPr algn="l"/>
                      <a:r>
                        <a:rPr sz="1050" b="0" i="0" u="none">
                          <a:solidFill>
                            <a:srgbClr val="CCCCCC"/>
                          </a:solidFill>
                          <a:latin typeface="Montserrat"/>
                        </a:rPr>
                        <a:t>0:21–0:25</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CTA: Qaim logo + website frame.</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قِيَمٌ — شوف القطع المتاحة</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اختار القطع… Pronounce قِيَمٌ clearly; direct to Qaim.shop and current availability.</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81025" y="6238875"/>
            <a:ext cx="11029950" cy="428625"/>
          </a:xfrm>
          <a:prstGeom prst="rect">
            <a:avLst/>
          </a:prstGeom>
          <a:noFill/>
        </p:spPr>
        <p:txBody>
          <a:bodyPr wrap="square" lIns="0" tIns="0" rIns="0" bIns="0" anchor="t">
            <a:spAutoFit/>
          </a:bodyPr>
          <a:lstStyle/>
          <a:p>
            <a:pPr algn="l"/>
            <a:r>
              <a:rPr sz="900" b="0" i="0" u="none">
                <a:solidFill>
                  <a:srgbClr val="777777"/>
                </a:solidFill>
                <a:latin typeface="Montserrat"/>
              </a:rPr>
              <a:t>Edit rule: every product reveal must be visually identifiable; every claim must be confirmed on the live Qaim product page. KPI: watch time, completion rate, product views and Qaim.shop clicks.</a:t>
            </a:r>
            <a:r>
              <a:t>
</a:t>
            </a:r>
            <a:r>
              <a:rPr sz="900" b="0" i="0" u="none">
                <a:solidFill>
                  <a:srgbClr val="777777"/>
                </a:solidFill>
                <a:latin typeface="Montserrat"/>
              </a:rPr>
              <a:t> Product details become a clear shot list — from Qaim's pieces to a ready-to-publish Reel.</a:t>
            </a:r>
          </a:p>
        </p:txBody>
      </p:sp>
      <p:sp>
        <p:nvSpPr>
          <p:cNvPr id="8" name="Rectangle 7"/>
          <p:cNvSpPr/>
          <p:nvPr/>
        </p:nvSpPr>
        <p:spPr>
          <a:xfrm>
            <a:off x="581025" y="303371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83990" y="303371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44442" y="303371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301930" y="303371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1025" y="361473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683990" y="361473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544442" y="361473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01930" y="361473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025" y="419576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83990" y="419576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544442" y="419576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01930" y="419576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1025" y="477678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683990" y="477678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544442" y="477678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301930" y="477678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81025" y="535781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683990" y="535781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544442" y="535781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01930" y="535781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81025" y="593883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683990" y="593883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544442" y="593883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301930" y="593883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400175"/>
            <a:ext cx="5324475" cy="6381898"/>
          </a:xfrm>
          <a:prstGeom prst="rect">
            <a:avLst/>
          </a:prstGeom>
        </p:spPr>
      </p:pic>
      <p:pic>
        <p:nvPicPr>
          <p:cNvPr id="3" name="Picture 2" descr="image.png"/>
          <p:cNvPicPr>
            <a:picLocks noChangeAspect="1"/>
          </p:cNvPicPr>
          <p:nvPr/>
        </p:nvPicPr>
        <p:blipFill>
          <a:blip r:embed="rId2"/>
          <a:stretch>
            <a:fillRect/>
          </a:stretch>
        </p:blipFill>
        <p:spPr>
          <a:xfrm>
            <a:off x="6286500" y="1400175"/>
            <a:ext cx="5324475" cy="6381898"/>
          </a:xfrm>
          <a:prstGeom prst="rect">
            <a:avLst/>
          </a:prstGeom>
        </p:spPr>
      </p:pic>
      <p:sp>
        <p:nvSpPr>
          <p:cNvPr id="4" name="TextBox 3"/>
          <p:cNvSpPr txBox="1"/>
          <p:nvPr/>
        </p:nvSpPr>
        <p:spPr>
          <a:xfrm>
            <a:off x="581025" y="295275"/>
            <a:ext cx="3629025"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16</a:t>
            </a:r>
            <a:r>
              <a:rPr sz="1050" b="0" i="0" u="none">
                <a:solidFill>
                  <a:srgbClr val="888888"/>
                </a:solidFill>
                <a:latin typeface="Montserrat SemiBold"/>
              </a:rPr>
              <a:t>/</a:t>
            </a:r>
            <a:r>
              <a:rPr sz="1050" b="0" i="0" u="none">
                <a:solidFill>
                  <a:srgbClr val="AAAAAA"/>
                </a:solidFill>
                <a:latin typeface="Montserrat SemiBold"/>
              </a:rPr>
              <a:t>TASK 2 — AI VOICE OVER 2</a:t>
            </a:r>
          </a:p>
        </p:txBody>
      </p:sp>
      <p:sp>
        <p:nvSpPr>
          <p:cNvPr id="5" name="TextBox 4"/>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One Day, Three Occasions: Choose Your Qaim Piece</a:t>
            </a:r>
          </a:p>
        </p:txBody>
      </p:sp>
      <p:sp>
        <p:nvSpPr>
          <p:cNvPr id="6" name="Rectangle 5"/>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19150" y="166687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PERSONA</a:t>
            </a:r>
          </a:p>
        </p:txBody>
      </p:sp>
      <p:sp>
        <p:nvSpPr>
          <p:cNvPr id="8" name="TextBox 7"/>
          <p:cNvSpPr txBox="1"/>
          <p:nvPr/>
        </p:nvSpPr>
        <p:spPr>
          <a:xfrm>
            <a:off x="819150" y="1952625"/>
            <a:ext cx="4848225" cy="4572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Egyptian men who want practical outfit ideas for daily wear, weekend comfort and the right shoes to complete the look.</a:t>
            </a:r>
          </a:p>
        </p:txBody>
      </p:sp>
      <p:sp>
        <p:nvSpPr>
          <p:cNvPr id="9" name="TextBox 8"/>
          <p:cNvSpPr txBox="1"/>
          <p:nvPr/>
        </p:nvSpPr>
        <p:spPr>
          <a:xfrm>
            <a:off x="819150" y="2552700"/>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BRIEF</a:t>
            </a:r>
          </a:p>
        </p:txBody>
      </p:sp>
      <p:sp>
        <p:nvSpPr>
          <p:cNvPr id="10" name="TextBox 9"/>
          <p:cNvSpPr txBox="1"/>
          <p:nvPr/>
        </p:nvSpPr>
        <p:spPr>
          <a:xfrm>
            <a:off x="819150" y="2838450"/>
            <a:ext cx="4848225"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A fast video built around the idea "Change the key piece, and the whole look changes." Instead of one fixed outfit, show three choices for three everyday occasions.</a:t>
            </a:r>
          </a:p>
        </p:txBody>
      </p:sp>
      <p:sp>
        <p:nvSpPr>
          <p:cNvPr id="11" name="TextBox 10"/>
          <p:cNvSpPr txBox="1"/>
          <p:nvPr/>
        </p:nvSpPr>
        <p:spPr>
          <a:xfrm>
            <a:off x="819150" y="366712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PRODUCT ANCHORS</a:t>
            </a:r>
          </a:p>
        </p:txBody>
      </p:sp>
      <p:sp>
        <p:nvSpPr>
          <p:cNvPr id="12" name="TextBox 11"/>
          <p:cNvSpPr txBox="1"/>
          <p:nvPr/>
        </p:nvSpPr>
        <p:spPr>
          <a:xfrm>
            <a:off x="819150" y="3952875"/>
            <a:ext cx="4848225" cy="6858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Daily Denim: Jeans SADA أو Wide-Leg Jeans.</a:t>
            </a:r>
            <a:r>
              <a:t>
</a:t>
            </a:r>
            <a:r>
              <a:rPr sz="1125" b="0" i="0" u="none">
                <a:solidFill>
                  <a:srgbClr val="CCCCCC"/>
                </a:solidFill>
                <a:latin typeface="Montserrat"/>
              </a:rPr>
              <a:t> Weekend Comfort: Sweatpant Wide Leg Qn.</a:t>
            </a:r>
            <a:r>
              <a:t>
</a:t>
            </a:r>
            <a:r>
              <a:rPr sz="1125" b="0" i="0" u="none">
                <a:solidFill>
                  <a:srgbClr val="CCCCCC"/>
                </a:solidFill>
                <a:latin typeface="Montserrat"/>
              </a:rPr>
              <a:t> Finish the Look: Shoes Tommy أو Shoes Nike.</a:t>
            </a:r>
          </a:p>
        </p:txBody>
      </p:sp>
      <p:sp>
        <p:nvSpPr>
          <p:cNvPr id="13" name="TextBox 12"/>
          <p:cNvSpPr txBox="1"/>
          <p:nvPr/>
        </p:nvSpPr>
        <p:spPr>
          <a:xfrm>
            <a:off x="819150" y="4781550"/>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FULL SCRIPT</a:t>
            </a:r>
          </a:p>
        </p:txBody>
      </p:sp>
      <p:sp>
        <p:nvSpPr>
          <p:cNvPr id="14" name="TextBox 13"/>
          <p:cNvSpPr txBox="1"/>
          <p:nvPr/>
        </p:nvSpPr>
        <p:spPr>
          <a:xfrm>
            <a:off x="819150" y="5067300"/>
            <a:ext cx="4848225" cy="1790700"/>
          </a:xfrm>
          <a:prstGeom prst="rect">
            <a:avLst/>
          </a:prstGeom>
          <a:noFill/>
        </p:spPr>
        <p:txBody>
          <a:bodyPr wrap="square" lIns="0" tIns="0" rIns="0" bIns="0" anchor="t">
            <a:spAutoFit/>
          </a:bodyPr>
          <a:lstStyle/>
          <a:p>
            <a:pPr algn="r">
              <a:lnSpc>
                <a:spcPts val="2167"/>
              </a:lnSpc>
            </a:pPr>
            <a:r>
              <a:rPr sz="1275" b="0" i="0" u="none">
                <a:solidFill>
                  <a:srgbClr val="E0E0E0"/>
                </a:solidFill>
                <a:latin typeface="Cairo"/>
              </a:rPr>
              <a:t>عايز تلبس نفس الستايل بأكتر من طريقة؟</a:t>
            </a:r>
            <a:r>
              <a:t>
</a:t>
            </a:r>
            <a:r>
              <a:rPr sz="1275" b="0" i="0" u="none">
                <a:solidFill>
                  <a:srgbClr val="E0E0E0"/>
                </a:solidFill>
                <a:latin typeface="Cairo"/>
              </a:rPr>
              <a:t> مع قِيَمٌ، اختار القطعة اللي تغيّر اللوك كله.</a:t>
            </a:r>
            <a:r>
              <a:t>
</a:t>
            </a:r>
            <a:r>
              <a:rPr sz="1275" b="0" i="0" u="none">
                <a:solidFill>
                  <a:srgbClr val="E0E0E0"/>
                </a:solidFill>
                <a:latin typeface="Cairo"/>
              </a:rPr>
              <a:t> للجينز والستايل اليومي: جرّب Jeans SADA أو Wide-Leg Jeans.</a:t>
            </a:r>
            <a:r>
              <a:t>
</a:t>
            </a:r>
            <a:r>
              <a:rPr sz="1275" b="0" i="0" u="none">
                <a:solidFill>
                  <a:srgbClr val="E0E0E0"/>
                </a:solidFill>
                <a:latin typeface="Cairo"/>
              </a:rPr>
              <a:t> للراحة والويك إند: Sweatpant Wide Leg Qn.</a:t>
            </a:r>
            <a:r>
              <a:t>
</a:t>
            </a:r>
            <a:r>
              <a:rPr sz="1275" b="0" i="0" u="none">
                <a:solidFill>
                  <a:srgbClr val="E0E0E0"/>
                </a:solidFill>
                <a:latin typeface="Cairo"/>
              </a:rPr>
              <a:t> ولما تكمل اللوك، اختار الحذاء اللي يناسبك من Shoes Tommy أو Shoes Nike.</a:t>
            </a:r>
            <a:r>
              <a:t>
</a:t>
            </a:r>
            <a:r>
              <a:rPr sz="1275" b="0" i="0" u="none">
                <a:solidFill>
                  <a:srgbClr val="E0E0E0"/>
                </a:solidFill>
                <a:latin typeface="Cairo"/>
              </a:rPr>
              <a:t> تلات اختيارات، تلات مناسبات، وقرار أسهل.</a:t>
            </a:r>
            <a:r>
              <a:t>
</a:t>
            </a:r>
            <a:r>
              <a:rPr sz="1275" b="0" i="0" u="none">
                <a:solidFill>
                  <a:srgbClr val="E0E0E0"/>
                </a:solidFill>
                <a:latin typeface="Cairo"/>
              </a:rPr>
              <a:t> افتح Qaim.shop، شوف التفاصيل والمقاسات المتاحة، واختار لوكك من قِيَمٌ دلوقتي.</a:t>
            </a:r>
          </a:p>
        </p:txBody>
      </p:sp>
      <p:sp>
        <p:nvSpPr>
          <p:cNvPr id="15" name="TextBox 14"/>
          <p:cNvSpPr txBox="1"/>
          <p:nvPr/>
        </p:nvSpPr>
        <p:spPr>
          <a:xfrm>
            <a:off x="6524625" y="1666875"/>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TEXT ON VISUAL + CTA</a:t>
            </a:r>
          </a:p>
        </p:txBody>
      </p:sp>
      <p:sp>
        <p:nvSpPr>
          <p:cNvPr id="16" name="TextBox 15"/>
          <p:cNvSpPr txBox="1"/>
          <p:nvPr/>
        </p:nvSpPr>
        <p:spPr>
          <a:xfrm>
            <a:off x="6524625" y="1952625"/>
            <a:ext cx="4848225" cy="550366"/>
          </a:xfrm>
          <a:prstGeom prst="rect">
            <a:avLst/>
          </a:prstGeom>
          <a:noFill/>
        </p:spPr>
        <p:txBody>
          <a:bodyPr wrap="square" lIns="0" tIns="0" rIns="0" bIns="0" anchor="t">
            <a:spAutoFit/>
          </a:bodyPr>
          <a:lstStyle/>
          <a:p>
            <a:pPr algn="l">
              <a:lnSpc>
                <a:spcPts val="2167"/>
              </a:lnSpc>
            </a:pPr>
            <a:r>
              <a:rPr sz="1275" b="0" i="0" u="none">
                <a:solidFill>
                  <a:srgbClr val="CCCCCC"/>
                </a:solidFill>
                <a:latin typeface="Cairo"/>
              </a:rPr>
              <a:t>نفس الستايل؟ 3 طرق! → Daily Denim → Weekend Comfort → Finish the Look → تلات اختيارات، تلات مناسبات.</a:t>
            </a:r>
          </a:p>
        </p:txBody>
      </p:sp>
      <p:sp>
        <p:nvSpPr>
          <p:cNvPr id="17" name="TextBox 16"/>
          <p:cNvSpPr txBox="1"/>
          <p:nvPr/>
        </p:nvSpPr>
        <p:spPr>
          <a:xfrm>
            <a:off x="6524625" y="2617291"/>
            <a:ext cx="4848225"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CTA: Open Qaim.shop and choose your look by occasion.</a:t>
            </a:r>
          </a:p>
        </p:txBody>
      </p:sp>
      <p:sp>
        <p:nvSpPr>
          <p:cNvPr id="18" name="TextBox 17"/>
          <p:cNvSpPr txBox="1"/>
          <p:nvPr/>
        </p:nvSpPr>
        <p:spPr>
          <a:xfrm>
            <a:off x="6524625" y="2988766"/>
            <a:ext cx="5090636" cy="209550"/>
          </a:xfrm>
          <a:prstGeom prst="rect">
            <a:avLst/>
          </a:prstGeom>
          <a:noFill/>
        </p:spPr>
        <p:txBody>
          <a:bodyPr wrap="square" lIns="0" tIns="0" rIns="0" bIns="0" anchor="t">
            <a:spAutoFit/>
          </a:bodyPr>
          <a:lstStyle/>
          <a:p>
            <a:pPr algn="l"/>
            <a:r>
              <a:rPr sz="1350" b="1" i="0" u="none">
                <a:solidFill>
                  <a:srgbClr val="D32F2F"/>
                </a:solidFill>
                <a:latin typeface="Montserrat"/>
              </a:rPr>
              <a:t>VOICE OVER 2 — CLICK TO OPEN OR COPY</a:t>
            </a:r>
          </a:p>
        </p:txBody>
      </p:sp>
      <p:sp>
        <p:nvSpPr>
          <p:cNvPr id="19" name="TextBox 18"/>
          <p:cNvSpPr txBox="1"/>
          <p:nvPr/>
        </p:nvSpPr>
        <p:spPr>
          <a:xfrm>
            <a:off x="6524625" y="4198441"/>
            <a:ext cx="4848225" cy="857250"/>
          </a:xfrm>
          <a:prstGeom prst="rect">
            <a:avLst/>
          </a:prstGeom>
          <a:noFill/>
        </p:spPr>
        <p:txBody>
          <a:bodyPr wrap="square" lIns="0" tIns="0" rIns="0" bIns="0" anchor="t">
            <a:spAutoFit/>
          </a:bodyPr>
          <a:lstStyle/>
          <a:p>
            <a:pPr algn="l"/>
            <a:r>
              <a:rPr sz="900" b="0" i="0" u="none">
                <a:solidFill>
                  <a:srgbClr val="777777"/>
                </a:solidFill>
                <a:latin typeface="Montserrat"/>
              </a:rPr>
              <a:t>Three real-life moments, one flexible Qaim wardrobe.</a:t>
            </a:r>
            <a:r>
              <a:t>
</a:t>
            </a:r>
            <a:r>
              <a:rPr sz="900" b="0" i="0" u="none">
                <a:solidFill>
                  <a:srgbClr val="777777"/>
                </a:solidFill>
                <a:latin typeface="Montserrat"/>
              </a:rPr>
              <a:t> Choose the occasion first; let the right Qaim piece follow.</a:t>
            </a:r>
            <a:r>
              <a:t>
</a:t>
            </a:r>
            <a:r>
              <a:rPr sz="900" b="0" i="0" u="none">
                <a:solidFill>
                  <a:srgbClr val="777777"/>
                </a:solidFill>
                <a:latin typeface="Montserrat"/>
              </a:rPr>
              <a:t> Creative route: connect one Qaim product choice to three real-life occasions, then close with a direct Qaim.shop action.</a:t>
            </a:r>
            <a:r>
              <a:t>
</a:t>
            </a:r>
            <a:r>
              <a:rPr sz="900" b="0" i="0" u="none">
                <a:solidFill>
                  <a:srgbClr val="777777"/>
                </a:solidFill>
                <a:latin typeface="Montserrat"/>
              </a:rPr>
              <a:t> Format: Instagram/Facebook Reel, 9:16, 25–30 sec. KPI: saves, shares, comments, product views and website clicks. Brand pronunciation: قِيَمٌ / Qiyam.</a:t>
            </a:r>
          </a:p>
        </p:txBody>
      </p:sp>
      <p:pic>
        <p:nvPicPr>
          <p:cNvPr id="20" name="Picture 19" descr="image.png"/>
          <p:cNvPicPr>
            <a:picLocks noChangeAspect="1"/>
          </p:cNvPicPr>
          <p:nvPr/>
        </p:nvPicPr>
        <p:blipFill>
          <a:blip r:embed="rId3"/>
          <a:stretch>
            <a:fillRect/>
          </a:stretch>
        </p:blipFill>
        <p:spPr>
          <a:xfrm>
            <a:off x="6724650" y="3598366"/>
            <a:ext cx="104775" cy="133350"/>
          </a:xfrm>
          <a:prstGeom prst="rect">
            <a:avLst/>
          </a:prstGeom>
        </p:spPr>
      </p:pic>
      <p:sp>
        <p:nvSpPr>
          <p:cNvPr id="21" name="Rounded Rectangle 20">
            <a:hlinkClick r:id="rId4"/>
          </p:cNvPr>
          <p:cNvSpPr/>
          <p:nvPr/>
        </p:nvSpPr>
        <p:spPr>
          <a:xfrm>
            <a:off x="6524625" y="3369766"/>
            <a:ext cx="4848225" cy="590550"/>
          </a:xfrm>
          <a:prstGeom prst="roundRect">
            <a:avLst>
              <a:gd name="adj" fmla="val 9677"/>
            </a:avLst>
          </a:prstGeom>
          <a:solidFill>
            <a:srgbClr val="D32F2F"/>
          </a:solidFill>
          <a:ln w="9525">
            <a:solidFill>
              <a:srgbClr val="FF4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hlinkClick r:id="rId4"/>
          </p:cNvPr>
          <p:cNvSpPr txBox="1"/>
          <p:nvPr/>
        </p:nvSpPr>
        <p:spPr>
          <a:xfrm>
            <a:off x="6915150" y="3584249"/>
            <a:ext cx="4267200" cy="161583"/>
          </a:xfrm>
          <a:prstGeom prst="rect">
            <a:avLst/>
          </a:prstGeom>
          <a:noFill/>
        </p:spPr>
        <p:txBody>
          <a:bodyPr wrap="square" lIns="0" tIns="0" rIns="0" bIns="0" anchor="ctr">
            <a:spAutoFit/>
          </a:bodyPr>
          <a:lstStyle/>
          <a:p>
            <a:pPr algn="l"/>
            <a:r>
              <a:rPr lang="en-US" sz="1050" b="0" i="0" u="none" dirty="0">
                <a:solidFill>
                  <a:srgbClr val="FFFFFF"/>
                </a:solidFill>
                <a:latin typeface="Montserrat SemiBold"/>
                <a:hlinkClick r:id="rId4"/>
              </a:rPr>
              <a:t>Open / download voice_over_2_fresh_3_occasions_qiyam.wav</a:t>
            </a:r>
            <a:endParaRPr lang="en-US" sz="1050" b="0" i="0" u="none" dirty="0">
              <a:solidFill>
                <a:srgbClr val="FFFFFF"/>
              </a:solidFill>
              <a:latin typeface="Montserrat SemiBo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81025" y="295275"/>
            <a:ext cx="4629150"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17</a:t>
            </a:r>
            <a:r>
              <a:rPr sz="1050" b="0" i="0" u="none">
                <a:solidFill>
                  <a:srgbClr val="888888"/>
                </a:solidFill>
                <a:latin typeface="Montserrat SemiBold"/>
              </a:rPr>
              <a:t>/</a:t>
            </a:r>
            <a:r>
              <a:rPr sz="1050" b="0" i="0" u="none">
                <a:solidFill>
                  <a:srgbClr val="AAAAAA"/>
                </a:solidFill>
                <a:latin typeface="Montserrat SemiBold"/>
              </a:rPr>
              <a:t>TASK 2 — VOICE OVER 2 STORYBOARD</a:t>
            </a:r>
          </a:p>
        </p:txBody>
      </p:sp>
      <p:sp>
        <p:nvSpPr>
          <p:cNvPr id="3" name="TextBox 2"/>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Production Plan: One Day, Three Occasions</a:t>
            </a:r>
          </a:p>
        </p:txBody>
      </p:sp>
      <p:sp>
        <p:nvSpPr>
          <p:cNvPr id="4" name="Rectangle 3"/>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1025" y="1400175"/>
            <a:ext cx="7829550"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The storyboard turns the "three choices" idea into a clear, sound-off-friendly Reel with a direct shopping action.</a:t>
            </a:r>
          </a:p>
        </p:txBody>
      </p:sp>
      <p:graphicFrame>
        <p:nvGraphicFramePr>
          <p:cNvPr id="6" name="Table 5"/>
          <p:cNvGraphicFramePr>
            <a:graphicFrameLocks noGrp="1"/>
          </p:cNvGraphicFramePr>
          <p:nvPr/>
        </p:nvGraphicFramePr>
        <p:xfrm>
          <a:off x="581025" y="1914525"/>
          <a:ext cx="11029948" cy="4210050"/>
        </p:xfrm>
        <a:graphic>
          <a:graphicData uri="http://schemas.openxmlformats.org/drawingml/2006/table">
            <a:tbl>
              <a:tblPr firstRow="1" bandRow="1">
                <a:tableStyleId>{5C22544A-7EE6-4342-B048-85BDC9FD1C3A}</a:tableStyleId>
              </a:tblPr>
              <a:tblGrid>
                <a:gridCol w="1102965">
                  <a:extLst>
                    <a:ext uri="{9D8B030D-6E8A-4147-A177-3AD203B41FA5}">
                      <a16:colId xmlns:a16="http://schemas.microsoft.com/office/drawing/2014/main" val="20000"/>
                    </a:ext>
                  </a:extLst>
                </a:gridCol>
                <a:gridCol w="3860452">
                  <a:extLst>
                    <a:ext uri="{9D8B030D-6E8A-4147-A177-3AD203B41FA5}">
                      <a16:colId xmlns:a16="http://schemas.microsoft.com/office/drawing/2014/main" val="20001"/>
                    </a:ext>
                  </a:extLst>
                </a:gridCol>
                <a:gridCol w="2757487">
                  <a:extLst>
                    <a:ext uri="{9D8B030D-6E8A-4147-A177-3AD203B41FA5}">
                      <a16:colId xmlns:a16="http://schemas.microsoft.com/office/drawing/2014/main" val="20002"/>
                    </a:ext>
                  </a:extLst>
                </a:gridCol>
                <a:gridCol w="3309044">
                  <a:extLst>
                    <a:ext uri="{9D8B030D-6E8A-4147-A177-3AD203B41FA5}">
                      <a16:colId xmlns:a16="http://schemas.microsoft.com/office/drawing/2014/main" val="20003"/>
                    </a:ext>
                  </a:extLst>
                </a:gridCol>
              </a:tblGrid>
              <a:tr h="601435">
                <a:tc>
                  <a:txBody>
                    <a:bodyPr/>
                    <a:lstStyle/>
                    <a:p>
                      <a:pPr algn="l"/>
                      <a:r>
                        <a:rPr sz="975" b="1" i="0" u="none">
                          <a:solidFill>
                            <a:srgbClr val="FFFFFF"/>
                          </a:solidFill>
                          <a:latin typeface="Montserrat"/>
                        </a:rPr>
                        <a:t>TIME</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VISUAL / SHOT</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TEXT ON VISUAL</a:t>
                      </a:r>
                    </a:p>
                  </a:txBody>
                  <a:tcPr marL="63500" marR="63500" marT="25400" marB="25400" anchor="ctr">
                    <a:lnL>
                      <a:noFill/>
                    </a:lnL>
                    <a:lnR>
                      <a:noFill/>
                    </a:lnR>
                    <a:lnT>
                      <a:noFill/>
                    </a:lnT>
                    <a:lnB>
                      <a:noFill/>
                    </a:lnB>
                    <a:solidFill>
                      <a:srgbClr val="D32F2F"/>
                    </a:solidFill>
                  </a:tcPr>
                </a:tc>
                <a:tc>
                  <a:txBody>
                    <a:bodyPr/>
                    <a:lstStyle/>
                    <a:p>
                      <a:pPr algn="l"/>
                      <a:r>
                        <a:rPr sz="975" b="1" i="0" u="none">
                          <a:solidFill>
                            <a:srgbClr val="FFFFFF"/>
                          </a:solidFill>
                          <a:latin typeface="Montserrat"/>
                        </a:rPr>
                        <a:t>VOICE + EXECUTION</a:t>
                      </a:r>
                    </a:p>
                  </a:txBody>
                  <a:tcPr marL="63500" marR="63500" marT="25400" marB="25400" anchor="ctr">
                    <a:lnL>
                      <a:noFill/>
                    </a:lnL>
                    <a:lnR>
                      <a:noFill/>
                    </a:lnR>
                    <a:lnT>
                      <a:noFill/>
                    </a:lnT>
                    <a:lnB>
                      <a:noFill/>
                    </a:lnB>
                    <a:solidFill>
                      <a:srgbClr val="D32F2F"/>
                    </a:solidFill>
                  </a:tcPr>
                </a:tc>
                <a:extLst>
                  <a:ext uri="{0D108BD9-81ED-4DB2-BD59-A6C34878D82A}">
                    <a16:rowId xmlns:a16="http://schemas.microsoft.com/office/drawing/2014/main" val="10000"/>
                  </a:ext>
                </a:extLst>
              </a:tr>
              <a:tr h="601435">
                <a:tc>
                  <a:txBody>
                    <a:bodyPr/>
                    <a:lstStyle/>
                    <a:p>
                      <a:pPr algn="l"/>
                      <a:r>
                        <a:rPr sz="1050" b="0" i="0" u="none">
                          <a:solidFill>
                            <a:srgbClr val="CCCCCC"/>
                          </a:solidFill>
                          <a:latin typeface="Montserrat"/>
                        </a:rPr>
                        <a:t>0:00–0:03</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Hook: one man stands between three outfit directions; quick snap transition.</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نفس الستايل؟ 3 طرق!</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عايز تلبس نفس الستايل بأكتر من طريقة؟ Cut exactly on the question to create immediate curiosity.</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1"/>
                  </a:ext>
                </a:extLst>
              </a:tr>
              <a:tr h="601435">
                <a:tc>
                  <a:txBody>
                    <a:bodyPr/>
                    <a:lstStyle/>
                    <a:p>
                      <a:pPr algn="l"/>
                      <a:r>
                        <a:rPr sz="1050" b="0" i="0" u="none">
                          <a:solidFill>
                            <a:srgbClr val="CCCCCC"/>
                          </a:solidFill>
                          <a:latin typeface="Montserrat"/>
                        </a:rPr>
                        <a:t>0:03–0:08</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Look 01: Jeans SADA or Wide-Leg Jeans with a simple top.</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01 / Daily Denim</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للستايل اليومي… Keep the product name editable and show the fit clearly.</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2"/>
                  </a:ext>
                </a:extLst>
              </a:tr>
              <a:tr h="601435">
                <a:tc>
                  <a:txBody>
                    <a:bodyPr/>
                    <a:lstStyle/>
                    <a:p>
                      <a:pPr algn="l"/>
                      <a:r>
                        <a:rPr sz="1050" b="0" i="0" u="none">
                          <a:solidFill>
                            <a:srgbClr val="CCCCCC"/>
                          </a:solidFill>
                          <a:latin typeface="Montserrat"/>
                        </a:rPr>
                        <a:t>0:08–0:13</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Look 02: Sweatpant Wide Leg Qn in a relaxed weekend setting.</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02 / Weekend Comfort</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للراحة والويك إند… Use a smooth room-to-street transition without unsupported performance claims.</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3"/>
                  </a:ext>
                </a:extLst>
              </a:tr>
              <a:tr h="601435">
                <a:tc>
                  <a:txBody>
                    <a:bodyPr/>
                    <a:lstStyle/>
                    <a:p>
                      <a:pPr algn="l"/>
                      <a:r>
                        <a:rPr sz="1050" b="0" i="0" u="none">
                          <a:solidFill>
                            <a:srgbClr val="CCCCCC"/>
                          </a:solidFill>
                          <a:latin typeface="Montserrat"/>
                        </a:rPr>
                        <a:t>0:13–0:18</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Look 03: Shoes Tommy or Shoes Nike as the finishing selection.</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03 / Finish the Look</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ولما تكمل اللوك… Show two quick product crops, then select one based on the occasion.</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4"/>
                  </a:ext>
                </a:extLst>
              </a:tr>
              <a:tr h="601435">
                <a:tc>
                  <a:txBody>
                    <a:bodyPr/>
                    <a:lstStyle/>
                    <a:p>
                      <a:pPr algn="l"/>
                      <a:r>
                        <a:rPr sz="1050" b="0" i="0" u="none">
                          <a:solidFill>
                            <a:srgbClr val="CCCCCC"/>
                          </a:solidFill>
                          <a:latin typeface="Montserrat"/>
                        </a:rPr>
                        <a:t>0:18–0:24</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Choice board: three columns with Daily / Weekend / Shoes.</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تلات اختيارات، تلات مناسبات</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تلات اختيارات، تلات مناسبات، وقرار أسهل. Add one subtle click sound per column.</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5"/>
                  </a:ext>
                </a:extLst>
              </a:tr>
              <a:tr h="601440">
                <a:tc>
                  <a:txBody>
                    <a:bodyPr/>
                    <a:lstStyle/>
                    <a:p>
                      <a:pPr algn="l"/>
                      <a:r>
                        <a:rPr sz="1050" b="0" i="0" u="none">
                          <a:solidFill>
                            <a:srgbClr val="CCCCCC"/>
                          </a:solidFill>
                          <a:latin typeface="Montserrat"/>
                        </a:rPr>
                        <a:t>0:24–0:30</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CTA: Qaim.shop page and brand end frame.</a:t>
                      </a:r>
                    </a:p>
                  </a:txBody>
                  <a:tcPr marL="63500" marR="63500" marT="25400" marB="25400" anchor="ctr">
                    <a:lnL>
                      <a:noFill/>
                    </a:lnL>
                    <a:lnR>
                      <a:noFill/>
                    </a:lnR>
                    <a:lnT>
                      <a:noFill/>
                    </a:lnT>
                    <a:lnB>
                      <a:noFill/>
                    </a:lnB>
                    <a:solidFill>
                      <a:srgbClr val="1A1A1A"/>
                    </a:solidFill>
                  </a:tcPr>
                </a:tc>
                <a:tc>
                  <a:txBody>
                    <a:bodyPr/>
                    <a:lstStyle/>
                    <a:p>
                      <a:pPr algn="r"/>
                      <a:r>
                        <a:rPr sz="1275" b="0" i="0" u="none">
                          <a:solidFill>
                            <a:srgbClr val="CCCCCC"/>
                          </a:solidFill>
                          <a:latin typeface="Cairo"/>
                        </a:rPr>
                        <a:t>اختار لوكك من قِيَمٌ</a:t>
                      </a:r>
                    </a:p>
                  </a:txBody>
                  <a:tcPr marL="63500" marR="63500" marT="25400" marB="25400" anchor="ctr">
                    <a:lnL>
                      <a:noFill/>
                    </a:lnL>
                    <a:lnR>
                      <a:noFill/>
                    </a:lnR>
                    <a:lnT>
                      <a:noFill/>
                    </a:lnT>
                    <a:lnB>
                      <a:noFill/>
                    </a:lnB>
                    <a:solidFill>
                      <a:srgbClr val="1A1A1A"/>
                    </a:solidFill>
                  </a:tcPr>
                </a:tc>
                <a:tc>
                  <a:txBody>
                    <a:bodyPr/>
                    <a:lstStyle/>
                    <a:p>
                      <a:pPr algn="l"/>
                      <a:r>
                        <a:rPr sz="1050" b="0" i="0" u="none">
                          <a:solidFill>
                            <a:srgbClr val="CCCCCC"/>
                          </a:solidFill>
                          <a:latin typeface="Montserrat"/>
                        </a:rPr>
                        <a:t>Voice: افتح Qaim.shop… Confirm live product details and pronounce قِيَمٌ clearly.</a:t>
                      </a:r>
                    </a:p>
                  </a:txBody>
                  <a:tcPr marL="63500" marR="63500" marT="25400" marB="25400" anchor="ctr">
                    <a:lnL>
                      <a:noFill/>
                    </a:lnL>
                    <a:lnR>
                      <a:noFill/>
                    </a:lnR>
                    <a:lnT>
                      <a:noFill/>
                    </a:lnT>
                    <a:lnB>
                      <a:noFill/>
                    </a:lnB>
                    <a:solidFill>
                      <a:srgbClr val="1A1A1A"/>
                    </a:solidFill>
                  </a:tcPr>
                </a:tc>
                <a:extLst>
                  <a:ext uri="{0D108BD9-81ED-4DB2-BD59-A6C34878D82A}">
                    <a16:rowId xmlns:a16="http://schemas.microsoft.com/office/drawing/2014/main" val="10006"/>
                  </a:ext>
                </a:extLst>
              </a:tr>
            </a:tbl>
          </a:graphicData>
        </a:graphic>
      </p:graphicFrame>
      <p:sp>
        <p:nvSpPr>
          <p:cNvPr id="7" name="TextBox 6"/>
          <p:cNvSpPr txBox="1"/>
          <p:nvPr/>
        </p:nvSpPr>
        <p:spPr>
          <a:xfrm>
            <a:off x="581025" y="6410325"/>
            <a:ext cx="11029950" cy="428625"/>
          </a:xfrm>
          <a:prstGeom prst="rect">
            <a:avLst/>
          </a:prstGeom>
          <a:noFill/>
        </p:spPr>
        <p:txBody>
          <a:bodyPr wrap="square" lIns="0" tIns="0" rIns="0" bIns="0" anchor="t">
            <a:spAutoFit/>
          </a:bodyPr>
          <a:lstStyle/>
          <a:p>
            <a:pPr algn="l"/>
            <a:r>
              <a:rPr sz="900" b="0" i="0" u="none">
                <a:solidFill>
                  <a:srgbClr val="777777"/>
                </a:solidFill>
                <a:latin typeface="Montserrat"/>
              </a:rPr>
              <a:t>Production rule: AI may create transitions and settings, but Qaim product names, shapes, prices, stock and sizes must remain faithful to the live product page. KPI: completion rate, saves, product views and website clicks.</a:t>
            </a:r>
            <a:r>
              <a:t>
</a:t>
            </a:r>
            <a:r>
              <a:rPr sz="900" b="0" i="0" u="none">
                <a:solidFill>
                  <a:srgbClr val="777777"/>
                </a:solidFill>
                <a:latin typeface="Montserrat"/>
              </a:rPr>
              <a:t> A clear choice journey moves the viewer from occasion to product page.</a:t>
            </a:r>
          </a:p>
        </p:txBody>
      </p:sp>
      <p:sp>
        <p:nvSpPr>
          <p:cNvPr id="8" name="Rectangle 7"/>
          <p:cNvSpPr/>
          <p:nvPr/>
        </p:nvSpPr>
        <p:spPr>
          <a:xfrm>
            <a:off x="581025" y="303371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683990" y="303371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544442" y="303371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301930" y="303371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581025" y="361473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683990" y="361473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544442" y="361473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01930" y="361473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81025" y="436721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683990" y="436721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544442" y="436721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301930" y="436721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81025" y="494823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683990" y="494823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544442" y="494823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301930" y="494823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81025" y="5529262"/>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683990" y="5529262"/>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544442" y="5529262"/>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301930" y="5529262"/>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81025" y="6110287"/>
            <a:ext cx="1102965"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683990" y="6110287"/>
            <a:ext cx="3860452"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544442" y="6110287"/>
            <a:ext cx="2757487"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8301930" y="6110287"/>
            <a:ext cx="3309044" cy="9525"/>
          </a:xfrm>
          <a:prstGeom prst="rect">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81025" y="295275"/>
            <a:ext cx="2609850"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18</a:t>
            </a:r>
            <a:r>
              <a:rPr sz="1050" b="0" i="0" u="none">
                <a:solidFill>
                  <a:srgbClr val="888888"/>
                </a:solidFill>
                <a:latin typeface="Montserrat SemiBold"/>
              </a:rPr>
              <a:t>/</a:t>
            </a:r>
            <a:r>
              <a:rPr sz="1050" b="0" i="0" u="none">
                <a:solidFill>
                  <a:srgbClr val="AAAAAA"/>
                </a:solidFill>
                <a:latin typeface="Montserrat SemiBold"/>
              </a:rPr>
              <a:t>AI CAROUSEL 1</a:t>
            </a:r>
          </a:p>
        </p:txBody>
      </p:sp>
      <p:sp>
        <p:nvSpPr>
          <p:cNvPr id="3" name="TextBox 2"/>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One Complete Look — Six Frames That Sell the Story</a:t>
            </a:r>
          </a:p>
        </p:txBody>
      </p:sp>
      <p:sp>
        <p:nvSpPr>
          <p:cNvPr id="4" name="Rectangle 3"/>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1025" y="1558081"/>
            <a:ext cx="5685532"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One hero creative; the carousel uses product detail crops only when needed.</a:t>
            </a:r>
          </a:p>
        </p:txBody>
      </p:sp>
      <p:sp>
        <p:nvSpPr>
          <p:cNvPr id="6" name="TextBox 5"/>
          <p:cNvSpPr txBox="1"/>
          <p:nvPr/>
        </p:nvSpPr>
        <p:spPr>
          <a:xfrm>
            <a:off x="581025" y="2167681"/>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OBJECTIVE</a:t>
            </a:r>
          </a:p>
        </p:txBody>
      </p:sp>
      <p:sp>
        <p:nvSpPr>
          <p:cNvPr id="7" name="TextBox 6"/>
          <p:cNvSpPr txBox="1"/>
          <p:nvPr/>
        </p:nvSpPr>
        <p:spPr>
          <a:xfrm>
            <a:off x="581025" y="2453431"/>
            <a:ext cx="5685532"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Move the audience from product discovery to styling imagination and saves.</a:t>
            </a:r>
          </a:p>
        </p:txBody>
      </p:sp>
      <p:sp>
        <p:nvSpPr>
          <p:cNvPr id="8" name="TextBox 7"/>
          <p:cNvSpPr txBox="1"/>
          <p:nvPr/>
        </p:nvSpPr>
        <p:spPr>
          <a:xfrm>
            <a:off x="581025" y="2939206"/>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PRODUCT ANCHOR</a:t>
            </a:r>
          </a:p>
        </p:txBody>
      </p:sp>
      <p:sp>
        <p:nvSpPr>
          <p:cNvPr id="9" name="TextBox 8"/>
          <p:cNvSpPr txBox="1"/>
          <p:nvPr/>
        </p:nvSpPr>
        <p:spPr>
          <a:xfrm>
            <a:off x="581025" y="3224956"/>
            <a:ext cx="5685532" cy="4572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Navy polo + ice-blue jeans + navy shoes, based on the Qaim reference supplied in the campaign material.</a:t>
            </a:r>
          </a:p>
        </p:txBody>
      </p:sp>
      <p:sp>
        <p:nvSpPr>
          <p:cNvPr id="10" name="TextBox 9"/>
          <p:cNvSpPr txBox="1"/>
          <p:nvPr/>
        </p:nvSpPr>
        <p:spPr>
          <a:xfrm>
            <a:off x="581025" y="3939331"/>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6-FRAME SEQUENCE</a:t>
            </a:r>
          </a:p>
        </p:txBody>
      </p:sp>
      <p:sp>
        <p:nvSpPr>
          <p:cNvPr id="11" name="TextBox 10"/>
          <p:cNvSpPr txBox="1"/>
          <p:nvPr/>
        </p:nvSpPr>
        <p:spPr>
          <a:xfrm>
            <a:off x="581025" y="4225081"/>
            <a:ext cx="5685532" cy="1651099"/>
          </a:xfrm>
          <a:prstGeom prst="rect">
            <a:avLst/>
          </a:prstGeom>
          <a:noFill/>
        </p:spPr>
        <p:txBody>
          <a:bodyPr wrap="square" lIns="0" tIns="0" rIns="0" bIns="0" anchor="t">
            <a:spAutoFit/>
          </a:bodyPr>
          <a:lstStyle/>
          <a:p>
            <a:pPr algn="r">
              <a:lnSpc>
                <a:spcPts val="2167"/>
              </a:lnSpc>
            </a:pPr>
            <a:r>
              <a:rPr sz="1275" b="0" i="0" u="none">
                <a:solidFill>
                  <a:srgbClr val="E0E0E0"/>
                </a:solidFill>
                <a:latin typeface="Cairo"/>
              </a:rPr>
              <a:t>1: طقم كامل من مكان واحد.</a:t>
            </a:r>
            <a:r>
              <a:t>
</a:t>
            </a:r>
            <a:r>
              <a:rPr sz="1275" b="0" i="0" u="none">
                <a:solidFill>
                  <a:srgbClr val="E0E0E0"/>
                </a:solidFill>
                <a:latin typeface="Cairo"/>
              </a:rPr>
              <a:t> 2: البولو يثبت اللوك.</a:t>
            </a:r>
            <a:r>
              <a:t>
</a:t>
            </a:r>
            <a:r>
              <a:rPr sz="1275" b="0" i="0" u="none">
                <a:solidFill>
                  <a:srgbClr val="E0E0E0"/>
                </a:solidFill>
                <a:latin typeface="Cairo"/>
              </a:rPr>
              <a:t> 3: الجينز يضيف التباين.</a:t>
            </a:r>
            <a:r>
              <a:t>
</a:t>
            </a:r>
            <a:r>
              <a:rPr sz="1275" b="0" i="0" u="none">
                <a:solidFill>
                  <a:srgbClr val="E0E0E0"/>
                </a:solidFill>
                <a:latin typeface="Cairo"/>
              </a:rPr>
              <a:t> 4: الحذاء يكمل الألوان.</a:t>
            </a:r>
            <a:r>
              <a:t>
</a:t>
            </a:r>
            <a:r>
              <a:rPr sz="1275" b="0" i="0" u="none">
                <a:solidFill>
                  <a:srgbClr val="E0E0E0"/>
                </a:solidFill>
                <a:latin typeface="Cairo"/>
              </a:rPr>
              <a:t> 5: للمشوار والخروجة والويك إند.</a:t>
            </a:r>
            <a:r>
              <a:t>
</a:t>
            </a:r>
            <a:r>
              <a:rPr sz="1275" b="0" i="0" u="none">
                <a:solidFill>
                  <a:srgbClr val="E0E0E0"/>
                </a:solidFill>
                <a:latin typeface="Cairo"/>
              </a:rPr>
              <a:t> 6: شوف القطع المتاحة على Qaim.shop.</a:t>
            </a:r>
          </a:p>
        </p:txBody>
      </p:sp>
      <p:sp>
        <p:nvSpPr>
          <p:cNvPr id="12" name="TextBox 11"/>
          <p:cNvSpPr txBox="1"/>
          <p:nvPr/>
        </p:nvSpPr>
        <p:spPr>
          <a:xfrm>
            <a:off x="581025" y="6161930"/>
            <a:ext cx="5969808" cy="209550"/>
          </a:xfrm>
          <a:prstGeom prst="rect">
            <a:avLst/>
          </a:prstGeom>
          <a:noFill/>
        </p:spPr>
        <p:txBody>
          <a:bodyPr wrap="square" lIns="0" tIns="0" rIns="0" bIns="0" anchor="t">
            <a:spAutoFit/>
          </a:bodyPr>
          <a:lstStyle/>
          <a:p>
            <a:pPr algn="l"/>
            <a:r>
              <a:rPr sz="1350" b="1" i="0" u="none">
                <a:solidFill>
                  <a:srgbClr val="D32F2F"/>
                </a:solidFill>
                <a:latin typeface="Montserrat"/>
              </a:rPr>
              <a:t>ENGAGEMENT</a:t>
            </a:r>
          </a:p>
        </p:txBody>
      </p:sp>
      <p:sp>
        <p:nvSpPr>
          <p:cNvPr id="13" name="TextBox 12"/>
          <p:cNvSpPr txBox="1"/>
          <p:nvPr/>
        </p:nvSpPr>
        <p:spPr>
          <a:xfrm>
            <a:off x="581025" y="6447680"/>
            <a:ext cx="5685532" cy="410319"/>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CTA: Casual ولا Smart Casual ولا Weekend؟ اكتب اختيارك واحفظ البوست.</a:t>
            </a:r>
            <a:r>
              <a:t>
</a:t>
            </a:r>
            <a:r>
              <a:rPr sz="1125" b="0" i="0" u="none">
                <a:solidFill>
                  <a:srgbClr val="CCCCCC"/>
                </a:solidFill>
                <a:latin typeface="Montserrat"/>
              </a:rPr>
              <a:t> KPIs: saves, comments, shares, product views and website clicks.</a:t>
            </a:r>
          </a:p>
        </p:txBody>
      </p:sp>
      <p:pic>
        <p:nvPicPr>
          <p:cNvPr id="14" name="Picture 13" descr="image.png"/>
          <p:cNvPicPr>
            <a:picLocks noChangeAspect="1"/>
          </p:cNvPicPr>
          <p:nvPr/>
        </p:nvPicPr>
        <p:blipFill>
          <a:blip r:embed="rId2"/>
          <a:stretch>
            <a:fillRect/>
          </a:stretch>
        </p:blipFill>
        <p:spPr>
          <a:xfrm>
            <a:off x="6647557" y="1400175"/>
            <a:ext cx="4963417" cy="57912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771650"/>
            <a:ext cx="3517850" cy="5474196"/>
          </a:xfrm>
          <a:prstGeom prst="rect">
            <a:avLst/>
          </a:prstGeom>
        </p:spPr>
      </p:pic>
      <p:pic>
        <p:nvPicPr>
          <p:cNvPr id="3" name="Picture 2" descr="image.png"/>
          <p:cNvPicPr>
            <a:picLocks noChangeAspect="1"/>
          </p:cNvPicPr>
          <p:nvPr/>
        </p:nvPicPr>
        <p:blipFill>
          <a:blip r:embed="rId2"/>
          <a:stretch>
            <a:fillRect/>
          </a:stretch>
        </p:blipFill>
        <p:spPr>
          <a:xfrm>
            <a:off x="4337000" y="1771650"/>
            <a:ext cx="3517850" cy="5474196"/>
          </a:xfrm>
          <a:prstGeom prst="rect">
            <a:avLst/>
          </a:prstGeom>
        </p:spPr>
      </p:pic>
      <p:pic>
        <p:nvPicPr>
          <p:cNvPr id="4" name="Picture 3" descr="image.png"/>
          <p:cNvPicPr>
            <a:picLocks noChangeAspect="1"/>
          </p:cNvPicPr>
          <p:nvPr/>
        </p:nvPicPr>
        <p:blipFill>
          <a:blip r:embed="rId2"/>
          <a:stretch>
            <a:fillRect/>
          </a:stretch>
        </p:blipFill>
        <p:spPr>
          <a:xfrm>
            <a:off x="8092975" y="1771650"/>
            <a:ext cx="3517999" cy="5474196"/>
          </a:xfrm>
          <a:prstGeom prst="rect">
            <a:avLst/>
          </a:prstGeom>
        </p:spPr>
      </p:pic>
      <p:sp>
        <p:nvSpPr>
          <p:cNvPr id="5" name="TextBox 4"/>
          <p:cNvSpPr txBox="1"/>
          <p:nvPr/>
        </p:nvSpPr>
        <p:spPr>
          <a:xfrm>
            <a:off x="581025" y="295275"/>
            <a:ext cx="3457575"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19</a:t>
            </a:r>
            <a:r>
              <a:rPr sz="1050" b="0" i="0" u="none">
                <a:solidFill>
                  <a:srgbClr val="888888"/>
                </a:solidFill>
                <a:latin typeface="Montserrat SemiBold"/>
              </a:rPr>
              <a:t>/</a:t>
            </a:r>
            <a:r>
              <a:rPr sz="1050" b="0" i="0" u="none">
                <a:solidFill>
                  <a:srgbClr val="AAAAAA"/>
                </a:solidFill>
                <a:latin typeface="Montserrat SemiBold"/>
              </a:rPr>
              <a:t>TASK 2 — AI CAROUSEL 1</a:t>
            </a:r>
          </a:p>
        </p:txBody>
      </p:sp>
      <p:sp>
        <p:nvSpPr>
          <p:cNvPr id="6" name="TextBox 5"/>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Carousel 1: Build a Complete Qaim Look, One Piece at a Time</a:t>
            </a:r>
          </a:p>
        </p:txBody>
      </p:sp>
      <p:sp>
        <p:nvSpPr>
          <p:cNvPr id="7" name="Rectangle 6"/>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1025" y="1400175"/>
            <a:ext cx="7038975"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A saveable styling guide that turns product discovery into a simple outfit decision for Egyptian men.</a:t>
            </a:r>
          </a:p>
        </p:txBody>
      </p:sp>
      <p:sp>
        <p:nvSpPr>
          <p:cNvPr id="9" name="TextBox 8"/>
          <p:cNvSpPr txBox="1"/>
          <p:nvPr/>
        </p:nvSpPr>
        <p:spPr>
          <a:xfrm>
            <a:off x="771525" y="1990725"/>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OBJECTIVE</a:t>
            </a:r>
          </a:p>
        </p:txBody>
      </p:sp>
      <p:sp>
        <p:nvSpPr>
          <p:cNvPr id="10" name="TextBox 9"/>
          <p:cNvSpPr txBox="1"/>
          <p:nvPr/>
        </p:nvSpPr>
        <p:spPr>
          <a:xfrm>
            <a:off x="771525" y="2219325"/>
            <a:ext cx="3136850" cy="822721"/>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Move the audience from seeing a product to imagining a complete Qaim look, then encourage saves, comments and product-page visits.</a:t>
            </a:r>
          </a:p>
        </p:txBody>
      </p:sp>
      <p:sp>
        <p:nvSpPr>
          <p:cNvPr id="11" name="TextBox 10"/>
          <p:cNvSpPr txBox="1"/>
          <p:nvPr/>
        </p:nvSpPr>
        <p:spPr>
          <a:xfrm>
            <a:off x="771525" y="3213496"/>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AUDIENCE</a:t>
            </a:r>
          </a:p>
        </p:txBody>
      </p:sp>
      <p:sp>
        <p:nvSpPr>
          <p:cNvPr id="12" name="TextBox 11"/>
          <p:cNvSpPr txBox="1"/>
          <p:nvPr/>
        </p:nvSpPr>
        <p:spPr>
          <a:xfrm>
            <a:off x="771525" y="3442096"/>
            <a:ext cx="3136850" cy="617041"/>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Egyptian men aged 18–35 who want a clean casual outfit for an outing, café visit or weekend plan.</a:t>
            </a:r>
          </a:p>
        </p:txBody>
      </p:sp>
      <p:sp>
        <p:nvSpPr>
          <p:cNvPr id="13" name="TextBox 12"/>
          <p:cNvSpPr txBox="1"/>
          <p:nvPr/>
        </p:nvSpPr>
        <p:spPr>
          <a:xfrm>
            <a:off x="771525" y="4230588"/>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TACTIC LINK</a:t>
            </a:r>
          </a:p>
        </p:txBody>
      </p:sp>
      <p:sp>
        <p:nvSpPr>
          <p:cNvPr id="14" name="TextBox 13"/>
          <p:cNvSpPr txBox="1"/>
          <p:nvPr/>
        </p:nvSpPr>
        <p:spPr>
          <a:xfrm>
            <a:off x="771525" y="4459188"/>
            <a:ext cx="3136850" cy="617041"/>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Styling / Imagine tactic: complements Voice Over 1 by converting the "complete look" idea into a six-frame visual guide.</a:t>
            </a:r>
          </a:p>
        </p:txBody>
      </p:sp>
      <p:sp>
        <p:nvSpPr>
          <p:cNvPr id="15" name="TextBox 14"/>
          <p:cNvSpPr txBox="1"/>
          <p:nvPr/>
        </p:nvSpPr>
        <p:spPr>
          <a:xfrm>
            <a:off x="771525" y="5247679"/>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1 / HOOK</a:t>
            </a:r>
          </a:p>
        </p:txBody>
      </p:sp>
      <p:sp>
        <p:nvSpPr>
          <p:cNvPr id="16" name="TextBox 15"/>
          <p:cNvSpPr txBox="1"/>
          <p:nvPr/>
        </p:nvSpPr>
        <p:spPr>
          <a:xfrm>
            <a:off x="771525" y="5476279"/>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طقم كامل في مكان واحد؟</a:t>
            </a:r>
          </a:p>
        </p:txBody>
      </p:sp>
      <p:sp>
        <p:nvSpPr>
          <p:cNvPr id="17" name="TextBox 16"/>
          <p:cNvSpPr txBox="1"/>
          <p:nvPr/>
        </p:nvSpPr>
        <p:spPr>
          <a:xfrm>
            <a:off x="771525" y="5719167"/>
            <a:ext cx="3136850" cy="411360"/>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stop the scroll and introduce the styling problem.</a:t>
            </a:r>
          </a:p>
        </p:txBody>
      </p:sp>
      <p:sp>
        <p:nvSpPr>
          <p:cNvPr id="18" name="TextBox 17"/>
          <p:cNvSpPr txBox="1"/>
          <p:nvPr/>
        </p:nvSpPr>
        <p:spPr>
          <a:xfrm>
            <a:off x="771525" y="6301978"/>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2 / TOP</a:t>
            </a:r>
          </a:p>
        </p:txBody>
      </p:sp>
      <p:sp>
        <p:nvSpPr>
          <p:cNvPr id="19" name="TextBox 18"/>
          <p:cNvSpPr txBox="1"/>
          <p:nvPr/>
        </p:nvSpPr>
        <p:spPr>
          <a:xfrm>
            <a:off x="771525" y="6530578"/>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بولو كحلي — ابدأ بالقطعة الأساسية.</a:t>
            </a:r>
          </a:p>
        </p:txBody>
      </p:sp>
      <p:sp>
        <p:nvSpPr>
          <p:cNvPr id="20" name="TextBox 19"/>
          <p:cNvSpPr txBox="1"/>
          <p:nvPr/>
        </p:nvSpPr>
        <p:spPr>
          <a:xfrm>
            <a:off x="771525" y="6773465"/>
            <a:ext cx="3136850" cy="84534"/>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establish the navy colour anchor.</a:t>
            </a:r>
          </a:p>
        </p:txBody>
      </p:sp>
      <p:sp>
        <p:nvSpPr>
          <p:cNvPr id="21" name="TextBox 20"/>
          <p:cNvSpPr txBox="1"/>
          <p:nvPr/>
        </p:nvSpPr>
        <p:spPr>
          <a:xfrm>
            <a:off x="4527500" y="1990725"/>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3 / BOTTOM</a:t>
            </a:r>
          </a:p>
        </p:txBody>
      </p:sp>
      <p:sp>
        <p:nvSpPr>
          <p:cNvPr id="22" name="TextBox 21"/>
          <p:cNvSpPr txBox="1"/>
          <p:nvPr/>
        </p:nvSpPr>
        <p:spPr>
          <a:xfrm>
            <a:off x="4527500" y="2219325"/>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جينز Ice Blue — اعمل تباين خفيف.</a:t>
            </a:r>
          </a:p>
        </p:txBody>
      </p:sp>
      <p:sp>
        <p:nvSpPr>
          <p:cNvPr id="23" name="TextBox 22"/>
          <p:cNvSpPr txBox="1"/>
          <p:nvPr/>
        </p:nvSpPr>
        <p:spPr>
          <a:xfrm>
            <a:off x="4527500" y="2462212"/>
            <a:ext cx="3136850" cy="411360"/>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show contrast and everyday wearability.</a:t>
            </a:r>
          </a:p>
        </p:txBody>
      </p:sp>
      <p:sp>
        <p:nvSpPr>
          <p:cNvPr id="24" name="TextBox 23"/>
          <p:cNvSpPr txBox="1"/>
          <p:nvPr/>
        </p:nvSpPr>
        <p:spPr>
          <a:xfrm>
            <a:off x="4527500" y="3045023"/>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4 / SHOES</a:t>
            </a:r>
          </a:p>
        </p:txBody>
      </p:sp>
      <p:sp>
        <p:nvSpPr>
          <p:cNvPr id="25" name="TextBox 24"/>
          <p:cNvSpPr txBox="1"/>
          <p:nvPr/>
        </p:nvSpPr>
        <p:spPr>
          <a:xfrm>
            <a:off x="4527500" y="3273623"/>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كوتشي كحلي — اقفل اللوك بتفصيلة واحدة.</a:t>
            </a:r>
          </a:p>
        </p:txBody>
      </p:sp>
      <p:sp>
        <p:nvSpPr>
          <p:cNvPr id="26" name="TextBox 25"/>
          <p:cNvSpPr txBox="1"/>
          <p:nvPr/>
        </p:nvSpPr>
        <p:spPr>
          <a:xfrm>
            <a:off x="4527500" y="3516510"/>
            <a:ext cx="3136850" cy="411360"/>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complete the outfit without over-styling.</a:t>
            </a:r>
          </a:p>
        </p:txBody>
      </p:sp>
      <p:sp>
        <p:nvSpPr>
          <p:cNvPr id="27" name="TextBox 26"/>
          <p:cNvSpPr txBox="1"/>
          <p:nvPr/>
        </p:nvSpPr>
        <p:spPr>
          <a:xfrm>
            <a:off x="4527500" y="4099321"/>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5 / USE CASE</a:t>
            </a:r>
          </a:p>
        </p:txBody>
      </p:sp>
      <p:sp>
        <p:nvSpPr>
          <p:cNvPr id="28" name="TextBox 27"/>
          <p:cNvSpPr txBox="1"/>
          <p:nvPr/>
        </p:nvSpPr>
        <p:spPr>
          <a:xfrm>
            <a:off x="4527500" y="4327921"/>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للمشوار، الخروجة، وقعدة الويك إند.</a:t>
            </a:r>
          </a:p>
        </p:txBody>
      </p:sp>
      <p:sp>
        <p:nvSpPr>
          <p:cNvPr id="29" name="TextBox 28"/>
          <p:cNvSpPr txBox="1"/>
          <p:nvPr/>
        </p:nvSpPr>
        <p:spPr>
          <a:xfrm>
            <a:off x="4527500" y="4570809"/>
            <a:ext cx="3136850" cy="411360"/>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make the look relevant to real Egyptian occasions.</a:t>
            </a:r>
          </a:p>
        </p:txBody>
      </p:sp>
      <p:sp>
        <p:nvSpPr>
          <p:cNvPr id="30" name="TextBox 29"/>
          <p:cNvSpPr txBox="1"/>
          <p:nvPr/>
        </p:nvSpPr>
        <p:spPr>
          <a:xfrm>
            <a:off x="4527500" y="5153620"/>
            <a:ext cx="3293692" cy="180975"/>
          </a:xfrm>
          <a:prstGeom prst="rect">
            <a:avLst/>
          </a:prstGeom>
          <a:noFill/>
        </p:spPr>
        <p:txBody>
          <a:bodyPr wrap="square" lIns="0" tIns="0" rIns="0" bIns="0" anchor="t">
            <a:spAutoFit/>
          </a:bodyPr>
          <a:lstStyle/>
          <a:p>
            <a:pPr algn="l"/>
            <a:r>
              <a:rPr sz="1125" b="1" i="0" u="none">
                <a:solidFill>
                  <a:srgbClr val="D32F2F"/>
                </a:solidFill>
                <a:latin typeface="Montserrat"/>
              </a:rPr>
              <a:t>FRAME 6 / CTA</a:t>
            </a:r>
          </a:p>
        </p:txBody>
      </p:sp>
      <p:sp>
        <p:nvSpPr>
          <p:cNvPr id="31" name="TextBox 30"/>
          <p:cNvSpPr txBox="1"/>
          <p:nvPr/>
        </p:nvSpPr>
        <p:spPr>
          <a:xfrm>
            <a:off x="4527500" y="5382220"/>
            <a:ext cx="3136850" cy="242887"/>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اكتب القطعة اللي هتبدأ بيها واحفظ البوست.</a:t>
            </a:r>
          </a:p>
        </p:txBody>
      </p:sp>
      <p:sp>
        <p:nvSpPr>
          <p:cNvPr id="32" name="TextBox 31"/>
          <p:cNvSpPr txBox="1"/>
          <p:nvPr/>
        </p:nvSpPr>
        <p:spPr>
          <a:xfrm>
            <a:off x="4527500" y="5625107"/>
            <a:ext cx="3136850" cy="411360"/>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Visual job: convert attention into interaction and return visits.</a:t>
            </a:r>
          </a:p>
        </p:txBody>
      </p:sp>
      <p:sp>
        <p:nvSpPr>
          <p:cNvPr id="33" name="TextBox 32"/>
          <p:cNvSpPr txBox="1"/>
          <p:nvPr/>
        </p:nvSpPr>
        <p:spPr>
          <a:xfrm>
            <a:off x="8283475" y="1990725"/>
            <a:ext cx="3293849" cy="180975"/>
          </a:xfrm>
          <a:prstGeom prst="rect">
            <a:avLst/>
          </a:prstGeom>
          <a:noFill/>
        </p:spPr>
        <p:txBody>
          <a:bodyPr wrap="square" lIns="0" tIns="0" rIns="0" bIns="0" anchor="t">
            <a:spAutoFit/>
          </a:bodyPr>
          <a:lstStyle/>
          <a:p>
            <a:pPr algn="l"/>
            <a:r>
              <a:rPr sz="1125" b="1" i="0" u="none">
                <a:solidFill>
                  <a:srgbClr val="D32F2F"/>
                </a:solidFill>
                <a:latin typeface="Montserrat"/>
              </a:rPr>
              <a:t>CAPTION &amp; PINNED COMMENT</a:t>
            </a:r>
          </a:p>
        </p:txBody>
      </p:sp>
      <p:sp>
        <p:nvSpPr>
          <p:cNvPr id="34" name="TextBox 33"/>
          <p:cNvSpPr txBox="1"/>
          <p:nvPr/>
        </p:nvSpPr>
        <p:spPr>
          <a:xfrm>
            <a:off x="8283475" y="2219325"/>
            <a:ext cx="3136999" cy="1700212"/>
          </a:xfrm>
          <a:prstGeom prst="rect">
            <a:avLst/>
          </a:prstGeom>
          <a:noFill/>
        </p:spPr>
        <p:txBody>
          <a:bodyPr wrap="square" lIns="0" tIns="0" rIns="0" bIns="0" anchor="t">
            <a:spAutoFit/>
          </a:bodyPr>
          <a:lstStyle/>
          <a:p>
            <a:pPr algn="r">
              <a:lnSpc>
                <a:spcPts val="1912"/>
              </a:lnSpc>
            </a:pPr>
            <a:r>
              <a:rPr sz="1125" b="0" i="0" u="none">
                <a:solidFill>
                  <a:srgbClr val="E0E0E0"/>
                </a:solidFill>
                <a:latin typeface="Cairo"/>
              </a:rPr>
              <a:t>مش محتاج تحتار في التنسيق.</a:t>
            </a:r>
            <a:r>
              <a:t>
</a:t>
            </a:r>
            <a:r>
              <a:rPr sz="1125" b="0" i="0" u="none">
                <a:solidFill>
                  <a:srgbClr val="E0E0E0"/>
                </a:solidFill>
                <a:latin typeface="Cairo"/>
              </a:rPr>
              <a:t> بولو كحلي + جينز Ice Blue + كوتشي كحلي.</a:t>
            </a:r>
            <a:r>
              <a:t>
</a:t>
            </a:r>
            <a:r>
              <a:rPr sz="1125" b="0" i="0" u="none">
                <a:solidFill>
                  <a:srgbClr val="E0E0E0"/>
                </a:solidFill>
                <a:latin typeface="Cairo"/>
              </a:rPr>
              <a:t> أي قطعة هتبدأ بيها؟ اكتب 1 أو 2 أو 3 واحفظ البوست. شوف التفاصيل والقطع المتاحة على Qaim.shop.</a:t>
            </a:r>
            <a:r>
              <a:t>
</a:t>
            </a:r>
            <a:r>
              <a:rPr sz="1125" b="0" i="0" u="none">
                <a:solidFill>
                  <a:srgbClr val="E0E0E0"/>
                </a:solidFill>
                <a:latin typeface="Cairo"/>
              </a:rPr>
              <a:t> 1 = البولو، 2 = الجينز، 3 = الكوتشي. اكتب اختيارك ونقولك أنهي لوك أنسب لمشوارك.</a:t>
            </a:r>
          </a:p>
        </p:txBody>
      </p:sp>
      <p:sp>
        <p:nvSpPr>
          <p:cNvPr id="35" name="TextBox 34"/>
          <p:cNvSpPr txBox="1"/>
          <p:nvPr/>
        </p:nvSpPr>
        <p:spPr>
          <a:xfrm>
            <a:off x="8283475" y="4014787"/>
            <a:ext cx="3293849" cy="180975"/>
          </a:xfrm>
          <a:prstGeom prst="rect">
            <a:avLst/>
          </a:prstGeom>
          <a:noFill/>
        </p:spPr>
        <p:txBody>
          <a:bodyPr wrap="square" lIns="0" tIns="0" rIns="0" bIns="0" anchor="t">
            <a:spAutoFit/>
          </a:bodyPr>
          <a:lstStyle/>
          <a:p>
            <a:pPr algn="l"/>
            <a:r>
              <a:rPr sz="1125" b="1" i="0" u="none">
                <a:solidFill>
                  <a:srgbClr val="D32F2F"/>
                </a:solidFill>
                <a:latin typeface="Montserrat"/>
              </a:rPr>
              <a:t>FORMAT + AI EXECUTION</a:t>
            </a:r>
          </a:p>
        </p:txBody>
      </p:sp>
      <p:sp>
        <p:nvSpPr>
          <p:cNvPr id="36" name="TextBox 35"/>
          <p:cNvSpPr txBox="1"/>
          <p:nvPr/>
        </p:nvSpPr>
        <p:spPr>
          <a:xfrm>
            <a:off x="8283475" y="4243387"/>
            <a:ext cx="3136999" cy="617041"/>
          </a:xfrm>
          <a:prstGeom prst="rect">
            <a:avLst/>
          </a:prstGeom>
          <a:noFill/>
        </p:spPr>
        <p:txBody>
          <a:bodyPr wrap="square" lIns="0" tIns="0" rIns="0" bIns="0" anchor="t">
            <a:spAutoFit/>
          </a:bodyPr>
          <a:lstStyle/>
          <a:p>
            <a:pPr algn="l">
              <a:lnSpc>
                <a:spcPts val="1620"/>
              </a:lnSpc>
            </a:pPr>
            <a:r>
              <a:rPr sz="1012" b="0" i="0" u="none">
                <a:solidFill>
                  <a:srgbClr val="CCCCCC"/>
                </a:solidFill>
                <a:latin typeface="Montserrat"/>
              </a:rPr>
              <a:t>Six vertical frames, 1080×1350, editable text, product-faithful visuals, Arabic subtitles. Use AI for layout variations, then manually check.</a:t>
            </a:r>
          </a:p>
        </p:txBody>
      </p:sp>
      <p:sp>
        <p:nvSpPr>
          <p:cNvPr id="37" name="TextBox 36"/>
          <p:cNvSpPr txBox="1"/>
          <p:nvPr/>
        </p:nvSpPr>
        <p:spPr>
          <a:xfrm>
            <a:off x="8283475" y="5031878"/>
            <a:ext cx="3293849" cy="180975"/>
          </a:xfrm>
          <a:prstGeom prst="rect">
            <a:avLst/>
          </a:prstGeom>
          <a:noFill/>
        </p:spPr>
        <p:txBody>
          <a:bodyPr wrap="square" lIns="0" tIns="0" rIns="0" bIns="0" anchor="t">
            <a:spAutoFit/>
          </a:bodyPr>
          <a:lstStyle/>
          <a:p>
            <a:pPr algn="l"/>
            <a:r>
              <a:rPr sz="1125" b="1" i="0" u="none">
                <a:solidFill>
                  <a:srgbClr val="D32F2F"/>
                </a:solidFill>
                <a:latin typeface="Montserrat"/>
              </a:rPr>
              <a:t>CAROUSEL 1 DRIVE FOLDER</a:t>
            </a:r>
          </a:p>
        </p:txBody>
      </p:sp>
      <p:sp>
        <p:nvSpPr>
          <p:cNvPr id="38" name="TextBox 37"/>
          <p:cNvSpPr txBox="1"/>
          <p:nvPr/>
        </p:nvSpPr>
        <p:spPr>
          <a:xfrm>
            <a:off x="8283475" y="6308824"/>
            <a:ext cx="3136999" cy="549175"/>
          </a:xfrm>
          <a:prstGeom prst="rect">
            <a:avLst/>
          </a:prstGeom>
          <a:noFill/>
        </p:spPr>
        <p:txBody>
          <a:bodyPr wrap="square" lIns="0" tIns="0" rIns="0" bIns="0" anchor="t">
            <a:spAutoFit/>
          </a:bodyPr>
          <a:lstStyle/>
          <a:p>
            <a:pPr algn="l">
              <a:lnSpc>
                <a:spcPts val="1320"/>
              </a:lnSpc>
            </a:pPr>
            <a:r>
              <a:rPr sz="825" b="0" i="0" u="none">
                <a:solidFill>
                  <a:srgbClr val="777777"/>
                </a:solidFill>
                <a:latin typeface="Montserrat"/>
              </a:rPr>
              <a:t>QAIM PRODUCT EVIDENCE: Planning anchors from the checked Qaim.shop snapshot: Jeans SADA 450 EGP, Wide-Leg Jeans 599 EGP and Shoes Tommy/Nike 699 EGP. Recheck price, stock and sizes before publishing.</a:t>
            </a:r>
          </a:p>
        </p:txBody>
      </p:sp>
      <p:pic>
        <p:nvPicPr>
          <p:cNvPr id="39" name="Picture 38" descr="image.png"/>
          <p:cNvPicPr>
            <a:picLocks noChangeAspect="1"/>
          </p:cNvPicPr>
          <p:nvPr/>
        </p:nvPicPr>
        <p:blipFill>
          <a:blip r:embed="rId3"/>
          <a:stretch>
            <a:fillRect/>
          </a:stretch>
        </p:blipFill>
        <p:spPr>
          <a:xfrm>
            <a:off x="8483500" y="5498603"/>
            <a:ext cx="152400" cy="133350"/>
          </a:xfrm>
          <a:prstGeom prst="rect">
            <a:avLst/>
          </a:prstGeom>
        </p:spPr>
      </p:pic>
      <p:sp>
        <p:nvSpPr>
          <p:cNvPr id="40" name="Rounded Rectangle 39"/>
          <p:cNvSpPr/>
          <p:nvPr/>
        </p:nvSpPr>
        <p:spPr>
          <a:xfrm>
            <a:off x="8283475" y="5355728"/>
            <a:ext cx="3136999" cy="419100"/>
          </a:xfrm>
          <a:prstGeom prst="roundRect">
            <a:avLst>
              <a:gd name="adj" fmla="val 13636"/>
            </a:avLst>
          </a:prstGeom>
          <a:solidFill>
            <a:srgbClr val="D32F2F"/>
          </a:solidFill>
          <a:ln w="9525">
            <a:solidFill>
              <a:srgbClr val="FF4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721625" y="5484486"/>
            <a:ext cx="2508349" cy="161583"/>
          </a:xfrm>
          <a:prstGeom prst="rect">
            <a:avLst/>
          </a:prstGeom>
          <a:noFill/>
        </p:spPr>
        <p:txBody>
          <a:bodyPr wrap="square" lIns="0" tIns="0" rIns="0" bIns="0" anchor="ctr">
            <a:spAutoFit/>
          </a:bodyPr>
          <a:lstStyle/>
          <a:p>
            <a:pPr algn="l"/>
            <a:r>
              <a:rPr sz="1050" b="0" i="0" u="none" dirty="0">
                <a:solidFill>
                  <a:srgbClr val="FFFFFF"/>
                </a:solidFill>
                <a:latin typeface="Montserrat SemiBold"/>
                <a:hlinkClick r:id="rId4"/>
              </a:rPr>
              <a:t>Open Carousel 1 folder</a:t>
            </a:r>
            <a:endParaRPr sz="1050" b="0" i="0" u="none" dirty="0">
              <a:solidFill>
                <a:srgbClr val="FFFFFF"/>
              </a:solidFill>
              <a:latin typeface="Montserrat SemiBo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81025" y="295275"/>
            <a:ext cx="2667000"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20</a:t>
            </a:r>
            <a:r>
              <a:rPr sz="1050" b="0" i="0" u="none">
                <a:solidFill>
                  <a:srgbClr val="888888"/>
                </a:solidFill>
                <a:latin typeface="Montserrat SemiBold"/>
              </a:rPr>
              <a:t>/</a:t>
            </a:r>
            <a:r>
              <a:rPr sz="1050" b="0" i="0" u="none">
                <a:solidFill>
                  <a:srgbClr val="AAAAAA"/>
                </a:solidFill>
                <a:latin typeface="Montserrat SemiBold"/>
              </a:rPr>
              <a:t>AI CAROUSEL 2</a:t>
            </a:r>
          </a:p>
        </p:txBody>
      </p:sp>
      <p:sp>
        <p:nvSpPr>
          <p:cNvPr id="3" name="TextBox 2"/>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Choose the Occasion, Then Choose the Qaim Piece</a:t>
            </a:r>
          </a:p>
        </p:txBody>
      </p:sp>
      <p:sp>
        <p:nvSpPr>
          <p:cNvPr id="4" name="Rectangle 3"/>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81025" y="1329481"/>
            <a:ext cx="5685532" cy="461665"/>
          </a:xfrm>
          <a:prstGeom prst="rect">
            <a:avLst/>
          </a:prstGeom>
          <a:noFill/>
        </p:spPr>
        <p:txBody>
          <a:bodyPr wrap="square" lIns="0" tIns="0" rIns="0" bIns="0" anchor="t">
            <a:spAutoFit/>
          </a:bodyPr>
          <a:lstStyle/>
          <a:p>
            <a:pPr algn="l">
              <a:lnSpc>
                <a:spcPts val="1800"/>
              </a:lnSpc>
            </a:pPr>
            <a:r>
              <a:rPr sz="1600" b="1" i="0" u="none" dirty="0">
                <a:solidFill>
                  <a:srgbClr val="CCCCCC"/>
                </a:solidFill>
                <a:latin typeface="Montserrat"/>
              </a:rPr>
              <a:t>Single premium creative direction; each carousel frame can use a clean crop or product reference.</a:t>
            </a:r>
          </a:p>
        </p:txBody>
      </p:sp>
      <p:sp>
        <p:nvSpPr>
          <p:cNvPr id="6" name="TextBox 5"/>
          <p:cNvSpPr txBox="1"/>
          <p:nvPr/>
        </p:nvSpPr>
        <p:spPr>
          <a:xfrm>
            <a:off x="581025" y="2167681"/>
            <a:ext cx="5969808" cy="276999"/>
          </a:xfrm>
          <a:prstGeom prst="rect">
            <a:avLst/>
          </a:prstGeom>
          <a:noFill/>
        </p:spPr>
        <p:txBody>
          <a:bodyPr wrap="square" lIns="0" tIns="0" rIns="0" bIns="0" anchor="t">
            <a:spAutoFit/>
          </a:bodyPr>
          <a:lstStyle/>
          <a:p>
            <a:pPr algn="l"/>
            <a:r>
              <a:rPr b="1" i="0" u="none" dirty="0">
                <a:solidFill>
                  <a:srgbClr val="D32F2F"/>
                </a:solidFill>
                <a:latin typeface="Montserrat"/>
              </a:rPr>
              <a:t>OBJECTIVE</a:t>
            </a:r>
          </a:p>
        </p:txBody>
      </p:sp>
      <p:sp>
        <p:nvSpPr>
          <p:cNvPr id="7" name="TextBox 6"/>
          <p:cNvSpPr txBox="1"/>
          <p:nvPr/>
        </p:nvSpPr>
        <p:spPr>
          <a:xfrm>
            <a:off x="581025" y="2453431"/>
            <a:ext cx="5685532" cy="457200"/>
          </a:xfrm>
          <a:prstGeom prst="rect">
            <a:avLst/>
          </a:prstGeom>
          <a:noFill/>
        </p:spPr>
        <p:txBody>
          <a:bodyPr wrap="square" lIns="0" tIns="0" rIns="0" bIns="0" anchor="t">
            <a:spAutoFit/>
          </a:bodyPr>
          <a:lstStyle/>
          <a:p>
            <a:pPr algn="l">
              <a:lnSpc>
                <a:spcPts val="1800"/>
              </a:lnSpc>
            </a:pPr>
            <a:r>
              <a:rPr sz="1600" b="1" i="0" u="none" dirty="0">
                <a:solidFill>
                  <a:srgbClr val="CCCCCC"/>
                </a:solidFill>
                <a:latin typeface="Montserrat"/>
              </a:rPr>
              <a:t>Make </a:t>
            </a:r>
            <a:r>
              <a:rPr sz="1600" b="1" i="0" u="none" dirty="0" err="1">
                <a:solidFill>
                  <a:srgbClr val="CCCCCC"/>
                </a:solidFill>
                <a:latin typeface="Montserrat"/>
              </a:rPr>
              <a:t>Qaim's</a:t>
            </a:r>
            <a:r>
              <a:rPr sz="1600" b="1" i="0" u="none" dirty="0">
                <a:solidFill>
                  <a:srgbClr val="CCCCCC"/>
                </a:solidFill>
                <a:latin typeface="Montserrat"/>
              </a:rPr>
              <a:t> categories easier to navigate by connecting each product choice to a familiar Egyptian day-to-day occasion.</a:t>
            </a:r>
          </a:p>
        </p:txBody>
      </p:sp>
      <p:sp>
        <p:nvSpPr>
          <p:cNvPr id="8" name="TextBox 7"/>
          <p:cNvSpPr txBox="1"/>
          <p:nvPr/>
        </p:nvSpPr>
        <p:spPr>
          <a:xfrm>
            <a:off x="581025" y="3167806"/>
            <a:ext cx="5969808" cy="209550"/>
          </a:xfrm>
          <a:prstGeom prst="rect">
            <a:avLst/>
          </a:prstGeom>
          <a:noFill/>
        </p:spPr>
        <p:txBody>
          <a:bodyPr wrap="square" lIns="0" tIns="0" rIns="0" bIns="0" anchor="t">
            <a:spAutoFit/>
          </a:bodyPr>
          <a:lstStyle/>
          <a:p>
            <a:pPr algn="l"/>
            <a:r>
              <a:rPr sz="1350" b="1" i="0" u="none" dirty="0">
                <a:solidFill>
                  <a:srgbClr val="D32F2F"/>
                </a:solidFill>
                <a:latin typeface="Montserrat"/>
              </a:rPr>
              <a:t>CAROUSEL IDEA</a:t>
            </a:r>
          </a:p>
        </p:txBody>
      </p:sp>
      <p:sp>
        <p:nvSpPr>
          <p:cNvPr id="9" name="TextBox 8"/>
          <p:cNvSpPr txBox="1"/>
          <p:nvPr/>
        </p:nvSpPr>
        <p:spPr>
          <a:xfrm>
            <a:off x="581025" y="3453556"/>
            <a:ext cx="5685532" cy="461665"/>
          </a:xfrm>
          <a:prstGeom prst="rect">
            <a:avLst/>
          </a:prstGeom>
          <a:noFill/>
        </p:spPr>
        <p:txBody>
          <a:bodyPr wrap="square" lIns="0" tIns="0" rIns="0" bIns="0" anchor="t">
            <a:spAutoFit/>
          </a:bodyPr>
          <a:lstStyle/>
          <a:p>
            <a:pPr algn="l">
              <a:lnSpc>
                <a:spcPts val="1800"/>
              </a:lnSpc>
            </a:pPr>
            <a:r>
              <a:rPr sz="1600" b="1" i="0" u="none" dirty="0">
                <a:solidFill>
                  <a:srgbClr val="CCCCCC"/>
                </a:solidFill>
                <a:latin typeface="Montserrat"/>
              </a:rPr>
              <a:t>"</a:t>
            </a:r>
            <a:r>
              <a:rPr sz="1600" b="1" i="0" u="none" dirty="0" err="1">
                <a:solidFill>
                  <a:srgbClr val="CCCCCC"/>
                </a:solidFill>
                <a:latin typeface="Montserrat"/>
              </a:rPr>
              <a:t>خروجة</a:t>
            </a:r>
            <a:r>
              <a:rPr sz="1600" b="1" i="0" u="none" dirty="0">
                <a:solidFill>
                  <a:srgbClr val="CCCCCC"/>
                </a:solidFill>
                <a:latin typeface="Montserrat"/>
              </a:rPr>
              <a:t> </a:t>
            </a:r>
            <a:r>
              <a:rPr sz="1600" b="1" i="0" u="none" dirty="0" err="1">
                <a:solidFill>
                  <a:srgbClr val="CCCCCC"/>
                </a:solidFill>
                <a:latin typeface="Montserrat"/>
              </a:rPr>
              <a:t>النهارده</a:t>
            </a:r>
            <a:r>
              <a:rPr sz="1600" b="1" i="0" u="none" dirty="0">
                <a:solidFill>
                  <a:srgbClr val="CCCCCC"/>
                </a:solidFill>
                <a:latin typeface="Montserrat"/>
              </a:rPr>
              <a:t> </a:t>
            </a:r>
            <a:r>
              <a:rPr sz="1600" b="1" i="0" u="none" dirty="0" err="1">
                <a:solidFill>
                  <a:srgbClr val="CCCCCC"/>
                </a:solidFill>
                <a:latin typeface="Montserrat"/>
              </a:rPr>
              <a:t>محتاجة</a:t>
            </a:r>
            <a:r>
              <a:rPr sz="1600" b="1" i="0" u="none" dirty="0">
                <a:solidFill>
                  <a:srgbClr val="CCCCCC"/>
                </a:solidFill>
                <a:latin typeface="Montserrat"/>
              </a:rPr>
              <a:t> </a:t>
            </a:r>
            <a:r>
              <a:rPr sz="1600" b="1" i="0" u="none" dirty="0" err="1">
                <a:solidFill>
                  <a:srgbClr val="CCCCCC"/>
                </a:solidFill>
                <a:latin typeface="Montserrat"/>
              </a:rPr>
              <a:t>إيه</a:t>
            </a:r>
            <a:r>
              <a:rPr sz="1600" b="1" i="0" u="none" dirty="0">
                <a:solidFill>
                  <a:srgbClr val="CCCCCC"/>
                </a:solidFill>
                <a:latin typeface="Montserrat"/>
              </a:rPr>
              <a:t>؟" The viewer chooses Daily Denim, Weekend Comfort or a Finished Look, then visits </a:t>
            </a:r>
            <a:r>
              <a:rPr sz="1600" b="1" i="0" u="none" dirty="0" err="1">
                <a:solidFill>
                  <a:srgbClr val="CCCCCC"/>
                </a:solidFill>
                <a:latin typeface="Montserrat"/>
              </a:rPr>
              <a:t>Qaim.shop</a:t>
            </a:r>
            <a:r>
              <a:rPr sz="1600" b="1" i="0" u="none" dirty="0">
                <a:solidFill>
                  <a:srgbClr val="CCCCCC"/>
                </a:solidFill>
                <a:latin typeface="Montserrat"/>
              </a:rPr>
              <a:t>.</a:t>
            </a:r>
          </a:p>
        </p:txBody>
      </p:sp>
      <p:sp>
        <p:nvSpPr>
          <p:cNvPr id="10" name="TextBox 9"/>
          <p:cNvSpPr txBox="1"/>
          <p:nvPr/>
        </p:nvSpPr>
        <p:spPr>
          <a:xfrm>
            <a:off x="581025" y="4182219"/>
            <a:ext cx="5969808" cy="276999"/>
          </a:xfrm>
          <a:prstGeom prst="rect">
            <a:avLst/>
          </a:prstGeom>
          <a:noFill/>
        </p:spPr>
        <p:txBody>
          <a:bodyPr wrap="square" lIns="0" tIns="0" rIns="0" bIns="0" anchor="t">
            <a:spAutoFit/>
          </a:bodyPr>
          <a:lstStyle/>
          <a:p>
            <a:pPr algn="l"/>
            <a:r>
              <a:rPr b="1" i="0" u="none">
                <a:solidFill>
                  <a:srgbClr val="D32F2F"/>
                </a:solidFill>
                <a:latin typeface="Montserrat"/>
              </a:rPr>
              <a:t>6-FRAME STRUCTURE</a:t>
            </a:r>
          </a:p>
        </p:txBody>
      </p:sp>
      <p:sp>
        <p:nvSpPr>
          <p:cNvPr id="11" name="TextBox 10"/>
          <p:cNvSpPr txBox="1"/>
          <p:nvPr/>
        </p:nvSpPr>
        <p:spPr>
          <a:xfrm>
            <a:off x="581025" y="4467969"/>
            <a:ext cx="5685532" cy="1692771"/>
          </a:xfrm>
          <a:prstGeom prst="rect">
            <a:avLst/>
          </a:prstGeom>
          <a:noFill/>
        </p:spPr>
        <p:txBody>
          <a:bodyPr wrap="square" lIns="0" tIns="0" rIns="0" bIns="0" anchor="t">
            <a:spAutoFit/>
          </a:bodyPr>
          <a:lstStyle/>
          <a:p>
            <a:pPr algn="r">
              <a:lnSpc>
                <a:spcPts val="2167"/>
              </a:lnSpc>
            </a:pPr>
            <a:r>
              <a:rPr sz="1600" b="1" i="0" u="none" dirty="0">
                <a:solidFill>
                  <a:srgbClr val="E0E0E0"/>
                </a:solidFill>
                <a:latin typeface="Cairo"/>
              </a:rPr>
              <a:t>1: </a:t>
            </a:r>
            <a:r>
              <a:rPr b="1" i="0" u="none" dirty="0">
                <a:solidFill>
                  <a:srgbClr val="E0E0E0"/>
                </a:solidFill>
                <a:latin typeface="Cairo"/>
              </a:rPr>
              <a:t>Hook</a:t>
            </a:r>
            <a:r>
              <a:rPr sz="1600" b="1" i="0" u="none" dirty="0">
                <a:solidFill>
                  <a:srgbClr val="E0E0E0"/>
                </a:solidFill>
                <a:latin typeface="Cairo"/>
              </a:rPr>
              <a:t>: </a:t>
            </a:r>
            <a:r>
              <a:rPr sz="1600" b="1" i="0" u="none" dirty="0" err="1">
                <a:solidFill>
                  <a:srgbClr val="E0E0E0"/>
                </a:solidFill>
                <a:latin typeface="Cairo"/>
              </a:rPr>
              <a:t>خروجة</a:t>
            </a:r>
            <a:r>
              <a:rPr sz="1600" b="1" i="0" u="none" dirty="0">
                <a:solidFill>
                  <a:srgbClr val="E0E0E0"/>
                </a:solidFill>
                <a:latin typeface="Cairo"/>
              </a:rPr>
              <a:t> </a:t>
            </a:r>
            <a:r>
              <a:rPr sz="1600" b="1" i="0" u="none" dirty="0" err="1">
                <a:solidFill>
                  <a:srgbClr val="E0E0E0"/>
                </a:solidFill>
                <a:latin typeface="Cairo"/>
              </a:rPr>
              <a:t>النهارده</a:t>
            </a:r>
            <a:r>
              <a:rPr sz="1600" b="1" i="0" u="none" dirty="0">
                <a:solidFill>
                  <a:srgbClr val="E0E0E0"/>
                </a:solidFill>
                <a:latin typeface="Cairo"/>
              </a:rPr>
              <a:t>؟</a:t>
            </a:r>
            <a:r>
              <a:rPr sz="2400" b="1" dirty="0"/>
              <a:t>
</a:t>
            </a:r>
            <a:r>
              <a:rPr sz="1600" b="1" i="0" u="none" dirty="0">
                <a:solidFill>
                  <a:srgbClr val="E0E0E0"/>
                </a:solidFill>
                <a:latin typeface="Cairo"/>
              </a:rPr>
              <a:t> 2: Daily Denim: Jeans SADA </a:t>
            </a:r>
            <a:r>
              <a:rPr sz="1600" b="1" i="0" u="none" dirty="0" err="1">
                <a:solidFill>
                  <a:srgbClr val="E0E0E0"/>
                </a:solidFill>
                <a:latin typeface="Cairo"/>
              </a:rPr>
              <a:t>أو</a:t>
            </a:r>
            <a:r>
              <a:rPr sz="1600" b="1" i="0" u="none" dirty="0">
                <a:solidFill>
                  <a:srgbClr val="E0E0E0"/>
                </a:solidFill>
                <a:latin typeface="Cairo"/>
              </a:rPr>
              <a:t> Wide-Leg Jeans.</a:t>
            </a:r>
            <a:r>
              <a:rPr sz="2400" b="1" dirty="0"/>
              <a:t>
</a:t>
            </a:r>
            <a:r>
              <a:rPr sz="1600" b="1" i="0" u="none" dirty="0">
                <a:solidFill>
                  <a:srgbClr val="E0E0E0"/>
                </a:solidFill>
                <a:latin typeface="Cairo"/>
              </a:rPr>
              <a:t> 3: Weekend Comfort: </a:t>
            </a:r>
            <a:r>
              <a:rPr sz="1600" b="1" i="0" u="none" dirty="0" err="1">
                <a:solidFill>
                  <a:srgbClr val="E0E0E0"/>
                </a:solidFill>
                <a:latin typeface="Cairo"/>
              </a:rPr>
              <a:t>Sweatpant</a:t>
            </a:r>
            <a:r>
              <a:rPr sz="1600" b="1" i="0" u="none" dirty="0">
                <a:solidFill>
                  <a:srgbClr val="E0E0E0"/>
                </a:solidFill>
                <a:latin typeface="Cairo"/>
              </a:rPr>
              <a:t> Wide Leg Qn.</a:t>
            </a:r>
            <a:r>
              <a:rPr sz="2400" b="1" dirty="0"/>
              <a:t>
</a:t>
            </a:r>
            <a:r>
              <a:rPr sz="1600" b="1" i="0" u="none" dirty="0">
                <a:solidFill>
                  <a:srgbClr val="E0E0E0"/>
                </a:solidFill>
                <a:latin typeface="Cairo"/>
              </a:rPr>
              <a:t> 4: Finish the Look: Shoes Tommy </a:t>
            </a:r>
            <a:r>
              <a:rPr sz="1600" b="1" i="0" u="none" dirty="0" err="1">
                <a:solidFill>
                  <a:srgbClr val="E0E0E0"/>
                </a:solidFill>
                <a:latin typeface="Cairo"/>
              </a:rPr>
              <a:t>أو</a:t>
            </a:r>
            <a:r>
              <a:rPr sz="1600" b="1" i="0" u="none" dirty="0">
                <a:solidFill>
                  <a:srgbClr val="E0E0E0"/>
                </a:solidFill>
                <a:latin typeface="Cairo"/>
              </a:rPr>
              <a:t> Shoes Nike.</a:t>
            </a:r>
            <a:r>
              <a:rPr sz="2400" b="1" dirty="0"/>
              <a:t>
</a:t>
            </a:r>
            <a:r>
              <a:rPr sz="1600" b="1" i="0" u="none" dirty="0">
                <a:solidFill>
                  <a:srgbClr val="E0E0E0"/>
                </a:solidFill>
                <a:latin typeface="Cairo"/>
              </a:rPr>
              <a:t> 5: </a:t>
            </a:r>
            <a:r>
              <a:rPr sz="1600" b="1" i="0" u="none" dirty="0" err="1">
                <a:solidFill>
                  <a:srgbClr val="E0E0E0"/>
                </a:solidFill>
                <a:latin typeface="Cairo"/>
              </a:rPr>
              <a:t>اكتب</a:t>
            </a:r>
            <a:r>
              <a:rPr sz="1600" b="1" i="0" u="none" dirty="0">
                <a:solidFill>
                  <a:srgbClr val="E0E0E0"/>
                </a:solidFill>
                <a:latin typeface="Cairo"/>
              </a:rPr>
              <a:t> </a:t>
            </a:r>
            <a:r>
              <a:rPr sz="1600" b="1" i="0" u="none" dirty="0" err="1">
                <a:solidFill>
                  <a:srgbClr val="E0E0E0"/>
                </a:solidFill>
                <a:latin typeface="Cairo"/>
              </a:rPr>
              <a:t>اختيارك</a:t>
            </a:r>
            <a:r>
              <a:rPr sz="1600" b="1" i="0" u="none" dirty="0">
                <a:solidFill>
                  <a:srgbClr val="E0E0E0"/>
                </a:solidFill>
                <a:latin typeface="Cairo"/>
              </a:rPr>
              <a:t> </a:t>
            </a:r>
            <a:r>
              <a:rPr sz="1600" b="1" i="0" u="none" dirty="0" err="1">
                <a:solidFill>
                  <a:srgbClr val="E0E0E0"/>
                </a:solidFill>
                <a:latin typeface="Cairo"/>
              </a:rPr>
              <a:t>واحفظ</a:t>
            </a:r>
            <a:r>
              <a:rPr sz="1600" b="1" i="0" u="none" dirty="0">
                <a:solidFill>
                  <a:srgbClr val="E0E0E0"/>
                </a:solidFill>
                <a:latin typeface="Cairo"/>
              </a:rPr>
              <a:t> </a:t>
            </a:r>
            <a:r>
              <a:rPr sz="1600" b="1" i="0" u="none" dirty="0" err="1">
                <a:solidFill>
                  <a:srgbClr val="E0E0E0"/>
                </a:solidFill>
                <a:latin typeface="Cairo"/>
              </a:rPr>
              <a:t>البوست</a:t>
            </a:r>
            <a:r>
              <a:rPr sz="1600" b="1" i="0" u="none" dirty="0">
                <a:solidFill>
                  <a:srgbClr val="E0E0E0"/>
                </a:solidFill>
                <a:latin typeface="Cairo"/>
              </a:rPr>
              <a:t>.</a:t>
            </a:r>
            <a:r>
              <a:rPr sz="2400" b="1" dirty="0"/>
              <a:t>
</a:t>
            </a:r>
            <a:r>
              <a:rPr sz="1600" b="1" i="0" u="none" dirty="0">
                <a:solidFill>
                  <a:srgbClr val="E0E0E0"/>
                </a:solidFill>
                <a:latin typeface="Cairo"/>
              </a:rPr>
              <a:t> 6: </a:t>
            </a:r>
            <a:r>
              <a:rPr sz="1600" b="1" i="0" u="none" dirty="0" err="1">
                <a:solidFill>
                  <a:srgbClr val="E0E0E0"/>
                </a:solidFill>
                <a:latin typeface="Cairo"/>
              </a:rPr>
              <a:t>شوف</a:t>
            </a:r>
            <a:r>
              <a:rPr sz="1600" b="1" i="0" u="none" dirty="0">
                <a:solidFill>
                  <a:srgbClr val="E0E0E0"/>
                </a:solidFill>
                <a:latin typeface="Cairo"/>
              </a:rPr>
              <a:t> </a:t>
            </a:r>
            <a:r>
              <a:rPr sz="1600" b="1" i="0" u="none" dirty="0" err="1">
                <a:solidFill>
                  <a:srgbClr val="E0E0E0"/>
                </a:solidFill>
                <a:latin typeface="Cairo"/>
              </a:rPr>
              <a:t>التفاصيل</a:t>
            </a:r>
            <a:r>
              <a:rPr sz="1600" b="1" i="0" u="none" dirty="0">
                <a:solidFill>
                  <a:srgbClr val="E0E0E0"/>
                </a:solidFill>
                <a:latin typeface="Cairo"/>
              </a:rPr>
              <a:t> </a:t>
            </a:r>
            <a:r>
              <a:rPr sz="1600" b="1" i="0" u="none" dirty="0" err="1">
                <a:solidFill>
                  <a:srgbClr val="E0E0E0"/>
                </a:solidFill>
                <a:latin typeface="Cairo"/>
              </a:rPr>
              <a:t>والمقاسات</a:t>
            </a:r>
            <a:r>
              <a:rPr sz="1600" b="1" i="0" u="none" dirty="0">
                <a:solidFill>
                  <a:srgbClr val="E0E0E0"/>
                </a:solidFill>
                <a:latin typeface="Cairo"/>
              </a:rPr>
              <a:t> </a:t>
            </a:r>
            <a:r>
              <a:rPr sz="1600" b="1" i="0" u="none" dirty="0" err="1">
                <a:solidFill>
                  <a:srgbClr val="E0E0E0"/>
                </a:solidFill>
                <a:latin typeface="Cairo"/>
              </a:rPr>
              <a:t>المتاحة</a:t>
            </a:r>
            <a:r>
              <a:rPr sz="1600" b="1" i="0" u="none" dirty="0">
                <a:solidFill>
                  <a:srgbClr val="E0E0E0"/>
                </a:solidFill>
                <a:latin typeface="Cairo"/>
              </a:rPr>
              <a:t> </a:t>
            </a:r>
            <a:r>
              <a:rPr sz="1600" b="1" i="0" u="none" dirty="0" err="1">
                <a:solidFill>
                  <a:srgbClr val="E0E0E0"/>
                </a:solidFill>
                <a:latin typeface="Cairo"/>
              </a:rPr>
              <a:t>على</a:t>
            </a:r>
            <a:r>
              <a:rPr sz="1600" b="1" i="0" u="none" dirty="0">
                <a:solidFill>
                  <a:srgbClr val="E0E0E0"/>
                </a:solidFill>
                <a:latin typeface="Cairo"/>
              </a:rPr>
              <a:t> </a:t>
            </a:r>
            <a:r>
              <a:rPr sz="1600" b="1" i="0" u="none" dirty="0" err="1">
                <a:solidFill>
                  <a:srgbClr val="E0E0E0"/>
                </a:solidFill>
                <a:latin typeface="Cairo"/>
              </a:rPr>
              <a:t>Qaim.shop</a:t>
            </a:r>
            <a:r>
              <a:rPr sz="1600" b="1" i="0" u="none" dirty="0">
                <a:solidFill>
                  <a:srgbClr val="E0E0E0"/>
                </a:solidFill>
                <a:latin typeface="Cairo"/>
              </a:rPr>
              <a:t>.</a:t>
            </a:r>
          </a:p>
        </p:txBody>
      </p:sp>
      <p:sp>
        <p:nvSpPr>
          <p:cNvPr id="12" name="TextBox 11"/>
          <p:cNvSpPr txBox="1"/>
          <p:nvPr/>
        </p:nvSpPr>
        <p:spPr>
          <a:xfrm>
            <a:off x="581025" y="6216104"/>
            <a:ext cx="5969808" cy="209550"/>
          </a:xfrm>
          <a:prstGeom prst="rect">
            <a:avLst/>
          </a:prstGeom>
          <a:noFill/>
        </p:spPr>
        <p:txBody>
          <a:bodyPr wrap="square" lIns="0" tIns="0" rIns="0" bIns="0" anchor="t">
            <a:spAutoFit/>
          </a:bodyPr>
          <a:lstStyle/>
          <a:p>
            <a:pPr algn="l"/>
            <a:r>
              <a:rPr sz="1350" b="1" i="0" u="none" dirty="0">
                <a:solidFill>
                  <a:srgbClr val="D32F2F"/>
                </a:solidFill>
                <a:latin typeface="Montserrat"/>
              </a:rPr>
              <a:t>FORMAT + KPIS</a:t>
            </a:r>
          </a:p>
        </p:txBody>
      </p:sp>
      <p:sp>
        <p:nvSpPr>
          <p:cNvPr id="13" name="TextBox 12"/>
          <p:cNvSpPr txBox="1"/>
          <p:nvPr/>
        </p:nvSpPr>
        <p:spPr>
          <a:xfrm>
            <a:off x="581025" y="6425490"/>
            <a:ext cx="5685532" cy="167431"/>
          </a:xfrm>
          <a:prstGeom prst="rect">
            <a:avLst/>
          </a:prstGeom>
          <a:noFill/>
        </p:spPr>
        <p:txBody>
          <a:bodyPr wrap="square" lIns="0" tIns="0" rIns="0" bIns="0" anchor="t">
            <a:spAutoFit/>
          </a:bodyPr>
          <a:lstStyle/>
          <a:p>
            <a:pPr algn="l">
              <a:lnSpc>
                <a:spcPts val="1800"/>
              </a:lnSpc>
            </a:pPr>
            <a:r>
              <a:rPr sz="1125" b="0" i="0" u="none" dirty="0">
                <a:solidFill>
                  <a:srgbClr val="CCCCCC"/>
                </a:solidFill>
                <a:latin typeface="Montserrat"/>
              </a:rPr>
              <a:t>Format: 6 frames, 1080×1350, editable text, no sound required.</a:t>
            </a:r>
            <a:r>
              <a:rPr dirty="0"/>
              <a:t>
</a:t>
            </a:r>
            <a:r>
              <a:rPr sz="1125" b="0" i="0" u="none" dirty="0">
                <a:solidFill>
                  <a:srgbClr val="CCCCCC"/>
                </a:solidFill>
                <a:latin typeface="Montserrat"/>
              </a:rPr>
              <a:t> KPIs: saves, comments, shares, profile visits, product views and website clicks.</a:t>
            </a:r>
          </a:p>
        </p:txBody>
      </p:sp>
      <p:pic>
        <p:nvPicPr>
          <p:cNvPr id="14" name="Picture 13" descr="image.png"/>
          <p:cNvPicPr>
            <a:picLocks noChangeAspect="1"/>
          </p:cNvPicPr>
          <p:nvPr/>
        </p:nvPicPr>
        <p:blipFill>
          <a:blip r:embed="rId2"/>
          <a:stretch>
            <a:fillRect/>
          </a:stretch>
        </p:blipFill>
        <p:spPr>
          <a:xfrm>
            <a:off x="6647557" y="1400175"/>
            <a:ext cx="4963417" cy="57912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47367" y="1115797"/>
            <a:ext cx="3517850" cy="5717083"/>
          </a:xfrm>
          <a:prstGeom prst="rect">
            <a:avLst/>
          </a:prstGeom>
        </p:spPr>
      </p:pic>
      <p:pic>
        <p:nvPicPr>
          <p:cNvPr id="3" name="Picture 2" descr="image.png"/>
          <p:cNvPicPr>
            <a:picLocks noChangeAspect="1"/>
          </p:cNvPicPr>
          <p:nvPr/>
        </p:nvPicPr>
        <p:blipFill>
          <a:blip r:embed="rId2"/>
          <a:stretch>
            <a:fillRect/>
          </a:stretch>
        </p:blipFill>
        <p:spPr>
          <a:xfrm>
            <a:off x="4460854" y="1160656"/>
            <a:ext cx="3517850" cy="5717083"/>
          </a:xfrm>
          <a:prstGeom prst="rect">
            <a:avLst/>
          </a:prstGeom>
        </p:spPr>
      </p:pic>
      <p:pic>
        <p:nvPicPr>
          <p:cNvPr id="4" name="Picture 3" descr="image.png"/>
          <p:cNvPicPr>
            <a:picLocks noChangeAspect="1"/>
          </p:cNvPicPr>
          <p:nvPr/>
        </p:nvPicPr>
        <p:blipFill>
          <a:blip r:embed="rId2"/>
          <a:stretch>
            <a:fillRect/>
          </a:stretch>
        </p:blipFill>
        <p:spPr>
          <a:xfrm>
            <a:off x="8171398" y="1186052"/>
            <a:ext cx="3517999" cy="5717083"/>
          </a:xfrm>
          <a:prstGeom prst="rect">
            <a:avLst/>
          </a:prstGeom>
        </p:spPr>
      </p:pic>
      <p:sp>
        <p:nvSpPr>
          <p:cNvPr id="5" name="TextBox 4"/>
          <p:cNvSpPr txBox="1"/>
          <p:nvPr/>
        </p:nvSpPr>
        <p:spPr>
          <a:xfrm>
            <a:off x="581025" y="273278"/>
            <a:ext cx="3476625" cy="215444"/>
          </a:xfrm>
          <a:prstGeom prst="rect">
            <a:avLst/>
          </a:prstGeom>
          <a:noFill/>
        </p:spPr>
        <p:txBody>
          <a:bodyPr wrap="square" lIns="0" tIns="0" rIns="0" bIns="0" anchor="ctr">
            <a:spAutoFit/>
          </a:bodyPr>
          <a:lstStyle/>
          <a:p>
            <a:pPr algn="l"/>
            <a:r>
              <a:rPr sz="1400" b="0" i="0" u="none">
                <a:solidFill>
                  <a:srgbClr val="FFFFFF"/>
                </a:solidFill>
                <a:latin typeface="Montserrat SemiBold"/>
              </a:rPr>
              <a:t>QAIM / قِيَمٌ</a:t>
            </a:r>
            <a:r>
              <a:rPr sz="1400" b="0" i="0" u="none">
                <a:solidFill>
                  <a:srgbClr val="D32F2F"/>
                </a:solidFill>
                <a:latin typeface="Montserrat SemiBold"/>
              </a:rPr>
              <a:t>21</a:t>
            </a:r>
            <a:r>
              <a:rPr sz="1400" b="0" i="0" u="none">
                <a:solidFill>
                  <a:srgbClr val="888888"/>
                </a:solidFill>
                <a:latin typeface="Montserrat SemiBold"/>
              </a:rPr>
              <a:t>/</a:t>
            </a:r>
            <a:r>
              <a:rPr sz="1400" b="0" i="0" u="none">
                <a:solidFill>
                  <a:srgbClr val="AAAAAA"/>
                </a:solidFill>
                <a:latin typeface="Montserrat SemiBold"/>
              </a:rPr>
              <a:t>TASK 2 — AI CAROUSEL 2</a:t>
            </a:r>
          </a:p>
        </p:txBody>
      </p:sp>
      <p:sp>
        <p:nvSpPr>
          <p:cNvPr id="6" name="TextBox 5"/>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Carousel 2: Choose the Occasion, Then Choose the Qaim Piece</a:t>
            </a:r>
          </a:p>
        </p:txBody>
      </p:sp>
      <p:sp>
        <p:nvSpPr>
          <p:cNvPr id="7" name="Rectangle 6"/>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8" name="TextBox 7"/>
          <p:cNvSpPr txBox="1"/>
          <p:nvPr/>
        </p:nvSpPr>
        <p:spPr>
          <a:xfrm>
            <a:off x="605645" y="1254353"/>
            <a:ext cx="7934325" cy="451342"/>
          </a:xfrm>
          <a:prstGeom prst="rect">
            <a:avLst/>
          </a:prstGeom>
          <a:noFill/>
        </p:spPr>
        <p:txBody>
          <a:bodyPr wrap="square" lIns="0" tIns="0" rIns="0" bIns="0" anchor="t">
            <a:spAutoFit/>
          </a:bodyPr>
          <a:lstStyle/>
          <a:p>
            <a:pPr algn="l">
              <a:lnSpc>
                <a:spcPts val="1800"/>
              </a:lnSpc>
            </a:pPr>
            <a:r>
              <a:rPr sz="1400" b="0" i="0" u="none" dirty="0">
                <a:solidFill>
                  <a:srgbClr val="CCCCCC"/>
                </a:solidFill>
                <a:latin typeface="Montserrat"/>
              </a:rPr>
              <a:t>An interactive occasion guide that extends Voice Over 2 from Reel storytelling into a </a:t>
            </a:r>
            <a:r>
              <a:rPr sz="1400" b="0" i="0" u="none" dirty="0" err="1">
                <a:solidFill>
                  <a:srgbClr val="CCCCCC"/>
                </a:solidFill>
                <a:latin typeface="Montserrat"/>
              </a:rPr>
              <a:t>saveable</a:t>
            </a:r>
            <a:r>
              <a:rPr sz="1400" b="0" i="0" u="none" dirty="0">
                <a:solidFill>
                  <a:srgbClr val="CCCCCC"/>
                </a:solidFill>
                <a:latin typeface="Montserrat"/>
              </a:rPr>
              <a:t> shopping decision.</a:t>
            </a:r>
          </a:p>
        </p:txBody>
      </p:sp>
      <p:sp>
        <p:nvSpPr>
          <p:cNvPr id="9" name="TextBox 8"/>
          <p:cNvSpPr txBox="1"/>
          <p:nvPr/>
        </p:nvSpPr>
        <p:spPr>
          <a:xfrm>
            <a:off x="771525" y="1990725"/>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OBJECTIVE</a:t>
            </a:r>
          </a:p>
        </p:txBody>
      </p:sp>
      <p:sp>
        <p:nvSpPr>
          <p:cNvPr id="10" name="TextBox 9"/>
          <p:cNvSpPr txBox="1"/>
          <p:nvPr/>
        </p:nvSpPr>
        <p:spPr>
          <a:xfrm>
            <a:off x="771525" y="2219325"/>
            <a:ext cx="3136850" cy="822721"/>
          </a:xfrm>
          <a:prstGeom prst="rect">
            <a:avLst/>
          </a:prstGeom>
          <a:noFill/>
        </p:spPr>
        <p:txBody>
          <a:bodyPr wrap="square" lIns="0" tIns="0" rIns="0" bIns="0" anchor="t">
            <a:spAutoFit/>
          </a:bodyPr>
          <a:lstStyle/>
          <a:p>
            <a:pPr algn="l">
              <a:lnSpc>
                <a:spcPts val="1620"/>
              </a:lnSpc>
            </a:pPr>
            <a:r>
              <a:rPr sz="1400" b="0" i="0" u="none" dirty="0">
                <a:solidFill>
                  <a:srgbClr val="CCCCCC"/>
                </a:solidFill>
                <a:latin typeface="Montserrat"/>
              </a:rPr>
              <a:t>Help the viewer identify the right product category for the moment, then move from comment and save </a:t>
            </a:r>
            <a:r>
              <a:rPr sz="1400" b="0" i="0" u="none" dirty="0" err="1">
                <a:solidFill>
                  <a:srgbClr val="CCCCCC"/>
                </a:solidFill>
                <a:latin typeface="Montserrat"/>
              </a:rPr>
              <a:t>behaviour</a:t>
            </a:r>
            <a:r>
              <a:rPr sz="1400" b="0" i="0" u="none" dirty="0">
                <a:solidFill>
                  <a:srgbClr val="CCCCCC"/>
                </a:solidFill>
                <a:latin typeface="Montserrat"/>
              </a:rPr>
              <a:t> to a </a:t>
            </a:r>
            <a:r>
              <a:rPr sz="1400" b="0" i="0" u="none" dirty="0" err="1">
                <a:solidFill>
                  <a:srgbClr val="CCCCCC"/>
                </a:solidFill>
                <a:latin typeface="Montserrat"/>
              </a:rPr>
              <a:t>Qaim.shop</a:t>
            </a:r>
            <a:r>
              <a:rPr sz="1400" b="0" i="0" u="none" dirty="0">
                <a:solidFill>
                  <a:srgbClr val="CCCCCC"/>
                </a:solidFill>
                <a:latin typeface="Montserrat"/>
              </a:rPr>
              <a:t> visit.</a:t>
            </a:r>
          </a:p>
        </p:txBody>
      </p:sp>
      <p:sp>
        <p:nvSpPr>
          <p:cNvPr id="11" name="TextBox 10"/>
          <p:cNvSpPr txBox="1"/>
          <p:nvPr/>
        </p:nvSpPr>
        <p:spPr>
          <a:xfrm>
            <a:off x="771525" y="3213496"/>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TACTIC LINK</a:t>
            </a:r>
          </a:p>
        </p:txBody>
      </p:sp>
      <p:sp>
        <p:nvSpPr>
          <p:cNvPr id="12" name="TextBox 11"/>
          <p:cNvSpPr txBox="1"/>
          <p:nvPr/>
        </p:nvSpPr>
        <p:spPr>
          <a:xfrm>
            <a:off x="771525" y="3442096"/>
            <a:ext cx="3136850" cy="820738"/>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Guidance + Community / Convert tactic: extends Voice Over 2's "one day, three occasions" idea into a comment-led product journey.</a:t>
            </a:r>
          </a:p>
        </p:txBody>
      </p:sp>
      <p:sp>
        <p:nvSpPr>
          <p:cNvPr id="13" name="TextBox 12"/>
          <p:cNvSpPr txBox="1"/>
          <p:nvPr/>
        </p:nvSpPr>
        <p:spPr>
          <a:xfrm>
            <a:off x="771525" y="4230588"/>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FRAME 1 / HOOK</a:t>
            </a:r>
          </a:p>
        </p:txBody>
      </p:sp>
      <p:sp>
        <p:nvSpPr>
          <p:cNvPr id="14" name="TextBox 13"/>
          <p:cNvSpPr txBox="1"/>
          <p:nvPr/>
        </p:nvSpPr>
        <p:spPr>
          <a:xfrm>
            <a:off x="771525" y="4459188"/>
            <a:ext cx="3136850" cy="228717"/>
          </a:xfrm>
          <a:prstGeom prst="rect">
            <a:avLst/>
          </a:prstGeom>
          <a:noFill/>
        </p:spPr>
        <p:txBody>
          <a:bodyPr wrap="square" lIns="0" tIns="0" rIns="0" bIns="0" anchor="t">
            <a:spAutoFit/>
          </a:bodyPr>
          <a:lstStyle/>
          <a:p>
            <a:pPr algn="r">
              <a:lnSpc>
                <a:spcPts val="1912"/>
              </a:lnSpc>
            </a:pPr>
            <a:r>
              <a:rPr sz="1400" b="0" i="0" u="none">
                <a:solidFill>
                  <a:srgbClr val="E0E0E0"/>
                </a:solidFill>
                <a:latin typeface="Cairo"/>
              </a:rPr>
              <a:t>خروجة النهارده؟ اختار اللوك الأول.</a:t>
            </a:r>
          </a:p>
        </p:txBody>
      </p:sp>
      <p:sp>
        <p:nvSpPr>
          <p:cNvPr id="15" name="TextBox 14"/>
          <p:cNvSpPr txBox="1"/>
          <p:nvPr/>
        </p:nvSpPr>
        <p:spPr>
          <a:xfrm>
            <a:off x="771525" y="4702075"/>
            <a:ext cx="3136850" cy="411360"/>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Open with a familiar decision moment and invite the viewer to continue.</a:t>
            </a:r>
          </a:p>
        </p:txBody>
      </p:sp>
      <p:sp>
        <p:nvSpPr>
          <p:cNvPr id="16" name="TextBox 15"/>
          <p:cNvSpPr txBox="1"/>
          <p:nvPr/>
        </p:nvSpPr>
        <p:spPr>
          <a:xfrm>
            <a:off x="771525" y="5284886"/>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FRAME 2 / DAILY DENIM</a:t>
            </a:r>
          </a:p>
        </p:txBody>
      </p:sp>
      <p:sp>
        <p:nvSpPr>
          <p:cNvPr id="17" name="TextBox 16"/>
          <p:cNvSpPr txBox="1"/>
          <p:nvPr/>
        </p:nvSpPr>
        <p:spPr>
          <a:xfrm>
            <a:off x="771525" y="5513486"/>
            <a:ext cx="3136850" cy="228717"/>
          </a:xfrm>
          <a:prstGeom prst="rect">
            <a:avLst/>
          </a:prstGeom>
          <a:noFill/>
        </p:spPr>
        <p:txBody>
          <a:bodyPr wrap="square" lIns="0" tIns="0" rIns="0" bIns="0" anchor="t">
            <a:spAutoFit/>
          </a:bodyPr>
          <a:lstStyle/>
          <a:p>
            <a:pPr algn="r">
              <a:lnSpc>
                <a:spcPts val="1912"/>
              </a:lnSpc>
            </a:pPr>
            <a:r>
              <a:rPr sz="1400" b="0" i="0" u="none">
                <a:solidFill>
                  <a:srgbClr val="E0E0E0"/>
                </a:solidFill>
                <a:latin typeface="Cairo"/>
              </a:rPr>
              <a:t>Jeans SADA أو Wide-Leg Jeans.</a:t>
            </a:r>
          </a:p>
        </p:txBody>
      </p:sp>
      <p:sp>
        <p:nvSpPr>
          <p:cNvPr id="18" name="TextBox 17"/>
          <p:cNvSpPr txBox="1"/>
          <p:nvPr/>
        </p:nvSpPr>
        <p:spPr>
          <a:xfrm>
            <a:off x="771525" y="5756374"/>
            <a:ext cx="3136850" cy="411360"/>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Position denim as the practical choice for everyday movement.</a:t>
            </a:r>
          </a:p>
        </p:txBody>
      </p:sp>
      <p:sp>
        <p:nvSpPr>
          <p:cNvPr id="19" name="TextBox 18"/>
          <p:cNvSpPr txBox="1"/>
          <p:nvPr/>
        </p:nvSpPr>
        <p:spPr>
          <a:xfrm>
            <a:off x="771525" y="6339185"/>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FRAME 3 / WEEKEND COMFORT</a:t>
            </a:r>
          </a:p>
        </p:txBody>
      </p:sp>
      <p:sp>
        <p:nvSpPr>
          <p:cNvPr id="20" name="TextBox 19"/>
          <p:cNvSpPr txBox="1"/>
          <p:nvPr/>
        </p:nvSpPr>
        <p:spPr>
          <a:xfrm>
            <a:off x="771525" y="6567785"/>
            <a:ext cx="3136850" cy="230128"/>
          </a:xfrm>
          <a:prstGeom prst="rect">
            <a:avLst/>
          </a:prstGeom>
          <a:noFill/>
        </p:spPr>
        <p:txBody>
          <a:bodyPr wrap="square" lIns="0" tIns="0" rIns="0" bIns="0" anchor="t">
            <a:spAutoFit/>
          </a:bodyPr>
          <a:lstStyle/>
          <a:p>
            <a:pPr algn="r">
              <a:lnSpc>
                <a:spcPts val="1912"/>
              </a:lnSpc>
            </a:pPr>
            <a:r>
              <a:rPr sz="1400" b="0" i="0" u="none">
                <a:solidFill>
                  <a:srgbClr val="E0E0E0"/>
                </a:solidFill>
                <a:latin typeface="Cairo"/>
              </a:rPr>
              <a:t>Sweatpant Wide Leg Qn.</a:t>
            </a:r>
          </a:p>
        </p:txBody>
      </p:sp>
      <p:sp>
        <p:nvSpPr>
          <p:cNvPr id="21" name="TextBox 20"/>
          <p:cNvSpPr txBox="1"/>
          <p:nvPr/>
        </p:nvSpPr>
        <p:spPr>
          <a:xfrm>
            <a:off x="771525" y="6810672"/>
            <a:ext cx="3136850" cy="410369"/>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Give comfort a clear use case without making unsupported performance claims.</a:t>
            </a:r>
          </a:p>
        </p:txBody>
      </p:sp>
      <p:sp>
        <p:nvSpPr>
          <p:cNvPr id="22" name="TextBox 21"/>
          <p:cNvSpPr txBox="1"/>
          <p:nvPr/>
        </p:nvSpPr>
        <p:spPr>
          <a:xfrm>
            <a:off x="4488290" y="1632721"/>
            <a:ext cx="3293692" cy="215444"/>
          </a:xfrm>
          <a:prstGeom prst="rect">
            <a:avLst/>
          </a:prstGeom>
          <a:noFill/>
        </p:spPr>
        <p:txBody>
          <a:bodyPr wrap="square" lIns="0" tIns="0" rIns="0" bIns="0" anchor="t">
            <a:spAutoFit/>
          </a:bodyPr>
          <a:lstStyle/>
          <a:p>
            <a:pPr algn="l"/>
            <a:r>
              <a:rPr sz="1400" b="1" i="0" u="none" dirty="0">
                <a:solidFill>
                  <a:srgbClr val="D32F2F"/>
                </a:solidFill>
                <a:latin typeface="Montserrat"/>
              </a:rPr>
              <a:t>FRAME 4 / FINISH THE LOOK</a:t>
            </a:r>
          </a:p>
        </p:txBody>
      </p:sp>
      <p:sp>
        <p:nvSpPr>
          <p:cNvPr id="23" name="TextBox 22"/>
          <p:cNvSpPr txBox="1"/>
          <p:nvPr/>
        </p:nvSpPr>
        <p:spPr>
          <a:xfrm>
            <a:off x="4527500" y="2219325"/>
            <a:ext cx="3136850" cy="228717"/>
          </a:xfrm>
          <a:prstGeom prst="rect">
            <a:avLst/>
          </a:prstGeom>
          <a:noFill/>
        </p:spPr>
        <p:txBody>
          <a:bodyPr wrap="square" lIns="0" tIns="0" rIns="0" bIns="0" anchor="t">
            <a:spAutoFit/>
          </a:bodyPr>
          <a:lstStyle/>
          <a:p>
            <a:pPr algn="r">
              <a:lnSpc>
                <a:spcPts val="1912"/>
              </a:lnSpc>
            </a:pPr>
            <a:r>
              <a:rPr sz="1400" b="1" i="0" u="none" dirty="0">
                <a:solidFill>
                  <a:srgbClr val="E0E0E0"/>
                </a:solidFill>
                <a:latin typeface="Cairo"/>
              </a:rPr>
              <a:t>Shoes Tommy </a:t>
            </a:r>
            <a:r>
              <a:rPr sz="1400" b="1" i="0" u="none" dirty="0" err="1">
                <a:solidFill>
                  <a:srgbClr val="E0E0E0"/>
                </a:solidFill>
                <a:latin typeface="Cairo"/>
              </a:rPr>
              <a:t>أو</a:t>
            </a:r>
            <a:r>
              <a:rPr sz="1400" b="1" i="0" u="none" dirty="0">
                <a:solidFill>
                  <a:srgbClr val="E0E0E0"/>
                </a:solidFill>
                <a:latin typeface="Cairo"/>
              </a:rPr>
              <a:t> Shoes Nike.</a:t>
            </a:r>
          </a:p>
        </p:txBody>
      </p:sp>
      <p:sp>
        <p:nvSpPr>
          <p:cNvPr id="24" name="TextBox 23"/>
          <p:cNvSpPr txBox="1"/>
          <p:nvPr/>
        </p:nvSpPr>
        <p:spPr>
          <a:xfrm>
            <a:off x="4527500" y="2462212"/>
            <a:ext cx="3136850" cy="410369"/>
          </a:xfrm>
          <a:prstGeom prst="rect">
            <a:avLst/>
          </a:prstGeom>
          <a:noFill/>
        </p:spPr>
        <p:txBody>
          <a:bodyPr wrap="square" lIns="0" tIns="0" rIns="0" bIns="0" anchor="t">
            <a:spAutoFit/>
          </a:bodyPr>
          <a:lstStyle/>
          <a:p>
            <a:pPr algn="l">
              <a:lnSpc>
                <a:spcPts val="1620"/>
              </a:lnSpc>
            </a:pPr>
            <a:r>
              <a:rPr sz="1400" b="1" i="0" u="none" dirty="0">
                <a:solidFill>
                  <a:srgbClr val="CCCCCC"/>
                </a:solidFill>
                <a:latin typeface="Montserrat"/>
              </a:rPr>
              <a:t>Show footwear as the final decision that completes the outfit.</a:t>
            </a:r>
          </a:p>
        </p:txBody>
      </p:sp>
      <p:sp>
        <p:nvSpPr>
          <p:cNvPr id="25" name="TextBox 24"/>
          <p:cNvSpPr txBox="1"/>
          <p:nvPr/>
        </p:nvSpPr>
        <p:spPr>
          <a:xfrm>
            <a:off x="4527500" y="3045023"/>
            <a:ext cx="3293692" cy="215444"/>
          </a:xfrm>
          <a:prstGeom prst="rect">
            <a:avLst/>
          </a:prstGeom>
          <a:noFill/>
        </p:spPr>
        <p:txBody>
          <a:bodyPr wrap="square" lIns="0" tIns="0" rIns="0" bIns="0" anchor="t">
            <a:spAutoFit/>
          </a:bodyPr>
          <a:lstStyle/>
          <a:p>
            <a:pPr algn="l"/>
            <a:r>
              <a:rPr sz="1400" b="1" i="0" u="none" dirty="0">
                <a:solidFill>
                  <a:srgbClr val="D32F2F"/>
                </a:solidFill>
                <a:latin typeface="Montserrat"/>
              </a:rPr>
              <a:t>FRAME 5 / CHOICE</a:t>
            </a:r>
          </a:p>
        </p:txBody>
      </p:sp>
      <p:sp>
        <p:nvSpPr>
          <p:cNvPr id="26" name="TextBox 25"/>
          <p:cNvSpPr txBox="1"/>
          <p:nvPr/>
        </p:nvSpPr>
        <p:spPr>
          <a:xfrm>
            <a:off x="4527500" y="3273623"/>
            <a:ext cx="3136850" cy="228717"/>
          </a:xfrm>
          <a:prstGeom prst="rect">
            <a:avLst/>
          </a:prstGeom>
          <a:noFill/>
        </p:spPr>
        <p:txBody>
          <a:bodyPr wrap="square" lIns="0" tIns="0" rIns="0" bIns="0" anchor="t">
            <a:spAutoFit/>
          </a:bodyPr>
          <a:lstStyle/>
          <a:p>
            <a:pPr algn="r">
              <a:lnSpc>
                <a:spcPts val="1912"/>
              </a:lnSpc>
            </a:pPr>
            <a:r>
              <a:rPr sz="1400" b="0" i="0" u="none" dirty="0" err="1">
                <a:solidFill>
                  <a:srgbClr val="E0E0E0"/>
                </a:solidFill>
                <a:latin typeface="Cairo"/>
              </a:rPr>
              <a:t>مشوار</a:t>
            </a:r>
            <a:r>
              <a:rPr sz="1400" b="0" i="0" u="none" dirty="0">
                <a:solidFill>
                  <a:srgbClr val="E0E0E0"/>
                </a:solidFill>
                <a:latin typeface="Cairo"/>
              </a:rPr>
              <a:t>، </a:t>
            </a:r>
            <a:r>
              <a:rPr sz="1400" b="0" i="0" u="none" dirty="0" err="1">
                <a:solidFill>
                  <a:srgbClr val="E0E0E0"/>
                </a:solidFill>
                <a:latin typeface="Cairo"/>
              </a:rPr>
              <a:t>ويك</a:t>
            </a:r>
            <a:r>
              <a:rPr sz="1400" b="0" i="0" u="none" dirty="0">
                <a:solidFill>
                  <a:srgbClr val="E0E0E0"/>
                </a:solidFill>
                <a:latin typeface="Cairo"/>
              </a:rPr>
              <a:t> </a:t>
            </a:r>
            <a:r>
              <a:rPr sz="1400" b="0" i="0" u="none" dirty="0" err="1">
                <a:solidFill>
                  <a:srgbClr val="E0E0E0"/>
                </a:solidFill>
                <a:latin typeface="Cairo"/>
              </a:rPr>
              <a:t>إند</a:t>
            </a:r>
            <a:r>
              <a:rPr sz="1400" b="0" i="0" u="none" dirty="0">
                <a:solidFill>
                  <a:srgbClr val="E0E0E0"/>
                </a:solidFill>
                <a:latin typeface="Cairo"/>
              </a:rPr>
              <a:t>، </a:t>
            </a:r>
            <a:r>
              <a:rPr sz="1400" b="0" i="0" u="none" dirty="0" err="1">
                <a:solidFill>
                  <a:srgbClr val="E0E0E0"/>
                </a:solidFill>
                <a:latin typeface="Cairo"/>
              </a:rPr>
              <a:t>ولا</a:t>
            </a:r>
            <a:r>
              <a:rPr sz="1400" b="0" i="0" u="none" dirty="0">
                <a:solidFill>
                  <a:srgbClr val="E0E0E0"/>
                </a:solidFill>
                <a:latin typeface="Cairo"/>
              </a:rPr>
              <a:t> </a:t>
            </a:r>
            <a:r>
              <a:rPr sz="1400" b="0" i="0" u="none" dirty="0" err="1">
                <a:solidFill>
                  <a:srgbClr val="E0E0E0"/>
                </a:solidFill>
                <a:latin typeface="Cairo"/>
              </a:rPr>
              <a:t>لوك</a:t>
            </a:r>
            <a:r>
              <a:rPr sz="1400" b="0" i="0" u="none" dirty="0">
                <a:solidFill>
                  <a:srgbClr val="E0E0E0"/>
                </a:solidFill>
                <a:latin typeface="Cairo"/>
              </a:rPr>
              <a:t> </a:t>
            </a:r>
            <a:r>
              <a:rPr sz="1400" b="0" i="0" u="none" dirty="0" err="1">
                <a:solidFill>
                  <a:srgbClr val="E0E0E0"/>
                </a:solidFill>
                <a:latin typeface="Cairo"/>
              </a:rPr>
              <a:t>كامل</a:t>
            </a:r>
            <a:r>
              <a:rPr sz="1400" b="0" i="0" u="none" dirty="0">
                <a:solidFill>
                  <a:srgbClr val="E0E0E0"/>
                </a:solidFill>
                <a:latin typeface="Cairo"/>
              </a:rPr>
              <a:t>؟</a:t>
            </a:r>
          </a:p>
        </p:txBody>
      </p:sp>
      <p:sp>
        <p:nvSpPr>
          <p:cNvPr id="27" name="TextBox 26"/>
          <p:cNvSpPr txBox="1"/>
          <p:nvPr/>
        </p:nvSpPr>
        <p:spPr>
          <a:xfrm>
            <a:off x="4527500" y="3516510"/>
            <a:ext cx="3136850" cy="411360"/>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Turn the content into a simple community question.</a:t>
            </a:r>
          </a:p>
        </p:txBody>
      </p:sp>
      <p:sp>
        <p:nvSpPr>
          <p:cNvPr id="28" name="TextBox 27"/>
          <p:cNvSpPr txBox="1"/>
          <p:nvPr/>
        </p:nvSpPr>
        <p:spPr>
          <a:xfrm>
            <a:off x="4527500" y="4099321"/>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FRAME 6 / CTA</a:t>
            </a:r>
          </a:p>
        </p:txBody>
      </p:sp>
      <p:sp>
        <p:nvSpPr>
          <p:cNvPr id="29" name="TextBox 28"/>
          <p:cNvSpPr txBox="1"/>
          <p:nvPr/>
        </p:nvSpPr>
        <p:spPr>
          <a:xfrm>
            <a:off x="4527500" y="4327921"/>
            <a:ext cx="3136850" cy="228717"/>
          </a:xfrm>
          <a:prstGeom prst="rect">
            <a:avLst/>
          </a:prstGeom>
          <a:noFill/>
        </p:spPr>
        <p:txBody>
          <a:bodyPr wrap="square" lIns="0" tIns="0" rIns="0" bIns="0" anchor="t">
            <a:spAutoFit/>
          </a:bodyPr>
          <a:lstStyle/>
          <a:p>
            <a:pPr algn="r">
              <a:lnSpc>
                <a:spcPts val="1912"/>
              </a:lnSpc>
            </a:pPr>
            <a:r>
              <a:rPr sz="1400" b="0" i="0" u="none">
                <a:solidFill>
                  <a:srgbClr val="E0E0E0"/>
                </a:solidFill>
                <a:latin typeface="Cairo"/>
              </a:rPr>
              <a:t>احفظ البوست وشوف المتاح على Qaim.shop.</a:t>
            </a:r>
          </a:p>
        </p:txBody>
      </p:sp>
      <p:sp>
        <p:nvSpPr>
          <p:cNvPr id="30" name="TextBox 29"/>
          <p:cNvSpPr txBox="1"/>
          <p:nvPr/>
        </p:nvSpPr>
        <p:spPr>
          <a:xfrm>
            <a:off x="4527500" y="4570809"/>
            <a:ext cx="3136850" cy="411360"/>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Move the audience from interaction to product exploration.</a:t>
            </a:r>
          </a:p>
        </p:txBody>
      </p:sp>
      <p:sp>
        <p:nvSpPr>
          <p:cNvPr id="31" name="TextBox 30"/>
          <p:cNvSpPr txBox="1"/>
          <p:nvPr/>
        </p:nvSpPr>
        <p:spPr>
          <a:xfrm>
            <a:off x="4527500" y="5153620"/>
            <a:ext cx="3293692" cy="215444"/>
          </a:xfrm>
          <a:prstGeom prst="rect">
            <a:avLst/>
          </a:prstGeom>
          <a:noFill/>
        </p:spPr>
        <p:txBody>
          <a:bodyPr wrap="square" lIns="0" tIns="0" rIns="0" bIns="0" anchor="t">
            <a:spAutoFit/>
          </a:bodyPr>
          <a:lstStyle/>
          <a:p>
            <a:pPr algn="l"/>
            <a:r>
              <a:rPr sz="1400" b="1" i="0" u="none">
                <a:solidFill>
                  <a:srgbClr val="D32F2F"/>
                </a:solidFill>
                <a:latin typeface="Montserrat"/>
              </a:rPr>
              <a:t>AI EXECUTION</a:t>
            </a:r>
          </a:p>
        </p:txBody>
      </p:sp>
      <p:sp>
        <p:nvSpPr>
          <p:cNvPr id="32" name="TextBox 31"/>
          <p:cNvSpPr txBox="1"/>
          <p:nvPr/>
        </p:nvSpPr>
        <p:spPr>
          <a:xfrm>
            <a:off x="4527500" y="5382220"/>
            <a:ext cx="3136850" cy="820738"/>
          </a:xfrm>
          <a:prstGeom prst="rect">
            <a:avLst/>
          </a:prstGeom>
          <a:noFill/>
        </p:spPr>
        <p:txBody>
          <a:bodyPr wrap="square" lIns="0" tIns="0" rIns="0" bIns="0" anchor="t">
            <a:spAutoFit/>
          </a:bodyPr>
          <a:lstStyle/>
          <a:p>
            <a:pPr algn="l">
              <a:lnSpc>
                <a:spcPts val="1620"/>
              </a:lnSpc>
            </a:pPr>
            <a:r>
              <a:rPr sz="1400" b="0" i="0" u="none">
                <a:solidFill>
                  <a:srgbClr val="CCCCCC"/>
                </a:solidFill>
                <a:latin typeface="Montserrat"/>
              </a:rPr>
              <a:t>Create six vertical Egyptian men's fashion frames using faithful Qaim product references. Keep one occasion and one action per frame.</a:t>
            </a:r>
          </a:p>
        </p:txBody>
      </p:sp>
      <p:sp>
        <p:nvSpPr>
          <p:cNvPr id="33" name="TextBox 32"/>
          <p:cNvSpPr txBox="1"/>
          <p:nvPr/>
        </p:nvSpPr>
        <p:spPr>
          <a:xfrm>
            <a:off x="8265551" y="1319509"/>
            <a:ext cx="3293849" cy="215444"/>
          </a:xfrm>
          <a:prstGeom prst="rect">
            <a:avLst/>
          </a:prstGeom>
          <a:noFill/>
        </p:spPr>
        <p:txBody>
          <a:bodyPr wrap="square" lIns="0" tIns="0" rIns="0" bIns="0" anchor="t">
            <a:spAutoFit/>
          </a:bodyPr>
          <a:lstStyle/>
          <a:p>
            <a:pPr algn="l"/>
            <a:r>
              <a:rPr sz="1400" b="1" i="0" u="none" dirty="0">
                <a:solidFill>
                  <a:srgbClr val="D32F2F"/>
                </a:solidFill>
                <a:latin typeface="Montserrat"/>
              </a:rPr>
              <a:t>CAPTION &amp; PINNED COMMENT</a:t>
            </a:r>
          </a:p>
        </p:txBody>
      </p:sp>
      <p:sp>
        <p:nvSpPr>
          <p:cNvPr id="34" name="TextBox 33"/>
          <p:cNvSpPr txBox="1"/>
          <p:nvPr/>
        </p:nvSpPr>
        <p:spPr>
          <a:xfrm>
            <a:off x="8265551" y="1602714"/>
            <a:ext cx="3136999" cy="1690656"/>
          </a:xfrm>
          <a:prstGeom prst="rect">
            <a:avLst/>
          </a:prstGeom>
          <a:noFill/>
        </p:spPr>
        <p:txBody>
          <a:bodyPr wrap="square" lIns="0" tIns="0" rIns="0" bIns="0" anchor="t">
            <a:spAutoFit/>
          </a:bodyPr>
          <a:lstStyle/>
          <a:p>
            <a:pPr algn="r">
              <a:lnSpc>
                <a:spcPts val="1912"/>
              </a:lnSpc>
            </a:pPr>
            <a:r>
              <a:rPr sz="1400" b="0" i="0" u="none" dirty="0" err="1">
                <a:solidFill>
                  <a:srgbClr val="E0E0E0"/>
                </a:solidFill>
                <a:latin typeface="Cairo"/>
              </a:rPr>
              <a:t>خروجة</a:t>
            </a:r>
            <a:r>
              <a:rPr sz="1400" b="0" i="0" u="none" dirty="0">
                <a:solidFill>
                  <a:srgbClr val="E0E0E0"/>
                </a:solidFill>
                <a:latin typeface="Cairo"/>
              </a:rPr>
              <a:t> </a:t>
            </a:r>
            <a:r>
              <a:rPr sz="1400" b="1" i="0" u="none" dirty="0" err="1">
                <a:solidFill>
                  <a:srgbClr val="E0E0E0"/>
                </a:solidFill>
                <a:latin typeface="Cairo"/>
              </a:rPr>
              <a:t>النهارده</a:t>
            </a:r>
            <a:r>
              <a:rPr sz="1400" b="1" i="0" u="none" dirty="0">
                <a:solidFill>
                  <a:srgbClr val="E0E0E0"/>
                </a:solidFill>
                <a:latin typeface="Cairo"/>
              </a:rPr>
              <a:t> </a:t>
            </a:r>
            <a:r>
              <a:rPr sz="1400" b="1" i="0" u="none" dirty="0" err="1">
                <a:solidFill>
                  <a:srgbClr val="E0E0E0"/>
                </a:solidFill>
                <a:latin typeface="Cairo"/>
              </a:rPr>
              <a:t>محتاجة</a:t>
            </a:r>
            <a:r>
              <a:rPr sz="1400" b="1" i="0" u="none" dirty="0">
                <a:solidFill>
                  <a:srgbClr val="E0E0E0"/>
                </a:solidFill>
                <a:latin typeface="Cairo"/>
              </a:rPr>
              <a:t> </a:t>
            </a:r>
            <a:r>
              <a:rPr sz="1400" b="1" i="0" u="none" dirty="0" err="1">
                <a:solidFill>
                  <a:srgbClr val="E0E0E0"/>
                </a:solidFill>
                <a:latin typeface="Cairo"/>
              </a:rPr>
              <a:t>إيه</a:t>
            </a:r>
            <a:r>
              <a:rPr sz="1400" b="1" i="0" u="none" dirty="0">
                <a:solidFill>
                  <a:srgbClr val="E0E0E0"/>
                </a:solidFill>
                <a:latin typeface="Cairo"/>
              </a:rPr>
              <a:t>؟</a:t>
            </a:r>
            <a:r>
              <a:rPr sz="1400" b="1" dirty="0"/>
              <a:t>
</a:t>
            </a:r>
            <a:r>
              <a:rPr sz="1400" b="1" i="0" u="none" dirty="0">
                <a:solidFill>
                  <a:srgbClr val="E0E0E0"/>
                </a:solidFill>
                <a:latin typeface="Cairo"/>
              </a:rPr>
              <a:t> </a:t>
            </a:r>
            <a:r>
              <a:rPr sz="1400" b="1" i="0" u="none" dirty="0" err="1">
                <a:solidFill>
                  <a:srgbClr val="E0E0E0"/>
                </a:solidFill>
                <a:latin typeface="Cairo"/>
              </a:rPr>
              <a:t>لو</a:t>
            </a:r>
            <a:r>
              <a:rPr sz="1400" b="1" i="0" u="none" dirty="0">
                <a:solidFill>
                  <a:srgbClr val="E0E0E0"/>
                </a:solidFill>
                <a:latin typeface="Cairo"/>
              </a:rPr>
              <a:t> </a:t>
            </a:r>
            <a:r>
              <a:rPr sz="1400" b="1" i="0" u="none" dirty="0" err="1">
                <a:solidFill>
                  <a:srgbClr val="E0E0E0"/>
                </a:solidFill>
                <a:latin typeface="Cairo"/>
              </a:rPr>
              <a:t>يومك</a:t>
            </a:r>
            <a:r>
              <a:rPr sz="1400" b="1" i="0" u="none" dirty="0">
                <a:solidFill>
                  <a:srgbClr val="E0E0E0"/>
                </a:solidFill>
                <a:latin typeface="Cairo"/>
              </a:rPr>
              <a:t> Daily </a:t>
            </a:r>
            <a:r>
              <a:rPr sz="1400" b="1" i="0" u="none" dirty="0" err="1">
                <a:solidFill>
                  <a:srgbClr val="E0E0E0"/>
                </a:solidFill>
                <a:latin typeface="Cairo"/>
              </a:rPr>
              <a:t>اختار</a:t>
            </a:r>
            <a:r>
              <a:rPr sz="1400" b="1" i="0" u="none" dirty="0">
                <a:solidFill>
                  <a:srgbClr val="E0E0E0"/>
                </a:solidFill>
                <a:latin typeface="Cairo"/>
              </a:rPr>
              <a:t> Jeans SADA </a:t>
            </a:r>
            <a:r>
              <a:rPr sz="1400" b="1" i="0" u="none" dirty="0" err="1">
                <a:solidFill>
                  <a:srgbClr val="E0E0E0"/>
                </a:solidFill>
                <a:latin typeface="Cairo"/>
              </a:rPr>
              <a:t>أو</a:t>
            </a:r>
            <a:r>
              <a:rPr sz="1400" b="1" i="0" u="none" dirty="0">
                <a:solidFill>
                  <a:srgbClr val="E0E0E0"/>
                </a:solidFill>
                <a:latin typeface="Cairo"/>
              </a:rPr>
              <a:t> Wide-Leg Jeans. </a:t>
            </a:r>
            <a:r>
              <a:rPr sz="1400" b="1" i="0" u="none" dirty="0" err="1">
                <a:solidFill>
                  <a:srgbClr val="E0E0E0"/>
                </a:solidFill>
                <a:latin typeface="Cairo"/>
              </a:rPr>
              <a:t>لو</a:t>
            </a:r>
            <a:r>
              <a:rPr sz="1400" b="1" i="0" u="none" dirty="0">
                <a:solidFill>
                  <a:srgbClr val="E0E0E0"/>
                </a:solidFill>
                <a:latin typeface="Cairo"/>
              </a:rPr>
              <a:t> Weekend </a:t>
            </a:r>
            <a:r>
              <a:rPr sz="1400" b="1" i="0" u="none" dirty="0" err="1">
                <a:solidFill>
                  <a:srgbClr val="E0E0E0"/>
                </a:solidFill>
                <a:latin typeface="Cairo"/>
              </a:rPr>
              <a:t>اختار</a:t>
            </a:r>
            <a:r>
              <a:rPr sz="1400" b="1" i="0" u="none" dirty="0">
                <a:solidFill>
                  <a:srgbClr val="E0E0E0"/>
                </a:solidFill>
                <a:latin typeface="Cairo"/>
              </a:rPr>
              <a:t> </a:t>
            </a:r>
            <a:r>
              <a:rPr sz="1400" b="1" i="0" u="none" dirty="0" err="1">
                <a:solidFill>
                  <a:srgbClr val="E0E0E0"/>
                </a:solidFill>
                <a:latin typeface="Cairo"/>
              </a:rPr>
              <a:t>Sweatpant</a:t>
            </a:r>
            <a:r>
              <a:rPr sz="1400" b="1" i="0" u="none" dirty="0">
                <a:solidFill>
                  <a:srgbClr val="E0E0E0"/>
                </a:solidFill>
                <a:latin typeface="Cairo"/>
              </a:rPr>
              <a:t> Wide Leg Qn. </a:t>
            </a:r>
            <a:r>
              <a:rPr sz="1400" b="1" i="0" u="none" dirty="0" err="1">
                <a:solidFill>
                  <a:srgbClr val="E0E0E0"/>
                </a:solidFill>
                <a:latin typeface="Cairo"/>
              </a:rPr>
              <a:t>وكمل</a:t>
            </a:r>
            <a:r>
              <a:rPr sz="1400" b="1" i="0" u="none" dirty="0">
                <a:solidFill>
                  <a:srgbClr val="E0E0E0"/>
                </a:solidFill>
                <a:latin typeface="Cairo"/>
              </a:rPr>
              <a:t> </a:t>
            </a:r>
            <a:r>
              <a:rPr sz="1400" b="1" i="0" u="none" dirty="0" err="1">
                <a:solidFill>
                  <a:srgbClr val="E0E0E0"/>
                </a:solidFill>
                <a:latin typeface="Cairo"/>
              </a:rPr>
              <a:t>اللوك</a:t>
            </a:r>
            <a:r>
              <a:rPr sz="1400" b="1" i="0" u="none" dirty="0">
                <a:solidFill>
                  <a:srgbClr val="E0E0E0"/>
                </a:solidFill>
                <a:latin typeface="Cairo"/>
              </a:rPr>
              <a:t> </a:t>
            </a:r>
            <a:r>
              <a:rPr sz="1400" b="1" i="0" u="none" dirty="0" err="1">
                <a:solidFill>
                  <a:srgbClr val="E0E0E0"/>
                </a:solidFill>
                <a:latin typeface="Cairo"/>
              </a:rPr>
              <a:t>بالحذاء</a:t>
            </a:r>
            <a:r>
              <a:rPr sz="1400" b="1" i="0" u="none" dirty="0">
                <a:solidFill>
                  <a:srgbClr val="E0E0E0"/>
                </a:solidFill>
                <a:latin typeface="Cairo"/>
              </a:rPr>
              <a:t> </a:t>
            </a:r>
            <a:r>
              <a:rPr sz="1400" b="1" i="0" u="none" dirty="0" err="1">
                <a:solidFill>
                  <a:srgbClr val="E0E0E0"/>
                </a:solidFill>
                <a:latin typeface="Cairo"/>
              </a:rPr>
              <a:t>المناسب</a:t>
            </a:r>
            <a:r>
              <a:rPr sz="1400" b="1" i="0" u="none" dirty="0">
                <a:solidFill>
                  <a:srgbClr val="E0E0E0"/>
                </a:solidFill>
                <a:latin typeface="Cairo"/>
              </a:rPr>
              <a:t> </a:t>
            </a:r>
            <a:r>
              <a:rPr sz="1400" b="1" i="0" u="none" dirty="0" err="1">
                <a:solidFill>
                  <a:srgbClr val="E0E0E0"/>
                </a:solidFill>
                <a:latin typeface="Cairo"/>
              </a:rPr>
              <a:t>من</a:t>
            </a:r>
            <a:r>
              <a:rPr sz="1400" b="1" i="0" u="none" dirty="0">
                <a:solidFill>
                  <a:srgbClr val="E0E0E0"/>
                </a:solidFill>
                <a:latin typeface="Cairo"/>
              </a:rPr>
              <a:t> Shoes Tommy </a:t>
            </a:r>
            <a:r>
              <a:rPr sz="1400" b="1" i="0" u="none" dirty="0" err="1">
                <a:solidFill>
                  <a:srgbClr val="E0E0E0"/>
                </a:solidFill>
                <a:latin typeface="Cairo"/>
              </a:rPr>
              <a:t>أو</a:t>
            </a:r>
            <a:r>
              <a:rPr sz="1400" b="1" i="0" u="none" dirty="0">
                <a:solidFill>
                  <a:srgbClr val="E0E0E0"/>
                </a:solidFill>
                <a:latin typeface="Cairo"/>
              </a:rPr>
              <a:t> Shoes Nike.</a:t>
            </a:r>
            <a:r>
              <a:rPr sz="1400" b="1" dirty="0"/>
              <a:t>
</a:t>
            </a:r>
            <a:r>
              <a:rPr sz="1400" b="1" i="0" u="none" dirty="0">
                <a:solidFill>
                  <a:srgbClr val="E0E0E0"/>
                </a:solidFill>
                <a:latin typeface="Cairo"/>
              </a:rPr>
              <a:t> </a:t>
            </a:r>
            <a:r>
              <a:rPr sz="1400" b="1" i="0" u="none" dirty="0" err="1">
                <a:solidFill>
                  <a:srgbClr val="E0E0E0"/>
                </a:solidFill>
                <a:latin typeface="Cairo"/>
              </a:rPr>
              <a:t>اكتب</a:t>
            </a:r>
            <a:r>
              <a:rPr sz="1400" b="1" i="0" u="none" dirty="0">
                <a:solidFill>
                  <a:srgbClr val="E0E0E0"/>
                </a:solidFill>
                <a:latin typeface="Cairo"/>
              </a:rPr>
              <a:t> </a:t>
            </a:r>
            <a:r>
              <a:rPr sz="1400" b="1" i="0" u="none" dirty="0" err="1">
                <a:solidFill>
                  <a:srgbClr val="E0E0E0"/>
                </a:solidFill>
                <a:latin typeface="Cairo"/>
              </a:rPr>
              <a:t>اختيارك</a:t>
            </a:r>
            <a:r>
              <a:rPr sz="1400" b="1" i="0" u="none" dirty="0">
                <a:solidFill>
                  <a:srgbClr val="E0E0E0"/>
                </a:solidFill>
                <a:latin typeface="Cairo"/>
              </a:rPr>
              <a:t> </a:t>
            </a:r>
            <a:r>
              <a:rPr sz="1400" b="1" i="0" u="none" dirty="0" err="1">
                <a:solidFill>
                  <a:srgbClr val="E0E0E0"/>
                </a:solidFill>
                <a:latin typeface="Cairo"/>
              </a:rPr>
              <a:t>واحفظ</a:t>
            </a:r>
            <a:r>
              <a:rPr sz="1400" b="1" i="0" u="none" dirty="0">
                <a:solidFill>
                  <a:srgbClr val="E0E0E0"/>
                </a:solidFill>
                <a:latin typeface="Cairo"/>
              </a:rPr>
              <a:t> </a:t>
            </a:r>
            <a:r>
              <a:rPr sz="1400" b="1" i="0" u="none" dirty="0" err="1">
                <a:solidFill>
                  <a:srgbClr val="E0E0E0"/>
                </a:solidFill>
                <a:latin typeface="Cairo"/>
              </a:rPr>
              <a:t>البوست</a:t>
            </a:r>
            <a:r>
              <a:rPr sz="1400" b="1" i="0" u="none" dirty="0">
                <a:solidFill>
                  <a:srgbClr val="E0E0E0"/>
                </a:solidFill>
                <a:latin typeface="Cairo"/>
              </a:rPr>
              <a:t>، </a:t>
            </a:r>
            <a:r>
              <a:rPr sz="1400" b="1" i="0" u="none" dirty="0" err="1">
                <a:solidFill>
                  <a:srgbClr val="E0E0E0"/>
                </a:solidFill>
                <a:latin typeface="Cairo"/>
              </a:rPr>
              <a:t>وبعدها</a:t>
            </a:r>
            <a:r>
              <a:rPr sz="1400" b="1" i="0" u="none" dirty="0">
                <a:solidFill>
                  <a:srgbClr val="E0E0E0"/>
                </a:solidFill>
                <a:latin typeface="Cairo"/>
              </a:rPr>
              <a:t> </a:t>
            </a:r>
            <a:r>
              <a:rPr sz="1400" b="1" i="0" u="none" dirty="0" err="1">
                <a:solidFill>
                  <a:srgbClr val="E0E0E0"/>
                </a:solidFill>
                <a:latin typeface="Cairo"/>
              </a:rPr>
              <a:t>شوف</a:t>
            </a:r>
            <a:r>
              <a:rPr sz="1400" b="1" i="0" u="none" dirty="0">
                <a:solidFill>
                  <a:srgbClr val="E0E0E0"/>
                </a:solidFill>
                <a:latin typeface="Cairo"/>
              </a:rPr>
              <a:t> </a:t>
            </a:r>
            <a:r>
              <a:rPr sz="1400" b="1" i="0" u="none" dirty="0" err="1">
                <a:solidFill>
                  <a:srgbClr val="E0E0E0"/>
                </a:solidFill>
                <a:latin typeface="Cairo"/>
              </a:rPr>
              <a:t>التفاصيل</a:t>
            </a:r>
            <a:r>
              <a:rPr sz="1400" b="1" i="0" u="none" dirty="0">
                <a:solidFill>
                  <a:srgbClr val="E0E0E0"/>
                </a:solidFill>
                <a:latin typeface="Cairo"/>
              </a:rPr>
              <a:t> </a:t>
            </a:r>
            <a:r>
              <a:rPr sz="1400" b="1" i="0" u="none" dirty="0" err="1">
                <a:solidFill>
                  <a:srgbClr val="E0E0E0"/>
                </a:solidFill>
                <a:latin typeface="Cairo"/>
              </a:rPr>
              <a:t>والمقاسات</a:t>
            </a:r>
            <a:r>
              <a:rPr sz="1400" b="1" i="0" u="none" dirty="0">
                <a:solidFill>
                  <a:srgbClr val="E0E0E0"/>
                </a:solidFill>
                <a:latin typeface="Cairo"/>
              </a:rPr>
              <a:t> </a:t>
            </a:r>
            <a:r>
              <a:rPr sz="1400" b="1" i="0" u="none" dirty="0" err="1">
                <a:solidFill>
                  <a:srgbClr val="E0E0E0"/>
                </a:solidFill>
                <a:latin typeface="Cairo"/>
              </a:rPr>
              <a:t>المتاحة</a:t>
            </a:r>
            <a:r>
              <a:rPr sz="1400" b="1" i="0" u="none" dirty="0">
                <a:solidFill>
                  <a:srgbClr val="E0E0E0"/>
                </a:solidFill>
                <a:latin typeface="Cairo"/>
              </a:rPr>
              <a:t> </a:t>
            </a:r>
            <a:r>
              <a:rPr sz="1400" b="1" i="0" u="none" dirty="0" err="1">
                <a:solidFill>
                  <a:srgbClr val="E0E0E0"/>
                </a:solidFill>
                <a:latin typeface="Cairo"/>
              </a:rPr>
              <a:t>على</a:t>
            </a:r>
            <a:r>
              <a:rPr sz="1400" b="1" i="0" u="none" dirty="0">
                <a:solidFill>
                  <a:srgbClr val="E0E0E0"/>
                </a:solidFill>
                <a:latin typeface="Cairo"/>
              </a:rPr>
              <a:t> </a:t>
            </a:r>
            <a:r>
              <a:rPr sz="1400" b="1" i="0" u="none" dirty="0" err="1">
                <a:solidFill>
                  <a:srgbClr val="E0E0E0"/>
                </a:solidFill>
                <a:latin typeface="Cairo"/>
              </a:rPr>
              <a:t>Qaim.shop</a:t>
            </a:r>
            <a:r>
              <a:rPr sz="1400" b="0" i="0" u="none" dirty="0">
                <a:solidFill>
                  <a:srgbClr val="E0E0E0"/>
                </a:solidFill>
                <a:latin typeface="Cairo"/>
              </a:rPr>
              <a:t>.</a:t>
            </a:r>
          </a:p>
        </p:txBody>
      </p:sp>
      <p:sp>
        <p:nvSpPr>
          <p:cNvPr id="35" name="TextBox 34"/>
          <p:cNvSpPr txBox="1"/>
          <p:nvPr/>
        </p:nvSpPr>
        <p:spPr>
          <a:xfrm>
            <a:off x="8370779" y="3535447"/>
            <a:ext cx="3293849" cy="215444"/>
          </a:xfrm>
          <a:prstGeom prst="rect">
            <a:avLst/>
          </a:prstGeom>
          <a:noFill/>
        </p:spPr>
        <p:txBody>
          <a:bodyPr wrap="square" lIns="0" tIns="0" rIns="0" bIns="0" anchor="t">
            <a:spAutoFit/>
          </a:bodyPr>
          <a:lstStyle/>
          <a:p>
            <a:pPr algn="l"/>
            <a:r>
              <a:rPr sz="1400" b="1" i="0" u="none" dirty="0">
                <a:solidFill>
                  <a:srgbClr val="D32F2F"/>
                </a:solidFill>
                <a:latin typeface="Montserrat"/>
              </a:rPr>
              <a:t>CAROUSEL 2 DRIVE FOLDER</a:t>
            </a:r>
          </a:p>
        </p:txBody>
      </p:sp>
      <p:sp>
        <p:nvSpPr>
          <p:cNvPr id="36" name="TextBox 35"/>
          <p:cNvSpPr txBox="1"/>
          <p:nvPr/>
        </p:nvSpPr>
        <p:spPr>
          <a:xfrm>
            <a:off x="8337129" y="4556638"/>
            <a:ext cx="3136999" cy="1172693"/>
          </a:xfrm>
          <a:prstGeom prst="rect">
            <a:avLst/>
          </a:prstGeom>
          <a:noFill/>
        </p:spPr>
        <p:txBody>
          <a:bodyPr wrap="square" lIns="0" tIns="0" rIns="0" bIns="0" anchor="t">
            <a:spAutoFit/>
          </a:bodyPr>
          <a:lstStyle/>
          <a:p>
            <a:pPr algn="l">
              <a:lnSpc>
                <a:spcPts val="1320"/>
              </a:lnSpc>
            </a:pPr>
            <a:r>
              <a:rPr sz="1400" b="0" i="0" u="none" dirty="0">
                <a:solidFill>
                  <a:srgbClr val="777777"/>
                </a:solidFill>
                <a:latin typeface="Montserrat"/>
              </a:rPr>
              <a:t>QAIM PRODUCT EVIDENCE: Checked planning anchors from </a:t>
            </a:r>
            <a:r>
              <a:rPr sz="1400" b="0" i="0" u="none" dirty="0" err="1">
                <a:solidFill>
                  <a:srgbClr val="777777"/>
                </a:solidFill>
                <a:latin typeface="Montserrat"/>
              </a:rPr>
              <a:t>Qaim.shop</a:t>
            </a:r>
            <a:r>
              <a:rPr sz="1400" b="0" i="0" u="none" dirty="0">
                <a:solidFill>
                  <a:srgbClr val="777777"/>
                </a:solidFill>
                <a:latin typeface="Montserrat"/>
              </a:rPr>
              <a:t> include </a:t>
            </a:r>
            <a:r>
              <a:rPr sz="1400" b="0" i="0" u="none" dirty="0" err="1">
                <a:solidFill>
                  <a:srgbClr val="777777"/>
                </a:solidFill>
                <a:latin typeface="Montserrat"/>
              </a:rPr>
              <a:t>Sweatpant</a:t>
            </a:r>
            <a:r>
              <a:rPr sz="1400" b="0" i="0" u="none" dirty="0">
                <a:solidFill>
                  <a:srgbClr val="777777"/>
                </a:solidFill>
                <a:latin typeface="Montserrat"/>
              </a:rPr>
              <a:t> Wide Leg 599 EGP, </a:t>
            </a:r>
            <a:r>
              <a:rPr sz="1400" b="0" i="0" u="none" dirty="0" err="1">
                <a:solidFill>
                  <a:srgbClr val="777777"/>
                </a:solidFill>
                <a:latin typeface="Montserrat"/>
              </a:rPr>
              <a:t>Sweatpant</a:t>
            </a:r>
            <a:r>
              <a:rPr sz="1400" b="0" i="0" u="none" dirty="0">
                <a:solidFill>
                  <a:srgbClr val="777777"/>
                </a:solidFill>
                <a:latin typeface="Montserrat"/>
              </a:rPr>
              <a:t> Wide Leg </a:t>
            </a:r>
            <a:r>
              <a:rPr sz="1400" b="0" i="0" u="none" dirty="0" err="1">
                <a:solidFill>
                  <a:srgbClr val="777777"/>
                </a:solidFill>
                <a:latin typeface="Montserrat"/>
              </a:rPr>
              <a:t>Qn</a:t>
            </a:r>
            <a:r>
              <a:rPr sz="1400" b="0" i="0" u="none" dirty="0">
                <a:solidFill>
                  <a:srgbClr val="777777"/>
                </a:solidFill>
                <a:latin typeface="Montserrat"/>
              </a:rPr>
              <a:t> 650 EGP, Jeans </a:t>
            </a:r>
            <a:r>
              <a:rPr sz="1400" b="0" i="0" u="none" dirty="0" err="1">
                <a:solidFill>
                  <a:srgbClr val="777777"/>
                </a:solidFill>
                <a:latin typeface="Montserrat"/>
              </a:rPr>
              <a:t>Kargo</a:t>
            </a:r>
            <a:r>
              <a:rPr sz="1400" b="0" i="0" u="none" dirty="0">
                <a:solidFill>
                  <a:srgbClr val="777777"/>
                </a:solidFill>
                <a:latin typeface="Montserrat"/>
              </a:rPr>
              <a:t> 599 EGP and Shoes Tommy/Nike 699 EGP. Recheck live price, stock and sizes before publishing.</a:t>
            </a:r>
          </a:p>
        </p:txBody>
      </p:sp>
      <p:pic>
        <p:nvPicPr>
          <p:cNvPr id="37" name="Picture 36" descr="image.png"/>
          <p:cNvPicPr>
            <a:picLocks noChangeAspect="1"/>
          </p:cNvPicPr>
          <p:nvPr/>
        </p:nvPicPr>
        <p:blipFill>
          <a:blip r:embed="rId3"/>
          <a:stretch>
            <a:fillRect/>
          </a:stretch>
        </p:blipFill>
        <p:spPr>
          <a:xfrm>
            <a:off x="8462531" y="4089734"/>
            <a:ext cx="152400" cy="133350"/>
          </a:xfrm>
          <a:prstGeom prst="rect">
            <a:avLst/>
          </a:prstGeom>
        </p:spPr>
      </p:pic>
      <p:sp>
        <p:nvSpPr>
          <p:cNvPr id="38" name="Rounded Rectangle 37"/>
          <p:cNvSpPr/>
          <p:nvPr/>
        </p:nvSpPr>
        <p:spPr>
          <a:xfrm>
            <a:off x="8283475" y="3900058"/>
            <a:ext cx="3136999" cy="419100"/>
          </a:xfrm>
          <a:prstGeom prst="roundRect">
            <a:avLst>
              <a:gd name="adj" fmla="val 13636"/>
            </a:avLst>
          </a:prstGeom>
          <a:solidFill>
            <a:srgbClr val="D32F2F"/>
          </a:solidFill>
          <a:ln w="9525">
            <a:solidFill>
              <a:srgbClr val="FF4C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9" name="TextBox 38">
            <a:hlinkClick r:id="rId4"/>
          </p:cNvPr>
          <p:cNvSpPr txBox="1"/>
          <p:nvPr/>
        </p:nvSpPr>
        <p:spPr>
          <a:xfrm>
            <a:off x="8802905" y="4033145"/>
            <a:ext cx="2429595" cy="215444"/>
          </a:xfrm>
          <a:prstGeom prst="rect">
            <a:avLst/>
          </a:prstGeom>
          <a:noFill/>
        </p:spPr>
        <p:txBody>
          <a:bodyPr wrap="square" lIns="0" tIns="0" rIns="0" bIns="0" anchor="ctr">
            <a:spAutoFit/>
          </a:bodyPr>
          <a:lstStyle/>
          <a:p>
            <a:pPr algn="l"/>
            <a:r>
              <a:rPr sz="1400" b="0" i="0" u="none" dirty="0">
                <a:solidFill>
                  <a:srgbClr val="FFFFFF"/>
                </a:solidFill>
                <a:latin typeface="Montserrat SemiBold"/>
                <a:hlinkClick r:id="rId4"/>
              </a:rPr>
              <a:t>Open Carousel 2 folder</a:t>
            </a:r>
            <a:endParaRPr sz="1400" b="0" i="0" u="none" dirty="0">
              <a:solidFill>
                <a:srgbClr val="FFFFFF"/>
              </a:solidFill>
              <a:latin typeface="Montserrat SemiBo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581025" y="1866900"/>
            <a:ext cx="3517850" cy="4448175"/>
          </a:xfrm>
          <a:prstGeom prst="rect">
            <a:avLst/>
          </a:prstGeom>
        </p:spPr>
      </p:pic>
      <p:pic>
        <p:nvPicPr>
          <p:cNvPr id="3" name="Picture 2" descr="image.png"/>
          <p:cNvPicPr>
            <a:picLocks noChangeAspect="1"/>
          </p:cNvPicPr>
          <p:nvPr/>
        </p:nvPicPr>
        <p:blipFill>
          <a:blip r:embed="rId3"/>
          <a:stretch>
            <a:fillRect/>
          </a:stretch>
        </p:blipFill>
        <p:spPr>
          <a:xfrm>
            <a:off x="4337000" y="1866900"/>
            <a:ext cx="3517850" cy="4448175"/>
          </a:xfrm>
          <a:prstGeom prst="rect">
            <a:avLst/>
          </a:prstGeom>
        </p:spPr>
      </p:pic>
      <p:pic>
        <p:nvPicPr>
          <p:cNvPr id="4" name="Picture 3" descr="image.png"/>
          <p:cNvPicPr>
            <a:picLocks noChangeAspect="1"/>
          </p:cNvPicPr>
          <p:nvPr/>
        </p:nvPicPr>
        <p:blipFill>
          <a:blip r:embed="rId4"/>
          <a:stretch>
            <a:fillRect/>
          </a:stretch>
        </p:blipFill>
        <p:spPr>
          <a:xfrm>
            <a:off x="8092975" y="1866900"/>
            <a:ext cx="3517999" cy="4448175"/>
          </a:xfrm>
          <a:prstGeom prst="rect">
            <a:avLst/>
          </a:prstGeom>
        </p:spPr>
      </p:pic>
      <p:sp>
        <p:nvSpPr>
          <p:cNvPr id="5" name="TextBox 4"/>
          <p:cNvSpPr txBox="1"/>
          <p:nvPr/>
        </p:nvSpPr>
        <p:spPr>
          <a:xfrm>
            <a:off x="581025" y="295275"/>
            <a:ext cx="3638550" cy="171450"/>
          </a:xfrm>
          <a:prstGeom prst="rect">
            <a:avLst/>
          </a:prstGeom>
          <a:noFill/>
        </p:spPr>
        <p:txBody>
          <a:bodyPr wrap="square" lIns="0" tIns="0" rIns="0" bIns="0" anchor="ctr">
            <a:spAutoFit/>
          </a:bodyPr>
          <a:lstStyle/>
          <a:p>
            <a:pPr algn="l"/>
            <a:r>
              <a:rPr sz="1050" b="0" i="0" u="none">
                <a:solidFill>
                  <a:srgbClr val="FFFFFF"/>
                </a:solidFill>
                <a:latin typeface="Montserrat SemiBold"/>
              </a:rPr>
              <a:t>QAIM / قِيَمٌ</a:t>
            </a:r>
            <a:r>
              <a:rPr sz="1050" b="0" i="0" u="none">
                <a:solidFill>
                  <a:srgbClr val="D32F2F"/>
                </a:solidFill>
                <a:latin typeface="Montserrat SemiBold"/>
              </a:rPr>
              <a:t>22</a:t>
            </a:r>
            <a:r>
              <a:rPr sz="1050" b="0" i="0" u="none">
                <a:solidFill>
                  <a:srgbClr val="888888"/>
                </a:solidFill>
                <a:latin typeface="Montserrat SemiBold"/>
              </a:rPr>
              <a:t>/</a:t>
            </a:r>
            <a:r>
              <a:rPr sz="1050" b="0" i="0" u="none">
                <a:solidFill>
                  <a:srgbClr val="AAAAAA"/>
                </a:solidFill>
                <a:latin typeface="Montserrat SemiBold"/>
              </a:rPr>
              <a:t>FINAL TASK 2 SUBMISSION</a:t>
            </a:r>
          </a:p>
        </p:txBody>
      </p:sp>
      <p:sp>
        <p:nvSpPr>
          <p:cNvPr id="6" name="TextBox 5"/>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2 Voice Overs + 2 AI Carousels — Fully Planned for Qaim</a:t>
            </a:r>
          </a:p>
        </p:txBody>
      </p:sp>
      <p:sp>
        <p:nvSpPr>
          <p:cNvPr id="7" name="Rectangle 6"/>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81025" y="1400175"/>
            <a:ext cx="7905750" cy="228600"/>
          </a:xfrm>
          <a:prstGeom prst="rect">
            <a:avLst/>
          </a:prstGeom>
          <a:noFill/>
        </p:spPr>
        <p:txBody>
          <a:bodyPr wrap="square" lIns="0" tIns="0" rIns="0" bIns="0" anchor="t">
            <a:spAutoFit/>
          </a:bodyPr>
          <a:lstStyle/>
          <a:p>
            <a:pPr algn="l">
              <a:lnSpc>
                <a:spcPts val="1800"/>
              </a:lnSpc>
            </a:pPr>
            <a:r>
              <a:rPr sz="1125" b="0" i="0" u="none">
                <a:solidFill>
                  <a:srgbClr val="CCCCCC"/>
                </a:solidFill>
                <a:latin typeface="Montserrat"/>
              </a:rPr>
              <a:t>A Qaim campaign built for Egyptian men's fashion: clear products, relatable situations and action-focused CTAs.</a:t>
            </a:r>
          </a:p>
        </p:txBody>
      </p:sp>
      <p:sp>
        <p:nvSpPr>
          <p:cNvPr id="9" name="TextBox 8"/>
          <p:cNvSpPr txBox="1"/>
          <p:nvPr/>
        </p:nvSpPr>
        <p:spPr>
          <a:xfrm>
            <a:off x="581025" y="6696075"/>
            <a:ext cx="11029950" cy="142875"/>
          </a:xfrm>
          <a:prstGeom prst="rect">
            <a:avLst/>
          </a:prstGeom>
          <a:noFill/>
        </p:spPr>
        <p:txBody>
          <a:bodyPr wrap="square" lIns="0" tIns="0" rIns="0" bIns="0" anchor="t">
            <a:spAutoFit/>
          </a:bodyPr>
          <a:lstStyle/>
          <a:p>
            <a:pPr algn="ctr"/>
            <a:r>
              <a:rPr sz="900" b="0" i="0" u="none">
                <a:solidFill>
                  <a:srgbClr val="777777"/>
                </a:solidFill>
                <a:latin typeface="Montserrat"/>
              </a:rPr>
              <a:t>Brand pronunciation in both audios: قِيَمٌ / Qiyam. Recheck live product names, prices, sizes and availability before publishing. Reference sources: Qaim.shop and Qaim official Facebook page.</a:t>
            </a:r>
          </a:p>
        </p:txBody>
      </p:sp>
      <p:sp>
        <p:nvSpPr>
          <p:cNvPr id="10" name="TextBox 9"/>
          <p:cNvSpPr txBox="1"/>
          <p:nvPr/>
        </p:nvSpPr>
        <p:spPr>
          <a:xfrm>
            <a:off x="771525" y="2085975"/>
            <a:ext cx="3293692" cy="419100"/>
          </a:xfrm>
          <a:prstGeom prst="rect">
            <a:avLst/>
          </a:prstGeom>
          <a:noFill/>
        </p:spPr>
        <p:txBody>
          <a:bodyPr wrap="square" lIns="0" tIns="0" rIns="0" bIns="0" anchor="t">
            <a:spAutoFit/>
          </a:bodyPr>
          <a:lstStyle/>
          <a:p>
            <a:pPr algn="l"/>
            <a:r>
              <a:rPr sz="1350" b="1" i="0" u="none">
                <a:solidFill>
                  <a:srgbClr val="D32F2F"/>
                </a:solidFill>
                <a:latin typeface="Montserrat"/>
              </a:rPr>
              <a:t>01 / VOICE OVER 1 — COMPLETE LOOK</a:t>
            </a:r>
          </a:p>
        </p:txBody>
      </p:sp>
      <p:sp>
        <p:nvSpPr>
          <p:cNvPr id="11" name="TextBox 10"/>
          <p:cNvSpPr txBox="1"/>
          <p:nvPr/>
        </p:nvSpPr>
        <p:spPr>
          <a:xfrm>
            <a:off x="771525" y="2581275"/>
            <a:ext cx="3136850" cy="1143000"/>
          </a:xfrm>
          <a:prstGeom prst="rect">
            <a:avLst/>
          </a:prstGeom>
          <a:noFill/>
        </p:spPr>
        <p:txBody>
          <a:bodyPr wrap="square" lIns="0" tIns="0" rIns="0" bIns="0" anchor="t">
            <a:spAutoFit/>
          </a:bodyPr>
          <a:lstStyle/>
          <a:p>
            <a:pPr algn="l">
              <a:lnSpc>
                <a:spcPts val="1800"/>
              </a:lnSpc>
            </a:pPr>
            <a:r>
              <a:rPr sz="1125" b="1" i="0" u="none">
                <a:solidFill>
                  <a:srgbClr val="CCCCCC"/>
                </a:solidFill>
                <a:latin typeface="Montserrat"/>
              </a:rPr>
              <a:t>PERSONA + BRIEF:</a:t>
            </a:r>
            <a:r>
              <a:rPr sz="1125" b="0" i="0" u="none">
                <a:solidFill>
                  <a:srgbClr val="CCCCCC"/>
                </a:solidFill>
                <a:latin typeface="Montserrat"/>
              </a:rPr>
              <a:t> Egyptian men who want a complete coordinated look without spending time matching pieces. Reveal the navy polo, ice-blue jeans and navy sneakers item by item.</a:t>
            </a:r>
          </a:p>
        </p:txBody>
      </p:sp>
      <p:sp>
        <p:nvSpPr>
          <p:cNvPr id="12" name="TextBox 11"/>
          <p:cNvSpPr txBox="1"/>
          <p:nvPr/>
        </p:nvSpPr>
        <p:spPr>
          <a:xfrm>
            <a:off x="771525" y="3838575"/>
            <a:ext cx="3136850" cy="1165770"/>
          </a:xfrm>
          <a:prstGeom prst="rect">
            <a:avLst/>
          </a:prstGeom>
          <a:noFill/>
        </p:spPr>
        <p:txBody>
          <a:bodyPr wrap="square" lIns="0" tIns="0" rIns="0" bIns="0" anchor="t">
            <a:spAutoFit/>
          </a:bodyPr>
          <a:lstStyle/>
          <a:p>
            <a:pPr algn="l">
              <a:lnSpc>
                <a:spcPts val="1800"/>
              </a:lnSpc>
            </a:pPr>
            <a:r>
              <a:rPr sz="1125" b="1" i="0" u="none" dirty="0">
                <a:solidFill>
                  <a:srgbClr val="CCCCCC"/>
                </a:solidFill>
                <a:latin typeface="Montserrat"/>
              </a:rPr>
              <a:t>CREATIVE CONCEPT + CTA:</a:t>
            </a:r>
            <a:r>
              <a:rPr sz="1125" b="0" i="0" u="none" dirty="0">
                <a:solidFill>
                  <a:srgbClr val="CCCCCC"/>
                </a:solidFill>
                <a:latin typeface="Montserrat"/>
              </a:rPr>
              <a:t> "</a:t>
            </a:r>
            <a:r>
              <a:rPr sz="1125" b="0" i="0" u="none" dirty="0" err="1">
                <a:solidFill>
                  <a:srgbClr val="CCCCCC"/>
                </a:solidFill>
                <a:latin typeface="Montserrat"/>
              </a:rPr>
              <a:t>طقم</a:t>
            </a:r>
            <a:r>
              <a:rPr sz="1125" b="0" i="0" u="none" dirty="0">
                <a:solidFill>
                  <a:srgbClr val="CCCCCC"/>
                </a:solidFill>
                <a:latin typeface="Montserrat"/>
              </a:rPr>
              <a:t> </a:t>
            </a:r>
            <a:r>
              <a:rPr sz="1125" b="0" i="0" u="none" dirty="0" err="1">
                <a:solidFill>
                  <a:srgbClr val="CCCCCC"/>
                </a:solidFill>
                <a:latin typeface="Montserrat"/>
              </a:rPr>
              <a:t>كامل</a:t>
            </a:r>
            <a:r>
              <a:rPr sz="1125" b="0" i="0" u="none" dirty="0">
                <a:solidFill>
                  <a:srgbClr val="CCCCCC"/>
                </a:solidFill>
                <a:latin typeface="Montserrat"/>
              </a:rPr>
              <a:t> </a:t>
            </a:r>
            <a:r>
              <a:rPr sz="1125" b="0" i="0" u="none" dirty="0" err="1">
                <a:solidFill>
                  <a:srgbClr val="CCCCCC"/>
                </a:solidFill>
                <a:latin typeface="Montserrat"/>
              </a:rPr>
              <a:t>من</a:t>
            </a:r>
            <a:r>
              <a:rPr sz="1125" b="0" i="0" u="none" dirty="0">
                <a:solidFill>
                  <a:srgbClr val="CCCCCC"/>
                </a:solidFill>
                <a:latin typeface="Montserrat"/>
              </a:rPr>
              <a:t> </a:t>
            </a:r>
            <a:r>
              <a:rPr sz="1125" b="0" i="0" u="none" dirty="0" err="1">
                <a:solidFill>
                  <a:srgbClr val="CCCCCC"/>
                </a:solidFill>
                <a:latin typeface="Montserrat"/>
              </a:rPr>
              <a:t>غير</a:t>
            </a:r>
            <a:r>
              <a:rPr sz="1125" b="0" i="0" u="none" dirty="0">
                <a:solidFill>
                  <a:srgbClr val="CCCCCC"/>
                </a:solidFill>
                <a:latin typeface="Montserrat"/>
              </a:rPr>
              <a:t> </a:t>
            </a:r>
            <a:r>
              <a:rPr sz="1125" b="0" i="0" u="none" dirty="0" err="1">
                <a:solidFill>
                  <a:srgbClr val="CCCCCC"/>
                </a:solidFill>
                <a:latin typeface="Montserrat"/>
              </a:rPr>
              <a:t>حيرة</a:t>
            </a:r>
            <a:r>
              <a:rPr sz="1125" b="0" i="0" u="none" dirty="0">
                <a:solidFill>
                  <a:srgbClr val="CCCCCC"/>
                </a:solidFill>
                <a:latin typeface="Montserrat"/>
              </a:rPr>
              <a:t>." Start with the outfit problem, reveal three </a:t>
            </a:r>
            <a:r>
              <a:rPr sz="1125" b="0" i="0" u="none" dirty="0" err="1">
                <a:solidFill>
                  <a:srgbClr val="CCCCCC"/>
                </a:solidFill>
                <a:latin typeface="Montserrat"/>
              </a:rPr>
              <a:t>Qaim</a:t>
            </a:r>
            <a:r>
              <a:rPr sz="1125" b="0" i="0" u="none" dirty="0">
                <a:solidFill>
                  <a:srgbClr val="CCCCCC"/>
                </a:solidFill>
                <a:latin typeface="Montserrat"/>
              </a:rPr>
              <a:t> pieces and end with a full-look payoff.</a:t>
            </a:r>
            <a:r>
              <a:rPr dirty="0"/>
              <a:t>
</a:t>
            </a:r>
            <a:r>
              <a:rPr sz="1125" b="0" i="0" u="none" dirty="0">
                <a:solidFill>
                  <a:srgbClr val="CCCCCC"/>
                </a:solidFill>
                <a:latin typeface="Montserrat"/>
              </a:rPr>
              <a:t> CTA: </a:t>
            </a:r>
            <a:r>
              <a:rPr sz="1125" b="0" i="0" u="none" dirty="0" err="1">
                <a:solidFill>
                  <a:srgbClr val="CCCCCC"/>
                </a:solidFill>
                <a:latin typeface="Montserrat"/>
              </a:rPr>
              <a:t>شوف</a:t>
            </a:r>
            <a:r>
              <a:rPr sz="1125" b="0" i="0" u="none" dirty="0">
                <a:solidFill>
                  <a:srgbClr val="CCCCCC"/>
                </a:solidFill>
                <a:latin typeface="Montserrat"/>
              </a:rPr>
              <a:t> </a:t>
            </a:r>
            <a:r>
              <a:rPr sz="1125" b="0" i="0" u="none" dirty="0" err="1">
                <a:solidFill>
                  <a:srgbClr val="CCCCCC"/>
                </a:solidFill>
                <a:latin typeface="Montserrat"/>
              </a:rPr>
              <a:t>القطع</a:t>
            </a:r>
            <a:r>
              <a:rPr sz="1125" b="0" i="0" u="none" dirty="0">
                <a:solidFill>
                  <a:srgbClr val="CCCCCC"/>
                </a:solidFill>
                <a:latin typeface="Montserrat"/>
              </a:rPr>
              <a:t> </a:t>
            </a:r>
            <a:r>
              <a:rPr sz="1125" b="0" i="0" u="none" dirty="0" err="1">
                <a:solidFill>
                  <a:srgbClr val="CCCCCC"/>
                </a:solidFill>
                <a:latin typeface="Montserrat"/>
              </a:rPr>
              <a:t>والتفاصيل</a:t>
            </a:r>
            <a:r>
              <a:rPr sz="1125" b="0" i="0" u="none" dirty="0">
                <a:solidFill>
                  <a:srgbClr val="CCCCCC"/>
                </a:solidFill>
                <a:latin typeface="Montserrat"/>
              </a:rPr>
              <a:t> </a:t>
            </a:r>
            <a:r>
              <a:rPr sz="1125" b="0" i="0" u="none" dirty="0" err="1">
                <a:solidFill>
                  <a:srgbClr val="CCCCCC"/>
                </a:solidFill>
                <a:latin typeface="Montserrat"/>
              </a:rPr>
              <a:t>المتاحة</a:t>
            </a:r>
            <a:r>
              <a:rPr sz="1125" b="0" i="0" u="none" dirty="0">
                <a:solidFill>
                  <a:srgbClr val="CCCCCC"/>
                </a:solidFill>
                <a:latin typeface="Montserrat"/>
              </a:rPr>
              <a:t> </a:t>
            </a:r>
            <a:r>
              <a:rPr sz="1125" b="0" i="0" u="none" dirty="0" err="1">
                <a:solidFill>
                  <a:srgbClr val="CCCCCC"/>
                </a:solidFill>
                <a:latin typeface="Montserrat"/>
              </a:rPr>
              <a:t>على</a:t>
            </a:r>
            <a:r>
              <a:rPr sz="1125" b="0" i="0" u="none" dirty="0">
                <a:solidFill>
                  <a:srgbClr val="CCCCCC"/>
                </a:solidFill>
                <a:latin typeface="Montserrat"/>
              </a:rPr>
              <a:t> </a:t>
            </a:r>
            <a:r>
              <a:rPr sz="1125" b="0" i="0" u="none" dirty="0" err="1">
                <a:solidFill>
                  <a:srgbClr val="CCCCCC"/>
                </a:solidFill>
                <a:latin typeface="Montserrat"/>
              </a:rPr>
              <a:t>Qaim.shop</a:t>
            </a:r>
            <a:r>
              <a:rPr sz="1125" b="0" i="0" u="none" dirty="0">
                <a:solidFill>
                  <a:srgbClr val="CCCCCC"/>
                </a:solidFill>
                <a:latin typeface="Montserrat"/>
              </a:rPr>
              <a:t>.</a:t>
            </a:r>
          </a:p>
        </p:txBody>
      </p:sp>
      <p:sp>
        <p:nvSpPr>
          <p:cNvPr id="14" name="TextBox 13"/>
          <p:cNvSpPr txBox="1"/>
          <p:nvPr/>
        </p:nvSpPr>
        <p:spPr>
          <a:xfrm>
            <a:off x="4527500" y="2085975"/>
            <a:ext cx="3293692" cy="492443"/>
          </a:xfrm>
          <a:prstGeom prst="rect">
            <a:avLst/>
          </a:prstGeom>
          <a:noFill/>
        </p:spPr>
        <p:txBody>
          <a:bodyPr wrap="square" lIns="0" tIns="0" rIns="0" bIns="0" anchor="t">
            <a:spAutoFit/>
          </a:bodyPr>
          <a:lstStyle/>
          <a:p>
            <a:pPr algn="l"/>
            <a:r>
              <a:rPr sz="1600" b="1" i="0" u="none">
                <a:solidFill>
                  <a:srgbClr val="D32F2F"/>
                </a:solidFill>
                <a:latin typeface="Montserrat"/>
              </a:rPr>
              <a:t>02 / VOICE OVER 2 — THREE OCCASIONS</a:t>
            </a:r>
          </a:p>
        </p:txBody>
      </p:sp>
      <p:sp>
        <p:nvSpPr>
          <p:cNvPr id="15" name="TextBox 14"/>
          <p:cNvSpPr txBox="1"/>
          <p:nvPr/>
        </p:nvSpPr>
        <p:spPr>
          <a:xfrm>
            <a:off x="4527500" y="2581275"/>
            <a:ext cx="3136850" cy="906274"/>
          </a:xfrm>
          <a:prstGeom prst="rect">
            <a:avLst/>
          </a:prstGeom>
          <a:noFill/>
        </p:spPr>
        <p:txBody>
          <a:bodyPr wrap="square" lIns="0" tIns="0" rIns="0" bIns="0" anchor="t">
            <a:spAutoFit/>
          </a:bodyPr>
          <a:lstStyle/>
          <a:p>
            <a:pPr algn="l">
              <a:lnSpc>
                <a:spcPts val="1800"/>
              </a:lnSpc>
            </a:pPr>
            <a:r>
              <a:rPr sz="1400" b="1" i="0" u="none" dirty="0">
                <a:solidFill>
                  <a:srgbClr val="CCCCCC"/>
                </a:solidFill>
                <a:latin typeface="Montserrat"/>
              </a:rPr>
              <a:t>PERSONA + BRIEF: Egyptian men who want practical outfit ideas for daily errands, </a:t>
            </a:r>
            <a:r>
              <a:rPr b="1" i="0" u="none" dirty="0">
                <a:solidFill>
                  <a:srgbClr val="CCCCCC"/>
                </a:solidFill>
                <a:latin typeface="Montserrat"/>
              </a:rPr>
              <a:t>weekend</a:t>
            </a:r>
            <a:r>
              <a:rPr sz="1400" b="1" i="0" u="none" dirty="0">
                <a:solidFill>
                  <a:srgbClr val="CCCCCC"/>
                </a:solidFill>
                <a:latin typeface="Montserrat"/>
              </a:rPr>
              <a:t> comfort and a finished footwear look.</a:t>
            </a:r>
          </a:p>
        </p:txBody>
      </p:sp>
      <p:sp>
        <p:nvSpPr>
          <p:cNvPr id="16" name="TextBox 15"/>
          <p:cNvSpPr txBox="1"/>
          <p:nvPr/>
        </p:nvSpPr>
        <p:spPr>
          <a:xfrm>
            <a:off x="4527500" y="3609975"/>
            <a:ext cx="3136850" cy="1384995"/>
          </a:xfrm>
          <a:prstGeom prst="rect">
            <a:avLst/>
          </a:prstGeom>
          <a:noFill/>
        </p:spPr>
        <p:txBody>
          <a:bodyPr wrap="square" lIns="0" tIns="0" rIns="0" bIns="0" anchor="t">
            <a:spAutoFit/>
          </a:bodyPr>
          <a:lstStyle/>
          <a:p>
            <a:pPr algn="l">
              <a:lnSpc>
                <a:spcPts val="1800"/>
              </a:lnSpc>
            </a:pPr>
            <a:r>
              <a:rPr sz="1600" i="0" u="none" dirty="0">
                <a:solidFill>
                  <a:srgbClr val="CCCCCC"/>
                </a:solidFill>
                <a:latin typeface="Montserrat"/>
              </a:rPr>
              <a:t>CREATIVE CONCEPT + CTA: "</a:t>
            </a:r>
            <a:r>
              <a:rPr sz="1600" i="0" u="none" dirty="0" err="1">
                <a:solidFill>
                  <a:srgbClr val="CCCCCC"/>
                </a:solidFill>
                <a:latin typeface="Montserrat"/>
              </a:rPr>
              <a:t>غيّر</a:t>
            </a:r>
            <a:r>
              <a:rPr sz="1600" i="0" u="none" dirty="0">
                <a:solidFill>
                  <a:srgbClr val="CCCCCC"/>
                </a:solidFill>
                <a:latin typeface="Montserrat"/>
              </a:rPr>
              <a:t> </a:t>
            </a:r>
            <a:r>
              <a:rPr sz="1600" i="0" u="none" dirty="0" err="1">
                <a:solidFill>
                  <a:srgbClr val="CCCCCC"/>
                </a:solidFill>
                <a:latin typeface="Montserrat"/>
              </a:rPr>
              <a:t>القطعة</a:t>
            </a:r>
            <a:r>
              <a:rPr sz="1600" i="0" u="none" dirty="0">
                <a:solidFill>
                  <a:srgbClr val="CCCCCC"/>
                </a:solidFill>
                <a:latin typeface="Montserrat"/>
              </a:rPr>
              <a:t> </a:t>
            </a:r>
            <a:r>
              <a:rPr sz="1600" i="0" u="none" dirty="0" err="1">
                <a:solidFill>
                  <a:srgbClr val="CCCCCC"/>
                </a:solidFill>
                <a:latin typeface="Montserrat"/>
              </a:rPr>
              <a:t>الأساسية</a:t>
            </a:r>
            <a:r>
              <a:rPr sz="1600" i="0" u="none" dirty="0">
                <a:solidFill>
                  <a:srgbClr val="CCCCCC"/>
                </a:solidFill>
                <a:latin typeface="Montserrat"/>
              </a:rPr>
              <a:t>… </a:t>
            </a:r>
            <a:r>
              <a:rPr sz="1600" i="0" u="none" dirty="0" err="1">
                <a:solidFill>
                  <a:srgbClr val="CCCCCC"/>
                </a:solidFill>
                <a:latin typeface="Montserrat"/>
              </a:rPr>
              <a:t>يتغيّر</a:t>
            </a:r>
            <a:r>
              <a:rPr sz="1600" i="0" u="none" dirty="0">
                <a:solidFill>
                  <a:srgbClr val="CCCCCC"/>
                </a:solidFill>
                <a:latin typeface="Montserrat"/>
              </a:rPr>
              <a:t> </a:t>
            </a:r>
            <a:r>
              <a:rPr sz="1600" i="0" u="none" dirty="0" err="1">
                <a:solidFill>
                  <a:srgbClr val="CCCCCC"/>
                </a:solidFill>
                <a:latin typeface="Montserrat"/>
              </a:rPr>
              <a:t>اللوك</a:t>
            </a:r>
            <a:r>
              <a:rPr sz="1600" i="0" u="none" dirty="0">
                <a:solidFill>
                  <a:srgbClr val="CCCCCC"/>
                </a:solidFill>
                <a:latin typeface="Montserrat"/>
              </a:rPr>
              <a:t> </a:t>
            </a:r>
            <a:r>
              <a:rPr sz="1600" i="0" u="none" dirty="0" err="1">
                <a:solidFill>
                  <a:srgbClr val="CCCCCC"/>
                </a:solidFill>
                <a:latin typeface="Montserrat"/>
              </a:rPr>
              <a:t>كله</a:t>
            </a:r>
            <a:r>
              <a:rPr sz="1600" i="0" u="none" dirty="0">
                <a:solidFill>
                  <a:srgbClr val="CCCCCC"/>
                </a:solidFill>
                <a:latin typeface="Montserrat"/>
              </a:rPr>
              <a:t>." Show Daily Denim, Weekend Comfort and a finishing shoe choice.</a:t>
            </a:r>
            <a:r>
              <a:rPr sz="2800" dirty="0"/>
              <a:t>
</a:t>
            </a:r>
            <a:r>
              <a:rPr sz="1600" i="0" u="none" dirty="0">
                <a:solidFill>
                  <a:srgbClr val="CCCCCC"/>
                </a:solidFill>
                <a:latin typeface="Montserrat"/>
              </a:rPr>
              <a:t> CTA: </a:t>
            </a:r>
            <a:r>
              <a:rPr sz="1600" i="0" u="none" dirty="0" err="1">
                <a:solidFill>
                  <a:srgbClr val="CCCCCC"/>
                </a:solidFill>
                <a:latin typeface="Montserrat"/>
              </a:rPr>
              <a:t>افتح</a:t>
            </a:r>
            <a:r>
              <a:rPr sz="1600" i="0" u="none" dirty="0">
                <a:solidFill>
                  <a:srgbClr val="CCCCCC"/>
                </a:solidFill>
                <a:latin typeface="Montserrat"/>
              </a:rPr>
              <a:t> </a:t>
            </a:r>
            <a:r>
              <a:rPr sz="1600" i="0" u="none" dirty="0" err="1">
                <a:solidFill>
                  <a:srgbClr val="CCCCCC"/>
                </a:solidFill>
                <a:latin typeface="Montserrat"/>
              </a:rPr>
              <a:t>Qaim.shop</a:t>
            </a:r>
            <a:r>
              <a:rPr sz="1600" i="0" u="none" dirty="0">
                <a:solidFill>
                  <a:srgbClr val="CCCCCC"/>
                </a:solidFill>
                <a:latin typeface="Montserrat"/>
              </a:rPr>
              <a:t> </a:t>
            </a:r>
            <a:r>
              <a:rPr sz="1600" i="0" u="none" dirty="0" err="1">
                <a:solidFill>
                  <a:srgbClr val="CCCCCC"/>
                </a:solidFill>
                <a:latin typeface="Montserrat"/>
              </a:rPr>
              <a:t>واختار</a:t>
            </a:r>
            <a:r>
              <a:rPr sz="1600" i="0" u="none" dirty="0">
                <a:solidFill>
                  <a:srgbClr val="CCCCCC"/>
                </a:solidFill>
                <a:latin typeface="Montserrat"/>
              </a:rPr>
              <a:t> </a:t>
            </a:r>
            <a:r>
              <a:rPr sz="1600" i="0" u="none" dirty="0" err="1">
                <a:solidFill>
                  <a:srgbClr val="CCCCCC"/>
                </a:solidFill>
                <a:latin typeface="Montserrat"/>
              </a:rPr>
              <a:t>لوكك</a:t>
            </a:r>
            <a:r>
              <a:rPr sz="1600" i="0" u="none" dirty="0">
                <a:solidFill>
                  <a:srgbClr val="CCCCCC"/>
                </a:solidFill>
                <a:latin typeface="Montserrat"/>
              </a:rPr>
              <a:t> </a:t>
            </a:r>
            <a:r>
              <a:rPr sz="1600" i="0" u="none" dirty="0" err="1">
                <a:solidFill>
                  <a:srgbClr val="CCCCCC"/>
                </a:solidFill>
                <a:latin typeface="Montserrat"/>
              </a:rPr>
              <a:t>حسب</a:t>
            </a:r>
            <a:r>
              <a:rPr sz="1600" i="0" u="none" dirty="0">
                <a:solidFill>
                  <a:srgbClr val="CCCCCC"/>
                </a:solidFill>
                <a:latin typeface="Montserrat"/>
              </a:rPr>
              <a:t> </a:t>
            </a:r>
            <a:r>
              <a:rPr sz="1600" i="0" u="none" dirty="0" err="1">
                <a:solidFill>
                  <a:srgbClr val="CCCCCC"/>
                </a:solidFill>
                <a:latin typeface="Montserrat"/>
              </a:rPr>
              <a:t>مناسبتك</a:t>
            </a:r>
            <a:r>
              <a:rPr sz="1600" i="0" u="none" dirty="0">
                <a:solidFill>
                  <a:srgbClr val="CCCCCC"/>
                </a:solidFill>
                <a:latin typeface="Montserrat"/>
              </a:rPr>
              <a:t>.</a:t>
            </a:r>
          </a:p>
        </p:txBody>
      </p:sp>
      <p:sp>
        <p:nvSpPr>
          <p:cNvPr id="18" name="TextBox 17"/>
          <p:cNvSpPr txBox="1"/>
          <p:nvPr/>
        </p:nvSpPr>
        <p:spPr>
          <a:xfrm>
            <a:off x="8283475" y="2085975"/>
            <a:ext cx="3293849" cy="209550"/>
          </a:xfrm>
          <a:prstGeom prst="rect">
            <a:avLst/>
          </a:prstGeom>
          <a:noFill/>
        </p:spPr>
        <p:txBody>
          <a:bodyPr wrap="square" lIns="0" tIns="0" rIns="0" bIns="0" anchor="t">
            <a:spAutoFit/>
          </a:bodyPr>
          <a:lstStyle/>
          <a:p>
            <a:pPr algn="l"/>
            <a:r>
              <a:rPr sz="1350" b="1" i="0" u="none">
                <a:solidFill>
                  <a:srgbClr val="D32F2F"/>
                </a:solidFill>
                <a:latin typeface="Montserrat"/>
              </a:rPr>
              <a:t>03 + 04 / AI CAROUSELS</a:t>
            </a:r>
          </a:p>
        </p:txBody>
      </p:sp>
      <p:sp>
        <p:nvSpPr>
          <p:cNvPr id="19" name="TextBox 18"/>
          <p:cNvSpPr txBox="1"/>
          <p:nvPr/>
        </p:nvSpPr>
        <p:spPr>
          <a:xfrm>
            <a:off x="8283475" y="2371725"/>
            <a:ext cx="3136999" cy="685800"/>
          </a:xfrm>
          <a:prstGeom prst="rect">
            <a:avLst/>
          </a:prstGeom>
          <a:noFill/>
        </p:spPr>
        <p:txBody>
          <a:bodyPr wrap="square" lIns="0" tIns="0" rIns="0" bIns="0" anchor="t">
            <a:spAutoFit/>
          </a:bodyPr>
          <a:lstStyle/>
          <a:p>
            <a:pPr algn="l">
              <a:lnSpc>
                <a:spcPts val="1800"/>
              </a:lnSpc>
            </a:pPr>
            <a:r>
              <a:rPr sz="1400" i="0" u="none" dirty="0">
                <a:solidFill>
                  <a:srgbClr val="CCCCCC"/>
                </a:solidFill>
                <a:latin typeface="Montserrat"/>
              </a:rPr>
              <a:t>Carousel 1: Complete Look in One Place — six frames, visual copy, caption, pinned comment and save/comment CTA.</a:t>
            </a:r>
          </a:p>
        </p:txBody>
      </p:sp>
      <p:sp>
        <p:nvSpPr>
          <p:cNvPr id="20" name="TextBox 19"/>
          <p:cNvSpPr txBox="1"/>
          <p:nvPr/>
        </p:nvSpPr>
        <p:spPr>
          <a:xfrm>
            <a:off x="8283475" y="3171825"/>
            <a:ext cx="3136999" cy="923330"/>
          </a:xfrm>
          <a:prstGeom prst="rect">
            <a:avLst/>
          </a:prstGeom>
          <a:noFill/>
        </p:spPr>
        <p:txBody>
          <a:bodyPr wrap="square" lIns="0" tIns="0" rIns="0" bIns="0" anchor="t">
            <a:spAutoFit/>
          </a:bodyPr>
          <a:lstStyle/>
          <a:p>
            <a:pPr algn="l">
              <a:lnSpc>
                <a:spcPts val="1800"/>
              </a:lnSpc>
            </a:pPr>
            <a:r>
              <a:rPr sz="1600" i="0" u="none" dirty="0">
                <a:solidFill>
                  <a:srgbClr val="CCCCCC"/>
                </a:solidFill>
                <a:latin typeface="Montserrat"/>
              </a:rPr>
              <a:t>Carousel 2: Choose Your Occasion — six frames, Daily/Weekend/Complete Look choices, caption, AI prompt and website CTA.</a:t>
            </a:r>
          </a:p>
        </p:txBody>
      </p:sp>
      <p:sp>
        <p:nvSpPr>
          <p:cNvPr id="21" name="TextBox 20"/>
          <p:cNvSpPr txBox="1"/>
          <p:nvPr/>
        </p:nvSpPr>
        <p:spPr>
          <a:xfrm>
            <a:off x="8283475" y="4200525"/>
            <a:ext cx="3136999" cy="914400"/>
          </a:xfrm>
          <a:prstGeom prst="rect">
            <a:avLst/>
          </a:prstGeom>
          <a:noFill/>
        </p:spPr>
        <p:txBody>
          <a:bodyPr wrap="square" lIns="0" tIns="0" rIns="0" bIns="0" anchor="t">
            <a:spAutoFit/>
          </a:bodyPr>
          <a:lstStyle/>
          <a:p>
            <a:pPr algn="l">
              <a:lnSpc>
                <a:spcPts val="1800"/>
              </a:lnSpc>
            </a:pPr>
            <a:r>
              <a:rPr sz="1400" i="0" u="none" dirty="0">
                <a:solidFill>
                  <a:srgbClr val="CCCCCC"/>
                </a:solidFill>
                <a:latin typeface="Montserrat"/>
              </a:rPr>
              <a:t>SUBMISSION + MEASUREMENT: Upload both audios, both carousel sets, scripts and presentation. Set Google Drive access to Anyone with the link → Viewer.</a:t>
            </a:r>
          </a:p>
        </p:txBody>
      </p:sp>
      <p:sp>
        <p:nvSpPr>
          <p:cNvPr id="22" name="TextBox 21"/>
          <p:cNvSpPr txBox="1"/>
          <p:nvPr/>
        </p:nvSpPr>
        <p:spPr>
          <a:xfrm>
            <a:off x="8283475" y="5229225"/>
            <a:ext cx="3136999" cy="895350"/>
          </a:xfrm>
          <a:prstGeom prst="rect">
            <a:avLst/>
          </a:prstGeom>
          <a:noFill/>
        </p:spPr>
        <p:txBody>
          <a:bodyPr wrap="square" lIns="0" tIns="0" rIns="0" bIns="0" anchor="t">
            <a:spAutoFit/>
          </a:bodyPr>
          <a:lstStyle/>
          <a:p>
            <a:pPr algn="l"/>
            <a:r>
              <a:rPr sz="1200" b="0" i="0" u="none">
                <a:solidFill>
                  <a:srgbClr val="FFFFFF"/>
                </a:solidFill>
                <a:latin typeface="Montserrat SemiBold"/>
              </a:rPr>
              <a:t> Open Complete Folder </a:t>
            </a:r>
          </a:p>
        </p:txBody>
      </p:sp>
      <p:sp>
        <p:nvSpPr>
          <p:cNvPr id="23" name="TextBox 22"/>
          <p:cNvSpPr txBox="1"/>
          <p:nvPr/>
        </p:nvSpPr>
        <p:spPr>
          <a:xfrm>
            <a:off x="8283474" y="5727442"/>
            <a:ext cx="3293849" cy="246221"/>
          </a:xfrm>
          <a:prstGeom prst="rect">
            <a:avLst/>
          </a:prstGeom>
          <a:noFill/>
        </p:spPr>
        <p:txBody>
          <a:bodyPr wrap="square" lIns="0" tIns="0" rIns="0" bIns="0" anchor="t">
            <a:spAutoFit/>
          </a:bodyPr>
          <a:lstStyle/>
          <a:p>
            <a:pPr algn="ctr"/>
            <a:r>
              <a:rPr sz="1200" b="1" i="0" u="none" dirty="0">
                <a:solidFill>
                  <a:srgbClr val="D32F2F"/>
                </a:solidFill>
                <a:latin typeface="Montserrat"/>
                <a:hlinkClick r:id="rId5"/>
              </a:rPr>
              <a:t>FULL </a:t>
            </a:r>
            <a:r>
              <a:rPr sz="1600" b="1" i="0" u="none" dirty="0">
                <a:solidFill>
                  <a:srgbClr val="D32F2F"/>
                </a:solidFill>
                <a:latin typeface="Montserrat"/>
                <a:hlinkClick r:id="rId5"/>
              </a:rPr>
              <a:t>GOOGLE</a:t>
            </a:r>
            <a:r>
              <a:rPr sz="1200" b="1" i="0" u="none" dirty="0">
                <a:solidFill>
                  <a:srgbClr val="D32F2F"/>
                </a:solidFill>
                <a:latin typeface="Montserrat"/>
                <a:hlinkClick r:id="rId5"/>
              </a:rPr>
              <a:t> DRIVE SUBMISSION</a:t>
            </a:r>
            <a:endParaRPr sz="1200" b="1" i="0" u="none" dirty="0">
              <a:solidFill>
                <a:srgbClr val="D32F2F"/>
              </a:solidFill>
              <a:latin typeface="Montserrat"/>
            </a:endParaRPr>
          </a:p>
        </p:txBody>
      </p:sp>
      <p:pic>
        <p:nvPicPr>
          <p:cNvPr id="24" name="Picture 23" descr="image.png"/>
          <p:cNvPicPr>
            <a:picLocks noChangeAspect="1"/>
          </p:cNvPicPr>
          <p:nvPr/>
        </p:nvPicPr>
        <p:blipFill>
          <a:blip r:embed="rId6"/>
          <a:stretch>
            <a:fillRect/>
          </a:stretch>
        </p:blipFill>
        <p:spPr>
          <a:xfrm>
            <a:off x="1620738" y="5753100"/>
            <a:ext cx="133350" cy="133350"/>
          </a:xfrm>
          <a:prstGeom prst="rect">
            <a:avLst/>
          </a:prstGeom>
        </p:spPr>
      </p:pic>
      <p:pic>
        <p:nvPicPr>
          <p:cNvPr id="25" name="Picture 24" descr="image.png"/>
          <p:cNvPicPr>
            <a:picLocks noChangeAspect="1"/>
          </p:cNvPicPr>
          <p:nvPr/>
        </p:nvPicPr>
        <p:blipFill>
          <a:blip r:embed="rId7"/>
          <a:stretch>
            <a:fillRect/>
          </a:stretch>
        </p:blipFill>
        <p:spPr>
          <a:xfrm>
            <a:off x="5362426" y="5753100"/>
            <a:ext cx="133350" cy="133350"/>
          </a:xfrm>
          <a:prstGeom prst="rect">
            <a:avLst/>
          </a:prstGeom>
        </p:spPr>
      </p:pic>
      <p:pic>
        <p:nvPicPr>
          <p:cNvPr id="26" name="Picture 25" descr="image.png"/>
          <p:cNvPicPr>
            <a:picLocks noChangeAspect="1"/>
          </p:cNvPicPr>
          <p:nvPr/>
        </p:nvPicPr>
        <p:blipFill>
          <a:blip r:embed="rId8"/>
          <a:stretch>
            <a:fillRect/>
          </a:stretch>
        </p:blipFill>
        <p:spPr>
          <a:xfrm>
            <a:off x="8126626" y="5651247"/>
            <a:ext cx="465162" cy="40701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81025" y="676275"/>
            <a:ext cx="11581447" cy="390525"/>
          </a:xfrm>
          <a:prstGeom prst="rect">
            <a:avLst/>
          </a:prstGeom>
          <a:noFill/>
        </p:spPr>
        <p:txBody>
          <a:bodyPr wrap="square" lIns="0" tIns="0" rIns="0" bIns="0" anchor="t">
            <a:spAutoFit/>
          </a:bodyPr>
          <a:lstStyle/>
          <a:p>
            <a:pPr algn="l"/>
            <a:r>
              <a:rPr sz="2400" b="1" i="0" u="none">
                <a:solidFill>
                  <a:srgbClr val="FFFFFF"/>
                </a:solidFill>
                <a:latin typeface="Montserrat"/>
              </a:rPr>
              <a:t>Image Sources</a:t>
            </a:r>
          </a:p>
        </p:txBody>
      </p:sp>
      <p:sp>
        <p:nvSpPr>
          <p:cNvPr id="3" name="Rectangle 2"/>
          <p:cNvSpPr/>
          <p:nvPr/>
        </p:nvSpPr>
        <p:spPr>
          <a:xfrm>
            <a:off x="581025" y="1143000"/>
            <a:ext cx="11029950" cy="19050"/>
          </a:xfrm>
          <a:prstGeom prst="rect">
            <a:avLst/>
          </a:prstGeom>
          <a:solidFill>
            <a:srgbClr val="D32F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1525" y="1400175"/>
            <a:ext cx="10839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71525" y="2184945"/>
            <a:ext cx="10839450" cy="78477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71525" y="2175420"/>
            <a:ext cx="10839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71525" y="2175420"/>
            <a:ext cx="10839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71525" y="2960191"/>
            <a:ext cx="10839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71525" y="2960191"/>
            <a:ext cx="10839450" cy="9525"/>
          </a:xfrm>
          <a:prstGeom prst="rect">
            <a:avLst/>
          </a:prstGeom>
          <a:solidFill>
            <a:srgbClr val="75757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771525" y="1549598"/>
            <a:ext cx="857250" cy="476250"/>
          </a:xfrm>
          <a:prstGeom prst="rect">
            <a:avLst/>
          </a:prstGeom>
        </p:spPr>
      </p:pic>
      <p:sp>
        <p:nvSpPr>
          <p:cNvPr id="11" name="TextBox 10"/>
          <p:cNvSpPr txBox="1"/>
          <p:nvPr/>
        </p:nvSpPr>
        <p:spPr>
          <a:xfrm>
            <a:off x="1866900" y="1543050"/>
            <a:ext cx="9744075" cy="198090"/>
          </a:xfrm>
          <a:prstGeom prst="rect">
            <a:avLst/>
          </a:prstGeom>
          <a:noFill/>
        </p:spPr>
        <p:txBody>
          <a:bodyPr wrap="square" lIns="0" tIns="0" rIns="0" bIns="0" anchor="t">
            <a:spAutoFit/>
          </a:bodyPr>
          <a:lstStyle/>
          <a:p>
            <a:pPr algn="l">
              <a:lnSpc>
                <a:spcPts val="1560"/>
              </a:lnSpc>
            </a:pPr>
            <a:r>
              <a:rPr sz="975" b="0" i="0" u="none">
                <a:solidFill>
                  <a:srgbClr val="CCCCCC"/>
                </a:solidFill>
                <a:latin typeface="Montserrat"/>
              </a:rPr>
              <a:t>https://pub-37a08b330da1467d853b8f9635b847b4.r2.dev/prompts/DARK_STUDIO.webp</a:t>
            </a:r>
          </a:p>
        </p:txBody>
      </p:sp>
      <p:sp>
        <p:nvSpPr>
          <p:cNvPr id="12" name="TextBox 11"/>
          <p:cNvSpPr txBox="1"/>
          <p:nvPr/>
        </p:nvSpPr>
        <p:spPr>
          <a:xfrm>
            <a:off x="1866900" y="1788765"/>
            <a:ext cx="9744075" cy="243780"/>
          </a:xfrm>
          <a:prstGeom prst="rect">
            <a:avLst/>
          </a:prstGeom>
          <a:noFill/>
        </p:spPr>
        <p:txBody>
          <a:bodyPr wrap="square" lIns="0" tIns="0" rIns="0" bIns="0" anchor="t">
            <a:spAutoFit/>
          </a:bodyPr>
          <a:lstStyle/>
          <a:p>
            <a:pPr algn="l">
              <a:lnSpc>
                <a:spcPts val="1920"/>
              </a:lnSpc>
            </a:pPr>
            <a:r>
              <a:rPr sz="1200" b="0" i="0" u="none">
                <a:solidFill>
                  <a:srgbClr val="CCCCCC"/>
                </a:solidFill>
                <a:latin typeface="Montserrat"/>
              </a:rPr>
              <a:t>Source: </a:t>
            </a:r>
            <a:r>
              <a:rPr sz="1200" b="0" i="0" u="none">
                <a:solidFill>
                  <a:srgbClr val="4F46E5"/>
                </a:solidFill>
                <a:latin typeface="Montserrat"/>
              </a:rPr>
              <a:t>bananaprompts.org</a:t>
            </a:r>
          </a:p>
        </p:txBody>
      </p:sp>
      <p:pic>
        <p:nvPicPr>
          <p:cNvPr id="13" name="Picture 12" descr="image.png"/>
          <p:cNvPicPr>
            <a:picLocks noChangeAspect="1"/>
          </p:cNvPicPr>
          <p:nvPr/>
        </p:nvPicPr>
        <p:blipFill>
          <a:blip r:embed="rId3"/>
          <a:stretch>
            <a:fillRect/>
          </a:stretch>
        </p:blipFill>
        <p:spPr>
          <a:xfrm>
            <a:off x="771525" y="2334369"/>
            <a:ext cx="857250" cy="476250"/>
          </a:xfrm>
          <a:prstGeom prst="rect">
            <a:avLst/>
          </a:prstGeom>
        </p:spPr>
      </p:pic>
      <p:sp>
        <p:nvSpPr>
          <p:cNvPr id="14" name="TextBox 13"/>
          <p:cNvSpPr txBox="1"/>
          <p:nvPr/>
        </p:nvSpPr>
        <p:spPr>
          <a:xfrm>
            <a:off x="1866900" y="2327820"/>
            <a:ext cx="9744075" cy="198090"/>
          </a:xfrm>
          <a:prstGeom prst="rect">
            <a:avLst/>
          </a:prstGeom>
          <a:noFill/>
        </p:spPr>
        <p:txBody>
          <a:bodyPr wrap="square" lIns="0" tIns="0" rIns="0" bIns="0" anchor="t">
            <a:spAutoFit/>
          </a:bodyPr>
          <a:lstStyle/>
          <a:p>
            <a:pPr algn="l">
              <a:lnSpc>
                <a:spcPts val="1560"/>
              </a:lnSpc>
            </a:pPr>
            <a:r>
              <a:rPr sz="975" b="0" i="0" u="none">
                <a:solidFill>
                  <a:srgbClr val="CCCCCC"/>
                </a:solidFill>
                <a:latin typeface="Montserrat"/>
              </a:rPr>
              <a:t>https://www.lemon8-app.com/seo/image?item_id=7303569259308450310&amp;index=0&amp;sign=1279836093e5383b975d199bbc3b6ece</a:t>
            </a:r>
          </a:p>
        </p:txBody>
      </p:sp>
      <p:sp>
        <p:nvSpPr>
          <p:cNvPr id="15" name="TextBox 14"/>
          <p:cNvSpPr txBox="1"/>
          <p:nvPr/>
        </p:nvSpPr>
        <p:spPr>
          <a:xfrm>
            <a:off x="1866900" y="2573535"/>
            <a:ext cx="9744075" cy="243780"/>
          </a:xfrm>
          <a:prstGeom prst="rect">
            <a:avLst/>
          </a:prstGeom>
          <a:noFill/>
        </p:spPr>
        <p:txBody>
          <a:bodyPr wrap="square" lIns="0" tIns="0" rIns="0" bIns="0" anchor="t">
            <a:spAutoFit/>
          </a:bodyPr>
          <a:lstStyle/>
          <a:p>
            <a:pPr algn="l">
              <a:lnSpc>
                <a:spcPts val="1920"/>
              </a:lnSpc>
            </a:pPr>
            <a:r>
              <a:rPr sz="1200" b="0" i="0" u="none">
                <a:solidFill>
                  <a:srgbClr val="CCCCCC"/>
                </a:solidFill>
                <a:latin typeface="Montserrat"/>
              </a:rPr>
              <a:t>Source: </a:t>
            </a:r>
            <a:r>
              <a:rPr sz="1200" b="0" i="0" u="none">
                <a:solidFill>
                  <a:srgbClr val="4F46E5"/>
                </a:solidFill>
                <a:latin typeface="Montserrat"/>
              </a:rPr>
              <a:t>www.lemon8-app.com</a:t>
            </a:r>
          </a:p>
        </p:txBody>
      </p:sp>
      <p:pic>
        <p:nvPicPr>
          <p:cNvPr id="16" name="Picture 15" descr="image.png"/>
          <p:cNvPicPr>
            <a:picLocks noChangeAspect="1"/>
          </p:cNvPicPr>
          <p:nvPr/>
        </p:nvPicPr>
        <p:blipFill>
          <a:blip r:embed="rId4"/>
          <a:stretch>
            <a:fillRect/>
          </a:stretch>
        </p:blipFill>
        <p:spPr>
          <a:xfrm>
            <a:off x="771525" y="3119139"/>
            <a:ext cx="857250" cy="476250"/>
          </a:xfrm>
          <a:prstGeom prst="rect">
            <a:avLst/>
          </a:prstGeom>
        </p:spPr>
      </p:pic>
      <p:sp>
        <p:nvSpPr>
          <p:cNvPr id="17" name="TextBox 16"/>
          <p:cNvSpPr txBox="1"/>
          <p:nvPr/>
        </p:nvSpPr>
        <p:spPr>
          <a:xfrm>
            <a:off x="1866900" y="3112591"/>
            <a:ext cx="9744075" cy="198090"/>
          </a:xfrm>
          <a:prstGeom prst="rect">
            <a:avLst/>
          </a:prstGeom>
          <a:noFill/>
        </p:spPr>
        <p:txBody>
          <a:bodyPr wrap="square" lIns="0" tIns="0" rIns="0" bIns="0" anchor="t">
            <a:spAutoFit/>
          </a:bodyPr>
          <a:lstStyle/>
          <a:p>
            <a:pPr algn="l">
              <a:lnSpc>
                <a:spcPts val="1560"/>
              </a:lnSpc>
            </a:pPr>
            <a:r>
              <a:rPr sz="975" b="0" i="0" u="none">
                <a:solidFill>
                  <a:srgbClr val="CCCCCC"/>
                </a:solidFill>
                <a:latin typeface="Montserrat"/>
              </a:rPr>
              <a:t>https://www.realmenrealstyle.com/wp-content/uploads/2025/03/mens-90s-style.jpg</a:t>
            </a:r>
          </a:p>
        </p:txBody>
      </p:sp>
      <p:sp>
        <p:nvSpPr>
          <p:cNvPr id="18" name="TextBox 17"/>
          <p:cNvSpPr txBox="1"/>
          <p:nvPr/>
        </p:nvSpPr>
        <p:spPr>
          <a:xfrm>
            <a:off x="1866900" y="3358306"/>
            <a:ext cx="9744075" cy="243780"/>
          </a:xfrm>
          <a:prstGeom prst="rect">
            <a:avLst/>
          </a:prstGeom>
          <a:noFill/>
        </p:spPr>
        <p:txBody>
          <a:bodyPr wrap="square" lIns="0" tIns="0" rIns="0" bIns="0" anchor="t">
            <a:spAutoFit/>
          </a:bodyPr>
          <a:lstStyle/>
          <a:p>
            <a:pPr algn="l">
              <a:lnSpc>
                <a:spcPts val="1920"/>
              </a:lnSpc>
            </a:pPr>
            <a:r>
              <a:rPr sz="1200" b="0" i="0" u="none">
                <a:solidFill>
                  <a:srgbClr val="CCCCCC"/>
                </a:solidFill>
                <a:latin typeface="Montserrat"/>
              </a:rPr>
              <a:t>Source: </a:t>
            </a:r>
            <a:r>
              <a:rPr sz="1200" b="0" i="0" u="none">
                <a:solidFill>
                  <a:srgbClr val="4F46E5"/>
                </a:solidFill>
                <a:latin typeface="Montserrat"/>
              </a:rPr>
              <a:t>www.realmenrealstyle.com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5601</Words>
  <Application>Microsoft Office PowerPoint</Application>
  <PresentationFormat>شاشة عريضة</PresentationFormat>
  <Paragraphs>493</Paragraphs>
  <Slides>23</Slides>
  <Notes>12</Notes>
  <HiddenSlides>0</HiddenSlides>
  <MMClips>0</MMClips>
  <ScaleCrop>false</ScaleCrop>
  <HeadingPairs>
    <vt:vector size="6" baseType="variant">
      <vt:variant>
        <vt:lpstr>الخطوط المستخدمة</vt:lpstr>
      </vt:variant>
      <vt:variant>
        <vt:i4>5</vt:i4>
      </vt:variant>
      <vt:variant>
        <vt:lpstr>نسق</vt:lpstr>
      </vt:variant>
      <vt:variant>
        <vt:i4>1</vt:i4>
      </vt:variant>
      <vt:variant>
        <vt:lpstr>عناوين الشرائح</vt:lpstr>
      </vt:variant>
      <vt:variant>
        <vt:i4>23</vt:i4>
      </vt:variant>
    </vt:vector>
  </HeadingPairs>
  <TitlesOfParts>
    <vt:vector size="29" baseType="lpstr">
      <vt:lpstr>Arial</vt:lpstr>
      <vt:lpstr>Cairo</vt:lpstr>
      <vt:lpstr>Calibri</vt:lpstr>
      <vt:lpstr>Montserrat</vt:lpstr>
      <vt:lpstr>Montserrat SemiBold</vt:lpstr>
      <vt:lpstr>Office Theme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subject/>
  <dc:creator/>
  <cp:keywords/>
  <dc:description>generated using python-pptx</dc:description>
  <cp:lastModifiedBy>mohamed salem</cp:lastModifiedBy>
  <cp:revision>3</cp:revision>
  <dcterms:created xsi:type="dcterms:W3CDTF">2013-01-27T09:14:16Z</dcterms:created>
  <dcterms:modified xsi:type="dcterms:W3CDTF">2026-08-22T16:48:27Z</dcterms:modified>
  <cp:category/>
</cp:coreProperties>
</file>